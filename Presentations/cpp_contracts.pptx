
<file path=[Content_Types].xml><?xml version="1.0" encoding="utf-8"?>
<Types xmlns="http://schemas.openxmlformats.org/package/2006/content-types">
  <Default Extension="jpeg" ContentType="image/jpeg"/>
  <Default Extension="png" ContentType="image/png"/>
  <Default Extension="rels" ContentType="application/vnd.openxmlformats-package.relationships+xml"/>
  <Default Extension="tmp" ContentType="image/png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slides/slide13.xml" ContentType="application/vnd.openxmlformats-officedocument.presentationml.slide+xml"/>
  <Override PartName="/ppt/slides/slide14.xml" ContentType="application/vnd.openxmlformats-officedocument.presentationml.slide+xml"/>
  <Override PartName="/ppt/slides/slide15.xml" ContentType="application/vnd.openxmlformats-officedocument.presentationml.slide+xml"/>
  <Override PartName="/ppt/slides/slide16.xml" ContentType="application/vnd.openxmlformats-officedocument.presentationml.slide+xml"/>
  <Override PartName="/ppt/slides/slide17.xml" ContentType="application/vnd.openxmlformats-officedocument.presentationml.slide+xml"/>
  <Override PartName="/ppt/slides/slide18.xml" ContentType="application/vnd.openxmlformats-officedocument.presentationml.slide+xml"/>
  <Override PartName="/ppt/slides/slide19.xml" ContentType="application/vnd.openxmlformats-officedocument.presentationml.slide+xml"/>
  <Override PartName="/ppt/slides/slide20.xml" ContentType="application/vnd.openxmlformats-officedocument.presentationml.slide+xml"/>
  <Override PartName="/ppt/slides/slide21.xml" ContentType="application/vnd.openxmlformats-officedocument.presentationml.slide+xml"/>
  <Override PartName="/ppt/slides/slide22.xml" ContentType="application/vnd.openxmlformats-officedocument.presentationml.slide+xml"/>
  <Override PartName="/ppt/slides/slide23.xml" ContentType="application/vnd.openxmlformats-officedocument.presentationml.slide+xml"/>
  <Override PartName="/ppt/slides/slide24.xml" ContentType="application/vnd.openxmlformats-officedocument.presentationml.slide+xml"/>
  <Override PartName="/ppt/slides/slide25.xml" ContentType="application/vnd.openxmlformats-officedocument.presentationml.slide+xml"/>
  <Override PartName="/ppt/slides/slide26.xml" ContentType="application/vnd.openxmlformats-officedocument.presentationml.slide+xml"/>
  <Override PartName="/ppt/slides/slide27.xml" ContentType="application/vnd.openxmlformats-officedocument.presentationml.slide+xml"/>
  <Override PartName="/ppt/slides/slide28.xml" ContentType="application/vnd.openxmlformats-officedocument.presentationml.slide+xml"/>
  <Override PartName="/ppt/slides/slide29.xml" ContentType="application/vnd.openxmlformats-officedocument.presentationml.slide+xml"/>
  <Override PartName="/ppt/slides/slide30.xml" ContentType="application/vnd.openxmlformats-officedocument.presentationml.slide+xml"/>
  <Override PartName="/ppt/slides/slide31.xml" ContentType="application/vnd.openxmlformats-officedocument.presentationml.slide+xml"/>
  <Override PartName="/ppt/slides/slide32.xml" ContentType="application/vnd.openxmlformats-officedocument.presentationml.slide+xml"/>
  <Override PartName="/ppt/slides/slide33.xml" ContentType="application/vnd.openxmlformats-officedocument.presentationml.slide+xml"/>
  <Override PartName="/ppt/slides/slide34.xml" ContentType="application/vnd.openxmlformats-officedocument.presentationml.slide+xml"/>
  <Override PartName="/ppt/slides/slide35.xml" ContentType="application/vnd.openxmlformats-officedocument.presentationml.slide+xml"/>
  <Override PartName="/ppt/slides/slide36.xml" ContentType="application/vnd.openxmlformats-officedocument.presentationml.slide+xml"/>
  <Override PartName="/ppt/slides/slide37.xml" ContentType="application/vnd.openxmlformats-officedocument.presentationml.slide+xml"/>
  <Override PartName="/ppt/slides/slide38.xml" ContentType="application/vnd.openxmlformats-officedocument.presentationml.slide+xml"/>
  <Override PartName="/ppt/slides/slide39.xml" ContentType="application/vnd.openxmlformats-officedocument.presentationml.slide+xml"/>
  <Override PartName="/ppt/slides/slide40.xml" ContentType="application/vnd.openxmlformats-officedocument.presentationml.slide+xml"/>
  <Override PartName="/ppt/slides/slide41.xml" ContentType="application/vnd.openxmlformats-officedocument.presentationml.slide+xml"/>
  <Override PartName="/ppt/slides/slide42.xml" ContentType="application/vnd.openxmlformats-officedocument.presentationml.slide+xml"/>
  <Override PartName="/ppt/slides/slide43.xml" ContentType="application/vnd.openxmlformats-officedocument.presentationml.slide+xml"/>
  <Override PartName="/ppt/notesMasters/notesMaster1.xml" ContentType="application/vnd.openxmlformats-officedocument.presentationml.notesMaster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theme/theme2.xml" ContentType="application/vnd.openxmlformats-officedocument.theme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4.xml" ContentType="application/vnd.openxmlformats-officedocument.presentationml.notesSlide+xml"/>
  <Override PartName="/ppt/notesSlides/notesSlide5.xml" ContentType="application/vnd.openxmlformats-officedocument.presentationml.notesSlide+xml"/>
  <Override PartName="/ppt/notesSlides/notesSlide6.xml" ContentType="application/vnd.openxmlformats-officedocument.presentationml.notesSlide+xml"/>
  <Override PartName="/ppt/notesSlides/notesSlide7.xml" ContentType="application/vnd.openxmlformats-officedocument.presentationml.notesSlide+xml"/>
  <Override PartName="/ppt/notesSlides/notesSlide8.xml" ContentType="application/vnd.openxmlformats-officedocument.presentationml.notesSlide+xml"/>
  <Override PartName="/ppt/notesSlides/notesSlide9.xml" ContentType="application/vnd.openxmlformats-officedocument.presentationml.notesSlide+xml"/>
  <Override PartName="/ppt/notesSlides/notesSlide10.xml" ContentType="application/vnd.openxmlformats-officedocument.presentationml.notesSlide+xml"/>
  <Override PartName="/ppt/notesSlides/notesSlide11.xml" ContentType="application/vnd.openxmlformats-officedocument.presentationml.notesSlide+xml"/>
  <Override PartName="/ppt/notesSlides/notesSlide12.xml" ContentType="application/vnd.openxmlformats-officedocument.presentationml.notesSlide+xml"/>
  <Override PartName="/ppt/notesSlides/notesSlide13.xml" ContentType="application/vnd.openxmlformats-officedocument.presentationml.notesSlide+xml"/>
  <Override PartName="/ppt/notesSlides/notesSlide14.xml" ContentType="application/vnd.openxmlformats-officedocument.presentationml.notesSlide+xml"/>
  <Override PartName="/ppt/notesSlides/notesSlide15.xml" ContentType="application/vnd.openxmlformats-officedocument.presentationml.notesSlide+xml"/>
  <Override PartName="/ppt/notesSlides/notesSlide16.xml" ContentType="application/vnd.openxmlformats-officedocument.presentationml.notesSlide+xml"/>
  <Override PartName="/ppt/notesSlides/notesSlide17.xml" ContentType="application/vnd.openxmlformats-officedocument.presentationml.notesSlide+xml"/>
  <Override PartName="/ppt/notesSlides/notesSlide18.xml" ContentType="application/vnd.openxmlformats-officedocument.presentationml.notesSlide+xml"/>
  <Override PartName="/ppt/notesSlides/notesSlide19.xml" ContentType="application/vnd.openxmlformats-officedocument.presentationml.notesSlide+xml"/>
  <Override PartName="/ppt/notesSlides/notesSlide20.xml" ContentType="application/vnd.openxmlformats-officedocument.presentationml.notesSlide+xml"/>
  <Override PartName="/ppt/notesSlides/notesSlide21.xml" ContentType="application/vnd.openxmlformats-officedocument.presentationml.notesSlide+xml"/>
  <Override PartName="/ppt/notesSlides/notesSlide22.xml" ContentType="application/vnd.openxmlformats-officedocument.presentationml.notesSlide+xml"/>
  <Override PartName="/ppt/notesSlides/notesSlide23.xml" ContentType="application/vnd.openxmlformats-officedocument.presentationml.notesSlide+xml"/>
  <Override PartName="/ppt/notesSlides/notesSlide24.xml" ContentType="application/vnd.openxmlformats-officedocument.presentationml.notesSlide+xml"/>
  <Override PartName="/ppt/notesSlides/notesSlide25.xml" ContentType="application/vnd.openxmlformats-officedocument.presentationml.notesSlide+xml"/>
  <Override PartName="/ppt/notesSlides/notesSlide26.xml" ContentType="application/vnd.openxmlformats-officedocument.presentationml.notesSlide+xml"/>
  <Override PartName="/ppt/notesSlides/notesSlide27.xml" ContentType="application/vnd.openxmlformats-officedocument.presentationml.notesSlide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package/2006/relationships/metadata/thumbnail" Target="docProps/thumbnail.jpeg"/><Relationship Id="rId1" Type="http://schemas.openxmlformats.org/officeDocument/2006/relationships/officeDocument" Target="ppt/presentation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removePersonalInfoOnSave="1" saveSubsetFonts="1">
  <p:sldMasterIdLst>
    <p:sldMasterId id="2147483648" r:id="rId1"/>
  </p:sldMasterIdLst>
  <p:notesMasterIdLst>
    <p:notesMasterId r:id="rId45"/>
  </p:notesMasterIdLst>
  <p:sldIdLst>
    <p:sldId id="362" r:id="rId2"/>
    <p:sldId id="363" r:id="rId3"/>
    <p:sldId id="271" r:id="rId4"/>
    <p:sldId id="277" r:id="rId5"/>
    <p:sldId id="279" r:id="rId6"/>
    <p:sldId id="280" r:id="rId7"/>
    <p:sldId id="281" r:id="rId8"/>
    <p:sldId id="290" r:id="rId9"/>
    <p:sldId id="291" r:id="rId10"/>
    <p:sldId id="292" r:id="rId11"/>
    <p:sldId id="293" r:id="rId12"/>
    <p:sldId id="294" r:id="rId13"/>
    <p:sldId id="295" r:id="rId14"/>
    <p:sldId id="287" r:id="rId15"/>
    <p:sldId id="288" r:id="rId16"/>
    <p:sldId id="296" r:id="rId17"/>
    <p:sldId id="310" r:id="rId18"/>
    <p:sldId id="311" r:id="rId19"/>
    <p:sldId id="312" r:id="rId20"/>
    <p:sldId id="313" r:id="rId21"/>
    <p:sldId id="314" r:id="rId22"/>
    <p:sldId id="315" r:id="rId23"/>
    <p:sldId id="316" r:id="rId24"/>
    <p:sldId id="317" r:id="rId25"/>
    <p:sldId id="265" r:id="rId26"/>
    <p:sldId id="360" r:id="rId27"/>
    <p:sldId id="283" r:id="rId28"/>
    <p:sldId id="284" r:id="rId29"/>
    <p:sldId id="285" r:id="rId30"/>
    <p:sldId id="286" r:id="rId31"/>
    <p:sldId id="339" r:id="rId32"/>
    <p:sldId id="340" r:id="rId33"/>
    <p:sldId id="319" r:id="rId34"/>
    <p:sldId id="353" r:id="rId35"/>
    <p:sldId id="320" r:id="rId36"/>
    <p:sldId id="354" r:id="rId37"/>
    <p:sldId id="345" r:id="rId38"/>
    <p:sldId id="330" r:id="rId39"/>
    <p:sldId id="356" r:id="rId40"/>
    <p:sldId id="331" r:id="rId41"/>
    <p:sldId id="332" r:id="rId42"/>
    <p:sldId id="333" r:id="rId43"/>
    <p:sldId id="359" r:id="rId44"/>
  </p:sldIdLst>
  <p:sldSz cx="12192000" cy="6858000"/>
  <p:notesSz cx="6858000" cy="9144000"/>
  <p:defaultTextStyle>
    <a:defPPr>
      <a:defRPr lang="LID4096"/>
    </a:defPPr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521415D9-36F7-43E2-AB2F-B90AF26B5E84}">
      <p14:sectionLst xmlns:p14="http://schemas.microsoft.com/office/powerpoint/2010/main">
        <p14:section name="Introduction" id="{BF80C54F-330E-49F8-99B7-D78073F66063}">
          <p14:sldIdLst>
            <p14:sldId id="362"/>
            <p14:sldId id="363"/>
          </p14:sldIdLst>
        </p14:section>
        <p14:section name="Syntactic restrictions" id="{75D5B019-CCA4-44F2-9C90-6C263C04CFF5}">
          <p14:sldIdLst>
            <p14:sldId id="271"/>
            <p14:sldId id="277"/>
            <p14:sldId id="279"/>
            <p14:sldId id="280"/>
            <p14:sldId id="281"/>
            <p14:sldId id="290"/>
            <p14:sldId id="291"/>
            <p14:sldId id="292"/>
            <p14:sldId id="293"/>
            <p14:sldId id="294"/>
            <p14:sldId id="295"/>
            <p14:sldId id="287"/>
            <p14:sldId id="288"/>
          </p14:sldIdLst>
        </p14:section>
        <p14:section name="Semantics" id="{AC3C089E-369F-44DC-8117-7C5D68DF2D6D}">
          <p14:sldIdLst>
            <p14:sldId id="296"/>
            <p14:sldId id="310"/>
            <p14:sldId id="311"/>
            <p14:sldId id="312"/>
            <p14:sldId id="313"/>
            <p14:sldId id="314"/>
            <p14:sldId id="315"/>
            <p14:sldId id="316"/>
          </p14:sldIdLst>
        </p14:section>
        <p14:section name="Evaluation and Contract-Violation Handling" id="{7572780D-475C-4231-B27B-49303C508DC2}">
          <p14:sldIdLst>
            <p14:sldId id="317"/>
            <p14:sldId id="265"/>
            <p14:sldId id="360"/>
            <p14:sldId id="283"/>
            <p14:sldId id="284"/>
            <p14:sldId id="285"/>
            <p14:sldId id="286"/>
            <p14:sldId id="339"/>
            <p14:sldId id="340"/>
          </p14:sldIdLst>
        </p14:section>
        <p14:section name="Noteworthy Design Consequences" id="{3870772D-70E2-4D03-AAC1-CA8522821587}">
          <p14:sldIdLst>
            <p14:sldId id="319"/>
            <p14:sldId id="353"/>
            <p14:sldId id="320"/>
            <p14:sldId id="354"/>
          </p14:sldIdLst>
        </p14:section>
        <p14:section name="Bonus Material" id="{D5B60F60-446D-44CA-808C-7B5D8E0D84AB}">
          <p14:sldIdLst>
            <p14:sldId id="345"/>
            <p14:sldId id="330"/>
            <p14:sldId id="356"/>
            <p14:sldId id="331"/>
            <p14:sldId id="332"/>
            <p14:sldId id="333"/>
          </p14:sldIdLst>
        </p14:section>
        <p14:section name="Final Word" id="{62FF508A-3773-47B6-8BD8-D1CB12C8E49B}">
          <p14:sldIdLst>
            <p14:sldId id="359"/>
          </p14:sldIdLst>
        </p14:section>
      </p14:sectionLst>
    </p:ext>
    <p:ext uri="{EFAFB233-063F-42B5-8137-9DF3F51BA10A}">
      <p15:sldGuideLst xmlns:p15="http://schemas.microsoft.com/office/powerpoint/2012/main"/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32767"/>
    </p:ext>
    <p:ext uri="{FD5EFAAD-0ECE-453E-9831-46B23BE46B34}">
      <p15:chartTrackingRefBased xmlns:p15="http://schemas.microsoft.com/office/powerpoint/2012/main" val="1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4995" autoAdjust="0"/>
    <p:restoredTop sz="88499" autoAdjust="0"/>
  </p:normalViewPr>
  <p:slideViewPr>
    <p:cSldViewPr snapToGrid="0">
      <p:cViewPr varScale="1">
        <p:scale>
          <a:sx n="90" d="100"/>
          <a:sy n="90" d="100"/>
        </p:scale>
        <p:origin x="1392" y="306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sorterViewPr>
    <p:cViewPr varScale="1">
      <p:scale>
        <a:sx n="100" d="100"/>
        <a:sy n="100" d="100"/>
      </p:scale>
      <p:origin x="0" y="0"/>
    </p:cViewPr>
  </p:sorterViewPr>
  <p:gridSpacing cx="72008" cy="72008"/>
</p:viewPr>
</file>

<file path=ppt/_rels/presentation.xml.rels><?xml version="1.0" encoding="UTF-8" standalone="yes"?>
<Relationships xmlns="http://schemas.openxmlformats.org/package/2006/relationships"><Relationship Id="rId13" Type="http://schemas.openxmlformats.org/officeDocument/2006/relationships/slide" Target="slides/slide12.xml"/><Relationship Id="rId18" Type="http://schemas.openxmlformats.org/officeDocument/2006/relationships/slide" Target="slides/slide17.xml"/><Relationship Id="rId26" Type="http://schemas.openxmlformats.org/officeDocument/2006/relationships/slide" Target="slides/slide25.xml"/><Relationship Id="rId39" Type="http://schemas.openxmlformats.org/officeDocument/2006/relationships/slide" Target="slides/slide38.xml"/><Relationship Id="rId21" Type="http://schemas.openxmlformats.org/officeDocument/2006/relationships/slide" Target="slides/slide20.xml"/><Relationship Id="rId34" Type="http://schemas.openxmlformats.org/officeDocument/2006/relationships/slide" Target="slides/slide33.xml"/><Relationship Id="rId42" Type="http://schemas.openxmlformats.org/officeDocument/2006/relationships/slide" Target="slides/slide41.xml"/><Relationship Id="rId47" Type="http://schemas.openxmlformats.org/officeDocument/2006/relationships/viewProps" Target="viewProps.xml"/><Relationship Id="rId7" Type="http://schemas.openxmlformats.org/officeDocument/2006/relationships/slide" Target="slides/slide6.xml"/><Relationship Id="rId2" Type="http://schemas.openxmlformats.org/officeDocument/2006/relationships/slide" Target="slides/slide1.xml"/><Relationship Id="rId16" Type="http://schemas.openxmlformats.org/officeDocument/2006/relationships/slide" Target="slides/slide15.xml"/><Relationship Id="rId29" Type="http://schemas.openxmlformats.org/officeDocument/2006/relationships/slide" Target="slides/slide28.xml"/><Relationship Id="rId11" Type="http://schemas.openxmlformats.org/officeDocument/2006/relationships/slide" Target="slides/slide10.xml"/><Relationship Id="rId24" Type="http://schemas.openxmlformats.org/officeDocument/2006/relationships/slide" Target="slides/slide23.xml"/><Relationship Id="rId32" Type="http://schemas.openxmlformats.org/officeDocument/2006/relationships/slide" Target="slides/slide31.xml"/><Relationship Id="rId37" Type="http://schemas.openxmlformats.org/officeDocument/2006/relationships/slide" Target="slides/slide36.xml"/><Relationship Id="rId40" Type="http://schemas.openxmlformats.org/officeDocument/2006/relationships/slide" Target="slides/slide39.xml"/><Relationship Id="rId45" Type="http://schemas.openxmlformats.org/officeDocument/2006/relationships/notesMaster" Target="notesMasters/notesMaster1.xml"/><Relationship Id="rId5" Type="http://schemas.openxmlformats.org/officeDocument/2006/relationships/slide" Target="slides/slide4.xml"/><Relationship Id="rId15" Type="http://schemas.openxmlformats.org/officeDocument/2006/relationships/slide" Target="slides/slide14.xml"/><Relationship Id="rId23" Type="http://schemas.openxmlformats.org/officeDocument/2006/relationships/slide" Target="slides/slide22.xml"/><Relationship Id="rId28" Type="http://schemas.openxmlformats.org/officeDocument/2006/relationships/slide" Target="slides/slide27.xml"/><Relationship Id="rId36" Type="http://schemas.openxmlformats.org/officeDocument/2006/relationships/slide" Target="slides/slide35.xml"/><Relationship Id="rId49" Type="http://schemas.openxmlformats.org/officeDocument/2006/relationships/tableStyles" Target="tableStyles.xml"/><Relationship Id="rId10" Type="http://schemas.openxmlformats.org/officeDocument/2006/relationships/slide" Target="slides/slide9.xml"/><Relationship Id="rId19" Type="http://schemas.openxmlformats.org/officeDocument/2006/relationships/slide" Target="slides/slide18.xml"/><Relationship Id="rId31" Type="http://schemas.openxmlformats.org/officeDocument/2006/relationships/slide" Target="slides/slide30.xml"/><Relationship Id="rId44" Type="http://schemas.openxmlformats.org/officeDocument/2006/relationships/slide" Target="slides/slide43.xml"/><Relationship Id="rId4" Type="http://schemas.openxmlformats.org/officeDocument/2006/relationships/slide" Target="slides/slide3.xml"/><Relationship Id="rId9" Type="http://schemas.openxmlformats.org/officeDocument/2006/relationships/slide" Target="slides/slide8.xml"/><Relationship Id="rId14" Type="http://schemas.openxmlformats.org/officeDocument/2006/relationships/slide" Target="slides/slide13.xml"/><Relationship Id="rId22" Type="http://schemas.openxmlformats.org/officeDocument/2006/relationships/slide" Target="slides/slide21.xml"/><Relationship Id="rId27" Type="http://schemas.openxmlformats.org/officeDocument/2006/relationships/slide" Target="slides/slide26.xml"/><Relationship Id="rId30" Type="http://schemas.openxmlformats.org/officeDocument/2006/relationships/slide" Target="slides/slide29.xml"/><Relationship Id="rId35" Type="http://schemas.openxmlformats.org/officeDocument/2006/relationships/slide" Target="slides/slide34.xml"/><Relationship Id="rId43" Type="http://schemas.openxmlformats.org/officeDocument/2006/relationships/slide" Target="slides/slide42.xml"/><Relationship Id="rId48" Type="http://schemas.openxmlformats.org/officeDocument/2006/relationships/theme" Target="theme/theme1.xml"/><Relationship Id="rId8" Type="http://schemas.openxmlformats.org/officeDocument/2006/relationships/slide" Target="slides/slide7.xml"/><Relationship Id="rId3" Type="http://schemas.openxmlformats.org/officeDocument/2006/relationships/slide" Target="slides/slide2.xml"/><Relationship Id="rId12" Type="http://schemas.openxmlformats.org/officeDocument/2006/relationships/slide" Target="slides/slide11.xml"/><Relationship Id="rId17" Type="http://schemas.openxmlformats.org/officeDocument/2006/relationships/slide" Target="slides/slide16.xml"/><Relationship Id="rId25" Type="http://schemas.openxmlformats.org/officeDocument/2006/relationships/slide" Target="slides/slide24.xml"/><Relationship Id="rId33" Type="http://schemas.openxmlformats.org/officeDocument/2006/relationships/slide" Target="slides/slide32.xml"/><Relationship Id="rId38" Type="http://schemas.openxmlformats.org/officeDocument/2006/relationships/slide" Target="slides/slide37.xml"/><Relationship Id="rId46" Type="http://schemas.openxmlformats.org/officeDocument/2006/relationships/presProps" Target="presProps.xml"/><Relationship Id="rId20" Type="http://schemas.openxmlformats.org/officeDocument/2006/relationships/slide" Target="slides/slide19.xml"/><Relationship Id="rId41" Type="http://schemas.openxmlformats.org/officeDocument/2006/relationships/slide" Target="slides/slide40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5.xml"/></Relationships>
</file>

<file path=ppt/notesMasters/_rels/notes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LID4096"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783BAA72-2E13-4C5F-BA73-0066557CFDE1}" type="datetimeFigureOut">
              <a:rPr lang="LID4096" smtClean="0"/>
              <a:t>03/13/2026</a:t>
            </a:fld>
            <a:endParaRPr lang="LID4096"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LID4096"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LID4096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LID4096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6CF219B2-5F88-4ACA-BAD7-2C0AE801E9FF}" type="slidenum">
              <a:rPr lang="LID4096" smtClean="0"/>
              <a:t>‹#›</a:t>
            </a:fld>
            <a:endParaRPr lang="LID4096"/>
          </a:p>
        </p:txBody>
      </p:sp>
    </p:spTree>
    <p:extLst>
      <p:ext uri="{BB962C8B-B14F-4D97-AF65-F5344CB8AC3E}">
        <p14:creationId xmlns:p14="http://schemas.microsoft.com/office/powerpoint/2010/main" val="2278190162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.xml"/><Relationship Id="rId1" Type="http://schemas.openxmlformats.org/officeDocument/2006/relationships/notesMaster" Target="../notesMasters/notesMaster1.xml"/></Relationships>
</file>

<file path=ppt/notesSlides/_rels/notesSlide2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.xml"/><Relationship Id="rId1" Type="http://schemas.openxmlformats.org/officeDocument/2006/relationships/notesMaster" Target="../notesMasters/notesMaster1.xml"/></Relationships>
</file>

<file path=ppt/notesSlides/_rels/notesSlide3.xml.rels><?xml version="1.0" encoding="UTF-8" standalone="yes"?>
<Relationships xmlns="http://schemas.openxmlformats.org/package/2006/relationships"><Relationship Id="rId2" Type="http://schemas.openxmlformats.org/officeDocument/2006/relationships/slide" Target="../slides/slide5.xml"/><Relationship Id="rId1" Type="http://schemas.openxmlformats.org/officeDocument/2006/relationships/notesMaster" Target="../notesMasters/notesMaster1.xml"/></Relationships>
</file>

<file path=ppt/notesSlides/_rels/notesSlide4.xml.rels><?xml version="1.0" encoding="UTF-8" standalone="yes"?>
<Relationships xmlns="http://schemas.openxmlformats.org/package/2006/relationships"><Relationship Id="rId2" Type="http://schemas.openxmlformats.org/officeDocument/2006/relationships/slide" Target="../slides/slide6.xml"/><Relationship Id="rId1" Type="http://schemas.openxmlformats.org/officeDocument/2006/relationships/notesMaster" Target="../notesMasters/notesMaster1.xml"/></Relationships>
</file>

<file path=ppt/notesSlides/_rels/notesSlide5.xml.rels><?xml version="1.0" encoding="UTF-8" standalone="yes"?>
<Relationships xmlns="http://schemas.openxmlformats.org/package/2006/relationships"><Relationship Id="rId2" Type="http://schemas.openxmlformats.org/officeDocument/2006/relationships/slide" Target="../slides/slide7.xml"/><Relationship Id="rId1" Type="http://schemas.openxmlformats.org/officeDocument/2006/relationships/notesMaster" Target="../notesMasters/notesMaster1.xml"/></Relationships>
</file>

<file path=ppt/notesSlides/_rels/notesSlide6.xml.rels><?xml version="1.0" encoding="UTF-8" standalone="yes"?>
<Relationships xmlns="http://schemas.openxmlformats.org/package/2006/relationships"><Relationship Id="rId2" Type="http://schemas.openxmlformats.org/officeDocument/2006/relationships/slide" Target="../slides/slide8.xml"/><Relationship Id="rId1" Type="http://schemas.openxmlformats.org/officeDocument/2006/relationships/notesMaster" Target="../notesMasters/notesMaster1.xml"/></Relationships>
</file>

<file path=ppt/notesSlides/_rels/notesSlide7.xml.rels><?xml version="1.0" encoding="UTF-8" standalone="yes"?>
<Relationships xmlns="http://schemas.openxmlformats.org/package/2006/relationships"><Relationship Id="rId2" Type="http://schemas.openxmlformats.org/officeDocument/2006/relationships/slide" Target="../slides/slide9.xml"/><Relationship Id="rId1" Type="http://schemas.openxmlformats.org/officeDocument/2006/relationships/notesMaster" Target="../notesMasters/notesMaster1.xml"/></Relationships>
</file>

<file path=ppt/notesSlides/_rels/notesSlide8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0.xml"/><Relationship Id="rId1" Type="http://schemas.openxmlformats.org/officeDocument/2006/relationships/notesMaster" Target="../notesMasters/notesMaster1.xml"/></Relationships>
</file>

<file path=ppt/notesSlides/_rels/notesSlide9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1.xml"/><Relationship Id="rId1" Type="http://schemas.openxmlformats.org/officeDocument/2006/relationships/notesMaster" Target="../notesMasters/notesMaster1.xml"/></Relationships>
</file>

<file path=ppt/notesSlides/_rels/notesSlide10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2.xml"/><Relationship Id="rId1" Type="http://schemas.openxmlformats.org/officeDocument/2006/relationships/notesMaster" Target="../notesMasters/notesMaster1.xml"/></Relationships>
</file>

<file path=ppt/notesSlides/_rels/notesSlide1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3.xml"/><Relationship Id="rId1" Type="http://schemas.openxmlformats.org/officeDocument/2006/relationships/notesMaster" Target="../notesMasters/notesMaster1.xml"/></Relationships>
</file>

<file path=ppt/notesSlides/_rels/notesSlide12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4.xml"/><Relationship Id="rId1" Type="http://schemas.openxmlformats.org/officeDocument/2006/relationships/notesMaster" Target="../notesMasters/notesMaster1.xml"/></Relationships>
</file>

<file path=ppt/notesSlides/_rels/notesSlide13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5.xml"/><Relationship Id="rId1" Type="http://schemas.openxmlformats.org/officeDocument/2006/relationships/notesMaster" Target="../notesMasters/notesMaster1.xml"/></Relationships>
</file>

<file path=ppt/notesSlides/_rels/notesSlide14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7.xml"/><Relationship Id="rId1" Type="http://schemas.openxmlformats.org/officeDocument/2006/relationships/notesMaster" Target="../notesMasters/notesMaster1.xml"/></Relationships>
</file>

<file path=ppt/notesSlides/_rels/notesSlide15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1.xml"/><Relationship Id="rId1" Type="http://schemas.openxmlformats.org/officeDocument/2006/relationships/notesMaster" Target="../notesMasters/notesMaster1.xml"/></Relationships>
</file>

<file path=ppt/notesSlides/_rels/notesSlide16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2.xml"/><Relationship Id="rId1" Type="http://schemas.openxmlformats.org/officeDocument/2006/relationships/notesMaster" Target="../notesMasters/notesMaster1.xml"/></Relationships>
</file>

<file path=ppt/notesSlides/_rels/notesSlide17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3.xml"/><Relationship Id="rId1" Type="http://schemas.openxmlformats.org/officeDocument/2006/relationships/notesMaster" Target="../notesMasters/notesMaster1.xml"/></Relationships>
</file>

<file path=ppt/notesSlides/_rels/notesSlide18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5.xml"/><Relationship Id="rId1" Type="http://schemas.openxmlformats.org/officeDocument/2006/relationships/notesMaster" Target="../notesMasters/notesMaster1.xml"/></Relationships>
</file>

<file path=ppt/notesSlides/_rels/notesSlide19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6.xml"/><Relationship Id="rId1" Type="http://schemas.openxmlformats.org/officeDocument/2006/relationships/notesMaster" Target="../notesMasters/notesMaster1.xml"/></Relationships>
</file>

<file path=ppt/notesSlides/_rels/notesSlide20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7.xml"/><Relationship Id="rId1" Type="http://schemas.openxmlformats.org/officeDocument/2006/relationships/notesMaster" Target="../notesMasters/notesMaster1.xml"/></Relationships>
</file>

<file path=ppt/notesSlides/_rels/notesSlide2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8.xml"/><Relationship Id="rId1" Type="http://schemas.openxmlformats.org/officeDocument/2006/relationships/notesMaster" Target="../notesMasters/notesMaster1.xml"/></Relationships>
</file>

<file path=ppt/notesSlides/_rels/notesSlide22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9.xml"/><Relationship Id="rId1" Type="http://schemas.openxmlformats.org/officeDocument/2006/relationships/notesMaster" Target="../notesMasters/notesMaster1.xml"/></Relationships>
</file>

<file path=ppt/notesSlides/_rels/notesSlide23.xml.rels><?xml version="1.0" encoding="UTF-8" standalone="yes"?>
<Relationships xmlns="http://schemas.openxmlformats.org/package/2006/relationships"><Relationship Id="rId2" Type="http://schemas.openxmlformats.org/officeDocument/2006/relationships/slide" Target="../slides/slide30.xml"/><Relationship Id="rId1" Type="http://schemas.openxmlformats.org/officeDocument/2006/relationships/notesMaster" Target="../notesMasters/notesMaster1.xml"/></Relationships>
</file>

<file path=ppt/notesSlides/_rels/notesSlide24.xml.rels><?xml version="1.0" encoding="UTF-8" standalone="yes"?>
<Relationships xmlns="http://schemas.openxmlformats.org/package/2006/relationships"><Relationship Id="rId2" Type="http://schemas.openxmlformats.org/officeDocument/2006/relationships/slide" Target="../slides/slide32.xml"/><Relationship Id="rId1" Type="http://schemas.openxmlformats.org/officeDocument/2006/relationships/notesMaster" Target="../notesMasters/notesMaster1.xml"/></Relationships>
</file>

<file path=ppt/notesSlides/_rels/notesSlide25.xml.rels><?xml version="1.0" encoding="UTF-8" standalone="yes"?>
<Relationships xmlns="http://schemas.openxmlformats.org/package/2006/relationships"><Relationship Id="rId2" Type="http://schemas.openxmlformats.org/officeDocument/2006/relationships/slide" Target="../slides/slide37.xml"/><Relationship Id="rId1" Type="http://schemas.openxmlformats.org/officeDocument/2006/relationships/notesMaster" Target="../notesMasters/notesMaster1.xml"/></Relationships>
</file>

<file path=ppt/notesSlides/_rels/notesSlide26.xml.rels><?xml version="1.0" encoding="UTF-8" standalone="yes"?>
<Relationships xmlns="http://schemas.openxmlformats.org/package/2006/relationships"><Relationship Id="rId2" Type="http://schemas.openxmlformats.org/officeDocument/2006/relationships/slide" Target="../slides/slide40.xml"/><Relationship Id="rId1" Type="http://schemas.openxmlformats.org/officeDocument/2006/relationships/notesMaster" Target="../notesMasters/notesMaster1.xml"/></Relationships>
</file>

<file path=ppt/notesSlides/_rels/notesSlide27.xml.rels><?xml version="1.0" encoding="UTF-8" standalone="yes"?>
<Relationships xmlns="http://schemas.openxmlformats.org/package/2006/relationships"><Relationship Id="rId2" Type="http://schemas.openxmlformats.org/officeDocument/2006/relationships/slide" Target="../slides/slide42.xml"/><Relationship Id="rId1" Type="http://schemas.openxmlformats.org/officeDocument/2006/relationships/notesMaster" Target="../notesMasters/notesMaster1.xml"/>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LID4096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6CF219B2-5F88-4ACA-BAD7-2C0AE801E9FF}" type="slidenum">
              <a:rPr lang="LID4096" smtClean="0"/>
              <a:t>1</a:t>
            </a:fld>
            <a:endParaRPr lang="LID4096"/>
          </a:p>
        </p:txBody>
      </p:sp>
    </p:spTree>
    <p:extLst>
      <p:ext uri="{BB962C8B-B14F-4D97-AF65-F5344CB8AC3E}">
        <p14:creationId xmlns:p14="http://schemas.microsoft.com/office/powerpoint/2010/main" val="4249801913"/>
      </p:ext>
    </p:extLst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LID4096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6CF219B2-5F88-4ACA-BAD7-2C0AE801E9FF}" type="slidenum">
              <a:rPr lang="LID4096" smtClean="0"/>
              <a:t>2</a:t>
            </a:fld>
            <a:endParaRPr lang="LID4096"/>
          </a:p>
        </p:txBody>
      </p:sp>
    </p:spTree>
    <p:extLst>
      <p:ext uri="{BB962C8B-B14F-4D97-AF65-F5344CB8AC3E}">
        <p14:creationId xmlns:p14="http://schemas.microsoft.com/office/powerpoint/2010/main" val="3904217131"/>
      </p:ext>
    </p:extLst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LID4096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6CF219B2-5F88-4ACA-BAD7-2C0AE801E9FF}" type="slidenum">
              <a:rPr lang="LID4096" smtClean="0"/>
              <a:t>5</a:t>
            </a:fld>
            <a:endParaRPr lang="LID4096"/>
          </a:p>
        </p:txBody>
      </p:sp>
    </p:spTree>
    <p:extLst>
      <p:ext uri="{BB962C8B-B14F-4D97-AF65-F5344CB8AC3E}">
        <p14:creationId xmlns:p14="http://schemas.microsoft.com/office/powerpoint/2010/main" val="987268895"/>
      </p:ext>
    </p:extLst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23FC7461-B646-3977-AAB4-C6785186678A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>
            <a:extLst>
              <a:ext uri="{FF2B5EF4-FFF2-40B4-BE49-F238E27FC236}">
                <a16:creationId xmlns:a16="http://schemas.microsoft.com/office/drawing/2014/main" id="{0A4BDAE9-E02E-8CAC-44DC-AE95CAA45896}"/>
              </a:ext>
            </a:extLst>
          </p:cNvPr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>
            <a:extLst>
              <a:ext uri="{FF2B5EF4-FFF2-40B4-BE49-F238E27FC236}">
                <a16:creationId xmlns:a16="http://schemas.microsoft.com/office/drawing/2014/main" id="{8863B3C9-774F-8E2B-5661-622C028A6EB9}"/>
              </a:ext>
            </a:extLst>
          </p:cNvPr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LID4096" dirty="0"/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13BE2EB2-6B0A-48A1-9C22-CCB16DB991C1}"/>
              </a:ext>
            </a:extLst>
          </p:cNvPr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6CF219B2-5F88-4ACA-BAD7-2C0AE801E9FF}" type="slidenum">
              <a:rPr lang="LID4096" smtClean="0"/>
              <a:t>6</a:t>
            </a:fld>
            <a:endParaRPr lang="LID4096"/>
          </a:p>
        </p:txBody>
      </p:sp>
    </p:spTree>
    <p:extLst>
      <p:ext uri="{BB962C8B-B14F-4D97-AF65-F5344CB8AC3E}">
        <p14:creationId xmlns:p14="http://schemas.microsoft.com/office/powerpoint/2010/main" val="1352966424"/>
      </p:ext>
    </p:extLst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LID4096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6CF219B2-5F88-4ACA-BAD7-2C0AE801E9FF}" type="slidenum">
              <a:rPr lang="LID4096" smtClean="0"/>
              <a:t>7</a:t>
            </a:fld>
            <a:endParaRPr lang="LID4096"/>
          </a:p>
        </p:txBody>
      </p:sp>
    </p:spTree>
    <p:extLst>
      <p:ext uri="{BB962C8B-B14F-4D97-AF65-F5344CB8AC3E}">
        <p14:creationId xmlns:p14="http://schemas.microsoft.com/office/powerpoint/2010/main" val="1370599597"/>
      </p:ext>
    </p:extLst>
  </p:cSld>
  <p:clrMapOvr>
    <a:masterClrMapping/>
  </p:clrMapOvr>
</p:notes>
</file>

<file path=ppt/notesSlides/notesSlide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LID4096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6CF219B2-5F88-4ACA-BAD7-2C0AE801E9FF}" type="slidenum">
              <a:rPr lang="LID4096" smtClean="0"/>
              <a:t>8</a:t>
            </a:fld>
            <a:endParaRPr lang="LID4096"/>
          </a:p>
        </p:txBody>
      </p:sp>
    </p:spTree>
    <p:extLst>
      <p:ext uri="{BB962C8B-B14F-4D97-AF65-F5344CB8AC3E}">
        <p14:creationId xmlns:p14="http://schemas.microsoft.com/office/powerpoint/2010/main" val="2419343744"/>
      </p:ext>
    </p:extLst>
  </p:cSld>
  <p:clrMapOvr>
    <a:masterClrMapping/>
  </p:clrMapOvr>
</p:notes>
</file>

<file path=ppt/notesSlides/notesSlide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LID4096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6CF219B2-5F88-4ACA-BAD7-2C0AE801E9FF}" type="slidenum">
              <a:rPr lang="LID4096" smtClean="0"/>
              <a:t>9</a:t>
            </a:fld>
            <a:endParaRPr lang="LID4096"/>
          </a:p>
        </p:txBody>
      </p:sp>
    </p:spTree>
    <p:extLst>
      <p:ext uri="{BB962C8B-B14F-4D97-AF65-F5344CB8AC3E}">
        <p14:creationId xmlns:p14="http://schemas.microsoft.com/office/powerpoint/2010/main" val="3689989541"/>
      </p:ext>
    </p:extLst>
  </p:cSld>
  <p:clrMapOvr>
    <a:masterClrMapping/>
  </p:clrMapOvr>
</p:notes>
</file>

<file path=ppt/notesSlides/notesSlide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CB850936-728F-BFC1-0444-B11BE2882A20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>
            <a:extLst>
              <a:ext uri="{FF2B5EF4-FFF2-40B4-BE49-F238E27FC236}">
                <a16:creationId xmlns:a16="http://schemas.microsoft.com/office/drawing/2014/main" id="{81AE0595-9A71-BC3B-F45B-60A211A08FF6}"/>
              </a:ext>
            </a:extLst>
          </p:cNvPr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>
            <a:extLst>
              <a:ext uri="{FF2B5EF4-FFF2-40B4-BE49-F238E27FC236}">
                <a16:creationId xmlns:a16="http://schemas.microsoft.com/office/drawing/2014/main" id="{EE33ACA2-EB0C-497B-7CEC-441560AAE843}"/>
              </a:ext>
            </a:extLst>
          </p:cNvPr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LID4096" dirty="0"/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239F22CA-4CF3-9CC4-B50A-24F68FC51DD9}"/>
              </a:ext>
            </a:extLst>
          </p:cNvPr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6CF219B2-5F88-4ACA-BAD7-2C0AE801E9FF}" type="slidenum">
              <a:rPr lang="LID4096" smtClean="0"/>
              <a:t>10</a:t>
            </a:fld>
            <a:endParaRPr lang="LID4096"/>
          </a:p>
        </p:txBody>
      </p:sp>
    </p:spTree>
    <p:extLst>
      <p:ext uri="{BB962C8B-B14F-4D97-AF65-F5344CB8AC3E}">
        <p14:creationId xmlns:p14="http://schemas.microsoft.com/office/powerpoint/2010/main" val="3069635814"/>
      </p:ext>
    </p:extLst>
  </p:cSld>
  <p:clrMapOvr>
    <a:masterClrMapping/>
  </p:clrMapOvr>
</p:notes>
</file>

<file path=ppt/notesSlides/notesSlide9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4C679C1E-04B3-B5DC-CCEA-CB0A2A391275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>
            <a:extLst>
              <a:ext uri="{FF2B5EF4-FFF2-40B4-BE49-F238E27FC236}">
                <a16:creationId xmlns:a16="http://schemas.microsoft.com/office/drawing/2014/main" id="{153F0316-6FE1-4C1A-B815-E8D75E1042B6}"/>
              </a:ext>
            </a:extLst>
          </p:cNvPr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>
            <a:extLst>
              <a:ext uri="{FF2B5EF4-FFF2-40B4-BE49-F238E27FC236}">
                <a16:creationId xmlns:a16="http://schemas.microsoft.com/office/drawing/2014/main" id="{A72CAB99-EE50-01CE-B700-51AAB18B094B}"/>
              </a:ext>
            </a:extLst>
          </p:cNvPr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LID4096" dirty="0"/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B855A2BF-A4FF-C287-2E72-F44968522CC3}"/>
              </a:ext>
            </a:extLst>
          </p:cNvPr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6CF219B2-5F88-4ACA-BAD7-2C0AE801E9FF}" type="slidenum">
              <a:rPr lang="LID4096" smtClean="0"/>
              <a:t>11</a:t>
            </a:fld>
            <a:endParaRPr lang="LID4096"/>
          </a:p>
        </p:txBody>
      </p:sp>
    </p:spTree>
    <p:extLst>
      <p:ext uri="{BB962C8B-B14F-4D97-AF65-F5344CB8AC3E}">
        <p14:creationId xmlns:p14="http://schemas.microsoft.com/office/powerpoint/2010/main" val="3249440575"/>
      </p:ext>
    </p:extLst>
  </p:cSld>
  <p:clrMapOvr>
    <a:masterClrMapping/>
  </p:clrMapOvr>
</p:notes>
</file>

<file path=ppt/notesSlides/notesSlide10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ABF6E34E-979B-BBF5-768A-4ABCD777CE90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>
            <a:extLst>
              <a:ext uri="{FF2B5EF4-FFF2-40B4-BE49-F238E27FC236}">
                <a16:creationId xmlns:a16="http://schemas.microsoft.com/office/drawing/2014/main" id="{0700D899-0DCB-3885-4157-B4E147E6A42C}"/>
              </a:ext>
            </a:extLst>
          </p:cNvPr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>
            <a:extLst>
              <a:ext uri="{FF2B5EF4-FFF2-40B4-BE49-F238E27FC236}">
                <a16:creationId xmlns:a16="http://schemas.microsoft.com/office/drawing/2014/main" id="{0DD51D9E-697B-C18B-CDEC-75601AF0D0E7}"/>
              </a:ext>
            </a:extLst>
          </p:cNvPr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LID4096" dirty="0"/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4A54FBD8-FDBF-FD94-D902-C2E095F088A1}"/>
              </a:ext>
            </a:extLst>
          </p:cNvPr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6CF219B2-5F88-4ACA-BAD7-2C0AE801E9FF}" type="slidenum">
              <a:rPr lang="LID4096" smtClean="0"/>
              <a:t>12</a:t>
            </a:fld>
            <a:endParaRPr lang="LID4096"/>
          </a:p>
        </p:txBody>
      </p:sp>
    </p:spTree>
    <p:extLst>
      <p:ext uri="{BB962C8B-B14F-4D97-AF65-F5344CB8AC3E}">
        <p14:creationId xmlns:p14="http://schemas.microsoft.com/office/powerpoint/2010/main" val="3751852990"/>
      </p:ext>
    </p:extLst>
  </p:cSld>
  <p:clrMapOvr>
    <a:masterClrMapping/>
  </p:clrMapOvr>
</p:notes>
</file>

<file path=ppt/notesSlides/notesSlide1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122A8455-FC2F-4A8C-985B-C6878CDD012D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>
            <a:extLst>
              <a:ext uri="{FF2B5EF4-FFF2-40B4-BE49-F238E27FC236}">
                <a16:creationId xmlns:a16="http://schemas.microsoft.com/office/drawing/2014/main" id="{5A63F514-5053-DDFC-10AD-559903865A04}"/>
              </a:ext>
            </a:extLst>
          </p:cNvPr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>
            <a:extLst>
              <a:ext uri="{FF2B5EF4-FFF2-40B4-BE49-F238E27FC236}">
                <a16:creationId xmlns:a16="http://schemas.microsoft.com/office/drawing/2014/main" id="{D00E6E8D-C63D-93BD-CED9-15B89422F28C}"/>
              </a:ext>
            </a:extLst>
          </p:cNvPr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lang="en-US" dirty="0"/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2F7C10BE-0544-2680-BF0F-FE545B5FFA75}"/>
              </a:ext>
            </a:extLst>
          </p:cNvPr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6CF219B2-5F88-4ACA-BAD7-2C0AE801E9FF}" type="slidenum">
              <a:rPr lang="LID4096" smtClean="0"/>
              <a:t>13</a:t>
            </a:fld>
            <a:endParaRPr lang="LID4096"/>
          </a:p>
        </p:txBody>
      </p:sp>
    </p:spTree>
    <p:extLst>
      <p:ext uri="{BB962C8B-B14F-4D97-AF65-F5344CB8AC3E}">
        <p14:creationId xmlns:p14="http://schemas.microsoft.com/office/powerpoint/2010/main" val="3753273140"/>
      </p:ext>
    </p:extLst>
  </p:cSld>
  <p:clrMapOvr>
    <a:masterClrMapping/>
  </p:clrMapOvr>
</p:notes>
</file>

<file path=ppt/notesSlides/notesSlide1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LID4096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6CF219B2-5F88-4ACA-BAD7-2C0AE801E9FF}" type="slidenum">
              <a:rPr lang="LID4096" smtClean="0"/>
              <a:t>14</a:t>
            </a:fld>
            <a:endParaRPr lang="LID4096"/>
          </a:p>
        </p:txBody>
      </p:sp>
    </p:spTree>
    <p:extLst>
      <p:ext uri="{BB962C8B-B14F-4D97-AF65-F5344CB8AC3E}">
        <p14:creationId xmlns:p14="http://schemas.microsoft.com/office/powerpoint/2010/main" val="2265987969"/>
      </p:ext>
    </p:extLst>
  </p:cSld>
  <p:clrMapOvr>
    <a:masterClrMapping/>
  </p:clrMapOvr>
</p:notes>
</file>

<file path=ppt/notesSlides/notesSlide1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BB31EB8D-C324-BA17-AEE3-B0E75B116A7C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>
            <a:extLst>
              <a:ext uri="{FF2B5EF4-FFF2-40B4-BE49-F238E27FC236}">
                <a16:creationId xmlns:a16="http://schemas.microsoft.com/office/drawing/2014/main" id="{4F6C74FD-2F47-6F22-BA9E-59BE58B770EC}"/>
              </a:ext>
            </a:extLst>
          </p:cNvPr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>
            <a:extLst>
              <a:ext uri="{FF2B5EF4-FFF2-40B4-BE49-F238E27FC236}">
                <a16:creationId xmlns:a16="http://schemas.microsoft.com/office/drawing/2014/main" id="{DB62AA4C-6F6B-E88B-2E11-591158B1E4A9}"/>
              </a:ext>
            </a:extLst>
          </p:cNvPr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LID4096" dirty="0"/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03800CD3-A7E7-9508-E22C-8CC149C02B46}"/>
              </a:ext>
            </a:extLst>
          </p:cNvPr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6CF219B2-5F88-4ACA-BAD7-2C0AE801E9FF}" type="slidenum">
              <a:rPr lang="LID4096" smtClean="0"/>
              <a:t>15</a:t>
            </a:fld>
            <a:endParaRPr lang="LID4096"/>
          </a:p>
        </p:txBody>
      </p:sp>
    </p:spTree>
    <p:extLst>
      <p:ext uri="{BB962C8B-B14F-4D97-AF65-F5344CB8AC3E}">
        <p14:creationId xmlns:p14="http://schemas.microsoft.com/office/powerpoint/2010/main" val="2130289709"/>
      </p:ext>
    </p:extLst>
  </p:cSld>
  <p:clrMapOvr>
    <a:masterClrMapping/>
  </p:clrMapOvr>
</p:notes>
</file>

<file path=ppt/notesSlides/notesSlide1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LID4096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6CF219B2-5F88-4ACA-BAD7-2C0AE801E9FF}" type="slidenum">
              <a:rPr lang="LID4096" smtClean="0"/>
              <a:t>17</a:t>
            </a:fld>
            <a:endParaRPr lang="LID4096"/>
          </a:p>
        </p:txBody>
      </p:sp>
    </p:spTree>
    <p:extLst>
      <p:ext uri="{BB962C8B-B14F-4D97-AF65-F5344CB8AC3E}">
        <p14:creationId xmlns:p14="http://schemas.microsoft.com/office/powerpoint/2010/main" val="3478259361"/>
      </p:ext>
    </p:extLst>
  </p:cSld>
  <p:clrMapOvr>
    <a:masterClrMapping/>
  </p:clrMapOvr>
</p:notes>
</file>

<file path=ppt/notesSlides/notesSlide1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LID4096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6CF219B2-5F88-4ACA-BAD7-2C0AE801E9FF}" type="slidenum">
              <a:rPr lang="LID4096" smtClean="0"/>
              <a:t>21</a:t>
            </a:fld>
            <a:endParaRPr lang="LID4096"/>
          </a:p>
        </p:txBody>
      </p:sp>
    </p:spTree>
    <p:extLst>
      <p:ext uri="{BB962C8B-B14F-4D97-AF65-F5344CB8AC3E}">
        <p14:creationId xmlns:p14="http://schemas.microsoft.com/office/powerpoint/2010/main" val="3045088864"/>
      </p:ext>
    </p:extLst>
  </p:cSld>
  <p:clrMapOvr>
    <a:masterClrMapping/>
  </p:clrMapOvr>
</p:notes>
</file>

<file path=ppt/notesSlides/notesSlide1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AC0F5B7B-5E71-9910-3915-497B4D7109F9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>
            <a:extLst>
              <a:ext uri="{FF2B5EF4-FFF2-40B4-BE49-F238E27FC236}">
                <a16:creationId xmlns:a16="http://schemas.microsoft.com/office/drawing/2014/main" id="{D4AA2249-DADF-7384-6165-63F8178DDE0C}"/>
              </a:ext>
            </a:extLst>
          </p:cNvPr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>
            <a:extLst>
              <a:ext uri="{FF2B5EF4-FFF2-40B4-BE49-F238E27FC236}">
                <a16:creationId xmlns:a16="http://schemas.microsoft.com/office/drawing/2014/main" id="{0CE0632A-6D86-C0AB-C48A-C57693B43721}"/>
              </a:ext>
            </a:extLst>
          </p:cNvPr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LID4096" dirty="0"/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EB48FAA5-D22E-3A60-21F6-F02C4D02F024}"/>
              </a:ext>
            </a:extLst>
          </p:cNvPr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6CF219B2-5F88-4ACA-BAD7-2C0AE801E9FF}" type="slidenum">
              <a:rPr lang="LID4096" smtClean="0"/>
              <a:t>22</a:t>
            </a:fld>
            <a:endParaRPr lang="LID4096"/>
          </a:p>
        </p:txBody>
      </p:sp>
    </p:spTree>
    <p:extLst>
      <p:ext uri="{BB962C8B-B14F-4D97-AF65-F5344CB8AC3E}">
        <p14:creationId xmlns:p14="http://schemas.microsoft.com/office/powerpoint/2010/main" val="1111705442"/>
      </p:ext>
    </p:extLst>
  </p:cSld>
  <p:clrMapOvr>
    <a:masterClrMapping/>
  </p:clrMapOvr>
</p:notes>
</file>

<file path=ppt/notesSlides/notesSlide1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48FE3BDF-7CCE-473D-45B6-6DA2B9E46F7E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>
            <a:extLst>
              <a:ext uri="{FF2B5EF4-FFF2-40B4-BE49-F238E27FC236}">
                <a16:creationId xmlns:a16="http://schemas.microsoft.com/office/drawing/2014/main" id="{02FB3658-F6DF-C0EC-84FC-4CBE68C6F712}"/>
              </a:ext>
            </a:extLst>
          </p:cNvPr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>
            <a:extLst>
              <a:ext uri="{FF2B5EF4-FFF2-40B4-BE49-F238E27FC236}">
                <a16:creationId xmlns:a16="http://schemas.microsoft.com/office/drawing/2014/main" id="{A5DA7535-5171-7487-DB82-9C9AF4D7886E}"/>
              </a:ext>
            </a:extLst>
          </p:cNvPr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LID4096" dirty="0"/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F4EA45E6-B94B-DECD-B38F-EACE6DCEDB83}"/>
              </a:ext>
            </a:extLst>
          </p:cNvPr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6CF219B2-5F88-4ACA-BAD7-2C0AE801E9FF}" type="slidenum">
              <a:rPr lang="LID4096" smtClean="0"/>
              <a:t>23</a:t>
            </a:fld>
            <a:endParaRPr lang="LID4096"/>
          </a:p>
        </p:txBody>
      </p:sp>
    </p:spTree>
    <p:extLst>
      <p:ext uri="{BB962C8B-B14F-4D97-AF65-F5344CB8AC3E}">
        <p14:creationId xmlns:p14="http://schemas.microsoft.com/office/powerpoint/2010/main" val="51249150"/>
      </p:ext>
    </p:extLst>
  </p:cSld>
  <p:clrMapOvr>
    <a:masterClrMapping/>
  </p:clrMapOvr>
</p:notes>
</file>

<file path=ppt/notesSlides/notesSlide1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LID4096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6CF219B2-5F88-4ACA-BAD7-2C0AE801E9FF}" type="slidenum">
              <a:rPr lang="LID4096" smtClean="0"/>
              <a:t>25</a:t>
            </a:fld>
            <a:endParaRPr lang="LID4096"/>
          </a:p>
        </p:txBody>
      </p:sp>
    </p:spTree>
    <p:extLst>
      <p:ext uri="{BB962C8B-B14F-4D97-AF65-F5344CB8AC3E}">
        <p14:creationId xmlns:p14="http://schemas.microsoft.com/office/powerpoint/2010/main" val="4276910285"/>
      </p:ext>
    </p:extLst>
  </p:cSld>
  <p:clrMapOvr>
    <a:masterClrMapping/>
  </p:clrMapOvr>
</p:notes>
</file>

<file path=ppt/notesSlides/notesSlide19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822FB0CA-2AC8-B5DE-D1C9-1AE1A37B7CAB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>
            <a:extLst>
              <a:ext uri="{FF2B5EF4-FFF2-40B4-BE49-F238E27FC236}">
                <a16:creationId xmlns:a16="http://schemas.microsoft.com/office/drawing/2014/main" id="{F47ABAAC-E222-460F-D8B9-709CC9E19910}"/>
              </a:ext>
            </a:extLst>
          </p:cNvPr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>
            <a:extLst>
              <a:ext uri="{FF2B5EF4-FFF2-40B4-BE49-F238E27FC236}">
                <a16:creationId xmlns:a16="http://schemas.microsoft.com/office/drawing/2014/main" id="{643B37E4-166D-25B1-427C-A1669D5EB768}"/>
              </a:ext>
            </a:extLst>
          </p:cNvPr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LID4096" dirty="0"/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BDCD8501-4383-2AC1-AE89-985E5C4D9F1E}"/>
              </a:ext>
            </a:extLst>
          </p:cNvPr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6CF219B2-5F88-4ACA-BAD7-2C0AE801E9FF}" type="slidenum">
              <a:rPr lang="LID4096" smtClean="0"/>
              <a:t>26</a:t>
            </a:fld>
            <a:endParaRPr lang="LID4096"/>
          </a:p>
        </p:txBody>
      </p:sp>
    </p:spTree>
    <p:extLst>
      <p:ext uri="{BB962C8B-B14F-4D97-AF65-F5344CB8AC3E}">
        <p14:creationId xmlns:p14="http://schemas.microsoft.com/office/powerpoint/2010/main" val="188595330"/>
      </p:ext>
    </p:extLst>
  </p:cSld>
  <p:clrMapOvr>
    <a:masterClrMapping/>
  </p:clrMapOvr>
</p:notes>
</file>

<file path=ppt/notesSlides/notesSlide20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2C784925-2497-9488-BB4A-F91F2F2749E4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>
            <a:extLst>
              <a:ext uri="{FF2B5EF4-FFF2-40B4-BE49-F238E27FC236}">
                <a16:creationId xmlns:a16="http://schemas.microsoft.com/office/drawing/2014/main" id="{E82A0EE0-D244-EA4E-801B-8DBFEAF9C5F6}"/>
              </a:ext>
            </a:extLst>
          </p:cNvPr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>
            <a:extLst>
              <a:ext uri="{FF2B5EF4-FFF2-40B4-BE49-F238E27FC236}">
                <a16:creationId xmlns:a16="http://schemas.microsoft.com/office/drawing/2014/main" id="{DB4A7809-D363-360D-5B3A-CF46891449BC}"/>
              </a:ext>
            </a:extLst>
          </p:cNvPr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lang="en-US" dirty="0"/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2B58C172-38B4-DBD3-3B04-713E0CA0F674}"/>
              </a:ext>
            </a:extLst>
          </p:cNvPr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6CF219B2-5F88-4ACA-BAD7-2C0AE801E9FF}" type="slidenum">
              <a:rPr lang="LID4096" smtClean="0"/>
              <a:t>27</a:t>
            </a:fld>
            <a:endParaRPr lang="LID4096"/>
          </a:p>
        </p:txBody>
      </p:sp>
    </p:spTree>
    <p:extLst>
      <p:ext uri="{BB962C8B-B14F-4D97-AF65-F5344CB8AC3E}">
        <p14:creationId xmlns:p14="http://schemas.microsoft.com/office/powerpoint/2010/main" val="1056340160"/>
      </p:ext>
    </p:extLst>
  </p:cSld>
  <p:clrMapOvr>
    <a:masterClrMapping/>
  </p:clrMapOvr>
</p:notes>
</file>

<file path=ppt/notesSlides/notesSlide2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D6FCCAD2-2A9E-4FD2-63CD-9BBA694C2CF5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>
            <a:extLst>
              <a:ext uri="{FF2B5EF4-FFF2-40B4-BE49-F238E27FC236}">
                <a16:creationId xmlns:a16="http://schemas.microsoft.com/office/drawing/2014/main" id="{301B7862-990E-732C-9708-81787AD4B1C0}"/>
              </a:ext>
            </a:extLst>
          </p:cNvPr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>
            <a:extLst>
              <a:ext uri="{FF2B5EF4-FFF2-40B4-BE49-F238E27FC236}">
                <a16:creationId xmlns:a16="http://schemas.microsoft.com/office/drawing/2014/main" id="{E11570D2-0E89-84A1-421A-038A55C41A8C}"/>
              </a:ext>
            </a:extLst>
          </p:cNvPr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LID4096" dirty="0"/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55B9DC5D-E475-1C0B-C0A4-990FC4B75C55}"/>
              </a:ext>
            </a:extLst>
          </p:cNvPr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6CF219B2-5F88-4ACA-BAD7-2C0AE801E9FF}" type="slidenum">
              <a:rPr lang="LID4096" smtClean="0"/>
              <a:t>28</a:t>
            </a:fld>
            <a:endParaRPr lang="LID4096"/>
          </a:p>
        </p:txBody>
      </p:sp>
    </p:spTree>
    <p:extLst>
      <p:ext uri="{BB962C8B-B14F-4D97-AF65-F5344CB8AC3E}">
        <p14:creationId xmlns:p14="http://schemas.microsoft.com/office/powerpoint/2010/main" val="3066142649"/>
      </p:ext>
    </p:extLst>
  </p:cSld>
  <p:clrMapOvr>
    <a:masterClrMapping/>
  </p:clrMapOvr>
</p:notes>
</file>

<file path=ppt/notesSlides/notesSlide2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6AB33767-6BAD-1CC4-08BC-53CA1727DF7E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>
            <a:extLst>
              <a:ext uri="{FF2B5EF4-FFF2-40B4-BE49-F238E27FC236}">
                <a16:creationId xmlns:a16="http://schemas.microsoft.com/office/drawing/2014/main" id="{E41E86BA-9A4D-85F1-BF6F-D90656CEEF4B}"/>
              </a:ext>
            </a:extLst>
          </p:cNvPr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>
            <a:extLst>
              <a:ext uri="{FF2B5EF4-FFF2-40B4-BE49-F238E27FC236}">
                <a16:creationId xmlns:a16="http://schemas.microsoft.com/office/drawing/2014/main" id="{3B4BC373-FC5A-6F53-560B-66B762894809}"/>
              </a:ext>
            </a:extLst>
          </p:cNvPr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LID4096" dirty="0"/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1F4721BC-AE86-65AC-2BF2-BAC20F747A6C}"/>
              </a:ext>
            </a:extLst>
          </p:cNvPr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6CF219B2-5F88-4ACA-BAD7-2C0AE801E9FF}" type="slidenum">
              <a:rPr lang="LID4096" smtClean="0"/>
              <a:t>29</a:t>
            </a:fld>
            <a:endParaRPr lang="LID4096"/>
          </a:p>
        </p:txBody>
      </p:sp>
    </p:spTree>
    <p:extLst>
      <p:ext uri="{BB962C8B-B14F-4D97-AF65-F5344CB8AC3E}">
        <p14:creationId xmlns:p14="http://schemas.microsoft.com/office/powerpoint/2010/main" val="4142804218"/>
      </p:ext>
    </p:extLst>
  </p:cSld>
  <p:clrMapOvr>
    <a:masterClrMapping/>
  </p:clrMapOvr>
</p:notes>
</file>

<file path=ppt/notesSlides/notesSlide2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4447BC9B-E765-B8DC-820C-20A39DA5A993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>
            <a:extLst>
              <a:ext uri="{FF2B5EF4-FFF2-40B4-BE49-F238E27FC236}">
                <a16:creationId xmlns:a16="http://schemas.microsoft.com/office/drawing/2014/main" id="{9FCEA4A1-CEE1-C133-86E6-9479B35C22E9}"/>
              </a:ext>
            </a:extLst>
          </p:cNvPr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>
            <a:extLst>
              <a:ext uri="{FF2B5EF4-FFF2-40B4-BE49-F238E27FC236}">
                <a16:creationId xmlns:a16="http://schemas.microsoft.com/office/drawing/2014/main" id="{1BC7A4BD-32ED-E1C5-4C01-1C93436FDC44}"/>
              </a:ext>
            </a:extLst>
          </p:cNvPr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LID4096" dirty="0"/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194D00DE-1661-D0BB-5179-35C30D101BEC}"/>
              </a:ext>
            </a:extLst>
          </p:cNvPr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6CF219B2-5F88-4ACA-BAD7-2C0AE801E9FF}" type="slidenum">
              <a:rPr lang="LID4096" smtClean="0"/>
              <a:t>30</a:t>
            </a:fld>
            <a:endParaRPr lang="LID4096"/>
          </a:p>
        </p:txBody>
      </p:sp>
    </p:spTree>
    <p:extLst>
      <p:ext uri="{BB962C8B-B14F-4D97-AF65-F5344CB8AC3E}">
        <p14:creationId xmlns:p14="http://schemas.microsoft.com/office/powerpoint/2010/main" val="665665886"/>
      </p:ext>
    </p:extLst>
  </p:cSld>
  <p:clrMapOvr>
    <a:masterClrMapping/>
  </p:clrMapOvr>
</p:notes>
</file>

<file path=ppt/notesSlides/notesSlide2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63E7E5A1-F2ED-564B-0F6A-F07400E1A79D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>
            <a:extLst>
              <a:ext uri="{FF2B5EF4-FFF2-40B4-BE49-F238E27FC236}">
                <a16:creationId xmlns:a16="http://schemas.microsoft.com/office/drawing/2014/main" id="{AD91A211-14E9-A1B6-17B5-399DED4BD3A5}"/>
              </a:ext>
            </a:extLst>
          </p:cNvPr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>
            <a:extLst>
              <a:ext uri="{FF2B5EF4-FFF2-40B4-BE49-F238E27FC236}">
                <a16:creationId xmlns:a16="http://schemas.microsoft.com/office/drawing/2014/main" id="{BEDBF96F-7E2F-C234-96E4-55995CAE8770}"/>
              </a:ext>
            </a:extLst>
          </p:cNvPr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LID4096" dirty="0"/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E0A8F08F-5387-313B-CB48-2E511975D273}"/>
              </a:ext>
            </a:extLst>
          </p:cNvPr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6CF219B2-5F88-4ACA-BAD7-2C0AE801E9FF}" type="slidenum">
              <a:rPr lang="LID4096" smtClean="0"/>
              <a:t>32</a:t>
            </a:fld>
            <a:endParaRPr lang="LID4096"/>
          </a:p>
        </p:txBody>
      </p:sp>
    </p:spTree>
    <p:extLst>
      <p:ext uri="{BB962C8B-B14F-4D97-AF65-F5344CB8AC3E}">
        <p14:creationId xmlns:p14="http://schemas.microsoft.com/office/powerpoint/2010/main" val="3542965236"/>
      </p:ext>
    </p:extLst>
  </p:cSld>
  <p:clrMapOvr>
    <a:masterClrMapping/>
  </p:clrMapOvr>
</p:notes>
</file>

<file path=ppt/notesSlides/notesSlide2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LID4096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6CF219B2-5F88-4ACA-BAD7-2C0AE801E9FF}" type="slidenum">
              <a:rPr lang="LID4096" smtClean="0"/>
              <a:t>37</a:t>
            </a:fld>
            <a:endParaRPr lang="LID4096"/>
          </a:p>
        </p:txBody>
      </p:sp>
    </p:spTree>
    <p:extLst>
      <p:ext uri="{BB962C8B-B14F-4D97-AF65-F5344CB8AC3E}">
        <p14:creationId xmlns:p14="http://schemas.microsoft.com/office/powerpoint/2010/main" val="1597648409"/>
      </p:ext>
    </p:extLst>
  </p:cSld>
  <p:clrMapOvr>
    <a:masterClrMapping/>
  </p:clrMapOvr>
</p:notes>
</file>

<file path=ppt/notesSlides/notesSlide2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LID4096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6CF219B2-5F88-4ACA-BAD7-2C0AE801E9FF}" type="slidenum">
              <a:rPr lang="LID4096" smtClean="0"/>
              <a:t>40</a:t>
            </a:fld>
            <a:endParaRPr lang="LID4096"/>
          </a:p>
        </p:txBody>
      </p:sp>
    </p:spTree>
    <p:extLst>
      <p:ext uri="{BB962C8B-B14F-4D97-AF65-F5344CB8AC3E}">
        <p14:creationId xmlns:p14="http://schemas.microsoft.com/office/powerpoint/2010/main" val="4148012016"/>
      </p:ext>
    </p:extLst>
  </p:cSld>
  <p:clrMapOvr>
    <a:masterClrMapping/>
  </p:clrMapOvr>
</p:notes>
</file>

<file path=ppt/notesSlides/notesSlide2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LID4096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6CF219B2-5F88-4ACA-BAD7-2C0AE801E9FF}" type="slidenum">
              <a:rPr lang="LID4096" smtClean="0"/>
              <a:t>42</a:t>
            </a:fld>
            <a:endParaRPr lang="LID4096"/>
          </a:p>
        </p:txBody>
      </p:sp>
    </p:spTree>
    <p:extLst>
      <p:ext uri="{BB962C8B-B14F-4D97-AF65-F5344CB8AC3E}">
        <p14:creationId xmlns:p14="http://schemas.microsoft.com/office/powerpoint/2010/main" val="2862311119"/>
      </p:ext>
    </p:extLst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7FE6CD53-9105-4EE1-F646-A9B150B97C68}"/>
              </a:ext>
            </a:extLst>
          </p:cNvPr>
          <p:cNvSpPr>
            <a:spLocks noGrp="1"/>
          </p:cNvSpPr>
          <p:nvPr>
            <p:ph type="ctrTitle"/>
          </p:nvPr>
        </p:nvSpPr>
        <p:spPr>
          <a:xfrm>
            <a:off x="1524000" y="1122363"/>
            <a:ext cx="9144000" cy="2387600"/>
          </a:xfrm>
        </p:spPr>
        <p:txBody>
          <a:bodyPr anchor="b"/>
          <a:lstStyle>
            <a:lvl1pPr algn="ctr">
              <a:defRPr sz="6000"/>
            </a:lvl1pPr>
          </a:lstStyle>
          <a:p>
            <a:r>
              <a:rPr lang="en-US"/>
              <a:t>Click to edit Master title style</a:t>
            </a:r>
            <a:endParaRPr lang="LID4096"/>
          </a:p>
        </p:txBody>
      </p:sp>
      <p:sp>
        <p:nvSpPr>
          <p:cNvPr id="3" name="Subtitle 2">
            <a:extLst>
              <a:ext uri="{FF2B5EF4-FFF2-40B4-BE49-F238E27FC236}">
                <a16:creationId xmlns:a16="http://schemas.microsoft.com/office/drawing/2014/main" id="{BFDF79E4-1AE2-9C94-6873-7EE959CD2B9C}"/>
              </a:ext>
            </a:extLst>
          </p:cNvPr>
          <p:cNvSpPr>
            <a:spLocks noGrp="1"/>
          </p:cNvSpPr>
          <p:nvPr>
            <p:ph type="subTitle" idx="1"/>
          </p:nvPr>
        </p:nvSpPr>
        <p:spPr>
          <a:xfrm>
            <a:off x="1524000" y="3602038"/>
            <a:ext cx="9144000" cy="1655762"/>
          </a:xfrm>
        </p:spPr>
        <p:txBody>
          <a:bodyPr/>
          <a:lstStyle>
            <a:lvl1pPr marL="0" indent="0" algn="ctr">
              <a:buNone/>
              <a:defRPr sz="2400"/>
            </a:lvl1pPr>
            <a:lvl2pPr marL="457200" indent="0" algn="ctr">
              <a:buNone/>
              <a:defRPr sz="2000"/>
            </a:lvl2pPr>
            <a:lvl3pPr marL="914400" indent="0" algn="ctr">
              <a:buNone/>
              <a:defRPr sz="1800"/>
            </a:lvl3pPr>
            <a:lvl4pPr marL="1371600" indent="0" algn="ctr">
              <a:buNone/>
              <a:defRPr sz="1600"/>
            </a:lvl4pPr>
            <a:lvl5pPr marL="1828800" indent="0" algn="ctr">
              <a:buNone/>
              <a:defRPr sz="1600"/>
            </a:lvl5pPr>
            <a:lvl6pPr marL="2286000" indent="0" algn="ctr">
              <a:buNone/>
              <a:defRPr sz="1600"/>
            </a:lvl6pPr>
            <a:lvl7pPr marL="2743200" indent="0" algn="ctr">
              <a:buNone/>
              <a:defRPr sz="1600"/>
            </a:lvl7pPr>
            <a:lvl8pPr marL="3200400" indent="0" algn="ctr">
              <a:buNone/>
              <a:defRPr sz="1600"/>
            </a:lvl8pPr>
            <a:lvl9pPr marL="3657600" indent="0" algn="ctr">
              <a:buNone/>
              <a:defRPr sz="1600"/>
            </a:lvl9pPr>
          </a:lstStyle>
          <a:p>
            <a:r>
              <a:rPr lang="en-US"/>
              <a:t>Click to edit Master subtitle style</a:t>
            </a:r>
            <a:endParaRPr lang="LID4096"/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F3E80559-E302-399D-3DC1-F865C88A77C3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F70040CA-D826-42C8-BBC6-4F9AB0811419}" type="datetime1">
              <a:rPr lang="LID4096" smtClean="0"/>
              <a:t>03/13/2026</a:t>
            </a:fld>
            <a:endParaRPr lang="LID4096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48DB655E-E297-F8BB-EAAD-65E3F07D4EDF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LID4096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EED8C362-D956-7941-39B8-598C61C532D7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256C2A35-81CC-4088-9903-628FC5B16538}" type="slidenum">
              <a:rPr lang="LID4096" smtClean="0"/>
              <a:t>‹#›</a:t>
            </a:fld>
            <a:endParaRPr lang="LID4096"/>
          </a:p>
        </p:txBody>
      </p:sp>
    </p:spTree>
    <p:extLst>
      <p:ext uri="{BB962C8B-B14F-4D97-AF65-F5344CB8AC3E}">
        <p14:creationId xmlns:p14="http://schemas.microsoft.com/office/powerpoint/2010/main" val="2454746200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6316B923-61D9-EEF1-B49F-2EDA17180148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  <a:endParaRPr lang="LID4096"/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A16D9C5D-0970-528A-2AC2-21D9E4872D29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LID4096"/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CE993C34-FC64-F681-09C6-1B37787C3EE5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03A7CEDD-E3BD-4F86-A1C0-5F77DAC3B1B3}" type="datetime1">
              <a:rPr lang="LID4096" smtClean="0"/>
              <a:t>03/13/2026</a:t>
            </a:fld>
            <a:endParaRPr lang="LID4096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0D6BB1E5-CFEE-4B21-C61B-9D6EDD1308C3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LID4096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172F6D7D-B666-9559-C089-31B0E03AD14D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256C2A35-81CC-4088-9903-628FC5B16538}" type="slidenum">
              <a:rPr lang="LID4096" smtClean="0"/>
              <a:t>‹#›</a:t>
            </a:fld>
            <a:endParaRPr lang="LID4096"/>
          </a:p>
        </p:txBody>
      </p:sp>
    </p:spTree>
    <p:extLst>
      <p:ext uri="{BB962C8B-B14F-4D97-AF65-F5344CB8AC3E}">
        <p14:creationId xmlns:p14="http://schemas.microsoft.com/office/powerpoint/2010/main" val="912144687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C4672265-2BC3-3679-1561-FC14C915FDFE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1850" y="1709738"/>
            <a:ext cx="10515600" cy="2852737"/>
          </a:xfrm>
        </p:spPr>
        <p:txBody>
          <a:bodyPr anchor="b"/>
          <a:lstStyle>
            <a:lvl1pPr>
              <a:defRPr sz="6000"/>
            </a:lvl1pPr>
          </a:lstStyle>
          <a:p>
            <a:r>
              <a:rPr lang="en-US"/>
              <a:t>Click to edit Master title style</a:t>
            </a:r>
            <a:endParaRPr lang="LID4096"/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FB3CF51B-ADB1-F90D-B724-7F99B633FB52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1850" y="4589463"/>
            <a:ext cx="10515600" cy="1500187"/>
          </a:xfrm>
        </p:spPr>
        <p:txBody>
          <a:bodyPr/>
          <a:lstStyle>
            <a:lvl1pPr marL="0" indent="0">
              <a:buNone/>
              <a:defRPr sz="2400">
                <a:solidFill>
                  <a:schemeClr val="tx1">
                    <a:tint val="82000"/>
                  </a:schemeClr>
                </a:solidFill>
              </a:defRPr>
            </a:lvl1pPr>
            <a:lvl2pPr marL="457200" indent="0">
              <a:buNone/>
              <a:defRPr sz="2000">
                <a:solidFill>
                  <a:schemeClr val="tx1">
                    <a:tint val="82000"/>
                  </a:schemeClr>
                </a:solidFill>
              </a:defRPr>
            </a:lvl2pPr>
            <a:lvl3pPr marL="914400" indent="0">
              <a:buNone/>
              <a:defRPr sz="1800">
                <a:solidFill>
                  <a:schemeClr val="tx1">
                    <a:tint val="82000"/>
                  </a:schemeClr>
                </a:solidFill>
              </a:defRPr>
            </a:lvl3pPr>
            <a:lvl4pPr marL="13716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4pPr>
            <a:lvl5pPr marL="18288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5pPr>
            <a:lvl6pPr marL="22860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6pPr>
            <a:lvl7pPr marL="27432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7pPr>
            <a:lvl8pPr marL="32004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8pPr>
            <a:lvl9pPr marL="36576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628E5A56-92F6-7180-A0F7-4A523392E2E0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B40E71F3-3850-46A2-9EA0-EF73FB753335}" type="datetime1">
              <a:rPr lang="LID4096" smtClean="0"/>
              <a:t>03/13/2026</a:t>
            </a:fld>
            <a:endParaRPr lang="LID4096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F5E09BCF-AC3B-7957-0D8F-1B2605BC6C47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LID4096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47E50B90-0923-F52F-B1A0-F2624E62EA7B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256C2A35-81CC-4088-9903-628FC5B16538}" type="slidenum">
              <a:rPr lang="LID4096" smtClean="0"/>
              <a:t>‹#›</a:t>
            </a:fld>
            <a:endParaRPr lang="LID4096"/>
          </a:p>
        </p:txBody>
      </p:sp>
    </p:spTree>
    <p:extLst>
      <p:ext uri="{BB962C8B-B14F-4D97-AF65-F5344CB8AC3E}">
        <p14:creationId xmlns:p14="http://schemas.microsoft.com/office/powerpoint/2010/main" val="3862947451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4FE83D1D-D659-BA49-50D1-5A0FB0916C50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  <a:endParaRPr lang="LID4096"/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61A7C610-F11B-5F85-94AB-BAC89E315A98}"/>
              </a:ext>
            </a:extLst>
          </p:cNvPr>
          <p:cNvSpPr>
            <a:spLocks noGrp="1"/>
          </p:cNvSpPr>
          <p:nvPr>
            <p:ph sz="half" idx="1"/>
          </p:nvPr>
        </p:nvSpPr>
        <p:spPr>
          <a:xfrm>
            <a:off x="838200" y="1825625"/>
            <a:ext cx="5181600" cy="4351338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LID4096"/>
          </a:p>
        </p:txBody>
      </p:sp>
      <p:sp>
        <p:nvSpPr>
          <p:cNvPr id="4" name="Content Placeholder 3">
            <a:extLst>
              <a:ext uri="{FF2B5EF4-FFF2-40B4-BE49-F238E27FC236}">
                <a16:creationId xmlns:a16="http://schemas.microsoft.com/office/drawing/2014/main" id="{A9F5FE34-50CC-4CD0-2247-62E795D60175}"/>
              </a:ext>
            </a:extLst>
          </p:cNvPr>
          <p:cNvSpPr>
            <a:spLocks noGrp="1"/>
          </p:cNvSpPr>
          <p:nvPr>
            <p:ph sz="half" idx="2"/>
          </p:nvPr>
        </p:nvSpPr>
        <p:spPr>
          <a:xfrm>
            <a:off x="6172200" y="1825625"/>
            <a:ext cx="5181600" cy="4351338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LID4096"/>
          </a:p>
        </p:txBody>
      </p:sp>
      <p:sp>
        <p:nvSpPr>
          <p:cNvPr id="5" name="Date Placeholder 4">
            <a:extLst>
              <a:ext uri="{FF2B5EF4-FFF2-40B4-BE49-F238E27FC236}">
                <a16:creationId xmlns:a16="http://schemas.microsoft.com/office/drawing/2014/main" id="{350BE50F-10C7-AE6D-8782-572DBC47030F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FD99E928-3EEE-459D-BBDF-E4A2B3787028}" type="datetime1">
              <a:rPr lang="LID4096" smtClean="0"/>
              <a:t>03/13/2026</a:t>
            </a:fld>
            <a:endParaRPr lang="LID4096"/>
          </a:p>
        </p:txBody>
      </p:sp>
      <p:sp>
        <p:nvSpPr>
          <p:cNvPr id="6" name="Footer Placeholder 5">
            <a:extLst>
              <a:ext uri="{FF2B5EF4-FFF2-40B4-BE49-F238E27FC236}">
                <a16:creationId xmlns:a16="http://schemas.microsoft.com/office/drawing/2014/main" id="{3438AAC7-BE4A-CD5B-650D-C29D99529CF9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LID4096"/>
          </a:p>
        </p:txBody>
      </p:sp>
      <p:sp>
        <p:nvSpPr>
          <p:cNvPr id="7" name="Slide Number Placeholder 6">
            <a:extLst>
              <a:ext uri="{FF2B5EF4-FFF2-40B4-BE49-F238E27FC236}">
                <a16:creationId xmlns:a16="http://schemas.microsoft.com/office/drawing/2014/main" id="{FE39A7CB-AF66-83A8-12E1-568535F3E6E9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256C2A35-81CC-4088-9903-628FC5B16538}" type="slidenum">
              <a:rPr lang="LID4096" smtClean="0"/>
              <a:t>‹#›</a:t>
            </a:fld>
            <a:endParaRPr lang="LID4096"/>
          </a:p>
        </p:txBody>
      </p:sp>
    </p:spTree>
    <p:extLst>
      <p:ext uri="{BB962C8B-B14F-4D97-AF65-F5344CB8AC3E}">
        <p14:creationId xmlns:p14="http://schemas.microsoft.com/office/powerpoint/2010/main" val="1129196063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26C3EE54-F430-610C-2445-BC95953B156F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365125"/>
            <a:ext cx="10515600" cy="1325563"/>
          </a:xfrm>
        </p:spPr>
        <p:txBody>
          <a:bodyPr/>
          <a:lstStyle/>
          <a:p>
            <a:r>
              <a:rPr lang="en-US"/>
              <a:t>Click to edit Master title style</a:t>
            </a:r>
            <a:endParaRPr lang="LID4096"/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A5E5F8D6-0A47-D907-34D3-9DE38378B7D5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9788" y="1681163"/>
            <a:ext cx="5157787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Content Placeholder 3">
            <a:extLst>
              <a:ext uri="{FF2B5EF4-FFF2-40B4-BE49-F238E27FC236}">
                <a16:creationId xmlns:a16="http://schemas.microsoft.com/office/drawing/2014/main" id="{41919639-CDC8-C147-1C44-950DEB7D70FA}"/>
              </a:ext>
            </a:extLst>
          </p:cNvPr>
          <p:cNvSpPr>
            <a:spLocks noGrp="1"/>
          </p:cNvSpPr>
          <p:nvPr>
            <p:ph sz="half" idx="2"/>
          </p:nvPr>
        </p:nvSpPr>
        <p:spPr>
          <a:xfrm>
            <a:off x="839788" y="2505075"/>
            <a:ext cx="5157787" cy="3684588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LID4096"/>
          </a:p>
        </p:txBody>
      </p:sp>
      <p:sp>
        <p:nvSpPr>
          <p:cNvPr id="5" name="Text Placeholder 4">
            <a:extLst>
              <a:ext uri="{FF2B5EF4-FFF2-40B4-BE49-F238E27FC236}">
                <a16:creationId xmlns:a16="http://schemas.microsoft.com/office/drawing/2014/main" id="{4C034B15-A929-16BD-34EF-5DA5534FC093}"/>
              </a:ext>
            </a:extLst>
          </p:cNvPr>
          <p:cNvSpPr>
            <a:spLocks noGrp="1"/>
          </p:cNvSpPr>
          <p:nvPr>
            <p:ph type="body" sz="quarter" idx="3"/>
          </p:nvPr>
        </p:nvSpPr>
        <p:spPr>
          <a:xfrm>
            <a:off x="6172200" y="1681163"/>
            <a:ext cx="5183188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6" name="Content Placeholder 5">
            <a:extLst>
              <a:ext uri="{FF2B5EF4-FFF2-40B4-BE49-F238E27FC236}">
                <a16:creationId xmlns:a16="http://schemas.microsoft.com/office/drawing/2014/main" id="{0871F2AD-1123-EB8B-5345-395DF54C5281}"/>
              </a:ext>
            </a:extLst>
          </p:cNvPr>
          <p:cNvSpPr>
            <a:spLocks noGrp="1"/>
          </p:cNvSpPr>
          <p:nvPr>
            <p:ph sz="quarter" idx="4"/>
          </p:nvPr>
        </p:nvSpPr>
        <p:spPr>
          <a:xfrm>
            <a:off x="6172200" y="2505075"/>
            <a:ext cx="5183188" cy="3684588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LID4096"/>
          </a:p>
        </p:txBody>
      </p:sp>
      <p:sp>
        <p:nvSpPr>
          <p:cNvPr id="7" name="Date Placeholder 6">
            <a:extLst>
              <a:ext uri="{FF2B5EF4-FFF2-40B4-BE49-F238E27FC236}">
                <a16:creationId xmlns:a16="http://schemas.microsoft.com/office/drawing/2014/main" id="{3A73741F-3369-E168-68D2-C27E1EA91071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6A198E7-454C-4F5E-B942-EA72907C6454}" type="datetime1">
              <a:rPr lang="LID4096" smtClean="0"/>
              <a:t>03/13/2026</a:t>
            </a:fld>
            <a:endParaRPr lang="LID4096"/>
          </a:p>
        </p:txBody>
      </p:sp>
      <p:sp>
        <p:nvSpPr>
          <p:cNvPr id="8" name="Footer Placeholder 7">
            <a:extLst>
              <a:ext uri="{FF2B5EF4-FFF2-40B4-BE49-F238E27FC236}">
                <a16:creationId xmlns:a16="http://schemas.microsoft.com/office/drawing/2014/main" id="{C3755485-28F6-F238-A0E4-F8CA2A8943F1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LID4096"/>
          </a:p>
        </p:txBody>
      </p:sp>
      <p:sp>
        <p:nvSpPr>
          <p:cNvPr id="9" name="Slide Number Placeholder 8">
            <a:extLst>
              <a:ext uri="{FF2B5EF4-FFF2-40B4-BE49-F238E27FC236}">
                <a16:creationId xmlns:a16="http://schemas.microsoft.com/office/drawing/2014/main" id="{DC0FBD56-5613-4D1F-B962-65298F88BC0D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256C2A35-81CC-4088-9903-628FC5B16538}" type="slidenum">
              <a:rPr lang="LID4096" smtClean="0"/>
              <a:t>‹#›</a:t>
            </a:fld>
            <a:endParaRPr lang="LID4096"/>
          </a:p>
        </p:txBody>
      </p:sp>
    </p:spTree>
    <p:extLst>
      <p:ext uri="{BB962C8B-B14F-4D97-AF65-F5344CB8AC3E}">
        <p14:creationId xmlns:p14="http://schemas.microsoft.com/office/powerpoint/2010/main" val="2875687054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D7A94B3F-6166-3C57-BF21-B7FB4255925B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  <a:endParaRPr lang="LID4096"/>
          </a:p>
        </p:txBody>
      </p:sp>
      <p:sp>
        <p:nvSpPr>
          <p:cNvPr id="3" name="Date Placeholder 2">
            <a:extLst>
              <a:ext uri="{FF2B5EF4-FFF2-40B4-BE49-F238E27FC236}">
                <a16:creationId xmlns:a16="http://schemas.microsoft.com/office/drawing/2014/main" id="{D4CE8100-C2E4-C577-5C20-32410B1B2D7D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E7D36991-36BD-4057-B1BC-B694245AC95E}" type="datetime1">
              <a:rPr lang="LID4096" smtClean="0"/>
              <a:t>03/13/2026</a:t>
            </a:fld>
            <a:endParaRPr lang="LID4096"/>
          </a:p>
        </p:txBody>
      </p:sp>
      <p:sp>
        <p:nvSpPr>
          <p:cNvPr id="4" name="Footer Placeholder 3">
            <a:extLst>
              <a:ext uri="{FF2B5EF4-FFF2-40B4-BE49-F238E27FC236}">
                <a16:creationId xmlns:a16="http://schemas.microsoft.com/office/drawing/2014/main" id="{8F6D743C-30DF-FD69-32AD-AB45A5C5BD8D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LID4096"/>
          </a:p>
        </p:txBody>
      </p:sp>
      <p:sp>
        <p:nvSpPr>
          <p:cNvPr id="5" name="Slide Number Placeholder 4">
            <a:extLst>
              <a:ext uri="{FF2B5EF4-FFF2-40B4-BE49-F238E27FC236}">
                <a16:creationId xmlns:a16="http://schemas.microsoft.com/office/drawing/2014/main" id="{E2B4563E-3C52-3FB8-4594-82723BCA4089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256C2A35-81CC-4088-9903-628FC5B16538}" type="slidenum">
              <a:rPr lang="LID4096" smtClean="0"/>
              <a:t>‹#›</a:t>
            </a:fld>
            <a:endParaRPr lang="LID4096"/>
          </a:p>
        </p:txBody>
      </p:sp>
    </p:spTree>
    <p:extLst>
      <p:ext uri="{BB962C8B-B14F-4D97-AF65-F5344CB8AC3E}">
        <p14:creationId xmlns:p14="http://schemas.microsoft.com/office/powerpoint/2010/main" val="2362536278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>
            <a:extLst>
              <a:ext uri="{FF2B5EF4-FFF2-40B4-BE49-F238E27FC236}">
                <a16:creationId xmlns:a16="http://schemas.microsoft.com/office/drawing/2014/main" id="{A072EA3D-B711-C632-ABEC-8F9FCA5F7E07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07106779-9A96-415B-8B83-1116F5963AFA}" type="datetime1">
              <a:rPr lang="LID4096" smtClean="0"/>
              <a:t>03/13/2026</a:t>
            </a:fld>
            <a:endParaRPr lang="LID4096"/>
          </a:p>
        </p:txBody>
      </p:sp>
      <p:sp>
        <p:nvSpPr>
          <p:cNvPr id="3" name="Footer Placeholder 2">
            <a:extLst>
              <a:ext uri="{FF2B5EF4-FFF2-40B4-BE49-F238E27FC236}">
                <a16:creationId xmlns:a16="http://schemas.microsoft.com/office/drawing/2014/main" id="{62681928-E54E-4448-73A1-05B03F5B9D04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LID4096"/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1571F2A6-022C-CF63-6BBD-DF38CA6BD567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256C2A35-81CC-4088-9903-628FC5B16538}" type="slidenum">
              <a:rPr lang="LID4096" smtClean="0"/>
              <a:t>‹#›</a:t>
            </a:fld>
            <a:endParaRPr lang="LID4096"/>
          </a:p>
        </p:txBody>
      </p:sp>
    </p:spTree>
    <p:extLst>
      <p:ext uri="{BB962C8B-B14F-4D97-AF65-F5344CB8AC3E}">
        <p14:creationId xmlns:p14="http://schemas.microsoft.com/office/powerpoint/2010/main" val="3501928968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8BED28A4-C774-A204-DD23-CFEA094B93F5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en-US"/>
              <a:t>Click to edit Master title style</a:t>
            </a:r>
            <a:endParaRPr lang="LID4096"/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8F6E5C3D-8515-E260-7471-1BFB710674BA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5183188" y="987425"/>
            <a:ext cx="6172200" cy="4873625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LID4096"/>
          </a:p>
        </p:txBody>
      </p:sp>
      <p:sp>
        <p:nvSpPr>
          <p:cNvPr id="4" name="Text Placeholder 3">
            <a:extLst>
              <a:ext uri="{FF2B5EF4-FFF2-40B4-BE49-F238E27FC236}">
                <a16:creationId xmlns:a16="http://schemas.microsoft.com/office/drawing/2014/main" id="{88C3CDC1-A52F-2933-C39F-D5E00E6EA289}"/>
              </a:ext>
            </a:extLst>
          </p:cNvPr>
          <p:cNvSpPr>
            <a:spLocks noGrp="1"/>
          </p:cNvSpPr>
          <p:nvPr>
            <p:ph type="body" sz="half" idx="2"/>
          </p:nvPr>
        </p:nvSpPr>
        <p:spPr>
          <a:xfrm>
            <a:off x="839788" y="2057400"/>
            <a:ext cx="3932237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>
            <a:extLst>
              <a:ext uri="{FF2B5EF4-FFF2-40B4-BE49-F238E27FC236}">
                <a16:creationId xmlns:a16="http://schemas.microsoft.com/office/drawing/2014/main" id="{D4203092-670E-C19F-AB70-7592A543358B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BF70F130-3C26-4058-91A0-FBC4DAB0F24E}" type="datetime1">
              <a:rPr lang="LID4096" smtClean="0"/>
              <a:t>03/13/2026</a:t>
            </a:fld>
            <a:endParaRPr lang="LID4096"/>
          </a:p>
        </p:txBody>
      </p:sp>
      <p:sp>
        <p:nvSpPr>
          <p:cNvPr id="6" name="Footer Placeholder 5">
            <a:extLst>
              <a:ext uri="{FF2B5EF4-FFF2-40B4-BE49-F238E27FC236}">
                <a16:creationId xmlns:a16="http://schemas.microsoft.com/office/drawing/2014/main" id="{B8695066-82C6-7330-DD24-96B2696071A8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LID4096"/>
          </a:p>
        </p:txBody>
      </p:sp>
      <p:sp>
        <p:nvSpPr>
          <p:cNvPr id="7" name="Slide Number Placeholder 6">
            <a:extLst>
              <a:ext uri="{FF2B5EF4-FFF2-40B4-BE49-F238E27FC236}">
                <a16:creationId xmlns:a16="http://schemas.microsoft.com/office/drawing/2014/main" id="{3BC54731-01F4-D984-C3E1-082C3C939584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256C2A35-81CC-4088-9903-628FC5B16538}" type="slidenum">
              <a:rPr lang="LID4096" smtClean="0"/>
              <a:t>‹#›</a:t>
            </a:fld>
            <a:endParaRPr lang="LID4096"/>
          </a:p>
        </p:txBody>
      </p:sp>
    </p:spTree>
    <p:extLst>
      <p:ext uri="{BB962C8B-B14F-4D97-AF65-F5344CB8AC3E}">
        <p14:creationId xmlns:p14="http://schemas.microsoft.com/office/powerpoint/2010/main" val="2180398428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5B376572-B10A-3F5A-A83F-E67276460AD3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en-US"/>
              <a:t>Click to edit Master title style</a:t>
            </a:r>
            <a:endParaRPr lang="LID4096"/>
          </a:p>
        </p:txBody>
      </p:sp>
      <p:sp>
        <p:nvSpPr>
          <p:cNvPr id="3" name="Picture Placeholder 2">
            <a:extLst>
              <a:ext uri="{FF2B5EF4-FFF2-40B4-BE49-F238E27FC236}">
                <a16:creationId xmlns:a16="http://schemas.microsoft.com/office/drawing/2014/main" id="{CFD51D7B-E367-6988-7DF1-B949354533CF}"/>
              </a:ext>
            </a:extLst>
          </p:cNvPr>
          <p:cNvSpPr>
            <a:spLocks noGrp="1"/>
          </p:cNvSpPr>
          <p:nvPr>
            <p:ph type="pic" idx="1"/>
          </p:nvPr>
        </p:nvSpPr>
        <p:spPr>
          <a:xfrm>
            <a:off x="5183188" y="987425"/>
            <a:ext cx="6172200" cy="4873625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LID4096"/>
          </a:p>
        </p:txBody>
      </p:sp>
      <p:sp>
        <p:nvSpPr>
          <p:cNvPr id="4" name="Text Placeholder 3">
            <a:extLst>
              <a:ext uri="{FF2B5EF4-FFF2-40B4-BE49-F238E27FC236}">
                <a16:creationId xmlns:a16="http://schemas.microsoft.com/office/drawing/2014/main" id="{4A8D2431-1A79-3731-FBC1-D337E5F563CD}"/>
              </a:ext>
            </a:extLst>
          </p:cNvPr>
          <p:cNvSpPr>
            <a:spLocks noGrp="1"/>
          </p:cNvSpPr>
          <p:nvPr>
            <p:ph type="body" sz="half" idx="2"/>
          </p:nvPr>
        </p:nvSpPr>
        <p:spPr>
          <a:xfrm>
            <a:off x="839788" y="2057400"/>
            <a:ext cx="3932237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>
            <a:extLst>
              <a:ext uri="{FF2B5EF4-FFF2-40B4-BE49-F238E27FC236}">
                <a16:creationId xmlns:a16="http://schemas.microsoft.com/office/drawing/2014/main" id="{0E9DBEB0-E863-799B-8B0C-50F841AB443E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98B35C03-2DFD-4A07-86A1-BEA80BD10EEA}" type="datetime1">
              <a:rPr lang="LID4096" smtClean="0"/>
              <a:t>03/13/2026</a:t>
            </a:fld>
            <a:endParaRPr lang="LID4096"/>
          </a:p>
        </p:txBody>
      </p:sp>
      <p:sp>
        <p:nvSpPr>
          <p:cNvPr id="6" name="Footer Placeholder 5">
            <a:extLst>
              <a:ext uri="{FF2B5EF4-FFF2-40B4-BE49-F238E27FC236}">
                <a16:creationId xmlns:a16="http://schemas.microsoft.com/office/drawing/2014/main" id="{9AE74F51-76F8-2BDF-68BC-5C70E67B42B7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LID4096"/>
          </a:p>
        </p:txBody>
      </p:sp>
      <p:sp>
        <p:nvSpPr>
          <p:cNvPr id="7" name="Slide Number Placeholder 6">
            <a:extLst>
              <a:ext uri="{FF2B5EF4-FFF2-40B4-BE49-F238E27FC236}">
                <a16:creationId xmlns:a16="http://schemas.microsoft.com/office/drawing/2014/main" id="{1FCE3F22-918C-FE71-8EB5-EBCA2BB1AC53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256C2A35-81CC-4088-9903-628FC5B16538}" type="slidenum">
              <a:rPr lang="LID4096" smtClean="0"/>
              <a:t>‹#›</a:t>
            </a:fld>
            <a:endParaRPr lang="LID4096"/>
          </a:p>
        </p:txBody>
      </p:sp>
    </p:spTree>
    <p:extLst>
      <p:ext uri="{BB962C8B-B14F-4D97-AF65-F5344CB8AC3E}">
        <p14:creationId xmlns:p14="http://schemas.microsoft.com/office/powerpoint/2010/main" val="3379787643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7084B08B-06E8-04E8-4206-B6950697C247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  <a:endParaRPr lang="LID4096"/>
          </a:p>
        </p:txBody>
      </p:sp>
      <p:sp>
        <p:nvSpPr>
          <p:cNvPr id="3" name="Vertical Text Placeholder 2">
            <a:extLst>
              <a:ext uri="{FF2B5EF4-FFF2-40B4-BE49-F238E27FC236}">
                <a16:creationId xmlns:a16="http://schemas.microsoft.com/office/drawing/2014/main" id="{09450A80-2859-0BE4-8DAA-C4057B3B7A6C}"/>
              </a:ext>
            </a:extLst>
          </p:cNvPr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LID4096"/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6DD93BC0-247B-5C3B-2A60-173100EA2EF7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8353DD1B-01A7-484F-AFFC-74647A4641E2}" type="datetime1">
              <a:rPr lang="LID4096" smtClean="0"/>
              <a:t>03/13/2026</a:t>
            </a:fld>
            <a:endParaRPr lang="LID4096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4D5BD9F6-7B61-411F-C2C7-5B42E03A7F0A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LID4096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6A10420E-84E8-D27C-4F37-16B97572AD9A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256C2A35-81CC-4088-9903-628FC5B16538}" type="slidenum">
              <a:rPr lang="LID4096" smtClean="0"/>
              <a:t>‹#›</a:t>
            </a:fld>
            <a:endParaRPr lang="LID4096"/>
          </a:p>
        </p:txBody>
      </p:sp>
    </p:spTree>
    <p:extLst>
      <p:ext uri="{BB962C8B-B14F-4D97-AF65-F5344CB8AC3E}">
        <p14:creationId xmlns:p14="http://schemas.microsoft.com/office/powerpoint/2010/main" val="711226012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>
            <a:extLst>
              <a:ext uri="{FF2B5EF4-FFF2-40B4-BE49-F238E27FC236}">
                <a16:creationId xmlns:a16="http://schemas.microsoft.com/office/drawing/2014/main" id="{139C88A2-7BA4-3F41-6457-5812E789909C}"/>
              </a:ext>
            </a:extLst>
          </p:cNvPr>
          <p:cNvSpPr>
            <a:spLocks noGrp="1"/>
          </p:cNvSpPr>
          <p:nvPr>
            <p:ph type="title" orient="vert"/>
          </p:nvPr>
        </p:nvSpPr>
        <p:spPr>
          <a:xfrm>
            <a:off x="8724900" y="365125"/>
            <a:ext cx="2628900" cy="5811838"/>
          </a:xfrm>
        </p:spPr>
        <p:txBody>
          <a:bodyPr vert="eaVert"/>
          <a:lstStyle/>
          <a:p>
            <a:r>
              <a:rPr lang="en-US"/>
              <a:t>Click to edit Master title style</a:t>
            </a:r>
            <a:endParaRPr lang="LID4096"/>
          </a:p>
        </p:txBody>
      </p:sp>
      <p:sp>
        <p:nvSpPr>
          <p:cNvPr id="3" name="Vertical Text Placeholder 2">
            <a:extLst>
              <a:ext uri="{FF2B5EF4-FFF2-40B4-BE49-F238E27FC236}">
                <a16:creationId xmlns:a16="http://schemas.microsoft.com/office/drawing/2014/main" id="{AC6A40ED-C144-78B6-F37C-BFA339AC2C48}"/>
              </a:ext>
            </a:extLst>
          </p:cNvPr>
          <p:cNvSpPr>
            <a:spLocks noGrp="1"/>
          </p:cNvSpPr>
          <p:nvPr>
            <p:ph type="body" orient="vert" idx="1"/>
          </p:nvPr>
        </p:nvSpPr>
        <p:spPr>
          <a:xfrm>
            <a:off x="838200" y="365125"/>
            <a:ext cx="7734300" cy="5811838"/>
          </a:xfrm>
        </p:spPr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LID4096"/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58DE9F0B-684F-4DAC-5BDB-C18A0961AC94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63FD11C3-DA7D-4D80-BC87-C4D24E6D2806}" type="datetime1">
              <a:rPr lang="LID4096" smtClean="0"/>
              <a:t>03/13/2026</a:t>
            </a:fld>
            <a:endParaRPr lang="LID4096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5052D29E-F580-0C73-A00A-58D1DAF72987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LID4096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6D503C08-6364-4635-0F21-1933CCC732FA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256C2A35-81CC-4088-9903-628FC5B16538}" type="slidenum">
              <a:rPr lang="LID4096" smtClean="0"/>
              <a:t>‹#›</a:t>
            </a:fld>
            <a:endParaRPr lang="LID4096"/>
          </a:p>
        </p:txBody>
      </p:sp>
    </p:spTree>
    <p:extLst>
      <p:ext uri="{BB962C8B-B14F-4D97-AF65-F5344CB8AC3E}">
        <p14:creationId xmlns:p14="http://schemas.microsoft.com/office/powerpoint/2010/main" val="3604504401"/>
      </p:ext>
    </p:extLst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theme" Target="../theme/theme1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>
            <a:extLst>
              <a:ext uri="{FF2B5EF4-FFF2-40B4-BE49-F238E27FC236}">
                <a16:creationId xmlns:a16="http://schemas.microsoft.com/office/drawing/2014/main" id="{C9099861-AAD1-537C-952A-ECDE37C568E1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8200" y="365125"/>
            <a:ext cx="10515600" cy="1325563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/>
              <a:t>Click to edit Master title style</a:t>
            </a:r>
            <a:endParaRPr lang="LID4096"/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C8BD561E-BD59-93E5-3141-8A9B8BF72257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8200" y="1825625"/>
            <a:ext cx="10515600" cy="4351338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LID4096"/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AC25FB1B-1289-6269-1CCC-AEBB3C5ED786}"/>
              </a:ext>
            </a:extLst>
          </p:cNvPr>
          <p:cNvSpPr>
            <a:spLocks noGrp="1"/>
          </p:cNvSpPr>
          <p:nvPr>
            <p:ph type="dt" sz="half" idx="2"/>
          </p:nvPr>
        </p:nvSpPr>
        <p:spPr>
          <a:xfrm>
            <a:off x="8382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82000"/>
                  </a:schemeClr>
                </a:solidFill>
              </a:defRPr>
            </a:lvl1pPr>
          </a:lstStyle>
          <a:p>
            <a:fld id="{399B24CC-B782-4204-AFF8-CBFD5A456123}" type="datetime1">
              <a:rPr lang="LID4096" smtClean="0"/>
              <a:t>03/13/2026</a:t>
            </a:fld>
            <a:endParaRPr lang="LID4096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B8816DD5-48BF-6C68-3752-AA4027E0A2CF}"/>
              </a:ext>
            </a:extLst>
          </p:cNvPr>
          <p:cNvSpPr>
            <a:spLocks noGrp="1"/>
          </p:cNvSpPr>
          <p:nvPr>
            <p:ph type="ftr" sz="quarter" idx="3"/>
          </p:nvPr>
        </p:nvSpPr>
        <p:spPr>
          <a:xfrm>
            <a:off x="4038600" y="6356350"/>
            <a:ext cx="41148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82000"/>
                  </a:schemeClr>
                </a:solidFill>
              </a:defRPr>
            </a:lvl1pPr>
          </a:lstStyle>
          <a:p>
            <a:endParaRPr lang="LID4096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3C8108D2-2CDD-5754-38DC-593C9BDB90DB}"/>
              </a:ext>
            </a:extLst>
          </p:cNvPr>
          <p:cNvSpPr>
            <a:spLocks noGrp="1"/>
          </p:cNvSpPr>
          <p:nvPr>
            <p:ph type="sldNum" sz="quarter" idx="4"/>
          </p:nvPr>
        </p:nvSpPr>
        <p:spPr>
          <a:xfrm>
            <a:off x="86106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82000"/>
                  </a:schemeClr>
                </a:solidFill>
              </a:defRPr>
            </a:lvl1pPr>
          </a:lstStyle>
          <a:p>
            <a:fld id="{256C2A35-81CC-4088-9903-628FC5B16538}" type="slidenum">
              <a:rPr lang="LID4096" smtClean="0"/>
              <a:t>‹#›</a:t>
            </a:fld>
            <a:endParaRPr lang="LID4096"/>
          </a:p>
        </p:txBody>
      </p:sp>
    </p:spTree>
    <p:extLst>
      <p:ext uri="{BB962C8B-B14F-4D97-AF65-F5344CB8AC3E}">
        <p14:creationId xmlns:p14="http://schemas.microsoft.com/office/powerpoint/2010/main" val="253271085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hf hdr="0" ftr="0" dt="0"/>
  <p:txStyles>
    <p:titleStyle>
      <a:lvl1pPr algn="l" defTabSz="914400" rtl="0" eaLnBrk="1" latinLnBrk="0" hangingPunct="1">
        <a:lnSpc>
          <a:spcPct val="90000"/>
        </a:lnSpc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228600" indent="-228600" algn="l" defTabSz="914400" rtl="0" eaLnBrk="1" latinLnBrk="0" hangingPunct="1">
        <a:lnSpc>
          <a:spcPct val="90000"/>
        </a:lnSpc>
        <a:spcBef>
          <a:spcPts val="1000"/>
        </a:spcBef>
        <a:buFont typeface="Arial" panose="020B0604020202020204" pitchFamily="34" charset="0"/>
        <a:buChar char="•"/>
        <a:defRPr sz="2800" kern="1200">
          <a:solidFill>
            <a:schemeClr val="tx1"/>
          </a:solidFill>
          <a:latin typeface="+mn-lt"/>
          <a:ea typeface="+mn-ea"/>
          <a:cs typeface="+mn-cs"/>
        </a:defRPr>
      </a:lvl1pPr>
      <a:lvl2pPr marL="685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LID4096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3" Type="http://schemas.openxmlformats.org/officeDocument/2006/relationships/image" Target="../media/image1.png"/><Relationship Id="rId2" Type="http://schemas.openxmlformats.org/officeDocument/2006/relationships/notesSlide" Target="../notesSlides/notesSlide1.xml"/><Relationship Id="rId1" Type="http://schemas.openxmlformats.org/officeDocument/2006/relationships/slideLayout" Target="../slideLayouts/slideLayout2.xml"/></Relationships>
</file>

<file path=ppt/slides/_rels/slide2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2.xml"/><Relationship Id="rId1" Type="http://schemas.openxmlformats.org/officeDocument/2006/relationships/slideLayout" Target="../slideLayouts/slideLayout1.xml"/></Relationships>
</file>

<file path=ppt/slides/_rels/slide3.xml.rels><?xml version="1.0" encoding="UTF-8" standalone="yes"?>
<Relationships xmlns="http://schemas.openxmlformats.org/package/2006/relationships"><Relationship Id="rId2" Type="http://schemas.openxmlformats.org/officeDocument/2006/relationships/hyperlink" Target="https://www.notion.so/page" TargetMode="External"/><Relationship Id="rId1" Type="http://schemas.openxmlformats.org/officeDocument/2006/relationships/slideLayout" Target="../slideLayouts/slideLayout2.xml"/></Relationships>
</file>

<file path=ppt/slides/_rels/slide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5.xml.rels><?xml version="1.0" encoding="UTF-8" standalone="yes"?>
<Relationships xmlns="http://schemas.openxmlformats.org/package/2006/relationships"><Relationship Id="rId3" Type="http://schemas.openxmlformats.org/officeDocument/2006/relationships/image" Target="../media/image2.tmp"/><Relationship Id="rId2" Type="http://schemas.openxmlformats.org/officeDocument/2006/relationships/notesSlide" Target="../notesSlides/notesSlide3.xml"/><Relationship Id="rId1" Type="http://schemas.openxmlformats.org/officeDocument/2006/relationships/slideLayout" Target="../slideLayouts/slideLayout2.xml"/></Relationships>
</file>

<file path=ppt/slides/_rels/slide6.xml.rels><?xml version="1.0" encoding="UTF-8" standalone="yes"?>
<Relationships xmlns="http://schemas.openxmlformats.org/package/2006/relationships"><Relationship Id="rId3" Type="http://schemas.openxmlformats.org/officeDocument/2006/relationships/image" Target="../media/image3.tmp"/><Relationship Id="rId2" Type="http://schemas.openxmlformats.org/officeDocument/2006/relationships/notesSlide" Target="../notesSlides/notesSlide4.xml"/><Relationship Id="rId1" Type="http://schemas.openxmlformats.org/officeDocument/2006/relationships/slideLayout" Target="../slideLayouts/slideLayout2.xml"/></Relationships>
</file>

<file path=ppt/slides/_rels/slide7.xml.rels><?xml version="1.0" encoding="UTF-8" standalone="yes"?>
<Relationships xmlns="http://schemas.openxmlformats.org/package/2006/relationships"><Relationship Id="rId3" Type="http://schemas.openxmlformats.org/officeDocument/2006/relationships/image" Target="../media/image4.png"/><Relationship Id="rId2" Type="http://schemas.openxmlformats.org/officeDocument/2006/relationships/notesSlide" Target="../notesSlides/notesSlide5.xml"/><Relationship Id="rId1" Type="http://schemas.openxmlformats.org/officeDocument/2006/relationships/slideLayout" Target="../slideLayouts/slideLayout2.xml"/></Relationships>
</file>

<file path=ppt/slides/_rels/slide8.xml.rels><?xml version="1.0" encoding="UTF-8" standalone="yes"?>
<Relationships xmlns="http://schemas.openxmlformats.org/package/2006/relationships"><Relationship Id="rId3" Type="http://schemas.openxmlformats.org/officeDocument/2006/relationships/image" Target="../media/image5.tmp"/><Relationship Id="rId2" Type="http://schemas.openxmlformats.org/officeDocument/2006/relationships/notesSlide" Target="../notesSlides/notesSlide6.xml"/><Relationship Id="rId1" Type="http://schemas.openxmlformats.org/officeDocument/2006/relationships/slideLayout" Target="../slideLayouts/slideLayout2.xml"/></Relationships>
</file>

<file path=ppt/slides/_rels/slide9.xml.rels><?xml version="1.0" encoding="UTF-8" standalone="yes"?>
<Relationships xmlns="http://schemas.openxmlformats.org/package/2006/relationships"><Relationship Id="rId3" Type="http://schemas.openxmlformats.org/officeDocument/2006/relationships/image" Target="../media/image6.tmp"/><Relationship Id="rId2" Type="http://schemas.openxmlformats.org/officeDocument/2006/relationships/notesSlide" Target="../notesSlides/notesSlide7.xml"/><Relationship Id="rId1" Type="http://schemas.openxmlformats.org/officeDocument/2006/relationships/slideLayout" Target="../slideLayouts/slideLayout2.xml"/></Relationships>
</file>

<file path=ppt/slides/_rels/slide10.xml.rels><?xml version="1.0" encoding="UTF-8" standalone="yes"?>
<Relationships xmlns="http://schemas.openxmlformats.org/package/2006/relationships"><Relationship Id="rId3" Type="http://schemas.openxmlformats.org/officeDocument/2006/relationships/image" Target="../media/image7.tmp"/><Relationship Id="rId2" Type="http://schemas.openxmlformats.org/officeDocument/2006/relationships/notesSlide" Target="../notesSlides/notesSlide8.xml"/><Relationship Id="rId1" Type="http://schemas.openxmlformats.org/officeDocument/2006/relationships/slideLayout" Target="../slideLayouts/slideLayout2.xml"/></Relationships>
</file>

<file path=ppt/slides/_rels/slide11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9.xml"/><Relationship Id="rId1" Type="http://schemas.openxmlformats.org/officeDocument/2006/relationships/slideLayout" Target="../slideLayouts/slideLayout2.xml"/></Relationships>
</file>

<file path=ppt/slides/_rels/slide12.xml.rels><?xml version="1.0" encoding="UTF-8" standalone="yes"?>
<Relationships xmlns="http://schemas.openxmlformats.org/package/2006/relationships"><Relationship Id="rId3" Type="http://schemas.openxmlformats.org/officeDocument/2006/relationships/image" Target="../media/image8.tmp"/><Relationship Id="rId2" Type="http://schemas.openxmlformats.org/officeDocument/2006/relationships/notesSlide" Target="../notesSlides/notesSlide10.xml"/><Relationship Id="rId1" Type="http://schemas.openxmlformats.org/officeDocument/2006/relationships/slideLayout" Target="../slideLayouts/slideLayout2.xml"/></Relationships>
</file>

<file path=ppt/slides/_rels/slide13.xml.rels><?xml version="1.0" encoding="UTF-8" standalone="yes"?>
<Relationships xmlns="http://schemas.openxmlformats.org/package/2006/relationships"><Relationship Id="rId3" Type="http://schemas.openxmlformats.org/officeDocument/2006/relationships/image" Target="../media/image9.tmp"/><Relationship Id="rId2" Type="http://schemas.openxmlformats.org/officeDocument/2006/relationships/notesSlide" Target="../notesSlides/notesSlide11.xml"/><Relationship Id="rId1" Type="http://schemas.openxmlformats.org/officeDocument/2006/relationships/slideLayout" Target="../slideLayouts/slideLayout2.xml"/><Relationship Id="rId4" Type="http://schemas.openxmlformats.org/officeDocument/2006/relationships/hyperlink" Target="https://www.open-std.org/jtc1/sc22/wg21/docs/papers/2024/p3271r1.pdf" TargetMode="External"/></Relationships>
</file>

<file path=ppt/slides/_rels/slide14.xml.rels><?xml version="1.0" encoding="UTF-8" standalone="yes"?>
<Relationships xmlns="http://schemas.openxmlformats.org/package/2006/relationships"><Relationship Id="rId3" Type="http://schemas.openxmlformats.org/officeDocument/2006/relationships/image" Target="../media/image10.tmp"/><Relationship Id="rId2" Type="http://schemas.openxmlformats.org/officeDocument/2006/relationships/notesSlide" Target="../notesSlides/notesSlide12.xml"/><Relationship Id="rId1" Type="http://schemas.openxmlformats.org/officeDocument/2006/relationships/slideLayout" Target="../slideLayouts/slideLayout2.xml"/></Relationships>
</file>

<file path=ppt/slides/_rels/slide15.xml.rels><?xml version="1.0" encoding="UTF-8" standalone="yes"?>
<Relationships xmlns="http://schemas.openxmlformats.org/package/2006/relationships"><Relationship Id="rId3" Type="http://schemas.openxmlformats.org/officeDocument/2006/relationships/image" Target="../media/image11.tmp"/><Relationship Id="rId2" Type="http://schemas.openxmlformats.org/officeDocument/2006/relationships/notesSlide" Target="../notesSlides/notesSlide13.xml"/><Relationship Id="rId1" Type="http://schemas.openxmlformats.org/officeDocument/2006/relationships/slideLayout" Target="../slideLayouts/slideLayout2.xml"/></Relationships>
</file>

<file path=ppt/slides/_rels/slide1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7.xml.rels><?xml version="1.0" encoding="UTF-8" standalone="yes"?>
<Relationships xmlns="http://schemas.openxmlformats.org/package/2006/relationships"><Relationship Id="rId3" Type="http://schemas.openxmlformats.org/officeDocument/2006/relationships/image" Target="../media/image12.tmp"/><Relationship Id="rId2" Type="http://schemas.openxmlformats.org/officeDocument/2006/relationships/notesSlide" Target="../notesSlides/notesSlide14.xml"/><Relationship Id="rId1" Type="http://schemas.openxmlformats.org/officeDocument/2006/relationships/slideLayout" Target="../slideLayouts/slideLayout2.xml"/></Relationships>
</file>

<file path=ppt/slides/_rels/slide18.xml.rels><?xml version="1.0" encoding="UTF-8" standalone="yes"?>
<Relationships xmlns="http://schemas.openxmlformats.org/package/2006/relationships"><Relationship Id="rId2" Type="http://schemas.openxmlformats.org/officeDocument/2006/relationships/image" Target="../media/image13.tmp"/><Relationship Id="rId1" Type="http://schemas.openxmlformats.org/officeDocument/2006/relationships/slideLayout" Target="../slideLayouts/slideLayout2.xml"/></Relationships>
</file>

<file path=ppt/slides/_rels/slide19.xml.rels><?xml version="1.0" encoding="UTF-8" standalone="yes"?>
<Relationships xmlns="http://schemas.openxmlformats.org/package/2006/relationships"><Relationship Id="rId2" Type="http://schemas.openxmlformats.org/officeDocument/2006/relationships/image" Target="../media/image14.tmp"/><Relationship Id="rId1" Type="http://schemas.openxmlformats.org/officeDocument/2006/relationships/slideLayout" Target="../slideLayouts/slideLayout2.xml"/></Relationships>
</file>

<file path=ppt/slides/_rels/slide20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21.xml.rels><?xml version="1.0" encoding="UTF-8" standalone="yes"?>
<Relationships xmlns="http://schemas.openxmlformats.org/package/2006/relationships"><Relationship Id="rId3" Type="http://schemas.openxmlformats.org/officeDocument/2006/relationships/image" Target="../media/image15.tmp"/><Relationship Id="rId2" Type="http://schemas.openxmlformats.org/officeDocument/2006/relationships/notesSlide" Target="../notesSlides/notesSlide15.xml"/><Relationship Id="rId1" Type="http://schemas.openxmlformats.org/officeDocument/2006/relationships/slideLayout" Target="../slideLayouts/slideLayout2.xml"/></Relationships>
</file>

<file path=ppt/slides/_rels/slide22.xml.rels><?xml version="1.0" encoding="UTF-8" standalone="yes"?>
<Relationships xmlns="http://schemas.openxmlformats.org/package/2006/relationships"><Relationship Id="rId3" Type="http://schemas.openxmlformats.org/officeDocument/2006/relationships/image" Target="../media/image16.tmp"/><Relationship Id="rId2" Type="http://schemas.openxmlformats.org/officeDocument/2006/relationships/notesSlide" Target="../notesSlides/notesSlide16.xml"/><Relationship Id="rId1" Type="http://schemas.openxmlformats.org/officeDocument/2006/relationships/slideLayout" Target="../slideLayouts/slideLayout2.xml"/></Relationships>
</file>

<file path=ppt/slides/_rels/slide23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7.xml"/><Relationship Id="rId1" Type="http://schemas.openxmlformats.org/officeDocument/2006/relationships/slideLayout" Target="../slideLayouts/slideLayout2.xml"/></Relationships>
</file>

<file path=ppt/slides/_rels/slide2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25.xml.rels><?xml version="1.0" encoding="UTF-8" standalone="yes"?>
<Relationships xmlns="http://schemas.openxmlformats.org/package/2006/relationships"><Relationship Id="rId3" Type="http://schemas.openxmlformats.org/officeDocument/2006/relationships/image" Target="../media/image17.tmp"/><Relationship Id="rId2" Type="http://schemas.openxmlformats.org/officeDocument/2006/relationships/notesSlide" Target="../notesSlides/notesSlide18.xml"/><Relationship Id="rId1" Type="http://schemas.openxmlformats.org/officeDocument/2006/relationships/slideLayout" Target="../slideLayouts/slideLayout2.xml"/></Relationships>
</file>

<file path=ppt/slides/_rels/slide26.xml.rels><?xml version="1.0" encoding="UTF-8" standalone="yes"?>
<Relationships xmlns="http://schemas.openxmlformats.org/package/2006/relationships"><Relationship Id="rId3" Type="http://schemas.openxmlformats.org/officeDocument/2006/relationships/image" Target="../media/image18.png"/><Relationship Id="rId2" Type="http://schemas.openxmlformats.org/officeDocument/2006/relationships/notesSlide" Target="../notesSlides/notesSlide19.xml"/><Relationship Id="rId1" Type="http://schemas.openxmlformats.org/officeDocument/2006/relationships/slideLayout" Target="../slideLayouts/slideLayout2.xml"/></Relationships>
</file>

<file path=ppt/slides/_rels/slide27.xml.rels><?xml version="1.0" encoding="UTF-8" standalone="yes"?>
<Relationships xmlns="http://schemas.openxmlformats.org/package/2006/relationships"><Relationship Id="rId3" Type="http://schemas.openxmlformats.org/officeDocument/2006/relationships/image" Target="../media/image19.tmp"/><Relationship Id="rId2" Type="http://schemas.openxmlformats.org/officeDocument/2006/relationships/notesSlide" Target="../notesSlides/notesSlide20.xml"/><Relationship Id="rId1" Type="http://schemas.openxmlformats.org/officeDocument/2006/relationships/slideLayout" Target="../slideLayouts/slideLayout2.xml"/><Relationship Id="rId4" Type="http://schemas.openxmlformats.org/officeDocument/2006/relationships/image" Target="../media/image20.tmp"/></Relationships>
</file>

<file path=ppt/slides/_rels/slide28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21.xml"/><Relationship Id="rId1" Type="http://schemas.openxmlformats.org/officeDocument/2006/relationships/slideLayout" Target="../slideLayouts/slideLayout2.xml"/></Relationships>
</file>

<file path=ppt/slides/_rels/slide29.xml.rels><?xml version="1.0" encoding="UTF-8" standalone="yes"?>
<Relationships xmlns="http://schemas.openxmlformats.org/package/2006/relationships"><Relationship Id="rId3" Type="http://schemas.openxmlformats.org/officeDocument/2006/relationships/image" Target="../media/image21.tmp"/><Relationship Id="rId2" Type="http://schemas.openxmlformats.org/officeDocument/2006/relationships/notesSlide" Target="../notesSlides/notesSlide22.xml"/><Relationship Id="rId1" Type="http://schemas.openxmlformats.org/officeDocument/2006/relationships/slideLayout" Target="../slideLayouts/slideLayout2.xml"/></Relationships>
</file>

<file path=ppt/slides/_rels/slide30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23.xml"/><Relationship Id="rId1" Type="http://schemas.openxmlformats.org/officeDocument/2006/relationships/slideLayout" Target="../slideLayouts/slideLayout2.xml"/></Relationships>
</file>

<file path=ppt/slides/_rels/slide3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32.xml.rels><?xml version="1.0" encoding="UTF-8" standalone="yes"?>
<Relationships xmlns="http://schemas.openxmlformats.org/package/2006/relationships"><Relationship Id="rId3" Type="http://schemas.openxmlformats.org/officeDocument/2006/relationships/image" Target="../media/image22.tmp"/><Relationship Id="rId2" Type="http://schemas.openxmlformats.org/officeDocument/2006/relationships/notesSlide" Target="../notesSlides/notesSlide24.xml"/><Relationship Id="rId1" Type="http://schemas.openxmlformats.org/officeDocument/2006/relationships/slideLayout" Target="../slideLayouts/slideLayout2.xml"/></Relationships>
</file>

<file path=ppt/slides/_rels/slide3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3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3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3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37.xml.rels><?xml version="1.0" encoding="UTF-8" standalone="yes"?>
<Relationships xmlns="http://schemas.openxmlformats.org/package/2006/relationships"><Relationship Id="rId3" Type="http://schemas.openxmlformats.org/officeDocument/2006/relationships/image" Target="../media/image23.tmp"/><Relationship Id="rId2" Type="http://schemas.openxmlformats.org/officeDocument/2006/relationships/notesSlide" Target="../notesSlides/notesSlide25.xml"/><Relationship Id="rId1" Type="http://schemas.openxmlformats.org/officeDocument/2006/relationships/slideLayout" Target="../slideLayouts/slideLayout2.xml"/></Relationships>
</file>

<file path=ppt/slides/_rels/slide38.xml.rels><?xml version="1.0" encoding="UTF-8" standalone="yes"?>
<Relationships xmlns="http://schemas.openxmlformats.org/package/2006/relationships"><Relationship Id="rId3" Type="http://schemas.openxmlformats.org/officeDocument/2006/relationships/image" Target="../media/image25.png"/><Relationship Id="rId2" Type="http://schemas.openxmlformats.org/officeDocument/2006/relationships/image" Target="../media/image24.png"/><Relationship Id="rId1" Type="http://schemas.openxmlformats.org/officeDocument/2006/relationships/slideLayout" Target="../slideLayouts/slideLayout2.xml"/></Relationships>
</file>

<file path=ppt/slides/_rels/slide39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40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26.xml"/><Relationship Id="rId1" Type="http://schemas.openxmlformats.org/officeDocument/2006/relationships/slideLayout" Target="../slideLayouts/slideLayout2.xml"/></Relationships>
</file>

<file path=ppt/slides/_rels/slide4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42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27.xml"/><Relationship Id="rId1" Type="http://schemas.openxmlformats.org/officeDocument/2006/relationships/slideLayout" Target="../slideLayouts/slideLayout2.xml"/></Relationships>
</file>

<file path=ppt/slides/_rels/slide43.xml.rels><?xml version="1.0" encoding="UTF-8" standalone="yes"?>
<Relationships xmlns="http://schemas.openxmlformats.org/package/2006/relationships"><Relationship Id="rId3" Type="http://schemas.openxmlformats.org/officeDocument/2006/relationships/hyperlink" Target="https://www.linkedin.com/in/andreizissu/" TargetMode="External"/><Relationship Id="rId2" Type="http://schemas.openxmlformats.org/officeDocument/2006/relationships/hyperlink" Target="mailto:andrziss@gmail.com" TargetMode="External"/><Relationship Id="rId1" Type="http://schemas.openxmlformats.org/officeDocument/2006/relationships/slideLayout" Target="../slideLayouts/slideLayout2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1E14A7B9-6B4C-EF84-756B-17561AB8D240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256C2A35-81CC-4088-9903-628FC5B16538}" type="slidenum">
              <a:rPr lang="LID4096" smtClean="0"/>
              <a:t>1</a:t>
            </a:fld>
            <a:endParaRPr lang="LID4096"/>
          </a:p>
        </p:txBody>
      </p:sp>
      <p:pic>
        <p:nvPicPr>
          <p:cNvPr id="8" name="Picture 7">
            <a:extLst>
              <a:ext uri="{FF2B5EF4-FFF2-40B4-BE49-F238E27FC236}">
                <a16:creationId xmlns:a16="http://schemas.microsoft.com/office/drawing/2014/main" id="{70F50F9F-906B-270B-2046-E39EDA398CCD}"/>
              </a:ext>
            </a:extLst>
          </p:cNvPr>
          <p:cNvPicPr>
            <a:picLocks noChangeAspect="1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0" y="0"/>
            <a:ext cx="12192000" cy="6858000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2108019023"/>
      </p:ext>
    </p:extLst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B794074C-AA8B-1CDA-3552-8EDD28394781}"/>
              </a:ext>
            </a:extLst>
          </p:cNvPr>
          <p:cNvSpPr>
            <a:spLocks noGrp="1"/>
          </p:cNvSpPr>
          <p:nvPr>
            <p:ph type="ctrTitle"/>
          </p:nvPr>
        </p:nvSpPr>
        <p:spPr/>
        <p:txBody>
          <a:bodyPr>
            <a:normAutofit fontScale="90000"/>
          </a:bodyPr>
          <a:lstStyle/>
          <a:p>
            <a:r>
              <a:rPr lang="en-US" dirty="0"/>
              <a:t>C++ Contracts – a Meaningfully Viable Product</a:t>
            </a:r>
            <a:br>
              <a:rPr lang="en-US" dirty="0"/>
            </a:br>
            <a:r>
              <a:rPr lang="en-US" dirty="0"/>
              <a:t>Part II</a:t>
            </a:r>
            <a:endParaRPr lang="LID4096" dirty="0"/>
          </a:p>
        </p:txBody>
      </p:sp>
      <p:sp>
        <p:nvSpPr>
          <p:cNvPr id="3" name="Subtitle 2">
            <a:extLst>
              <a:ext uri="{FF2B5EF4-FFF2-40B4-BE49-F238E27FC236}">
                <a16:creationId xmlns:a16="http://schemas.microsoft.com/office/drawing/2014/main" id="{053386D0-4BF7-3C5D-2FE1-4206E18E09FE}"/>
              </a:ext>
            </a:extLst>
          </p:cNvPr>
          <p:cNvSpPr>
            <a:spLocks noGrp="1"/>
          </p:cNvSpPr>
          <p:nvPr>
            <p:ph type="subTitle" idx="1"/>
          </p:nvPr>
        </p:nvSpPr>
        <p:spPr>
          <a:xfrm>
            <a:off x="1524000" y="3602038"/>
            <a:ext cx="9144000" cy="1041881"/>
          </a:xfrm>
        </p:spPr>
        <p:txBody>
          <a:bodyPr/>
          <a:lstStyle/>
          <a:p>
            <a:r>
              <a:rPr lang="en-US" dirty="0"/>
              <a:t>Andrei Zissu</a:t>
            </a:r>
          </a:p>
          <a:p>
            <a:r>
              <a:rPr lang="en-US" dirty="0" err="1"/>
              <a:t>Semperis</a:t>
            </a:r>
            <a:r>
              <a:rPr lang="en-US" dirty="0"/>
              <a:t> – identity protection and resilience</a:t>
            </a:r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181F0D99-B474-D54F-98F7-2B78D15E0DD1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256C2A35-81CC-4088-9903-628FC5B16538}" type="slidenum">
              <a:rPr lang="LID4096" smtClean="0"/>
              <a:t>2</a:t>
            </a:fld>
            <a:endParaRPr lang="LID4096"/>
          </a:p>
        </p:txBody>
      </p:sp>
      <p:sp>
        <p:nvSpPr>
          <p:cNvPr id="5" name="TextBox 4">
            <a:extLst>
              <a:ext uri="{FF2B5EF4-FFF2-40B4-BE49-F238E27FC236}">
                <a16:creationId xmlns:a16="http://schemas.microsoft.com/office/drawing/2014/main" id="{6C052FFE-589E-85F3-26D2-0EE129D7C3E9}"/>
              </a:ext>
            </a:extLst>
          </p:cNvPr>
          <p:cNvSpPr txBox="1"/>
          <p:nvPr/>
        </p:nvSpPr>
        <p:spPr>
          <a:xfrm>
            <a:off x="1524000" y="5311739"/>
            <a:ext cx="7082067" cy="923330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pPr marL="285750" indent="-285750">
              <a:buFont typeface="Arial" panose="020B0604020202020204" pitchFamily="34" charset="0"/>
              <a:buChar char="•"/>
            </a:pPr>
            <a:r>
              <a:rPr lang="en-US" dirty="0"/>
              <a:t>WG21 member for the last 4 years</a:t>
            </a:r>
          </a:p>
          <a:p>
            <a:pPr marL="285750" indent="-285750">
              <a:buFont typeface="Arial" panose="020B0604020202020204" pitchFamily="34" charset="0"/>
              <a:buChar char="•"/>
            </a:pPr>
            <a:r>
              <a:rPr lang="en-US" dirty="0"/>
              <a:t>Active in SG21</a:t>
            </a:r>
          </a:p>
          <a:p>
            <a:pPr marL="742950" lvl="1" indent="-285750">
              <a:buFont typeface="Arial" panose="020B0604020202020204" pitchFamily="34" charset="0"/>
              <a:buChar char="•"/>
            </a:pPr>
            <a:r>
              <a:rPr lang="en-US" dirty="0"/>
              <a:t>Not one of the main authors of the Contracts proposal (P2900)</a:t>
            </a:r>
            <a:endParaRPr lang="LID4096" dirty="0"/>
          </a:p>
        </p:txBody>
      </p:sp>
    </p:spTree>
    <p:extLst>
      <p:ext uri="{BB962C8B-B14F-4D97-AF65-F5344CB8AC3E}">
        <p14:creationId xmlns:p14="http://schemas.microsoft.com/office/powerpoint/2010/main" val="1421364525"/>
      </p:ext>
    </p:extLst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357E49D4-2BEF-133D-94D7-F07682EC4FD4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>
                <a:effectLst/>
                <a:hlinkClick r:id="rId2"/>
              </a:rPr>
              <a:t>Syntactic restrictions, </a:t>
            </a:r>
            <a:br>
              <a:rPr lang="en-US" dirty="0">
                <a:effectLst/>
                <a:hlinkClick r:id="rId2"/>
              </a:rPr>
            </a:br>
            <a:r>
              <a:rPr lang="en-US" dirty="0">
                <a:effectLst/>
                <a:hlinkClick r:id="rId2"/>
              </a:rPr>
              <a:t>and how they came to be</a:t>
            </a:r>
            <a:endParaRPr lang="LID4096" dirty="0"/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10B947A9-6089-7EFF-6088-D48BB520BB9E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endParaRPr lang="LID4096" dirty="0"/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578FB479-29C3-BB02-5DCF-CC2E841D0FEC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256C2A35-81CC-4088-9903-628FC5B16538}" type="slidenum">
              <a:rPr lang="LID4096" smtClean="0"/>
              <a:t>3</a:t>
            </a:fld>
            <a:endParaRPr lang="LID4096"/>
          </a:p>
        </p:txBody>
      </p:sp>
    </p:spTree>
    <p:extLst>
      <p:ext uri="{BB962C8B-B14F-4D97-AF65-F5344CB8AC3E}">
        <p14:creationId xmlns:p14="http://schemas.microsoft.com/office/powerpoint/2010/main" val="2386561335"/>
      </p:ext>
    </p:extLst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DBF891F4-F9C5-5B0B-D3EB-BD31790A398A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Defaulted and Deleted Functions </a:t>
            </a:r>
            <a:br>
              <a:rPr lang="en-US" dirty="0"/>
            </a:br>
            <a:r>
              <a:rPr lang="en-US" dirty="0"/>
              <a:t>– because life is far from trivial</a:t>
            </a:r>
            <a:endParaRPr lang="LID4096" dirty="0"/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20E03739-2A43-E445-4E0A-8C8C3DDF12F3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rPr lang="en-US" dirty="0"/>
              <a:t>pre/post not allowed on member functions defaulted on first declaration</a:t>
            </a:r>
          </a:p>
          <a:p>
            <a:pPr lvl="1"/>
            <a:r>
              <a:rPr lang="en-US" dirty="0" err="1"/>
              <a:t>a.k.a</a:t>
            </a:r>
            <a:r>
              <a:rPr lang="en-US" dirty="0"/>
              <a:t> </a:t>
            </a:r>
            <a:r>
              <a:rPr lang="en-US" i="1" dirty="0"/>
              <a:t>=default</a:t>
            </a:r>
            <a:r>
              <a:rPr lang="en-US" dirty="0"/>
              <a:t> in class header</a:t>
            </a:r>
          </a:p>
          <a:p>
            <a:r>
              <a:rPr lang="en-US" dirty="0"/>
              <a:t>rationale: </a:t>
            </a:r>
            <a:r>
              <a:rPr lang="en-US" i="1" dirty="0"/>
              <a:t>=default </a:t>
            </a:r>
            <a:r>
              <a:rPr lang="en-US" dirty="0"/>
              <a:t>on first declaration makes them trivial, any extra code would break that</a:t>
            </a:r>
          </a:p>
          <a:p>
            <a:r>
              <a:rPr lang="en-US" dirty="0"/>
              <a:t>also: throwing violation handlers (see later)</a:t>
            </a:r>
          </a:p>
          <a:p>
            <a:endParaRPr lang="LID4096" dirty="0"/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04545C77-75C2-DCBC-6FC3-5B11F960E1FE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256C2A35-81CC-4088-9903-628FC5B16538}" type="slidenum">
              <a:rPr lang="LID4096" smtClean="0"/>
              <a:t>4</a:t>
            </a:fld>
            <a:endParaRPr lang="LID4096"/>
          </a:p>
        </p:txBody>
      </p:sp>
    </p:spTree>
    <p:extLst>
      <p:ext uri="{BB962C8B-B14F-4D97-AF65-F5344CB8AC3E}">
        <p14:creationId xmlns:p14="http://schemas.microsoft.com/office/powerpoint/2010/main" val="2615268061"/>
      </p:ext>
    </p:extLst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1D1349A9-2367-B9DB-4112-C790EE69599F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428ECF9F-830F-8279-D59D-FA84B4496EC5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Defaulted and Deleted Functions </a:t>
            </a:r>
            <a:br>
              <a:rPr lang="en-US" dirty="0"/>
            </a:br>
            <a:r>
              <a:rPr lang="en-US" dirty="0"/>
              <a:t>– because life is far from trivial</a:t>
            </a:r>
            <a:endParaRPr lang="LID4096" dirty="0"/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D4708A2A-C2DC-724F-76E7-B453F57B2395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rPr lang="en-US" dirty="0"/>
              <a:t>trivially copyable:</a:t>
            </a:r>
            <a:endParaRPr lang="LID4096" dirty="0"/>
          </a:p>
        </p:txBody>
      </p:sp>
      <p:pic>
        <p:nvPicPr>
          <p:cNvPr id="5" name="Picture 4" descr="A screenshot of a computer program&#10;&#10;AI-generated content may be incorrect.">
            <a:extLst>
              <a:ext uri="{FF2B5EF4-FFF2-40B4-BE49-F238E27FC236}">
                <a16:creationId xmlns:a16="http://schemas.microsoft.com/office/drawing/2014/main" id="{4AF2A1C2-AD71-F26C-7893-E0D1B1FF0EC9}"/>
              </a:ext>
            </a:extLst>
          </p:cNvPr>
          <p:cNvPicPr>
            <a:picLocks noChangeAspect="1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3010252" y="2724766"/>
            <a:ext cx="4058216" cy="2553056"/>
          </a:xfrm>
          <a:prstGeom prst="rect">
            <a:avLst/>
          </a:prstGeom>
        </p:spPr>
      </p:pic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79012EF5-3C89-E2F8-8EBB-AC344412F2E3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256C2A35-81CC-4088-9903-628FC5B16538}" type="slidenum">
              <a:rPr lang="LID4096" smtClean="0"/>
              <a:t>5</a:t>
            </a:fld>
            <a:endParaRPr lang="LID4096"/>
          </a:p>
        </p:txBody>
      </p:sp>
    </p:spTree>
    <p:extLst>
      <p:ext uri="{BB962C8B-B14F-4D97-AF65-F5344CB8AC3E}">
        <p14:creationId xmlns:p14="http://schemas.microsoft.com/office/powerpoint/2010/main" val="672830580"/>
      </p:ext>
    </p:extLst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A9552D2F-E7E0-FC0A-DAE7-68FE9D7CF84F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B5BBC287-FFEA-5747-A34F-17D806242A98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Defaulted and Deleted Functions </a:t>
            </a:r>
            <a:br>
              <a:rPr lang="en-US" dirty="0"/>
            </a:br>
            <a:r>
              <a:rPr lang="en-US" dirty="0"/>
              <a:t>– because life is far from trivial</a:t>
            </a:r>
            <a:endParaRPr lang="LID4096" dirty="0"/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B7B91226-60E8-F2BD-9631-A7688EC17D48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rPr lang="en-US" dirty="0"/>
              <a:t>not trivially copyable if defaulted only on redeclaration:</a:t>
            </a:r>
            <a:endParaRPr lang="LID4096" dirty="0"/>
          </a:p>
        </p:txBody>
      </p:sp>
      <p:pic>
        <p:nvPicPr>
          <p:cNvPr id="10" name="Picture 9" descr="A screenshot of a computer program&#10;&#10;AI-generated content may be incorrect.">
            <a:extLst>
              <a:ext uri="{FF2B5EF4-FFF2-40B4-BE49-F238E27FC236}">
                <a16:creationId xmlns:a16="http://schemas.microsoft.com/office/drawing/2014/main" id="{BE55BE3F-E012-FF9D-F651-E15A80B5A419}"/>
              </a:ext>
            </a:extLst>
          </p:cNvPr>
          <p:cNvPicPr>
            <a:picLocks noChangeAspect="1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4502162" y="2394436"/>
            <a:ext cx="3187675" cy="4098439"/>
          </a:xfrm>
          <a:prstGeom prst="rect">
            <a:avLst/>
          </a:prstGeom>
        </p:spPr>
      </p:pic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C613618E-6B36-127F-F573-CB94F4ADDF61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256C2A35-81CC-4088-9903-628FC5B16538}" type="slidenum">
              <a:rPr lang="LID4096" smtClean="0"/>
              <a:t>6</a:t>
            </a:fld>
            <a:endParaRPr lang="LID4096"/>
          </a:p>
        </p:txBody>
      </p:sp>
    </p:spTree>
    <p:extLst>
      <p:ext uri="{BB962C8B-B14F-4D97-AF65-F5344CB8AC3E}">
        <p14:creationId xmlns:p14="http://schemas.microsoft.com/office/powerpoint/2010/main" val="3185231528"/>
      </p:ext>
    </p:extLst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06D3A3B3-932D-AB39-6648-439FFAC50936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8424B8DD-4086-D824-E442-4C48E96ECCE4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Defaulted and Deleted Functions </a:t>
            </a:r>
            <a:br>
              <a:rPr lang="en-US" dirty="0"/>
            </a:br>
            <a:r>
              <a:rPr lang="en-US" dirty="0"/>
              <a:t>– because life is far from trivial</a:t>
            </a:r>
            <a:endParaRPr lang="LID4096" dirty="0"/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9EB48DF3-2472-AF46-45D8-38D614FBB16E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rPr lang="en-US" dirty="0"/>
              <a:t>Rejected solutions:</a:t>
            </a:r>
          </a:p>
          <a:p>
            <a:pPr lvl="1"/>
            <a:r>
              <a:rPr lang="en-US" dirty="0"/>
              <a:t>Allow contract to break triviality</a:t>
            </a:r>
          </a:p>
          <a:p>
            <a:pPr lvl="1"/>
            <a:r>
              <a:rPr lang="en-US" i="1" dirty="0"/>
              <a:t>=default</a:t>
            </a:r>
            <a:r>
              <a:rPr lang="en-US" dirty="0"/>
              <a:t> silences contract</a:t>
            </a:r>
          </a:p>
          <a:p>
            <a:r>
              <a:rPr lang="en-US" dirty="0"/>
              <a:t>In general, making undecided things ill-formed leaves room for future resolutions, making it a popular SG21 strategy, as well as a stated P2900 Principle:</a:t>
            </a:r>
          </a:p>
          <a:p>
            <a:endParaRPr lang="LID4096" dirty="0"/>
          </a:p>
        </p:txBody>
      </p:sp>
      <p:pic>
        <p:nvPicPr>
          <p:cNvPr id="5" name="Picture 4">
            <a:extLst>
              <a:ext uri="{FF2B5EF4-FFF2-40B4-BE49-F238E27FC236}">
                <a16:creationId xmlns:a16="http://schemas.microsoft.com/office/drawing/2014/main" id="{75836B8D-66FA-0B90-A9FF-450E6B65068D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1147612" y="4657662"/>
            <a:ext cx="6706536" cy="895475"/>
          </a:xfrm>
          <a:prstGeom prst="rect">
            <a:avLst/>
          </a:prstGeom>
        </p:spPr>
      </p:pic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7B4B3118-D254-1F96-AFE8-316AC36E6F50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256C2A35-81CC-4088-9903-628FC5B16538}" type="slidenum">
              <a:rPr lang="LID4096" smtClean="0"/>
              <a:t>7</a:t>
            </a:fld>
            <a:endParaRPr lang="LID4096" dirty="0"/>
          </a:p>
        </p:txBody>
      </p:sp>
    </p:spTree>
    <p:extLst>
      <p:ext uri="{BB962C8B-B14F-4D97-AF65-F5344CB8AC3E}">
        <p14:creationId xmlns:p14="http://schemas.microsoft.com/office/powerpoint/2010/main" val="2913040141"/>
      </p:ext>
    </p:extLst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9820EB0B-0491-8248-E5DF-FBA95F2E0D1D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Pointers to Functions </a:t>
            </a:r>
            <a:br>
              <a:rPr lang="en-US" dirty="0"/>
            </a:br>
            <a:r>
              <a:rPr lang="en-US" dirty="0"/>
              <a:t>– can you point us to a solution?</a:t>
            </a:r>
            <a:endParaRPr lang="LID4096" dirty="0"/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D0E03BE6-9D48-FCB4-6B04-AEA6BAB5CB86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838199" y="1825625"/>
            <a:ext cx="10884613" cy="2177415"/>
          </a:xfrm>
        </p:spPr>
        <p:txBody>
          <a:bodyPr/>
          <a:lstStyle/>
          <a:p>
            <a:r>
              <a:rPr lang="en-US" dirty="0"/>
              <a:t>TLDR: pre/post ill-formed on pointer to function or member function</a:t>
            </a:r>
          </a:p>
          <a:p>
            <a:r>
              <a:rPr lang="en-US" dirty="0"/>
              <a:t>Allowed to point to functions with pre/post</a:t>
            </a:r>
          </a:p>
          <a:p>
            <a:pPr lvl="1"/>
            <a:r>
              <a:rPr lang="en-US" sz="2800" dirty="0"/>
              <a:t>checked when evaluated on callee side</a:t>
            </a:r>
          </a:p>
          <a:p>
            <a:endParaRPr lang="LID4096" dirty="0"/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549CB50E-3352-B234-F9AE-AE41E5E9C32D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256C2A35-81CC-4088-9903-628FC5B16538}" type="slidenum">
              <a:rPr lang="LID4096" smtClean="0"/>
              <a:t>8</a:t>
            </a:fld>
            <a:endParaRPr lang="LID4096"/>
          </a:p>
        </p:txBody>
      </p:sp>
      <p:pic>
        <p:nvPicPr>
          <p:cNvPr id="7" name="Picture 6" descr="A white background with black text&#10;&#10;AI-generated content may be incorrect.">
            <a:extLst>
              <a:ext uri="{FF2B5EF4-FFF2-40B4-BE49-F238E27FC236}">
                <a16:creationId xmlns:a16="http://schemas.microsoft.com/office/drawing/2014/main" id="{40D2CB61-C7FF-1124-3D24-731532445E66}"/>
              </a:ext>
            </a:extLst>
          </p:cNvPr>
          <p:cNvPicPr>
            <a:picLocks noChangeAspect="1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1114355" y="3280581"/>
            <a:ext cx="3305636" cy="2762636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2395360302"/>
      </p:ext>
    </p:extLst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E669C1E6-D048-22FD-67B5-67BD4220621B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17D6B86C-536A-7FC3-987C-D031EA3B78D1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Pointers to Functions </a:t>
            </a:r>
            <a:br>
              <a:rPr lang="en-US" dirty="0"/>
            </a:br>
            <a:r>
              <a:rPr lang="en-US" dirty="0"/>
              <a:t>– can you point us to a solution?</a:t>
            </a:r>
            <a:endParaRPr lang="LID4096" dirty="0"/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33E013C8-FB32-E341-C3FB-2DAD45FABD60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838200" y="1825625"/>
            <a:ext cx="10515600" cy="3183255"/>
          </a:xfrm>
        </p:spPr>
        <p:txBody>
          <a:bodyPr>
            <a:normAutofit fontScale="92500" lnSpcReduction="20000"/>
          </a:bodyPr>
          <a:lstStyle/>
          <a:p>
            <a:r>
              <a:rPr lang="en-US" sz="2000" dirty="0"/>
              <a:t>yet again, ill-formed since no solution could be agreed on in the C++26 timeframe</a:t>
            </a:r>
          </a:p>
          <a:p>
            <a:r>
              <a:rPr lang="en-US" sz="2000" dirty="0"/>
              <a:t>obstacles to such a solution (P3327R0):</a:t>
            </a:r>
          </a:p>
          <a:p>
            <a:pPr lvl="1"/>
            <a:r>
              <a:rPr lang="en-US" sz="2000" dirty="0"/>
              <a:t>Where to store function contracts? </a:t>
            </a:r>
          </a:p>
          <a:p>
            <a:pPr lvl="2"/>
            <a:r>
              <a:rPr lang="en-US" dirty="0"/>
              <a:t>as part of the pointer type (type system) </a:t>
            </a:r>
          </a:p>
          <a:p>
            <a:pPr lvl="3"/>
            <a:r>
              <a:rPr lang="en-US" sz="2000" dirty="0"/>
              <a:t>different template instantiation per different contracts (code bloat)</a:t>
            </a:r>
          </a:p>
          <a:p>
            <a:pPr lvl="3"/>
            <a:r>
              <a:rPr lang="en-US" sz="2000" dirty="0"/>
              <a:t>different name mangling (ABI break)</a:t>
            </a:r>
          </a:p>
          <a:p>
            <a:pPr lvl="3"/>
            <a:r>
              <a:rPr lang="en-US" sz="2000" dirty="0"/>
              <a:t>and many other issues, currently with no good answers</a:t>
            </a:r>
          </a:p>
          <a:p>
            <a:pPr lvl="2"/>
            <a:r>
              <a:rPr lang="en-US" dirty="0"/>
              <a:t>as part of the pointer value (run-time overhead in both space and time) </a:t>
            </a:r>
          </a:p>
          <a:p>
            <a:pPr lvl="3"/>
            <a:r>
              <a:rPr lang="en-US" sz="2000" dirty="0" err="1"/>
              <a:t>thunks</a:t>
            </a:r>
            <a:endParaRPr lang="en-US" sz="2000" dirty="0"/>
          </a:p>
          <a:p>
            <a:pPr lvl="3"/>
            <a:r>
              <a:rPr lang="en-US" sz="2000" dirty="0"/>
              <a:t>wide pointers </a:t>
            </a:r>
          </a:p>
          <a:p>
            <a:pPr lvl="4"/>
            <a:r>
              <a:rPr lang="en-US" sz="2000" dirty="0"/>
              <a:t>ABI break</a:t>
            </a:r>
          </a:p>
        </p:txBody>
      </p:sp>
      <p:pic>
        <p:nvPicPr>
          <p:cNvPr id="6" name="Picture 5" descr="A purple and black sign&#10;&#10;AI-generated content may be incorrect.">
            <a:extLst>
              <a:ext uri="{FF2B5EF4-FFF2-40B4-BE49-F238E27FC236}">
                <a16:creationId xmlns:a16="http://schemas.microsoft.com/office/drawing/2014/main" id="{C328B10E-F477-4316-047B-6D47E1C988FC}"/>
              </a:ext>
            </a:extLst>
          </p:cNvPr>
          <p:cNvPicPr>
            <a:picLocks noChangeAspect="1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2729727" y="4838349"/>
            <a:ext cx="9232704" cy="1325563"/>
          </a:xfrm>
          <a:prstGeom prst="rect">
            <a:avLst/>
          </a:prstGeom>
        </p:spPr>
      </p:pic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0C762DFD-BBA2-F0F8-CCF4-E90FEA9A471B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256C2A35-81CC-4088-9903-628FC5B16538}" type="slidenum">
              <a:rPr lang="LID4096" smtClean="0"/>
              <a:t>9</a:t>
            </a:fld>
            <a:endParaRPr lang="LID4096"/>
          </a:p>
        </p:txBody>
      </p:sp>
    </p:spTree>
    <p:extLst>
      <p:ext uri="{BB962C8B-B14F-4D97-AF65-F5344CB8AC3E}">
        <p14:creationId xmlns:p14="http://schemas.microsoft.com/office/powerpoint/2010/main" val="2931340942"/>
      </p:ext>
    </p:extLst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9EC890BE-D5A4-228F-4241-8FF08FA15673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484BA543-1A0F-9468-0D52-66727948A020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Pointers to Functions </a:t>
            </a:r>
            <a:br>
              <a:rPr lang="en-US" dirty="0"/>
            </a:br>
            <a:r>
              <a:rPr lang="en-US" dirty="0"/>
              <a:t>– can you point us to a solution?</a:t>
            </a:r>
            <a:endParaRPr lang="LID4096" dirty="0"/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931321D4-216F-344D-9F32-B334D181844D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838200" y="1825625"/>
            <a:ext cx="10515600" cy="1852295"/>
          </a:xfrm>
        </p:spPr>
        <p:txBody>
          <a:bodyPr>
            <a:normAutofit/>
          </a:bodyPr>
          <a:lstStyle/>
          <a:p>
            <a:r>
              <a:rPr lang="en-US" dirty="0"/>
              <a:t>Avoiding ongoing ABI incompatibilities would require using the type system after all</a:t>
            </a:r>
          </a:p>
          <a:p>
            <a:r>
              <a:rPr lang="en-US" dirty="0"/>
              <a:t>any approach based on pointer value would incur some runtime overhead</a:t>
            </a:r>
          </a:p>
        </p:txBody>
      </p:sp>
      <p:pic>
        <p:nvPicPr>
          <p:cNvPr id="5" name="Picture 4" descr="A purple and black text&#10;&#10;AI-generated content may be incorrect.">
            <a:extLst>
              <a:ext uri="{FF2B5EF4-FFF2-40B4-BE49-F238E27FC236}">
                <a16:creationId xmlns:a16="http://schemas.microsoft.com/office/drawing/2014/main" id="{C54FB0A4-6045-FB42-016C-7E1EA92956DC}"/>
              </a:ext>
            </a:extLst>
          </p:cNvPr>
          <p:cNvPicPr>
            <a:picLocks noChangeAspect="1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1143852" y="3555291"/>
            <a:ext cx="9147878" cy="1602335"/>
          </a:xfrm>
          <a:prstGeom prst="rect">
            <a:avLst/>
          </a:prstGeom>
        </p:spPr>
      </p:pic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F53388B7-3144-45DF-E8C3-316FF62DC770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256C2A35-81CC-4088-9903-628FC5B16538}" type="slidenum">
              <a:rPr lang="LID4096" smtClean="0"/>
              <a:t>10</a:t>
            </a:fld>
            <a:endParaRPr lang="LID4096"/>
          </a:p>
        </p:txBody>
      </p:sp>
    </p:spTree>
    <p:extLst>
      <p:ext uri="{BB962C8B-B14F-4D97-AF65-F5344CB8AC3E}">
        <p14:creationId xmlns:p14="http://schemas.microsoft.com/office/powerpoint/2010/main" val="3068460565"/>
      </p:ext>
    </p:extLst>
  </p:cSld>
  <p:clrMapOvr>
    <a:masterClrMapping/>
  </p:clrMapOvr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5CC8679B-52D1-C526-BE8C-E2893A491BC7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4D952F5A-B2CC-7BFB-12BE-7FE5DFF63B4F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Pointers to Functions </a:t>
            </a:r>
            <a:br>
              <a:rPr lang="en-US" dirty="0"/>
            </a:br>
            <a:r>
              <a:rPr lang="en-US" dirty="0"/>
              <a:t>– can you point us to a solution?</a:t>
            </a:r>
            <a:endParaRPr lang="LID4096" dirty="0"/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F7423868-564A-02CA-C21E-B9F963D4AEAD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838200" y="1825625"/>
            <a:ext cx="10515600" cy="2045335"/>
          </a:xfrm>
        </p:spPr>
        <p:txBody>
          <a:bodyPr>
            <a:normAutofit/>
          </a:bodyPr>
          <a:lstStyle/>
          <a:p>
            <a:r>
              <a:rPr lang="en-US" dirty="0"/>
              <a:t>as a property of the pointer variable declaration (hard to keep track and propagate) </a:t>
            </a:r>
          </a:p>
          <a:p>
            <a:pPr lvl="1"/>
            <a:r>
              <a:rPr lang="en-US" dirty="0"/>
              <a:t>not part of the type </a:t>
            </a:r>
          </a:p>
          <a:p>
            <a:pPr lvl="2"/>
            <a:r>
              <a:rPr lang="en-US" dirty="0"/>
              <a:t>would require some backchannel instead</a:t>
            </a:r>
          </a:p>
          <a:p>
            <a:pPr lvl="2"/>
            <a:r>
              <a:rPr lang="en-US" dirty="0"/>
              <a:t>impossible for templates to deliver expected results without ODR violations</a:t>
            </a:r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4BEB1B4C-A332-08A5-730F-639EDB368F03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256C2A35-81CC-4088-9903-628FC5B16538}" type="slidenum">
              <a:rPr lang="LID4096" smtClean="0"/>
              <a:t>11</a:t>
            </a:fld>
            <a:endParaRPr lang="LID4096"/>
          </a:p>
        </p:txBody>
      </p:sp>
    </p:spTree>
    <p:extLst>
      <p:ext uri="{BB962C8B-B14F-4D97-AF65-F5344CB8AC3E}">
        <p14:creationId xmlns:p14="http://schemas.microsoft.com/office/powerpoint/2010/main" val="3554326197"/>
      </p:ext>
    </p:extLst>
  </p:cSld>
  <p:clrMapOvr>
    <a:masterClrMapping/>
  </p:clrMapOvr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A0C11C8A-D4E7-7FCE-AFE5-97B7574A7ED2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0E331036-C568-CE3A-F4FF-161AC0E539E1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Pointers to Functions </a:t>
            </a:r>
            <a:br>
              <a:rPr lang="en-US" dirty="0"/>
            </a:br>
            <a:r>
              <a:rPr lang="en-US" dirty="0"/>
              <a:t>– can you point us to a solution?</a:t>
            </a:r>
            <a:endParaRPr lang="LID4096" dirty="0"/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A96E9084-E8D5-D602-A954-C2D8368FE861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785227" y="4965065"/>
            <a:ext cx="6477000" cy="1405255"/>
          </a:xfrm>
        </p:spPr>
        <p:txBody>
          <a:bodyPr>
            <a:normAutofit fontScale="70000" lnSpcReduction="20000"/>
          </a:bodyPr>
          <a:lstStyle/>
          <a:p>
            <a:r>
              <a:rPr lang="en-US" dirty="0"/>
              <a:t>both pointer types are identical since contracts are not part of the type system</a:t>
            </a:r>
          </a:p>
          <a:p>
            <a:r>
              <a:rPr lang="en-US" dirty="0"/>
              <a:t>therefore the 2 invocations will either fail to check the correct (different) contracts, or constitute an ODR violation</a:t>
            </a:r>
          </a:p>
        </p:txBody>
      </p:sp>
      <p:pic>
        <p:nvPicPr>
          <p:cNvPr id="14" name="Picture 13" descr="A white paper with black text&#10;&#10;AI-generated content may be incorrect.">
            <a:extLst>
              <a:ext uri="{FF2B5EF4-FFF2-40B4-BE49-F238E27FC236}">
                <a16:creationId xmlns:a16="http://schemas.microsoft.com/office/drawing/2014/main" id="{A9E1B3CA-D101-C128-6B9F-58D1F6FA20A3}"/>
              </a:ext>
            </a:extLst>
          </p:cNvPr>
          <p:cNvPicPr>
            <a:picLocks noChangeAspect="1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838200" y="1851819"/>
            <a:ext cx="6565533" cy="2637155"/>
          </a:xfrm>
          <a:prstGeom prst="rect">
            <a:avLst/>
          </a:prstGeom>
        </p:spPr>
      </p:pic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2242A7D9-246A-1B53-5B44-BDDCBCDED8C7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256C2A35-81CC-4088-9903-628FC5B16538}" type="slidenum">
              <a:rPr lang="LID4096" smtClean="0"/>
              <a:t>12</a:t>
            </a:fld>
            <a:endParaRPr lang="LID4096"/>
          </a:p>
        </p:txBody>
      </p:sp>
    </p:spTree>
    <p:extLst>
      <p:ext uri="{BB962C8B-B14F-4D97-AF65-F5344CB8AC3E}">
        <p14:creationId xmlns:p14="http://schemas.microsoft.com/office/powerpoint/2010/main" val="1098555055"/>
      </p:ext>
    </p:extLst>
  </p:cSld>
  <p:clrMapOvr>
    <a:masterClrMapping/>
  </p:clrMapOvr>
</p:sld>
</file>

<file path=ppt/slides/slide1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11EB3195-03B5-930B-BD4B-D6174E72BE30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D2EE7521-D845-D253-64B1-4B032E8D0307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>
            <a:normAutofit fontScale="90000"/>
          </a:bodyPr>
          <a:lstStyle/>
          <a:p>
            <a:r>
              <a:rPr lang="en-US" dirty="0"/>
              <a:t>Pointers to Functions </a:t>
            </a:r>
            <a:br>
              <a:rPr lang="en-US" dirty="0"/>
            </a:br>
            <a:r>
              <a:rPr lang="fr-FR" dirty="0"/>
              <a:t>Possible future solution – </a:t>
            </a:r>
            <a:r>
              <a:rPr lang="fr-FR" dirty="0" err="1"/>
              <a:t>function</a:t>
            </a:r>
            <a:r>
              <a:rPr lang="fr-FR" dirty="0"/>
              <a:t> usage types</a:t>
            </a:r>
            <a:endParaRPr lang="LID4096" dirty="0"/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324E5649-C475-719E-BC29-F2B365813080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1046480" y="4563479"/>
            <a:ext cx="6477000" cy="1405255"/>
          </a:xfrm>
        </p:spPr>
        <p:txBody>
          <a:bodyPr>
            <a:normAutofit/>
          </a:bodyPr>
          <a:lstStyle/>
          <a:p>
            <a:pPr>
              <a:lnSpc>
                <a:spcPct val="70000"/>
              </a:lnSpc>
            </a:pPr>
            <a:r>
              <a:rPr lang="en-US" sz="1400" dirty="0"/>
              <a:t>these types can then be used via pointers or references, which are distinct from their contract-less counterparts</a:t>
            </a:r>
          </a:p>
          <a:p>
            <a:pPr>
              <a:lnSpc>
                <a:spcPct val="70000"/>
              </a:lnSpc>
            </a:pPr>
            <a:r>
              <a:rPr lang="en-US" sz="1400" dirty="0"/>
              <a:t>could be quite revolutionary, therefore couldn’t be considered so late in the C++26 cycle</a:t>
            </a:r>
          </a:p>
        </p:txBody>
      </p:sp>
      <p:pic>
        <p:nvPicPr>
          <p:cNvPr id="5" name="Picture 4" descr="A close-up of a computer code&#10;&#10;AI-generated content may be incorrect.">
            <a:extLst>
              <a:ext uri="{FF2B5EF4-FFF2-40B4-BE49-F238E27FC236}">
                <a16:creationId xmlns:a16="http://schemas.microsoft.com/office/drawing/2014/main" id="{7F6E96D0-D172-2061-A5C7-6F4880BDABA0}"/>
              </a:ext>
            </a:extLst>
          </p:cNvPr>
          <p:cNvPicPr>
            <a:picLocks noChangeAspect="1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1323500" y="3158224"/>
            <a:ext cx="6801799" cy="1276528"/>
          </a:xfrm>
          <a:prstGeom prst="rect">
            <a:avLst/>
          </a:prstGeom>
        </p:spPr>
      </p:pic>
      <p:sp>
        <p:nvSpPr>
          <p:cNvPr id="8" name="Content Placeholder 2">
            <a:extLst>
              <a:ext uri="{FF2B5EF4-FFF2-40B4-BE49-F238E27FC236}">
                <a16:creationId xmlns:a16="http://schemas.microsoft.com/office/drawing/2014/main" id="{83CB6059-7C8B-57C7-0CD6-E341354143F9}"/>
              </a:ext>
            </a:extLst>
          </p:cNvPr>
          <p:cNvSpPr txBox="1">
            <a:spLocks/>
          </p:cNvSpPr>
          <p:nvPr/>
        </p:nvSpPr>
        <p:spPr>
          <a:xfrm>
            <a:off x="1046479" y="1937385"/>
            <a:ext cx="7078819" cy="1405255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>
            <a:lvl1pPr marL="228600" indent="-228600" algn="l" defTabSz="914400" rtl="0" eaLnBrk="1" latinLnBrk="0" hangingPunct="1">
              <a:lnSpc>
                <a:spcPct val="90000"/>
              </a:lnSpc>
              <a:spcBef>
                <a:spcPts val="1000"/>
              </a:spcBef>
              <a:buFont typeface="Arial" panose="020B0604020202020204" pitchFamily="34" charset="0"/>
              <a:buChar char="•"/>
              <a:defRPr sz="2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6858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24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11430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6002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20574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5146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9718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4290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8862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r>
              <a:rPr lang="en-US" sz="1400" dirty="0"/>
              <a:t>Lisa Lippincott P</a:t>
            </a:r>
            <a:r>
              <a:rPr lang="en-US" sz="1400" dirty="0">
                <a:hlinkClick r:id="rId4">
                  <a:extLst>
                    <a:ext uri="{A12FA001-AC4F-418D-AE19-62706E023703}">
                      <ahyp:hlinkClr xmlns:ahyp="http://schemas.microsoft.com/office/drawing/2018/hyperlinkcolor" val="tx"/>
                    </a:ext>
                  </a:extLst>
                </a:hlinkClick>
              </a:rPr>
              <a:t>3271R1 </a:t>
            </a:r>
            <a:r>
              <a:rPr lang="en-US" sz="1400" dirty="0"/>
              <a:t>- Function Types with Usage (Contracts for Function Pointers)</a:t>
            </a:r>
          </a:p>
          <a:p>
            <a:r>
              <a:rPr lang="en-US" sz="1400" dirty="0"/>
              <a:t>will be discussed for C++29</a:t>
            </a:r>
          </a:p>
          <a:p>
            <a:r>
              <a:rPr lang="en-US" sz="1400" dirty="0"/>
              <a:t>will introduce function types as a kind of strong type alias, which may have  contract specifiers (pre/post) attached</a:t>
            </a:r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861DCDD5-AA27-EE81-E72D-08E37767B94F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256C2A35-81CC-4088-9903-628FC5B16538}" type="slidenum">
              <a:rPr lang="LID4096" smtClean="0"/>
              <a:t>13</a:t>
            </a:fld>
            <a:endParaRPr lang="LID4096"/>
          </a:p>
        </p:txBody>
      </p:sp>
    </p:spTree>
    <p:extLst>
      <p:ext uri="{BB962C8B-B14F-4D97-AF65-F5344CB8AC3E}">
        <p14:creationId xmlns:p14="http://schemas.microsoft.com/office/powerpoint/2010/main" val="2496020466"/>
      </p:ext>
    </p:extLst>
  </p:cSld>
  <p:clrMapOvr>
    <a:masterClrMapping/>
  </p:clrMapOvr>
</p:sld>
</file>

<file path=ppt/slides/slide1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8F21502B-FDA6-3238-A4BC-7E63C3D701C9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Constructors and Destructors - this and that</a:t>
            </a:r>
            <a:endParaRPr lang="LID4096" dirty="0"/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D651D0AF-D996-D185-8E77-55782B10F6C3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873760" y="1419225"/>
            <a:ext cx="10515600" cy="4351338"/>
          </a:xfrm>
        </p:spPr>
        <p:txBody>
          <a:bodyPr/>
          <a:lstStyle/>
          <a:p>
            <a:r>
              <a:rPr lang="en-US" dirty="0"/>
              <a:t>pre in constructors </a:t>
            </a:r>
          </a:p>
          <a:p>
            <a:r>
              <a:rPr lang="en-US" dirty="0"/>
              <a:t>and post in destructors </a:t>
            </a:r>
          </a:p>
          <a:p>
            <a:r>
              <a:rPr lang="en-US" dirty="0"/>
              <a:t>can only reference </a:t>
            </a:r>
            <a:r>
              <a:rPr lang="en-US" i="1" dirty="0">
                <a:effectLst/>
              </a:rPr>
              <a:t>this </a:t>
            </a:r>
            <a:r>
              <a:rPr lang="en-US" dirty="0"/>
              <a:t>explicitly:</a:t>
            </a:r>
            <a:endParaRPr lang="LID4096" dirty="0"/>
          </a:p>
        </p:txBody>
      </p:sp>
      <p:pic>
        <p:nvPicPr>
          <p:cNvPr id="5" name="Picture 4" descr="A screenshot of a computer program&#10;&#10;AI-generated content may be incorrect.">
            <a:extLst>
              <a:ext uri="{FF2B5EF4-FFF2-40B4-BE49-F238E27FC236}">
                <a16:creationId xmlns:a16="http://schemas.microsoft.com/office/drawing/2014/main" id="{D4397960-B440-3813-C8EF-A8163CC178BA}"/>
              </a:ext>
            </a:extLst>
          </p:cNvPr>
          <p:cNvPicPr>
            <a:picLocks noChangeAspect="1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1034902" y="3042921"/>
            <a:ext cx="3798078" cy="3531234"/>
          </a:xfrm>
          <a:prstGeom prst="rect">
            <a:avLst/>
          </a:prstGeom>
        </p:spPr>
      </p:pic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3A8B263E-B41B-3FC9-C8D5-6B2C93C63821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256C2A35-81CC-4088-9903-628FC5B16538}" type="slidenum">
              <a:rPr lang="LID4096" smtClean="0"/>
              <a:t>14</a:t>
            </a:fld>
            <a:endParaRPr lang="LID4096"/>
          </a:p>
        </p:txBody>
      </p:sp>
    </p:spTree>
    <p:extLst>
      <p:ext uri="{BB962C8B-B14F-4D97-AF65-F5344CB8AC3E}">
        <p14:creationId xmlns:p14="http://schemas.microsoft.com/office/powerpoint/2010/main" val="3653312196"/>
      </p:ext>
    </p:extLst>
  </p:cSld>
  <p:clrMapOvr>
    <a:masterClrMapping/>
  </p:clrMapOvr>
</p:sld>
</file>

<file path=ppt/slides/slide1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6B5E8065-165F-4232-5824-72A10AE5FB6C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F86BD22E-1D05-398B-1509-E9C21E8C005B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Constructors and Destructors - this and that</a:t>
            </a:r>
            <a:endParaRPr lang="LID4096" dirty="0"/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9B2F4F11-03AE-943A-FFC2-355A4A26174F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873760" y="1419225"/>
            <a:ext cx="10515600" cy="3355975"/>
          </a:xfrm>
        </p:spPr>
        <p:txBody>
          <a:bodyPr>
            <a:normAutofit fontScale="92500" lnSpcReduction="10000"/>
          </a:bodyPr>
          <a:lstStyle/>
          <a:p>
            <a:r>
              <a:rPr lang="en-US" dirty="0"/>
              <a:t>Rationale:</a:t>
            </a:r>
          </a:p>
          <a:p>
            <a:r>
              <a:rPr lang="en-US" dirty="0"/>
              <a:t>Objects are not yet/anymore in a valid state in constructor/destructor pre/post – respectively</a:t>
            </a:r>
          </a:p>
          <a:p>
            <a:pPr lvl="1"/>
            <a:r>
              <a:rPr lang="en-US" sz="2800" dirty="0"/>
              <a:t>Evaluation being done before/after constructor/destructor body</a:t>
            </a:r>
          </a:p>
          <a:p>
            <a:r>
              <a:rPr lang="en-US" dirty="0"/>
              <a:t>Yet we can’t outright ban this use, as sometimes it’s OK - e.g. when checking object/member addresses</a:t>
            </a:r>
          </a:p>
          <a:p>
            <a:r>
              <a:rPr lang="en-US" dirty="0"/>
              <a:t>But since we don’t want to implicitly add new UB - any such use must require an explicit opt-in</a:t>
            </a:r>
          </a:p>
        </p:txBody>
      </p:sp>
      <p:pic>
        <p:nvPicPr>
          <p:cNvPr id="6" name="Picture 5" descr="A purple and black sign&#10;&#10;AI-generated content may be incorrect.">
            <a:extLst>
              <a:ext uri="{FF2B5EF4-FFF2-40B4-BE49-F238E27FC236}">
                <a16:creationId xmlns:a16="http://schemas.microsoft.com/office/drawing/2014/main" id="{3A1470BD-D368-8149-881D-8DAACAFBC2F3}"/>
              </a:ext>
            </a:extLst>
          </p:cNvPr>
          <p:cNvPicPr>
            <a:picLocks noChangeAspect="1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1116826" y="4682112"/>
            <a:ext cx="8660638" cy="1147188"/>
          </a:xfrm>
          <a:prstGeom prst="rect">
            <a:avLst/>
          </a:prstGeom>
        </p:spPr>
      </p:pic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E86EFF6E-FAFE-0C44-8613-F73DF84FF72D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256C2A35-81CC-4088-9903-628FC5B16538}" type="slidenum">
              <a:rPr lang="LID4096" smtClean="0"/>
              <a:t>15</a:t>
            </a:fld>
            <a:endParaRPr lang="LID4096"/>
          </a:p>
        </p:txBody>
      </p:sp>
    </p:spTree>
    <p:extLst>
      <p:ext uri="{BB962C8B-B14F-4D97-AF65-F5344CB8AC3E}">
        <p14:creationId xmlns:p14="http://schemas.microsoft.com/office/powerpoint/2010/main" val="1038662602"/>
      </p:ext>
    </p:extLst>
  </p:cSld>
  <p:clrMapOvr>
    <a:masterClrMapping/>
  </p:clrMapOvr>
</p:sld>
</file>

<file path=ppt/slides/slide1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DF567956-3F43-7260-43FC-B71C8D18A48C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Semantics</a:t>
            </a:r>
            <a:endParaRPr lang="LID4096" dirty="0"/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4BE089D9-CEA0-9768-906D-9EFA76A8963F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endParaRPr lang="LID4096"/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1B368E27-44B7-9D3D-3CD2-C615DA76F24C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256C2A35-81CC-4088-9903-628FC5B16538}" type="slidenum">
              <a:rPr lang="LID4096" smtClean="0"/>
              <a:t>16</a:t>
            </a:fld>
            <a:endParaRPr lang="LID4096"/>
          </a:p>
        </p:txBody>
      </p:sp>
    </p:spTree>
    <p:extLst>
      <p:ext uri="{BB962C8B-B14F-4D97-AF65-F5344CB8AC3E}">
        <p14:creationId xmlns:p14="http://schemas.microsoft.com/office/powerpoint/2010/main" val="3980027054"/>
      </p:ext>
    </p:extLst>
  </p:cSld>
  <p:clrMapOvr>
    <a:masterClrMapping/>
  </p:clrMapOvr>
</p:sld>
</file>

<file path=ppt/slides/slide1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6C5DA498-7860-2DAE-A71F-0496EAECCE77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Objects Passed and Returned in Registers </a:t>
            </a:r>
            <a:br>
              <a:rPr lang="en-US" dirty="0"/>
            </a:br>
            <a:r>
              <a:rPr lang="en-US" dirty="0"/>
              <a:t>– hey, where’s my object?</a:t>
            </a:r>
            <a:endParaRPr lang="LID4096" dirty="0"/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88541727-124E-690F-D3D3-730534C71545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rPr lang="en-US" sz="1600" dirty="0"/>
              <a:t>C++ standard allows some types of objects to be passed and return via registers</a:t>
            </a:r>
          </a:p>
          <a:p>
            <a:pPr lvl="1"/>
            <a:r>
              <a:rPr lang="en-US" sz="1600" dirty="0"/>
              <a:t>Based on constructor and destructor traits - generally trivially copyable and trivially destructible types</a:t>
            </a:r>
          </a:p>
          <a:p>
            <a:pPr lvl="1"/>
            <a:r>
              <a:rPr lang="en-US" sz="1600" dirty="0"/>
              <a:t>Object in register is treated as a temporary</a:t>
            </a:r>
          </a:p>
          <a:p>
            <a:r>
              <a:rPr lang="en-US" sz="1600" dirty="0"/>
              <a:t>pre/post may observe either temp copy or final object</a:t>
            </a:r>
          </a:p>
          <a:p>
            <a:pPr lvl="1"/>
            <a:r>
              <a:rPr lang="en-US" sz="1600" dirty="0"/>
              <a:t>Which therefore cannot be expected to have the same identity (</a:t>
            </a:r>
            <a:r>
              <a:rPr lang="en-US" sz="1600" dirty="0" err="1"/>
              <a:t>a.k.a</a:t>
            </a:r>
            <a:r>
              <a:rPr lang="en-US" sz="1600" dirty="0"/>
              <a:t> address) as in other parts of the code</a:t>
            </a:r>
          </a:p>
          <a:p>
            <a:r>
              <a:rPr lang="en-US" sz="1600" dirty="0"/>
              <a:t>post below may fail if (and only if) X is a type eligible to be passed via registers:</a:t>
            </a:r>
          </a:p>
          <a:p>
            <a:endParaRPr lang="LID4096" dirty="0"/>
          </a:p>
        </p:txBody>
      </p:sp>
      <p:pic>
        <p:nvPicPr>
          <p:cNvPr id="7" name="Picture 6" descr="A white screen with black text&#10;&#10;AI-generated content may be incorrect.">
            <a:extLst>
              <a:ext uri="{FF2B5EF4-FFF2-40B4-BE49-F238E27FC236}">
                <a16:creationId xmlns:a16="http://schemas.microsoft.com/office/drawing/2014/main" id="{B37F1883-729C-CF32-2B53-16CC5129B220}"/>
              </a:ext>
            </a:extLst>
          </p:cNvPr>
          <p:cNvPicPr>
            <a:picLocks noChangeAspect="1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1155386" y="3873160"/>
            <a:ext cx="4496427" cy="2438740"/>
          </a:xfrm>
          <a:prstGeom prst="rect">
            <a:avLst/>
          </a:prstGeom>
        </p:spPr>
      </p:pic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C846A0D1-84C5-8750-FF98-B7C877383AF2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256C2A35-81CC-4088-9903-628FC5B16538}" type="slidenum">
              <a:rPr lang="LID4096" smtClean="0"/>
              <a:t>17</a:t>
            </a:fld>
            <a:endParaRPr lang="LID4096"/>
          </a:p>
        </p:txBody>
      </p:sp>
    </p:spTree>
    <p:extLst>
      <p:ext uri="{BB962C8B-B14F-4D97-AF65-F5344CB8AC3E}">
        <p14:creationId xmlns:p14="http://schemas.microsoft.com/office/powerpoint/2010/main" val="1464708030"/>
      </p:ext>
    </p:extLst>
  </p:cSld>
  <p:clrMapOvr>
    <a:masterClrMapping/>
  </p:clrMapOvr>
</p:sld>
</file>

<file path=ppt/slides/slide1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D56CD65C-7F40-9970-D3FE-6E181B2CBC95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3129CC8A-646C-E139-96A9-4428E3C907C3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Objects Passed and Returned in Registers </a:t>
            </a:r>
            <a:br>
              <a:rPr lang="en-US" dirty="0"/>
            </a:br>
            <a:r>
              <a:rPr lang="en-US" dirty="0"/>
              <a:t>– hey, where’s my object?</a:t>
            </a:r>
            <a:endParaRPr lang="LID4096" dirty="0"/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94C290F5-DF6B-409B-6E4C-A4B1D865F30E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rPr lang="en-US" sz="1600" dirty="0"/>
              <a:t>same for function parameters – post may fail:</a:t>
            </a:r>
          </a:p>
          <a:p>
            <a:endParaRPr lang="LID4096" dirty="0"/>
          </a:p>
        </p:txBody>
      </p:sp>
      <p:pic>
        <p:nvPicPr>
          <p:cNvPr id="5" name="Picture 4" descr="A black text on a white background&#10;&#10;AI-generated content may be incorrect.">
            <a:extLst>
              <a:ext uri="{FF2B5EF4-FFF2-40B4-BE49-F238E27FC236}">
                <a16:creationId xmlns:a16="http://schemas.microsoft.com/office/drawing/2014/main" id="{C7F60717-41B2-BDFF-FAD4-579042F142D7}"/>
              </a:ext>
            </a:extLst>
          </p:cNvPr>
          <p:cNvPicPr>
            <a:picLocks noChangeAspect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1141360" y="2267502"/>
            <a:ext cx="5296639" cy="1733792"/>
          </a:xfrm>
          <a:prstGeom prst="rect">
            <a:avLst/>
          </a:prstGeom>
        </p:spPr>
      </p:pic>
      <p:sp>
        <p:nvSpPr>
          <p:cNvPr id="6" name="TextBox 5">
            <a:extLst>
              <a:ext uri="{FF2B5EF4-FFF2-40B4-BE49-F238E27FC236}">
                <a16:creationId xmlns:a16="http://schemas.microsoft.com/office/drawing/2014/main" id="{640DD3E6-DF10-98D9-C4C9-0795F7C68BF6}"/>
              </a:ext>
            </a:extLst>
          </p:cNvPr>
          <p:cNvSpPr txBox="1"/>
          <p:nvPr/>
        </p:nvSpPr>
        <p:spPr>
          <a:xfrm>
            <a:off x="838200" y="4165798"/>
            <a:ext cx="8471422" cy="1077218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pPr marL="285750" indent="-285750">
              <a:buFont typeface="Arial" panose="020B0604020202020204" pitchFamily="34" charset="0"/>
              <a:buChar char="•"/>
            </a:pPr>
            <a:r>
              <a:rPr lang="en-US" sz="1600" dirty="0"/>
              <a:t>As to object value</a:t>
            </a:r>
          </a:p>
          <a:p>
            <a:pPr marL="742950" lvl="1" indent="-285750">
              <a:buFont typeface="Arial" panose="020B0604020202020204" pitchFamily="34" charset="0"/>
              <a:buChar char="•"/>
            </a:pPr>
            <a:r>
              <a:rPr lang="en-US" sz="1600" dirty="0"/>
              <a:t>In both cases temp &amp; final object </a:t>
            </a:r>
            <a:r>
              <a:rPr lang="en-US" sz="1600" i="1" dirty="0"/>
              <a:t>will</a:t>
            </a:r>
            <a:r>
              <a:rPr lang="en-US" sz="1600" dirty="0"/>
              <a:t> be equal (although their addresses might not be)</a:t>
            </a:r>
          </a:p>
          <a:p>
            <a:pPr marL="742950" lvl="1" indent="-285750">
              <a:buFont typeface="Arial" panose="020B0604020202020204" pitchFamily="34" charset="0"/>
              <a:buChar char="•"/>
            </a:pPr>
            <a:r>
              <a:rPr lang="en-US" sz="1600" dirty="0"/>
              <a:t>Which should be good enough due to the const by-value param requirement</a:t>
            </a:r>
          </a:p>
          <a:p>
            <a:pPr marL="742950" lvl="1" indent="-285750">
              <a:buFont typeface="Arial" panose="020B0604020202020204" pitchFamily="34" charset="0"/>
              <a:buChar char="•"/>
            </a:pPr>
            <a:r>
              <a:rPr lang="en-US" sz="1600" dirty="0"/>
              <a:t>However…</a:t>
            </a:r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86AAB794-41A5-785B-ABCC-D970A7E928BD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256C2A35-81CC-4088-9903-628FC5B16538}" type="slidenum">
              <a:rPr lang="LID4096" smtClean="0"/>
              <a:t>18</a:t>
            </a:fld>
            <a:endParaRPr lang="LID4096"/>
          </a:p>
        </p:txBody>
      </p:sp>
    </p:spTree>
    <p:extLst>
      <p:ext uri="{BB962C8B-B14F-4D97-AF65-F5344CB8AC3E}">
        <p14:creationId xmlns:p14="http://schemas.microsoft.com/office/powerpoint/2010/main" val="2091983108"/>
      </p:ext>
    </p:extLst>
  </p:cSld>
  <p:clrMapOvr>
    <a:masterClrMapping/>
  </p:clrMapOvr>
</p:sld>
</file>

<file path=ppt/slides/slide1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00C5037C-5EE3-D790-ABD0-A67FAFAA170C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C09E7F00-4AE9-9DA3-71A8-F165E9CD6DF7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Objects Passed and Returned in Registers </a:t>
            </a:r>
            <a:br>
              <a:rPr lang="en-US" dirty="0"/>
            </a:br>
            <a:r>
              <a:rPr lang="en-US" dirty="0"/>
              <a:t>– hey, where’s my object?</a:t>
            </a:r>
            <a:endParaRPr lang="LID4096" dirty="0"/>
          </a:p>
        </p:txBody>
      </p:sp>
      <p:sp>
        <p:nvSpPr>
          <p:cNvPr id="6" name="TextBox 5">
            <a:extLst>
              <a:ext uri="{FF2B5EF4-FFF2-40B4-BE49-F238E27FC236}">
                <a16:creationId xmlns:a16="http://schemas.microsoft.com/office/drawing/2014/main" id="{AE4E4929-61BE-332F-FCE4-71E445BE7580}"/>
              </a:ext>
            </a:extLst>
          </p:cNvPr>
          <p:cNvSpPr txBox="1"/>
          <p:nvPr/>
        </p:nvSpPr>
        <p:spPr>
          <a:xfrm>
            <a:off x="959244" y="5074979"/>
            <a:ext cx="10988916" cy="156966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marL="285750" indent="-285750">
              <a:buFont typeface="Arial" panose="020B0604020202020204" pitchFamily="34" charset="0"/>
              <a:buChar char="•"/>
            </a:pPr>
            <a:r>
              <a:rPr lang="en-US" sz="1600" dirty="0"/>
              <a:t>code is well-formed since </a:t>
            </a:r>
            <a:r>
              <a:rPr lang="en-US" sz="1600" dirty="0" err="1"/>
              <a:t>i</a:t>
            </a:r>
            <a:r>
              <a:rPr lang="en-US" sz="1600" dirty="0"/>
              <a:t> is const</a:t>
            </a:r>
          </a:p>
          <a:p>
            <a:pPr marL="285750" indent="-285750">
              <a:buFont typeface="Arial" panose="020B0604020202020204" pitchFamily="34" charset="0"/>
              <a:buChar char="•"/>
            </a:pPr>
            <a:r>
              <a:rPr lang="en-US" sz="1600" dirty="0"/>
              <a:t>internal state does change though due to the mutable members</a:t>
            </a:r>
          </a:p>
          <a:p>
            <a:pPr marL="285750" indent="-285750">
              <a:buFont typeface="Arial" panose="020B0604020202020204" pitchFamily="34" charset="0"/>
              <a:buChar char="•"/>
            </a:pPr>
            <a:r>
              <a:rPr lang="en-US" sz="1600" dirty="0"/>
              <a:t>class is trivially copyable and trivially destructible, thus eligible to be passed via registers</a:t>
            </a:r>
          </a:p>
          <a:p>
            <a:pPr marL="285750" indent="-285750">
              <a:buFont typeface="Arial" panose="020B0604020202020204" pitchFamily="34" charset="0"/>
              <a:buChar char="•"/>
            </a:pPr>
            <a:r>
              <a:rPr lang="en-US" sz="1600" dirty="0"/>
              <a:t>internal computed value is only set after the </a:t>
            </a:r>
            <a:r>
              <a:rPr lang="en-US" sz="1600" dirty="0" err="1"/>
              <a:t>temp→final</a:t>
            </a:r>
            <a:r>
              <a:rPr lang="en-US" sz="1600" dirty="0"/>
              <a:t> copy, i.e. </a:t>
            </a:r>
            <a:r>
              <a:rPr lang="en-US" sz="1600" i="1" dirty="0" err="1"/>
              <a:t>i.value</a:t>
            </a:r>
            <a:r>
              <a:rPr lang="en-US" sz="1600" i="1" dirty="0"/>
              <a:t>() </a:t>
            </a:r>
            <a:r>
              <a:rPr lang="en-US" sz="1600" dirty="0"/>
              <a:t>will be invoked once in the copy and once in final object, generating different values </a:t>
            </a:r>
          </a:p>
          <a:p>
            <a:pPr marL="742950" lvl="1" indent="-285750">
              <a:buFont typeface="Arial" panose="020B0604020202020204" pitchFamily="34" charset="0"/>
              <a:buChar char="•"/>
            </a:pPr>
            <a:r>
              <a:rPr lang="en-US" sz="1600" dirty="0"/>
              <a:t>causing the post check to fail</a:t>
            </a:r>
          </a:p>
        </p:txBody>
      </p:sp>
      <p:pic>
        <p:nvPicPr>
          <p:cNvPr id="9" name="Content Placeholder 8" descr="A screenshot of a computer code&#10;&#10;AI-generated content may be incorrect.">
            <a:extLst>
              <a:ext uri="{FF2B5EF4-FFF2-40B4-BE49-F238E27FC236}">
                <a16:creationId xmlns:a16="http://schemas.microsoft.com/office/drawing/2014/main" id="{C5795825-79B3-5FD4-DBD8-9E00434E9069}"/>
              </a:ext>
            </a:extLst>
          </p:cNvPr>
          <p:cNvPicPr>
            <a:picLocks noGrp="1" noChangeAspect="1"/>
          </p:cNvPicPr>
          <p:nvPr>
            <p:ph idx="1"/>
          </p:nvPr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1087061" y="1809948"/>
            <a:ext cx="4802938" cy="3026212"/>
          </a:xfrm>
        </p:spPr>
      </p:pic>
      <p:sp>
        <p:nvSpPr>
          <p:cNvPr id="3" name="Slide Number Placeholder 2">
            <a:extLst>
              <a:ext uri="{FF2B5EF4-FFF2-40B4-BE49-F238E27FC236}">
                <a16:creationId xmlns:a16="http://schemas.microsoft.com/office/drawing/2014/main" id="{6D1D795B-B5EA-F4A4-205B-80ABE99B07FF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256C2A35-81CC-4088-9903-628FC5B16538}" type="slidenum">
              <a:rPr lang="LID4096" smtClean="0"/>
              <a:t>19</a:t>
            </a:fld>
            <a:endParaRPr lang="LID4096"/>
          </a:p>
        </p:txBody>
      </p:sp>
    </p:spTree>
    <p:extLst>
      <p:ext uri="{BB962C8B-B14F-4D97-AF65-F5344CB8AC3E}">
        <p14:creationId xmlns:p14="http://schemas.microsoft.com/office/powerpoint/2010/main" val="3967766341"/>
      </p:ext>
    </p:extLst>
  </p:cSld>
  <p:clrMapOvr>
    <a:masterClrMapping/>
  </p:clrMapOvr>
</p:sld>
</file>

<file path=ppt/slides/slide2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BF0159CA-F7A6-35C4-DFCF-8C9912171CCC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13D8213E-5A85-76BB-B41E-E736C1F99451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Objects Passed and Returned in Registers </a:t>
            </a:r>
            <a:br>
              <a:rPr lang="en-US" dirty="0"/>
            </a:br>
            <a:r>
              <a:rPr lang="en-US" dirty="0"/>
              <a:t>– hey, where’s my object?</a:t>
            </a:r>
            <a:endParaRPr lang="LID4096" dirty="0"/>
          </a:p>
        </p:txBody>
      </p:sp>
      <p:sp>
        <p:nvSpPr>
          <p:cNvPr id="4" name="Content Placeholder 3">
            <a:extLst>
              <a:ext uri="{FF2B5EF4-FFF2-40B4-BE49-F238E27FC236}">
                <a16:creationId xmlns:a16="http://schemas.microsoft.com/office/drawing/2014/main" id="{C234DCD3-EC6E-5378-8C1F-64875C646D81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rPr lang="en-US" sz="1600" dirty="0"/>
              <a:t>This remains possible in the final contracts version. It was decided this case is rare enough to not justify the serious tradeoffs of preventing it. </a:t>
            </a:r>
          </a:p>
          <a:p>
            <a:pPr lvl="1"/>
            <a:r>
              <a:rPr lang="en-US" sz="1600" dirty="0"/>
              <a:t>Tradeoffs such as: </a:t>
            </a:r>
          </a:p>
          <a:p>
            <a:pPr lvl="2"/>
            <a:r>
              <a:rPr lang="en-US" sz="1600" dirty="0"/>
              <a:t>Disallow post altogether</a:t>
            </a:r>
          </a:p>
          <a:p>
            <a:pPr lvl="2"/>
            <a:r>
              <a:rPr lang="en-US" sz="1600" dirty="0"/>
              <a:t>Forbid </a:t>
            </a:r>
            <a:r>
              <a:rPr lang="en-US" sz="1600" dirty="0" err="1"/>
              <a:t>odr</a:t>
            </a:r>
            <a:r>
              <a:rPr lang="en-US" sz="1600" dirty="0"/>
              <a:t>-using function parameters in post </a:t>
            </a:r>
          </a:p>
          <a:p>
            <a:pPr lvl="3"/>
            <a:r>
              <a:rPr lang="en-US" sz="1600" dirty="0"/>
              <a:t>Or just by-</a:t>
            </a:r>
            <a:r>
              <a:rPr lang="en-US" sz="1600" dirty="0" err="1"/>
              <a:t>val</a:t>
            </a:r>
            <a:r>
              <a:rPr lang="en-US" sz="1600" dirty="0"/>
              <a:t> parameters</a:t>
            </a:r>
          </a:p>
          <a:p>
            <a:pPr lvl="3"/>
            <a:r>
              <a:rPr lang="en-US" sz="1600" dirty="0"/>
              <a:t>Or just those by-</a:t>
            </a:r>
            <a:r>
              <a:rPr lang="en-US" sz="1600" dirty="0" err="1"/>
              <a:t>val</a:t>
            </a:r>
            <a:r>
              <a:rPr lang="en-US" sz="1600" dirty="0"/>
              <a:t> parameters eligible to be passed via register </a:t>
            </a:r>
          </a:p>
          <a:p>
            <a:pPr lvl="4"/>
            <a:r>
              <a:rPr lang="en-US" sz="1600" dirty="0"/>
              <a:t>Or the ones which also have mutable members (does this feel patchy by now?)</a:t>
            </a:r>
          </a:p>
          <a:p>
            <a:pPr lvl="3"/>
            <a:r>
              <a:rPr lang="en-US" sz="1600" dirty="0"/>
              <a:t>Or allow just scalar types</a:t>
            </a:r>
          </a:p>
          <a:p>
            <a:pPr lvl="2"/>
            <a:r>
              <a:rPr lang="en-US" sz="1600" dirty="0"/>
              <a:t>post not allowed to see caller-side parameter version (which could possibly be the temporary passed via register) - would break ABI</a:t>
            </a:r>
          </a:p>
          <a:p>
            <a:endParaRPr lang="LID4096" dirty="0"/>
          </a:p>
        </p:txBody>
      </p:sp>
      <p:sp>
        <p:nvSpPr>
          <p:cNvPr id="3" name="Slide Number Placeholder 2">
            <a:extLst>
              <a:ext uri="{FF2B5EF4-FFF2-40B4-BE49-F238E27FC236}">
                <a16:creationId xmlns:a16="http://schemas.microsoft.com/office/drawing/2014/main" id="{DFEAD2C8-A7DF-9800-6100-D5B805032F67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256C2A35-81CC-4088-9903-628FC5B16538}" type="slidenum">
              <a:rPr lang="LID4096" smtClean="0"/>
              <a:t>20</a:t>
            </a:fld>
            <a:endParaRPr lang="LID4096"/>
          </a:p>
        </p:txBody>
      </p:sp>
    </p:spTree>
    <p:extLst>
      <p:ext uri="{BB962C8B-B14F-4D97-AF65-F5344CB8AC3E}">
        <p14:creationId xmlns:p14="http://schemas.microsoft.com/office/powerpoint/2010/main" val="1517461357"/>
      </p:ext>
    </p:extLst>
  </p:cSld>
  <p:clrMapOvr>
    <a:masterClrMapping/>
  </p:clrMapOvr>
</p:sld>
</file>

<file path=ppt/slides/slide2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29CD17FA-133D-4D94-86AA-F5ABFBF722F1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No Implicit Lambda Captures </a:t>
            </a:r>
            <a:br>
              <a:rPr lang="en-US" dirty="0"/>
            </a:br>
            <a:r>
              <a:rPr lang="en-US" dirty="0"/>
              <a:t>– you must really mean it!</a:t>
            </a:r>
            <a:endParaRPr lang="LID4096" dirty="0"/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669D990F-C0CF-633B-4D93-9950CCC18106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rPr lang="en-US" dirty="0"/>
              <a:t>TLDR: no implicit lambda captures, unless capture would have occurred even without the contract/s</a:t>
            </a:r>
            <a:endParaRPr lang="LID4096" dirty="0"/>
          </a:p>
        </p:txBody>
      </p:sp>
      <p:pic>
        <p:nvPicPr>
          <p:cNvPr id="7" name="Picture 6" descr="A purple and black text&#10;&#10;AI-generated content may be incorrect.">
            <a:extLst>
              <a:ext uri="{FF2B5EF4-FFF2-40B4-BE49-F238E27FC236}">
                <a16:creationId xmlns:a16="http://schemas.microsoft.com/office/drawing/2014/main" id="{A5D2BCF7-11EA-8FB8-F4A9-75B6889EBF32}"/>
              </a:ext>
            </a:extLst>
          </p:cNvPr>
          <p:cNvPicPr>
            <a:picLocks noChangeAspect="1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1124429" y="2765346"/>
            <a:ext cx="9477833" cy="1572974"/>
          </a:xfrm>
          <a:prstGeom prst="rect">
            <a:avLst/>
          </a:prstGeom>
        </p:spPr>
      </p:pic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09FD5008-2089-0A0E-CA20-4F7A04484170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256C2A35-81CC-4088-9903-628FC5B16538}" type="slidenum">
              <a:rPr lang="LID4096" smtClean="0"/>
              <a:t>21</a:t>
            </a:fld>
            <a:endParaRPr lang="LID4096"/>
          </a:p>
        </p:txBody>
      </p:sp>
    </p:spTree>
    <p:extLst>
      <p:ext uri="{BB962C8B-B14F-4D97-AF65-F5344CB8AC3E}">
        <p14:creationId xmlns:p14="http://schemas.microsoft.com/office/powerpoint/2010/main" val="1552644603"/>
      </p:ext>
    </p:extLst>
  </p:cSld>
  <p:clrMapOvr>
    <a:masterClrMapping/>
  </p:clrMapOvr>
</p:sld>
</file>

<file path=ppt/slides/slide2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9F1CA8C2-E66F-16DA-6B83-980E3FFAF27C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84C573C9-A69E-D62E-EA6D-859FBD3C1CA8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No Implicit Lambda Captures </a:t>
            </a:r>
            <a:br>
              <a:rPr lang="en-US" dirty="0"/>
            </a:br>
            <a:r>
              <a:rPr lang="en-US" dirty="0"/>
              <a:t>– you must really mean it!</a:t>
            </a:r>
            <a:endParaRPr lang="LID4096" dirty="0"/>
          </a:p>
        </p:txBody>
      </p:sp>
      <p:pic>
        <p:nvPicPr>
          <p:cNvPr id="5" name="Picture 4" descr="A white page with black text&#10;&#10;AI-generated content may be incorrect.">
            <a:extLst>
              <a:ext uri="{FF2B5EF4-FFF2-40B4-BE49-F238E27FC236}">
                <a16:creationId xmlns:a16="http://schemas.microsoft.com/office/drawing/2014/main" id="{11CF2C49-330B-B222-8688-91BB7A18704D}"/>
              </a:ext>
            </a:extLst>
          </p:cNvPr>
          <p:cNvPicPr>
            <a:picLocks noChangeAspect="1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838200" y="2130778"/>
            <a:ext cx="6716062" cy="4039164"/>
          </a:xfrm>
          <a:prstGeom prst="rect">
            <a:avLst/>
          </a:prstGeom>
        </p:spPr>
      </p:pic>
      <p:sp>
        <p:nvSpPr>
          <p:cNvPr id="3" name="Slide Number Placeholder 2">
            <a:extLst>
              <a:ext uri="{FF2B5EF4-FFF2-40B4-BE49-F238E27FC236}">
                <a16:creationId xmlns:a16="http://schemas.microsoft.com/office/drawing/2014/main" id="{4EA124EF-9B88-B8D5-8FF5-8314059733E2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256C2A35-81CC-4088-9903-628FC5B16538}" type="slidenum">
              <a:rPr lang="LID4096" smtClean="0"/>
              <a:t>22</a:t>
            </a:fld>
            <a:endParaRPr lang="LID4096"/>
          </a:p>
        </p:txBody>
      </p:sp>
    </p:spTree>
    <p:extLst>
      <p:ext uri="{BB962C8B-B14F-4D97-AF65-F5344CB8AC3E}">
        <p14:creationId xmlns:p14="http://schemas.microsoft.com/office/powerpoint/2010/main" val="4082164099"/>
      </p:ext>
    </p:extLst>
  </p:cSld>
  <p:clrMapOvr>
    <a:masterClrMapping/>
  </p:clrMapOvr>
</p:sld>
</file>

<file path=ppt/slides/slide2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E1553F6B-D508-230F-CBBE-71D13A106DA4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4BF324D4-E87C-20C6-9B12-0049B5D49FFC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No Implicit Lambda Captures </a:t>
            </a:r>
            <a:br>
              <a:rPr lang="en-US" dirty="0"/>
            </a:br>
            <a:r>
              <a:rPr lang="en-US" dirty="0"/>
              <a:t>– you must really mean it!</a:t>
            </a:r>
            <a:endParaRPr lang="LID4096" dirty="0"/>
          </a:p>
        </p:txBody>
      </p:sp>
      <p:sp>
        <p:nvSpPr>
          <p:cNvPr id="3" name="TextBox 2">
            <a:extLst>
              <a:ext uri="{FF2B5EF4-FFF2-40B4-BE49-F238E27FC236}">
                <a16:creationId xmlns:a16="http://schemas.microsoft.com/office/drawing/2014/main" id="{2A312BBE-0F50-653E-649C-92429141092F}"/>
              </a:ext>
            </a:extLst>
          </p:cNvPr>
          <p:cNvSpPr txBox="1"/>
          <p:nvPr/>
        </p:nvSpPr>
        <p:spPr>
          <a:xfrm>
            <a:off x="838200" y="2274838"/>
            <a:ext cx="6669133" cy="2092881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pPr marL="285750" indent="-285750">
              <a:buFont typeface="Arial" panose="020B0604020202020204" pitchFamily="34" charset="0"/>
              <a:buChar char="•"/>
            </a:pPr>
            <a:r>
              <a:rPr lang="en-US" sz="1600" dirty="0"/>
              <a:t>capture may affect behavior by modifying lambda (closure type) traits: </a:t>
            </a:r>
          </a:p>
          <a:p>
            <a:pPr marL="742950" lvl="1" indent="-285750">
              <a:buFont typeface="Arial" panose="020B0604020202020204" pitchFamily="34" charset="0"/>
              <a:buChar char="•"/>
            </a:pPr>
            <a:r>
              <a:rPr lang="en-US" sz="1600" dirty="0"/>
              <a:t>physical dimensions </a:t>
            </a:r>
          </a:p>
          <a:p>
            <a:pPr marL="1200150" lvl="2" indent="-285750">
              <a:buFont typeface="Arial" panose="020B0604020202020204" pitchFamily="34" charset="0"/>
              <a:buChar char="•"/>
            </a:pPr>
            <a:r>
              <a:rPr lang="en-US" sz="1600" dirty="0"/>
              <a:t>size</a:t>
            </a:r>
          </a:p>
          <a:p>
            <a:pPr marL="1200150" lvl="2" indent="-285750">
              <a:buFont typeface="Arial" panose="020B0604020202020204" pitchFamily="34" charset="0"/>
              <a:buChar char="•"/>
            </a:pPr>
            <a:r>
              <a:rPr lang="en-US" sz="1600" dirty="0"/>
              <a:t>alignment</a:t>
            </a:r>
          </a:p>
          <a:p>
            <a:pPr marL="742950" lvl="1" indent="-285750">
              <a:buFont typeface="Arial" panose="020B0604020202020204" pitchFamily="34" charset="0"/>
              <a:buChar char="•"/>
            </a:pPr>
            <a:r>
              <a:rPr lang="en-US" sz="1600" dirty="0"/>
              <a:t>type traits </a:t>
            </a:r>
          </a:p>
          <a:p>
            <a:pPr marL="1200150" lvl="2" indent="-285750">
              <a:buFont typeface="Arial" panose="020B0604020202020204" pitchFamily="34" charset="0"/>
              <a:buChar char="•"/>
            </a:pPr>
            <a:r>
              <a:rPr lang="en-US" sz="1600" dirty="0"/>
              <a:t>trivially copyable</a:t>
            </a:r>
          </a:p>
          <a:p>
            <a:pPr marL="1200150" lvl="2" indent="-285750">
              <a:buFont typeface="Arial" panose="020B0604020202020204" pitchFamily="34" charset="0"/>
              <a:buChar char="•"/>
            </a:pPr>
            <a:r>
              <a:rPr lang="en-US" sz="1600" dirty="0"/>
              <a:t>standard-layout</a:t>
            </a:r>
          </a:p>
          <a:p>
            <a:endParaRPr lang="LID4096" dirty="0"/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1AF9AB7A-8782-4279-D260-90B5B667D7EA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256C2A35-81CC-4088-9903-628FC5B16538}" type="slidenum">
              <a:rPr lang="LID4096" smtClean="0"/>
              <a:t>23</a:t>
            </a:fld>
            <a:endParaRPr lang="LID4096"/>
          </a:p>
        </p:txBody>
      </p:sp>
    </p:spTree>
    <p:extLst>
      <p:ext uri="{BB962C8B-B14F-4D97-AF65-F5344CB8AC3E}">
        <p14:creationId xmlns:p14="http://schemas.microsoft.com/office/powerpoint/2010/main" val="2514805110"/>
      </p:ext>
    </p:extLst>
  </p:cSld>
  <p:clrMapOvr>
    <a:masterClrMapping/>
  </p:clrMapOvr>
</p:sld>
</file>

<file path=ppt/slides/slide2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73B31E18-211D-1B07-9F2B-8D4450F2E598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>
            <a:normAutofit/>
          </a:bodyPr>
          <a:lstStyle/>
          <a:p>
            <a:r>
              <a:rPr lang="en-US" dirty="0"/>
              <a:t>Evaluation and Contract-Violation Handling</a:t>
            </a:r>
            <a:endParaRPr lang="LID4096" dirty="0"/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A58FA386-E74A-AEA2-19A5-33B396D4D2A3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endParaRPr lang="LID4096" dirty="0"/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40F358B8-D95C-B44B-DB26-C19842244390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256C2A35-81CC-4088-9903-628FC5B16538}" type="slidenum">
              <a:rPr lang="LID4096" smtClean="0"/>
              <a:t>24</a:t>
            </a:fld>
            <a:endParaRPr lang="LID4096"/>
          </a:p>
        </p:txBody>
      </p:sp>
    </p:spTree>
    <p:extLst>
      <p:ext uri="{BB962C8B-B14F-4D97-AF65-F5344CB8AC3E}">
        <p14:creationId xmlns:p14="http://schemas.microsoft.com/office/powerpoint/2010/main" val="2511633754"/>
      </p:ext>
    </p:extLst>
  </p:cSld>
  <p:clrMapOvr>
    <a:masterClrMapping/>
  </p:clrMapOvr>
</p:sld>
</file>

<file path=ppt/slides/slide2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169EFC40-E271-8C52-B679-920FF27C0E87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Caller-Facing and Callee-Facing Function Contract Assertions</a:t>
            </a:r>
            <a:endParaRPr lang="LID4096" dirty="0"/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51DB8FE1-8F04-3CE6-4957-CA8C03ECE29C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rPr lang="en-US" dirty="0"/>
              <a:t>Point of view matters</a:t>
            </a:r>
          </a:p>
          <a:p>
            <a:r>
              <a:rPr lang="en-US" dirty="0"/>
              <a:t>We’ll be seeing this mentioned throughout the presentation</a:t>
            </a:r>
            <a:endParaRPr lang="LID4096" dirty="0"/>
          </a:p>
        </p:txBody>
      </p:sp>
      <p:pic>
        <p:nvPicPr>
          <p:cNvPr id="7" name="Picture 6" descr="A diagram of a callier-facing procedure&#10;&#10;AI-generated content may be incorrect.">
            <a:extLst>
              <a:ext uri="{FF2B5EF4-FFF2-40B4-BE49-F238E27FC236}">
                <a16:creationId xmlns:a16="http://schemas.microsoft.com/office/drawing/2014/main" id="{1CE48B29-FD56-B488-D8A5-D425C4B2DA97}"/>
              </a:ext>
            </a:extLst>
          </p:cNvPr>
          <p:cNvPicPr>
            <a:picLocks noChangeAspect="1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2553302" y="2736725"/>
            <a:ext cx="6200280" cy="3886091"/>
          </a:xfrm>
          <a:prstGeom prst="rect">
            <a:avLst/>
          </a:prstGeom>
        </p:spPr>
      </p:pic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5F1A73DC-DF9F-2CC2-9ACD-61EF0110B39E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256C2A35-81CC-4088-9903-628FC5B16538}" type="slidenum">
              <a:rPr lang="LID4096" smtClean="0"/>
              <a:t>25</a:t>
            </a:fld>
            <a:endParaRPr lang="LID4096"/>
          </a:p>
        </p:txBody>
      </p:sp>
    </p:spTree>
    <p:extLst>
      <p:ext uri="{BB962C8B-B14F-4D97-AF65-F5344CB8AC3E}">
        <p14:creationId xmlns:p14="http://schemas.microsoft.com/office/powerpoint/2010/main" val="2929592640"/>
      </p:ext>
    </p:extLst>
  </p:cSld>
  <p:clrMapOvr>
    <a:masterClrMapping/>
  </p:clrMapOvr>
</p:sld>
</file>

<file path=ppt/slides/slide2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E7F2D318-9081-A561-5F3E-0B764D09954C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FBD9D130-CD46-A0CD-A2E1-1435EC3F4684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Virtual Function Calls </a:t>
            </a:r>
            <a:br>
              <a:rPr lang="en-US" dirty="0"/>
            </a:br>
            <a:r>
              <a:rPr lang="en-US" dirty="0"/>
              <a:t>– am I an interface or an implementation?</a:t>
            </a:r>
            <a:endParaRPr lang="LID4096" dirty="0"/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9EF3D464-9BFF-3CCA-1337-E811FFD26D53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838200" y="1825625"/>
            <a:ext cx="10515600" cy="3599815"/>
          </a:xfrm>
        </p:spPr>
        <p:txBody>
          <a:bodyPr>
            <a:normAutofit fontScale="92500" lnSpcReduction="20000"/>
          </a:bodyPr>
          <a:lstStyle/>
          <a:p>
            <a:r>
              <a:rPr lang="en-US" dirty="0"/>
              <a:t>TLDR: no support in C++26 - removed from P2900 after initial inclusion</a:t>
            </a:r>
          </a:p>
          <a:p>
            <a:r>
              <a:rPr lang="en-US" dirty="0"/>
              <a:t>Deemed high priority, but ultimately too complicated to reach a consensus in this time frame.</a:t>
            </a:r>
          </a:p>
          <a:p>
            <a:r>
              <a:rPr lang="en-US" dirty="0"/>
              <a:t>Contracts in other languages (D, Eifel) - inherited from base classes (classic model) </a:t>
            </a:r>
          </a:p>
          <a:p>
            <a:pPr lvl="1"/>
            <a:r>
              <a:rPr lang="en-US" dirty="0"/>
              <a:t>overriding function can add further stipulations</a:t>
            </a:r>
          </a:p>
          <a:p>
            <a:pPr lvl="2"/>
            <a:r>
              <a:rPr lang="en-US" dirty="0"/>
              <a:t>preconditions widened (conjunction - OR)</a:t>
            </a:r>
          </a:p>
          <a:p>
            <a:pPr lvl="2"/>
            <a:r>
              <a:rPr lang="en-US" dirty="0"/>
              <a:t>postconditions narrowed (disjunction - AND)</a:t>
            </a:r>
          </a:p>
          <a:p>
            <a:r>
              <a:rPr lang="en-US" dirty="0"/>
              <a:t>C++ cannot follow this model (P3097R0) </a:t>
            </a:r>
          </a:p>
          <a:p>
            <a:pPr lvl="1"/>
            <a:r>
              <a:rPr lang="en-US" dirty="0"/>
              <a:t>was deemed in violation of principle 1:</a:t>
            </a:r>
          </a:p>
          <a:p>
            <a:endParaRPr lang="LID4096" dirty="0"/>
          </a:p>
        </p:txBody>
      </p:sp>
      <p:pic>
        <p:nvPicPr>
          <p:cNvPr id="5" name="Picture 4">
            <a:extLst>
              <a:ext uri="{FF2B5EF4-FFF2-40B4-BE49-F238E27FC236}">
                <a16:creationId xmlns:a16="http://schemas.microsoft.com/office/drawing/2014/main" id="{932B48DB-A002-2168-B0D7-F405583EAE9C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1310726" y="5106492"/>
            <a:ext cx="8315276" cy="1229995"/>
          </a:xfrm>
          <a:prstGeom prst="rect">
            <a:avLst/>
          </a:prstGeom>
        </p:spPr>
      </p:pic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9E4A5A9E-16A2-78DE-F8F0-2013957F0471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256C2A35-81CC-4088-9903-628FC5B16538}" type="slidenum">
              <a:rPr lang="LID4096" smtClean="0"/>
              <a:t>26</a:t>
            </a:fld>
            <a:endParaRPr lang="LID4096"/>
          </a:p>
        </p:txBody>
      </p:sp>
    </p:spTree>
    <p:extLst>
      <p:ext uri="{BB962C8B-B14F-4D97-AF65-F5344CB8AC3E}">
        <p14:creationId xmlns:p14="http://schemas.microsoft.com/office/powerpoint/2010/main" val="2661567445"/>
      </p:ext>
    </p:extLst>
  </p:cSld>
  <p:clrMapOvr>
    <a:masterClrMapping/>
  </p:clrMapOvr>
</p:sld>
</file>

<file path=ppt/slides/slide2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75E744B9-E722-DE8A-D236-67496F96A878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9EF14EC2-F2C1-F94D-F677-65A9478328CF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Virtual Function Calls </a:t>
            </a:r>
            <a:br>
              <a:rPr lang="en-US" dirty="0"/>
            </a:br>
            <a:r>
              <a:rPr lang="en-US" dirty="0"/>
              <a:t>– am I an interface or an implementation?</a:t>
            </a:r>
            <a:endParaRPr lang="LID4096" dirty="0"/>
          </a:p>
        </p:txBody>
      </p:sp>
      <p:pic>
        <p:nvPicPr>
          <p:cNvPr id="8" name="Content Placeholder 7" descr="A black text on a white background&#10;&#10;AI-generated content may be incorrect.">
            <a:extLst>
              <a:ext uri="{FF2B5EF4-FFF2-40B4-BE49-F238E27FC236}">
                <a16:creationId xmlns:a16="http://schemas.microsoft.com/office/drawing/2014/main" id="{2470C92F-4FFF-4A94-8CCB-05B768FA007B}"/>
              </a:ext>
            </a:extLst>
          </p:cNvPr>
          <p:cNvPicPr>
            <a:picLocks noGrp="1" noChangeAspect="1"/>
          </p:cNvPicPr>
          <p:nvPr>
            <p:ph idx="1"/>
          </p:nvPr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2113794" y="1690688"/>
            <a:ext cx="6277851" cy="971686"/>
          </a:xfrm>
        </p:spPr>
      </p:pic>
      <p:pic>
        <p:nvPicPr>
          <p:cNvPr id="10" name="Picture 9" descr="A close up of a text&#10;&#10;AI-generated content may be incorrect.">
            <a:extLst>
              <a:ext uri="{FF2B5EF4-FFF2-40B4-BE49-F238E27FC236}">
                <a16:creationId xmlns:a16="http://schemas.microsoft.com/office/drawing/2014/main" id="{FAFA933E-3139-D211-D822-616F64969C73}"/>
              </a:ext>
            </a:extLst>
          </p:cNvPr>
          <p:cNvPicPr>
            <a:picLocks noChangeAspect="1"/>
          </p:cNvPicPr>
          <p:nvPr/>
        </p:nvPicPr>
        <p:blipFill>
          <a:blip r:embed="rId4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2113794" y="2692356"/>
            <a:ext cx="6468378" cy="1295581"/>
          </a:xfrm>
          <a:prstGeom prst="rect">
            <a:avLst/>
          </a:prstGeom>
        </p:spPr>
      </p:pic>
      <p:sp>
        <p:nvSpPr>
          <p:cNvPr id="12" name="TextBox 11">
            <a:extLst>
              <a:ext uri="{FF2B5EF4-FFF2-40B4-BE49-F238E27FC236}">
                <a16:creationId xmlns:a16="http://schemas.microsoft.com/office/drawing/2014/main" id="{E1A022FE-323F-0E2E-93C6-406A19413331}"/>
              </a:ext>
            </a:extLst>
          </p:cNvPr>
          <p:cNvSpPr txBox="1"/>
          <p:nvPr/>
        </p:nvSpPr>
        <p:spPr>
          <a:xfrm>
            <a:off x="1971040" y="4151649"/>
            <a:ext cx="6096000" cy="1200329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indent="-283464" algn="l" rtl="0" eaLnBrk="1" latinLnBrk="0" hangingPunct="1">
              <a:buFont typeface="Arial" panose="020B0604020202020204" pitchFamily="34" charset="0"/>
              <a:buChar char="•"/>
            </a:pPr>
            <a:r>
              <a:rPr lang="en-US" sz="1800" dirty="0" err="1">
                <a:solidFill>
                  <a:srgbClr val="000000"/>
                </a:solidFill>
                <a:effectLst/>
                <a:latin typeface="Aptos" panose="020B0004020202020204" pitchFamily="34" charset="0"/>
              </a:rPr>
              <a:t>FastCar</a:t>
            </a:r>
            <a:r>
              <a:rPr lang="en-US" sz="1800" dirty="0">
                <a:solidFill>
                  <a:srgbClr val="000000"/>
                </a:solidFill>
                <a:effectLst/>
                <a:latin typeface="Aptos" panose="020B0004020202020204" pitchFamily="34" charset="0"/>
              </a:rPr>
              <a:t> is overly limited by the basic Car pre.</a:t>
            </a:r>
          </a:p>
          <a:p>
            <a:pPr indent="-283464" algn="l" rtl="0" eaLnBrk="1" latinLnBrk="0" hangingPunct="1">
              <a:buFont typeface="Arial" panose="020B0604020202020204" pitchFamily="34" charset="0"/>
              <a:buChar char="•"/>
            </a:pPr>
            <a:r>
              <a:rPr lang="en-US" sz="1800" dirty="0">
                <a:solidFill>
                  <a:srgbClr val="000000"/>
                </a:solidFill>
                <a:effectLst/>
                <a:latin typeface="Aptos" panose="020B0004020202020204" pitchFamily="34" charset="0"/>
              </a:rPr>
              <a:t>Cars frequently emerged in these discussions for some reason.</a:t>
            </a:r>
          </a:p>
          <a:p>
            <a:pPr indent="-283464" algn="l" rtl="0" eaLnBrk="1" latinLnBrk="0" hangingPunct="1">
              <a:buFont typeface="Arial" panose="020B0604020202020204" pitchFamily="34" charset="0"/>
              <a:buChar char="•"/>
            </a:pPr>
            <a:r>
              <a:rPr lang="en-US" sz="1800" dirty="0">
                <a:solidFill>
                  <a:srgbClr val="000000"/>
                </a:solidFill>
                <a:effectLst/>
                <a:latin typeface="Aptos" panose="020B0004020202020204" pitchFamily="34" charset="0"/>
              </a:rPr>
              <a:t>It also has compatibility issues with </a:t>
            </a:r>
            <a:r>
              <a:rPr lang="en-US" sz="1800" dirty="0" err="1">
                <a:solidFill>
                  <a:srgbClr val="000000"/>
                </a:solidFill>
                <a:effectLst/>
                <a:latin typeface="Aptos" panose="020B0004020202020204" pitchFamily="34" charset="0"/>
              </a:rPr>
              <a:t>mixins</a:t>
            </a:r>
            <a:r>
              <a:rPr lang="en-US" sz="1800" dirty="0">
                <a:solidFill>
                  <a:srgbClr val="000000"/>
                </a:solidFill>
                <a:effectLst/>
                <a:latin typeface="Aptos" panose="020B0004020202020204" pitchFamily="34" charset="0"/>
              </a:rPr>
              <a:t> and facades.</a:t>
            </a:r>
            <a:endParaRPr lang="en-US" dirty="0"/>
          </a:p>
        </p:txBody>
      </p:sp>
      <p:sp>
        <p:nvSpPr>
          <p:cNvPr id="3" name="Slide Number Placeholder 2">
            <a:extLst>
              <a:ext uri="{FF2B5EF4-FFF2-40B4-BE49-F238E27FC236}">
                <a16:creationId xmlns:a16="http://schemas.microsoft.com/office/drawing/2014/main" id="{11335B1E-7708-CD21-55D0-BE29A1F03FDC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256C2A35-81CC-4088-9903-628FC5B16538}" type="slidenum">
              <a:rPr lang="LID4096" smtClean="0"/>
              <a:t>27</a:t>
            </a:fld>
            <a:endParaRPr lang="LID4096"/>
          </a:p>
        </p:txBody>
      </p:sp>
    </p:spTree>
    <p:extLst>
      <p:ext uri="{BB962C8B-B14F-4D97-AF65-F5344CB8AC3E}">
        <p14:creationId xmlns:p14="http://schemas.microsoft.com/office/powerpoint/2010/main" val="3367599260"/>
      </p:ext>
    </p:extLst>
  </p:cSld>
  <p:clrMapOvr>
    <a:masterClrMapping/>
  </p:clrMapOvr>
</p:sld>
</file>

<file path=ppt/slides/slide2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5F59AA96-32C2-9C02-3DEC-0A4A5B5B1A31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46FFDFB4-75A8-B428-A56D-7AF5B14AE672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Virtual Function Calls </a:t>
            </a:r>
            <a:br>
              <a:rPr lang="en-US" dirty="0"/>
            </a:br>
            <a:r>
              <a:rPr lang="en-US" dirty="0"/>
              <a:t>– am I an interface or an implementation?</a:t>
            </a:r>
            <a:endParaRPr lang="LID4096" dirty="0"/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5F226C43-8CCE-F8B2-40A8-178B3F64FFAA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838200" y="1825625"/>
            <a:ext cx="10515600" cy="3599815"/>
          </a:xfrm>
        </p:spPr>
        <p:txBody>
          <a:bodyPr>
            <a:normAutofit fontScale="92500" lnSpcReduction="20000"/>
          </a:bodyPr>
          <a:lstStyle/>
          <a:p>
            <a:r>
              <a:rPr lang="en-US" sz="1800" dirty="0">
                <a:solidFill>
                  <a:srgbClr val="000000"/>
                </a:solidFill>
                <a:latin typeface="Aptos" panose="020B0004020202020204" pitchFamily="34" charset="0"/>
              </a:rPr>
              <a:t>General line of thought  - C++ multiverse is abundant with use cases where inheritance doesn’t imply substitutability</a:t>
            </a:r>
          </a:p>
          <a:p>
            <a:pPr lvl="1"/>
            <a:r>
              <a:rPr lang="en-US" sz="1800" dirty="0">
                <a:solidFill>
                  <a:srgbClr val="000000"/>
                </a:solidFill>
                <a:latin typeface="Aptos" panose="020B0004020202020204" pitchFamily="34" charset="0"/>
              </a:rPr>
              <a:t>therefore contracts cannot be automatically inherited</a:t>
            </a:r>
          </a:p>
          <a:p>
            <a:r>
              <a:rPr lang="en-US" sz="1800" dirty="0">
                <a:solidFill>
                  <a:srgbClr val="000000"/>
                </a:solidFill>
                <a:latin typeface="Aptos" panose="020B0004020202020204" pitchFamily="34" charset="0"/>
              </a:rPr>
              <a:t>Another example: </a:t>
            </a:r>
          </a:p>
          <a:p>
            <a:pPr lvl="1"/>
            <a:r>
              <a:rPr lang="en-US" sz="1800" dirty="0">
                <a:solidFill>
                  <a:srgbClr val="000000"/>
                </a:solidFill>
                <a:latin typeface="Aptos" panose="020B0004020202020204" pitchFamily="34" charset="0"/>
              </a:rPr>
              <a:t>Driving a car requires it be fueled.</a:t>
            </a:r>
          </a:p>
          <a:p>
            <a:pPr lvl="1"/>
            <a:r>
              <a:rPr lang="en-US" sz="1800" dirty="0">
                <a:solidFill>
                  <a:srgbClr val="000000"/>
                </a:solidFill>
                <a:latin typeface="Aptos" panose="020B0004020202020204" pitchFamily="34" charset="0"/>
              </a:rPr>
              <a:t>But an electric car doesn’t need refueling</a:t>
            </a:r>
          </a:p>
          <a:p>
            <a:pPr lvl="2"/>
            <a:r>
              <a:rPr lang="en-US" sz="1800" dirty="0">
                <a:solidFill>
                  <a:srgbClr val="000000"/>
                </a:solidFill>
                <a:latin typeface="Aptos" panose="020B0004020202020204" pitchFamily="34" charset="0"/>
              </a:rPr>
              <a:t>Does it break the contract?</a:t>
            </a:r>
          </a:p>
          <a:p>
            <a:pPr lvl="3"/>
            <a:r>
              <a:rPr lang="en-US" dirty="0">
                <a:solidFill>
                  <a:srgbClr val="000000"/>
                </a:solidFill>
                <a:latin typeface="Aptos" panose="020B0004020202020204" pitchFamily="34" charset="0"/>
              </a:rPr>
              <a:t>Not really</a:t>
            </a:r>
          </a:p>
          <a:p>
            <a:pPr lvl="1"/>
            <a:r>
              <a:rPr lang="en-US" sz="1800" dirty="0">
                <a:solidFill>
                  <a:srgbClr val="000000"/>
                </a:solidFill>
                <a:latin typeface="Aptos" panose="020B0004020202020204" pitchFamily="34" charset="0"/>
              </a:rPr>
              <a:t>Might also be seen as a design flaw </a:t>
            </a:r>
          </a:p>
          <a:p>
            <a:pPr lvl="2"/>
            <a:r>
              <a:rPr lang="en-US" sz="1800" dirty="0">
                <a:solidFill>
                  <a:srgbClr val="000000"/>
                </a:solidFill>
                <a:latin typeface="Aptos" panose="020B0004020202020204" pitchFamily="34" charset="0"/>
              </a:rPr>
              <a:t>Car operational status should be a virtual function</a:t>
            </a:r>
          </a:p>
          <a:p>
            <a:pPr lvl="3"/>
            <a:r>
              <a:rPr lang="en-US" dirty="0">
                <a:solidFill>
                  <a:srgbClr val="000000"/>
                </a:solidFill>
                <a:latin typeface="Aptos" panose="020B0004020202020204" pitchFamily="34" charset="0"/>
              </a:rPr>
              <a:t>By refueling, </a:t>
            </a:r>
          </a:p>
          <a:p>
            <a:pPr lvl="3"/>
            <a:r>
              <a:rPr lang="en-US" dirty="0">
                <a:solidFill>
                  <a:srgbClr val="000000"/>
                </a:solidFill>
                <a:latin typeface="Aptos" panose="020B0004020202020204" pitchFamily="34" charset="0"/>
              </a:rPr>
              <a:t>Or recharging, </a:t>
            </a:r>
          </a:p>
          <a:p>
            <a:pPr lvl="3"/>
            <a:r>
              <a:rPr lang="en-US" dirty="0">
                <a:solidFill>
                  <a:srgbClr val="000000"/>
                </a:solidFill>
                <a:latin typeface="Aptos" panose="020B0004020202020204" pitchFamily="34" charset="0"/>
              </a:rPr>
              <a:t>Or always for a solar powered car.</a:t>
            </a:r>
          </a:p>
          <a:p>
            <a:pPr lvl="4"/>
            <a:r>
              <a:rPr lang="en-US" dirty="0">
                <a:solidFill>
                  <a:srgbClr val="000000"/>
                </a:solidFill>
                <a:latin typeface="Aptos" panose="020B0004020202020204" pitchFamily="34" charset="0"/>
              </a:rPr>
              <a:t>But then comes the night…</a:t>
            </a:r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F716AB79-0B82-EFF5-8AA5-AB06E4FFF05F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256C2A35-81CC-4088-9903-628FC5B16538}" type="slidenum">
              <a:rPr lang="LID4096" smtClean="0"/>
              <a:t>28</a:t>
            </a:fld>
            <a:endParaRPr lang="LID4096"/>
          </a:p>
        </p:txBody>
      </p:sp>
    </p:spTree>
    <p:extLst>
      <p:ext uri="{BB962C8B-B14F-4D97-AF65-F5344CB8AC3E}">
        <p14:creationId xmlns:p14="http://schemas.microsoft.com/office/powerpoint/2010/main" val="847231459"/>
      </p:ext>
    </p:extLst>
  </p:cSld>
  <p:clrMapOvr>
    <a:masterClrMapping/>
  </p:clrMapOvr>
</p:sld>
</file>

<file path=ppt/slides/slide2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D3AED558-B3D2-63F4-EE35-3E1B110094E1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8A37089B-F6BC-675C-C749-FE65E8B87C16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Virtual Function Calls </a:t>
            </a:r>
            <a:br>
              <a:rPr lang="en-US" dirty="0"/>
            </a:br>
            <a:r>
              <a:rPr lang="en-US" dirty="0"/>
              <a:t>– am I an interface or an implementation?</a:t>
            </a:r>
            <a:endParaRPr lang="LID4096" dirty="0"/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7996706C-F794-5F92-E37C-BFC932E39346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838200" y="1825625"/>
            <a:ext cx="10515600" cy="3599815"/>
          </a:xfrm>
        </p:spPr>
        <p:txBody>
          <a:bodyPr>
            <a:normAutofit/>
          </a:bodyPr>
          <a:lstStyle/>
          <a:p>
            <a:r>
              <a:rPr lang="en-US" dirty="0"/>
              <a:t>multiple inheritance </a:t>
            </a:r>
          </a:p>
          <a:p>
            <a:pPr lvl="1"/>
            <a:r>
              <a:rPr lang="en-US" dirty="0"/>
              <a:t>base class expecting odd numbers</a:t>
            </a:r>
          </a:p>
          <a:p>
            <a:pPr lvl="1"/>
            <a:r>
              <a:rPr lang="en-US" dirty="0"/>
              <a:t>base class expecting even numbers</a:t>
            </a:r>
          </a:p>
          <a:p>
            <a:pPr lvl="1"/>
            <a:r>
              <a:rPr lang="en-US" dirty="0"/>
              <a:t>oops…</a:t>
            </a:r>
          </a:p>
          <a:p>
            <a:r>
              <a:rPr lang="en-US" dirty="0"/>
              <a:t>Bottom line - it’s complicated… Too complicated in fact to get it right in time for C++26. </a:t>
            </a:r>
          </a:p>
          <a:p>
            <a:pPr lvl="1"/>
            <a:r>
              <a:rPr lang="en-US" dirty="0"/>
              <a:t>as in other similar cases, we opt to leave it ill-formed for now</a:t>
            </a:r>
          </a:p>
        </p:txBody>
      </p:sp>
      <p:pic>
        <p:nvPicPr>
          <p:cNvPr id="5" name="Picture 4" descr="A close-up of a purple box&#10;&#10;AI-generated content may be incorrect.">
            <a:extLst>
              <a:ext uri="{FF2B5EF4-FFF2-40B4-BE49-F238E27FC236}">
                <a16:creationId xmlns:a16="http://schemas.microsoft.com/office/drawing/2014/main" id="{7D063F5F-7232-8847-00C0-55D5E5247F5E}"/>
              </a:ext>
            </a:extLst>
          </p:cNvPr>
          <p:cNvPicPr>
            <a:picLocks noChangeAspect="1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1147348" y="4852930"/>
            <a:ext cx="8366296" cy="1141469"/>
          </a:xfrm>
          <a:prstGeom prst="rect">
            <a:avLst/>
          </a:prstGeom>
        </p:spPr>
      </p:pic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E8006577-BE88-A1BC-B2F3-48E9EAAC8B25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256C2A35-81CC-4088-9903-628FC5B16538}" type="slidenum">
              <a:rPr lang="LID4096" smtClean="0"/>
              <a:t>29</a:t>
            </a:fld>
            <a:endParaRPr lang="LID4096"/>
          </a:p>
        </p:txBody>
      </p:sp>
    </p:spTree>
    <p:extLst>
      <p:ext uri="{BB962C8B-B14F-4D97-AF65-F5344CB8AC3E}">
        <p14:creationId xmlns:p14="http://schemas.microsoft.com/office/powerpoint/2010/main" val="2450642250"/>
      </p:ext>
    </p:extLst>
  </p:cSld>
  <p:clrMapOvr>
    <a:masterClrMapping/>
  </p:clrMapOvr>
</p:sld>
</file>

<file path=ppt/slides/slide3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CD553931-FB21-108B-ED43-19FA129C343A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A2A1B81C-A217-568D-40F7-D7E98CDB5658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Virtual Function Calls </a:t>
            </a:r>
            <a:br>
              <a:rPr lang="en-US" dirty="0"/>
            </a:br>
            <a:r>
              <a:rPr lang="en-US" dirty="0"/>
              <a:t>– am I an interface or an implementation?</a:t>
            </a:r>
            <a:endParaRPr lang="LID4096" dirty="0"/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5071F0B8-629D-A148-1681-63568B02BF8C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838200" y="1825625"/>
            <a:ext cx="10515600" cy="3599815"/>
          </a:xfrm>
        </p:spPr>
        <p:txBody>
          <a:bodyPr>
            <a:normAutofit fontScale="92500" lnSpcReduction="10000"/>
          </a:bodyPr>
          <a:lstStyle/>
          <a:p>
            <a:r>
              <a:rPr lang="en-US" dirty="0"/>
              <a:t>proposed solutions </a:t>
            </a:r>
          </a:p>
          <a:p>
            <a:pPr lvl="1"/>
            <a:r>
              <a:rPr lang="en-US" dirty="0"/>
              <a:t>only CAs defined directly on function apply, no implicit contract inheritance </a:t>
            </a:r>
          </a:p>
          <a:p>
            <a:pPr lvl="2"/>
            <a:r>
              <a:rPr lang="en-US" dirty="0"/>
              <a:t>might be confusing for those expecting inheritance to apply to contracts too</a:t>
            </a:r>
          </a:p>
          <a:p>
            <a:pPr lvl="1"/>
            <a:r>
              <a:rPr lang="en-US" dirty="0" err="1"/>
              <a:t>pre+post</a:t>
            </a:r>
            <a:r>
              <a:rPr lang="en-US" dirty="0"/>
              <a:t> to be evaluated for both implementation (callee side) and interface (caller side) - but not for any other point in the inheritance hierarchy </a:t>
            </a:r>
          </a:p>
          <a:p>
            <a:pPr lvl="2"/>
            <a:r>
              <a:rPr lang="en-US" dirty="0"/>
              <a:t>Initially included in P2900 but later taken out</a:t>
            </a:r>
          </a:p>
          <a:p>
            <a:pPr lvl="2"/>
            <a:r>
              <a:rPr lang="en-US" dirty="0"/>
              <a:t>“interface” was later renamed “indirect”</a:t>
            </a:r>
          </a:p>
          <a:p>
            <a:pPr lvl="2"/>
            <a:r>
              <a:rPr lang="en-US" dirty="0"/>
              <a:t>there were endless arguments over which default was more appropriate: implementation, indirect, or neither (always have to specify)</a:t>
            </a:r>
          </a:p>
          <a:p>
            <a:pPr lvl="2"/>
            <a:r>
              <a:rPr lang="en-US" dirty="0"/>
              <a:t>this would have been a novel model vs other languages, raising major objections over lack of field experience</a:t>
            </a:r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07461418-1EF0-FEA1-B0FA-E6F13B8639C3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256C2A35-81CC-4088-9903-628FC5B16538}" type="slidenum">
              <a:rPr lang="LID4096" smtClean="0"/>
              <a:t>30</a:t>
            </a:fld>
            <a:endParaRPr lang="LID4096"/>
          </a:p>
        </p:txBody>
      </p:sp>
    </p:spTree>
    <p:extLst>
      <p:ext uri="{BB962C8B-B14F-4D97-AF65-F5344CB8AC3E}">
        <p14:creationId xmlns:p14="http://schemas.microsoft.com/office/powerpoint/2010/main" val="1250704431"/>
      </p:ext>
    </p:extLst>
  </p:cSld>
  <p:clrMapOvr>
    <a:masterClrMapping/>
  </p:clrMapOvr>
</p:sld>
</file>

<file path=ppt/slides/slide3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F3D5A244-6F3E-04EB-8158-E85170C8E7AA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E76BF6E2-0E6D-E1E5-0A0A-A7E1EBF1D5E5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Compile-Time Evaluation </a:t>
            </a:r>
            <a:br>
              <a:rPr lang="en-US" dirty="0"/>
            </a:br>
            <a:r>
              <a:rPr lang="en-US" dirty="0"/>
              <a:t>– down to the very core</a:t>
            </a:r>
            <a:endParaRPr lang="LID4096" dirty="0"/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F230AB5A-C8A1-E685-B8DB-E1D39DC0BA93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rPr lang="en-US" dirty="0"/>
              <a:t>also known as constant evaluation</a:t>
            </a:r>
          </a:p>
          <a:p>
            <a:r>
              <a:rPr lang="en-US" dirty="0"/>
              <a:t>contract semantics </a:t>
            </a:r>
          </a:p>
          <a:p>
            <a:pPr lvl="1"/>
            <a:r>
              <a:rPr lang="en-US" dirty="0"/>
              <a:t>ignore - as expected…</a:t>
            </a:r>
          </a:p>
          <a:p>
            <a:pPr lvl="1"/>
            <a:r>
              <a:rPr lang="en-US" dirty="0"/>
              <a:t>observe - compilation warning upon detected violation</a:t>
            </a:r>
          </a:p>
          <a:p>
            <a:pPr lvl="1"/>
            <a:r>
              <a:rPr lang="en-US" dirty="0"/>
              <a:t>enforce and </a:t>
            </a:r>
            <a:r>
              <a:rPr lang="en-US" dirty="0" err="1"/>
              <a:t>quick_enforce</a:t>
            </a:r>
            <a:r>
              <a:rPr lang="en-US" dirty="0"/>
              <a:t> - program is ill-formed (</a:t>
            </a:r>
            <a:r>
              <a:rPr lang="en-US" dirty="0" err="1"/>
              <a:t>a.k.a</a:t>
            </a:r>
            <a:r>
              <a:rPr lang="en-US" dirty="0"/>
              <a:t> compilation error) upon detected violation</a:t>
            </a:r>
          </a:p>
          <a:p>
            <a:endParaRPr lang="LID4096" dirty="0"/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F9E7765F-FF3E-92B5-03BA-959BDA1D2244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256C2A35-81CC-4088-9903-628FC5B16538}" type="slidenum">
              <a:rPr lang="LID4096" smtClean="0"/>
              <a:t>31</a:t>
            </a:fld>
            <a:endParaRPr lang="LID4096"/>
          </a:p>
        </p:txBody>
      </p:sp>
    </p:spTree>
    <p:extLst>
      <p:ext uri="{BB962C8B-B14F-4D97-AF65-F5344CB8AC3E}">
        <p14:creationId xmlns:p14="http://schemas.microsoft.com/office/powerpoint/2010/main" val="584483753"/>
      </p:ext>
    </p:extLst>
  </p:cSld>
  <p:clrMapOvr>
    <a:masterClrMapping/>
  </p:clrMapOvr>
</p:sld>
</file>

<file path=ppt/slides/slide3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EC4A8CC1-B429-2859-E8E0-7E4B4C60D0D0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8DBC6E16-D076-56BE-E3F8-E52308179C93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Compile-Time Evaluation </a:t>
            </a:r>
            <a:br>
              <a:rPr lang="en-US" dirty="0"/>
            </a:br>
            <a:r>
              <a:rPr lang="en-US" dirty="0"/>
              <a:t>– down to the very core</a:t>
            </a:r>
            <a:endParaRPr lang="LID4096" dirty="0"/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8A62DD44-4615-BCB3-082C-EBB91AA7C1ED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838199" y="1825625"/>
            <a:ext cx="10709953" cy="2075815"/>
          </a:xfrm>
        </p:spPr>
        <p:txBody>
          <a:bodyPr>
            <a:normAutofit/>
          </a:bodyPr>
          <a:lstStyle/>
          <a:p>
            <a:r>
              <a:rPr lang="en-US" sz="1800" dirty="0"/>
              <a:t>contract violation scenarios </a:t>
            </a:r>
          </a:p>
          <a:p>
            <a:pPr lvl="1"/>
            <a:r>
              <a:rPr lang="en-US" sz="1800" dirty="0"/>
              <a:t>predicate returns </a:t>
            </a:r>
            <a:r>
              <a:rPr lang="en-US" sz="1800" i="1" dirty="0"/>
              <a:t>false</a:t>
            </a:r>
          </a:p>
          <a:p>
            <a:pPr lvl="1"/>
            <a:r>
              <a:rPr lang="en-US" sz="1800" dirty="0"/>
              <a:t>CA is not a core constant expression – i.e. cannot be evaluated at compile time </a:t>
            </a:r>
          </a:p>
          <a:p>
            <a:pPr lvl="2"/>
            <a:r>
              <a:rPr lang="en-US" sz="1800" dirty="0"/>
              <a:t>normally this would cause run time evaluation</a:t>
            </a:r>
          </a:p>
          <a:p>
            <a:pPr lvl="2"/>
            <a:r>
              <a:rPr lang="en-US" sz="1800" dirty="0"/>
              <a:t>but being a constant expression is itself a trait which can be branched or overloaded on at compile time (via SFINAE), which is something we don’t want for contracts</a:t>
            </a:r>
          </a:p>
        </p:txBody>
      </p:sp>
      <p:pic>
        <p:nvPicPr>
          <p:cNvPr id="5" name="Picture 4" descr="A close-up of a message&#10;&#10;AI-generated content may be incorrect.">
            <a:extLst>
              <a:ext uri="{FF2B5EF4-FFF2-40B4-BE49-F238E27FC236}">
                <a16:creationId xmlns:a16="http://schemas.microsoft.com/office/drawing/2014/main" id="{310E8210-8EF9-5AC6-54BD-D15346BF4C9D}"/>
              </a:ext>
            </a:extLst>
          </p:cNvPr>
          <p:cNvPicPr>
            <a:picLocks noChangeAspect="1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1817379" y="3749052"/>
            <a:ext cx="7207668" cy="1319876"/>
          </a:xfrm>
          <a:prstGeom prst="rect">
            <a:avLst/>
          </a:prstGeom>
        </p:spPr>
      </p:pic>
      <p:sp>
        <p:nvSpPr>
          <p:cNvPr id="6" name="TextBox 5">
            <a:extLst>
              <a:ext uri="{FF2B5EF4-FFF2-40B4-BE49-F238E27FC236}">
                <a16:creationId xmlns:a16="http://schemas.microsoft.com/office/drawing/2014/main" id="{574E6E67-A868-35F7-681D-60CD66B4E074}"/>
              </a:ext>
            </a:extLst>
          </p:cNvPr>
          <p:cNvSpPr txBox="1"/>
          <p:nvPr/>
        </p:nvSpPr>
        <p:spPr>
          <a:xfrm>
            <a:off x="1319145" y="5156021"/>
            <a:ext cx="10709952" cy="1477328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marL="742950" lvl="1" indent="-285750">
              <a:buFont typeface="Arial" panose="020B0604020202020204" pitchFamily="34" charset="0"/>
              <a:buChar char="•"/>
            </a:pPr>
            <a:r>
              <a:rPr lang="en-US" dirty="0"/>
              <a:t>this principle is crucial to having contracts applied to the actual business logic</a:t>
            </a:r>
          </a:p>
          <a:p>
            <a:pPr marL="1200150" lvl="2" indent="-285750">
              <a:buFont typeface="Arial" panose="020B0604020202020204" pitchFamily="34" charset="0"/>
              <a:buChar char="•"/>
            </a:pPr>
            <a:r>
              <a:rPr lang="en-US" dirty="0"/>
              <a:t>having them check some divergent logic would render them useless</a:t>
            </a:r>
          </a:p>
          <a:p>
            <a:pPr marL="742950" lvl="1" indent="-285750">
              <a:buFont typeface="Arial" panose="020B0604020202020204" pitchFamily="34" charset="0"/>
              <a:buChar char="•"/>
            </a:pPr>
            <a:r>
              <a:rPr lang="en-US" dirty="0"/>
              <a:t>in following with this principle – compile time contract violation is a hard error, </a:t>
            </a:r>
            <a:br>
              <a:rPr lang="en-US" dirty="0"/>
            </a:br>
            <a:r>
              <a:rPr lang="en-US" dirty="0"/>
              <a:t>in both cases</a:t>
            </a:r>
          </a:p>
          <a:p>
            <a:endParaRPr lang="LID4096" dirty="0"/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56CB1FC2-E985-38FC-22CE-237915284DDA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256C2A35-81CC-4088-9903-628FC5B16538}" type="slidenum">
              <a:rPr lang="LID4096" smtClean="0"/>
              <a:t>32</a:t>
            </a:fld>
            <a:endParaRPr lang="LID4096"/>
          </a:p>
        </p:txBody>
      </p:sp>
    </p:spTree>
    <p:extLst>
      <p:ext uri="{BB962C8B-B14F-4D97-AF65-F5344CB8AC3E}">
        <p14:creationId xmlns:p14="http://schemas.microsoft.com/office/powerpoint/2010/main" val="2028374122"/>
      </p:ext>
    </p:extLst>
  </p:cSld>
  <p:clrMapOvr>
    <a:masterClrMapping/>
  </p:clrMapOvr>
</p:sld>
</file>

<file path=ppt/slides/slide3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CC114423-AF5E-7950-1840-F09F6305A9F7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Coroutines </a:t>
            </a:r>
            <a:br>
              <a:rPr lang="en-US" dirty="0"/>
            </a:br>
            <a:r>
              <a:rPr lang="en-US" dirty="0"/>
              <a:t>– come see us move the mighty </a:t>
            </a:r>
            <a:r>
              <a:rPr lang="en-US" dirty="0" err="1"/>
              <a:t>consts</a:t>
            </a:r>
            <a:r>
              <a:rPr lang="en-US" dirty="0"/>
              <a:t>!</a:t>
            </a:r>
            <a:endParaRPr lang="LID4096" dirty="0"/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EFC581C9-8201-EBBC-7574-97EF28FE5AA2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>
            <a:normAutofit/>
          </a:bodyPr>
          <a:lstStyle/>
          <a:p>
            <a:r>
              <a:rPr lang="en-US" sz="2400" dirty="0" err="1"/>
              <a:t>contract_assert</a:t>
            </a:r>
            <a:r>
              <a:rPr lang="en-US" sz="2400" dirty="0"/>
              <a:t> evaluated as usual, pre/post are trickier</a:t>
            </a:r>
          </a:p>
          <a:p>
            <a:r>
              <a:rPr lang="en-US" sz="2400" dirty="0"/>
              <a:t>“function” is actually “ramp function”</a:t>
            </a:r>
          </a:p>
          <a:p>
            <a:pPr lvl="1"/>
            <a:r>
              <a:rPr lang="en-US" dirty="0"/>
              <a:t>Returns coroutine control object, e.g. generator</a:t>
            </a:r>
          </a:p>
          <a:p>
            <a:r>
              <a:rPr lang="en-US" sz="2400" dirty="0"/>
              <a:t>pre may inspect parameters of initial call</a:t>
            </a:r>
          </a:p>
          <a:p>
            <a:r>
              <a:rPr lang="en-US" sz="2400" dirty="0"/>
              <a:t>post can only see the returned control object</a:t>
            </a:r>
          </a:p>
          <a:p>
            <a:r>
              <a:rPr lang="en-US" sz="2400" dirty="0"/>
              <a:t>Contracts on yields are currently not supported</a:t>
            </a:r>
          </a:p>
          <a:p>
            <a:pPr lvl="1"/>
            <a:r>
              <a:rPr lang="en-US" dirty="0"/>
              <a:t>May be added indirectly by manually implementing the coroutine framework</a:t>
            </a:r>
          </a:p>
          <a:p>
            <a:r>
              <a:rPr lang="en-US" sz="2400" dirty="0"/>
              <a:t>post is of limited use – mainly to inspect control object properties</a:t>
            </a:r>
          </a:p>
          <a:p>
            <a:r>
              <a:rPr lang="en-US" sz="2400" dirty="0"/>
              <a:t>and that’s where it gets worse…</a:t>
            </a:r>
          </a:p>
          <a:p>
            <a:endParaRPr lang="en-US" sz="2400" dirty="0"/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F35BBF5D-D9EE-3B37-DC12-40DCA6D44ECB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256C2A35-81CC-4088-9903-628FC5B16538}" type="slidenum">
              <a:rPr lang="LID4096" smtClean="0"/>
              <a:t>33</a:t>
            </a:fld>
            <a:endParaRPr lang="LID4096"/>
          </a:p>
        </p:txBody>
      </p:sp>
    </p:spTree>
    <p:extLst>
      <p:ext uri="{BB962C8B-B14F-4D97-AF65-F5344CB8AC3E}">
        <p14:creationId xmlns:p14="http://schemas.microsoft.com/office/powerpoint/2010/main" val="2126875077"/>
      </p:ext>
    </p:extLst>
  </p:cSld>
  <p:clrMapOvr>
    <a:masterClrMapping/>
  </p:clrMapOvr>
</p:sld>
</file>

<file path=ppt/slides/slide3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EB9A93B2-3EAA-7A15-EE21-F01A616DF164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FAB2FE5B-63AF-9972-8E26-A5FD7985ED61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Coroutines </a:t>
            </a:r>
            <a:br>
              <a:rPr lang="en-US" dirty="0"/>
            </a:br>
            <a:r>
              <a:rPr lang="en-US" dirty="0"/>
              <a:t>– come see us move the mighty </a:t>
            </a:r>
            <a:r>
              <a:rPr lang="en-US" dirty="0" err="1"/>
              <a:t>consts</a:t>
            </a:r>
            <a:r>
              <a:rPr lang="en-US" dirty="0"/>
              <a:t>!</a:t>
            </a:r>
            <a:endParaRPr lang="LID4096" dirty="0"/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0D57752A-91B0-59DC-7940-05F9F031C243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>
            <a:normAutofit/>
          </a:bodyPr>
          <a:lstStyle/>
          <a:p>
            <a:r>
              <a:rPr lang="en-US" dirty="0"/>
              <a:t>Because const non-reference parameters may actually be moved into the coroutine frame! </a:t>
            </a:r>
          </a:p>
          <a:p>
            <a:pPr lvl="1"/>
            <a:r>
              <a:rPr lang="en-US" sz="2900" dirty="0"/>
              <a:t>const comes back in coroutine body – out of scope for post</a:t>
            </a:r>
          </a:p>
          <a:p>
            <a:pPr lvl="2"/>
            <a:r>
              <a:rPr lang="en-US" sz="2500" dirty="0"/>
              <a:t>Left with a reference to a moved-from object</a:t>
            </a:r>
          </a:p>
          <a:p>
            <a:pPr lvl="1"/>
            <a:r>
              <a:rPr lang="en-US" sz="2900" dirty="0" err="1"/>
              <a:t>contract_asserts</a:t>
            </a:r>
            <a:r>
              <a:rPr lang="en-US" sz="2900" dirty="0"/>
              <a:t> in coroutine body may see different parameter bodies than pre</a:t>
            </a:r>
          </a:p>
          <a:p>
            <a:endParaRPr lang="en-US" dirty="0"/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66CB6132-268C-7644-35BD-E58EDCFD5BEB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256C2A35-81CC-4088-9903-628FC5B16538}" type="slidenum">
              <a:rPr lang="LID4096" smtClean="0"/>
              <a:t>34</a:t>
            </a:fld>
            <a:endParaRPr lang="LID4096"/>
          </a:p>
        </p:txBody>
      </p:sp>
    </p:spTree>
    <p:extLst>
      <p:ext uri="{BB962C8B-B14F-4D97-AF65-F5344CB8AC3E}">
        <p14:creationId xmlns:p14="http://schemas.microsoft.com/office/powerpoint/2010/main" val="3152630902"/>
      </p:ext>
    </p:extLst>
  </p:cSld>
  <p:clrMapOvr>
    <a:masterClrMapping/>
  </p:clrMapOvr>
</p:sld>
</file>

<file path=ppt/slides/slide3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CC114423-AF5E-7950-1840-F09F6305A9F7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Coroutines </a:t>
            </a:r>
            <a:br>
              <a:rPr lang="en-US" dirty="0"/>
            </a:br>
            <a:r>
              <a:rPr lang="en-US" dirty="0"/>
              <a:t>– come see us move the mighty </a:t>
            </a:r>
            <a:r>
              <a:rPr lang="en-US" dirty="0" err="1"/>
              <a:t>consts</a:t>
            </a:r>
            <a:r>
              <a:rPr lang="en-US" dirty="0"/>
              <a:t>!</a:t>
            </a:r>
            <a:endParaRPr lang="LID4096" dirty="0"/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EFC581C9-8201-EBBC-7574-97EF28FE5AA2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>
            <a:normAutofit/>
          </a:bodyPr>
          <a:lstStyle/>
          <a:p>
            <a:r>
              <a:rPr lang="en-US" sz="2900" dirty="0"/>
              <a:t>Furth</a:t>
            </a:r>
            <a:r>
              <a:rPr lang="en-US" dirty="0"/>
              <a:t>er complicating factor: </a:t>
            </a:r>
          </a:p>
          <a:p>
            <a:pPr lvl="1"/>
            <a:r>
              <a:rPr lang="en-US" sz="2900" dirty="0"/>
              <a:t>Coroutines from the outside - normal functions </a:t>
            </a:r>
          </a:p>
          <a:p>
            <a:pPr lvl="1"/>
            <a:r>
              <a:rPr lang="en-US" sz="2900" dirty="0"/>
              <a:t>Coroutines from the inside – coroutines, as an implementation detail</a:t>
            </a:r>
          </a:p>
          <a:p>
            <a:pPr lvl="2"/>
            <a:r>
              <a:rPr lang="en-US" sz="2900" dirty="0"/>
              <a:t>Which may change at any time </a:t>
            </a:r>
          </a:p>
          <a:p>
            <a:pPr lvl="1"/>
            <a:r>
              <a:rPr lang="en-US" sz="2900" dirty="0"/>
              <a:t>pre/post evaluated on the caller side doesn’t know it’s a coroutine</a:t>
            </a:r>
          </a:p>
          <a:p>
            <a:pPr lvl="1"/>
            <a:r>
              <a:rPr lang="en-US" sz="2900" dirty="0"/>
              <a:t>but callee side still does</a:t>
            </a:r>
          </a:p>
          <a:p>
            <a:endParaRPr lang="LID4096" dirty="0"/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6AC57FDB-6887-3725-0027-76927743593F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256C2A35-81CC-4088-9903-628FC5B16538}" type="slidenum">
              <a:rPr lang="LID4096" smtClean="0"/>
              <a:t>35</a:t>
            </a:fld>
            <a:endParaRPr lang="LID4096"/>
          </a:p>
        </p:txBody>
      </p:sp>
    </p:spTree>
    <p:extLst>
      <p:ext uri="{BB962C8B-B14F-4D97-AF65-F5344CB8AC3E}">
        <p14:creationId xmlns:p14="http://schemas.microsoft.com/office/powerpoint/2010/main" val="2870286577"/>
      </p:ext>
    </p:extLst>
  </p:cSld>
  <p:clrMapOvr>
    <a:masterClrMapping/>
  </p:clrMapOvr>
</p:sld>
</file>

<file path=ppt/slides/slide3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F17B3FFE-08CF-C2EA-7706-5E3804268C80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CF8E81D1-02C6-BA87-591B-B54B8595FC02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Coroutines </a:t>
            </a:r>
            <a:br>
              <a:rPr lang="en-US" dirty="0"/>
            </a:br>
            <a:r>
              <a:rPr lang="en-US" dirty="0"/>
              <a:t>– come see us move the mighty </a:t>
            </a:r>
            <a:r>
              <a:rPr lang="en-US" dirty="0" err="1"/>
              <a:t>consts</a:t>
            </a:r>
            <a:r>
              <a:rPr lang="en-US" dirty="0"/>
              <a:t>!</a:t>
            </a:r>
            <a:endParaRPr lang="LID4096" dirty="0"/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90D701FD-0A9D-7594-FBD7-6E4EDA612062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838200" y="1690688"/>
            <a:ext cx="10515600" cy="4351338"/>
          </a:xfrm>
        </p:spPr>
        <p:txBody>
          <a:bodyPr>
            <a:normAutofit/>
          </a:bodyPr>
          <a:lstStyle/>
          <a:p>
            <a:r>
              <a:rPr lang="en-US" sz="2400" dirty="0"/>
              <a:t>Ultimate outcome – we do have contracts in coroutines!</a:t>
            </a:r>
          </a:p>
          <a:p>
            <a:pPr lvl="1"/>
            <a:r>
              <a:rPr lang="en-US" dirty="0" err="1"/>
              <a:t>contract_assert</a:t>
            </a:r>
            <a:r>
              <a:rPr lang="en-US" dirty="0"/>
              <a:t> and pre – same as in normal functions</a:t>
            </a:r>
          </a:p>
          <a:p>
            <a:pPr lvl="1"/>
            <a:r>
              <a:rPr lang="en-US" dirty="0"/>
              <a:t>Post - here be dragons!</a:t>
            </a:r>
          </a:p>
          <a:p>
            <a:r>
              <a:rPr lang="en-US" sz="2400" dirty="0"/>
              <a:t>There is currently no straightforward way of inspecting yielded values </a:t>
            </a:r>
            <a:br>
              <a:rPr lang="en-US" sz="2400" dirty="0"/>
            </a:br>
            <a:r>
              <a:rPr lang="en-US" sz="2400" dirty="0"/>
              <a:t>- that’s for future proposals</a:t>
            </a:r>
          </a:p>
          <a:p>
            <a:endParaRPr lang="LID4096" sz="2400" dirty="0"/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741821AF-B308-746A-4C60-7E47671625A9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256C2A35-81CC-4088-9903-628FC5B16538}" type="slidenum">
              <a:rPr lang="LID4096" smtClean="0"/>
              <a:t>36</a:t>
            </a:fld>
            <a:endParaRPr lang="LID4096"/>
          </a:p>
        </p:txBody>
      </p:sp>
    </p:spTree>
    <p:extLst>
      <p:ext uri="{BB962C8B-B14F-4D97-AF65-F5344CB8AC3E}">
        <p14:creationId xmlns:p14="http://schemas.microsoft.com/office/powerpoint/2010/main" val="1657773049"/>
      </p:ext>
    </p:extLst>
  </p:cSld>
  <p:clrMapOvr>
    <a:masterClrMapping/>
  </p:clrMapOvr>
</p:sld>
</file>

<file path=ppt/slides/slide3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78DB2A2F-A629-8345-41C8-74AFBF0A35FD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>
            <a:noAutofit/>
          </a:bodyPr>
          <a:lstStyle/>
          <a:p>
            <a:r>
              <a:rPr lang="en-US" sz="3200" dirty="0"/>
              <a:t>Undefined Behavior During Contract Checking </a:t>
            </a:r>
            <a:br>
              <a:rPr lang="en-US" sz="3200" dirty="0"/>
            </a:br>
            <a:r>
              <a:rPr lang="en-US" sz="3200" dirty="0"/>
              <a:t>– because all you really wanted was to blow up the universe!</a:t>
            </a:r>
            <a:endParaRPr lang="LID4096" sz="3200" dirty="0"/>
          </a:p>
        </p:txBody>
      </p:sp>
      <p:pic>
        <p:nvPicPr>
          <p:cNvPr id="5" name="Content Placeholder 4" descr="A purple and black text&#10;&#10;AI-generated content may be incorrect.">
            <a:extLst>
              <a:ext uri="{FF2B5EF4-FFF2-40B4-BE49-F238E27FC236}">
                <a16:creationId xmlns:a16="http://schemas.microsoft.com/office/drawing/2014/main" id="{0E7251A5-F03D-DCC3-06CD-4A93E209D7BB}"/>
              </a:ext>
            </a:extLst>
          </p:cNvPr>
          <p:cNvPicPr>
            <a:picLocks noGrp="1" noChangeAspect="1"/>
          </p:cNvPicPr>
          <p:nvPr>
            <p:ph idx="1"/>
          </p:nvPr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838200" y="1690688"/>
            <a:ext cx="6754168" cy="952633"/>
          </a:xfrm>
        </p:spPr>
      </p:pic>
      <p:sp>
        <p:nvSpPr>
          <p:cNvPr id="6" name="TextBox 5">
            <a:extLst>
              <a:ext uri="{FF2B5EF4-FFF2-40B4-BE49-F238E27FC236}">
                <a16:creationId xmlns:a16="http://schemas.microsoft.com/office/drawing/2014/main" id="{0DD0F634-0F31-639D-8B04-2569C6938FCB}"/>
              </a:ext>
            </a:extLst>
          </p:cNvPr>
          <p:cNvSpPr txBox="1"/>
          <p:nvPr/>
        </p:nvSpPr>
        <p:spPr>
          <a:xfrm>
            <a:off x="838200" y="3135987"/>
            <a:ext cx="8883869" cy="2585323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marL="285750" indent="-285750">
              <a:buFont typeface="Arial" panose="020B0604020202020204" pitchFamily="34" charset="0"/>
              <a:buChar char="•"/>
            </a:pPr>
            <a:r>
              <a:rPr lang="en-US" dirty="0"/>
              <a:t>concerns regarding UB in CAs: </a:t>
            </a:r>
          </a:p>
          <a:p>
            <a:pPr marL="742950" lvl="1" indent="-285750">
              <a:buFont typeface="Arial" panose="020B0604020202020204" pitchFamily="34" charset="0"/>
              <a:buChar char="•"/>
            </a:pPr>
            <a:r>
              <a:rPr lang="en-US" i="1" dirty="0"/>
              <a:t>observe</a:t>
            </a:r>
            <a:r>
              <a:rPr lang="en-US" dirty="0"/>
              <a:t> semantic only - time travel backwards from UB in subsequent code into CA may result in CA being optimized out </a:t>
            </a:r>
          </a:p>
          <a:p>
            <a:pPr marL="1200150" lvl="2" indent="-285750">
              <a:buFont typeface="Arial" panose="020B0604020202020204" pitchFamily="34" charset="0"/>
              <a:buChar char="•"/>
            </a:pPr>
            <a:r>
              <a:rPr lang="en-US" dirty="0"/>
              <a:t>resolved with observable checkpoints (P1495R5)</a:t>
            </a:r>
          </a:p>
          <a:p>
            <a:pPr marL="742950" lvl="1" indent="-285750">
              <a:buFont typeface="Arial" panose="020B0604020202020204" pitchFamily="34" charset="0"/>
              <a:buChar char="•"/>
            </a:pPr>
            <a:r>
              <a:rPr lang="en-US" dirty="0"/>
              <a:t>all semantics (other than </a:t>
            </a:r>
            <a:r>
              <a:rPr lang="en-US" i="1" dirty="0"/>
              <a:t>ignore</a:t>
            </a:r>
            <a:r>
              <a:rPr lang="en-US" dirty="0"/>
              <a:t>) - UB in CA itself affecting / optimizing out CA </a:t>
            </a:r>
          </a:p>
          <a:p>
            <a:pPr marL="1200150" lvl="2" indent="-285750">
              <a:buFont typeface="Arial" panose="020B0604020202020204" pitchFamily="34" charset="0"/>
              <a:buChar char="•"/>
            </a:pPr>
            <a:r>
              <a:rPr lang="en-US" dirty="0"/>
              <a:t>SG21 decided not to act on this, to avoid creating a C++ dialect for contracts </a:t>
            </a:r>
          </a:p>
          <a:p>
            <a:pPr marL="1657350" lvl="3" indent="-285750">
              <a:buFont typeface="Arial" panose="020B0604020202020204" pitchFamily="34" charset="0"/>
              <a:buChar char="•"/>
            </a:pPr>
            <a:r>
              <a:rPr lang="en-US" dirty="0"/>
              <a:t>however, observable checkpoints will also prevent UB within a CCA from getting subsequent production code optimized out</a:t>
            </a:r>
          </a:p>
          <a:p>
            <a:pPr marL="285750" indent="-285750">
              <a:buFont typeface="Arial" panose="020B0604020202020204" pitchFamily="34" charset="0"/>
              <a:buChar char="•"/>
            </a:pPr>
            <a:endParaRPr lang="LID4096" dirty="0"/>
          </a:p>
        </p:txBody>
      </p:sp>
      <p:sp>
        <p:nvSpPr>
          <p:cNvPr id="3" name="Slide Number Placeholder 2">
            <a:extLst>
              <a:ext uri="{FF2B5EF4-FFF2-40B4-BE49-F238E27FC236}">
                <a16:creationId xmlns:a16="http://schemas.microsoft.com/office/drawing/2014/main" id="{9FD401C0-409D-CF38-BE22-7842CB31D433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256C2A35-81CC-4088-9903-628FC5B16538}" type="slidenum">
              <a:rPr lang="LID4096" smtClean="0"/>
              <a:t>37</a:t>
            </a:fld>
            <a:endParaRPr lang="LID4096"/>
          </a:p>
        </p:txBody>
      </p:sp>
    </p:spTree>
    <p:extLst>
      <p:ext uri="{BB962C8B-B14F-4D97-AF65-F5344CB8AC3E}">
        <p14:creationId xmlns:p14="http://schemas.microsoft.com/office/powerpoint/2010/main" val="847620915"/>
      </p:ext>
    </p:extLst>
  </p:cSld>
  <p:clrMapOvr>
    <a:masterClrMapping/>
  </p:clrMapOvr>
</p:sld>
</file>

<file path=ppt/slides/slide3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0D7D0964-89FC-2B6C-7AEC-7536856DEA1C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F182E0DF-C82B-D8BB-4F75-50E1D6336DDA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Predicate Side Effects and UB </a:t>
            </a:r>
            <a:br>
              <a:rPr lang="en-US" dirty="0"/>
            </a:br>
            <a:r>
              <a:rPr lang="en-US" dirty="0"/>
              <a:t>– how do we convey that?</a:t>
            </a:r>
            <a:endParaRPr lang="LID4096" dirty="0"/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022477C4-F697-069B-9345-E3CCBB018CF3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>
            <a:normAutofit/>
          </a:bodyPr>
          <a:lstStyle/>
          <a:p>
            <a:r>
              <a:rPr lang="en-US" sz="1600" dirty="0"/>
              <a:t>Controversy </a:t>
            </a:r>
          </a:p>
          <a:p>
            <a:pPr lvl="1"/>
            <a:r>
              <a:rPr lang="en-US" sz="1600" dirty="0"/>
              <a:t>Ban UB and side effects in CAs, </a:t>
            </a:r>
          </a:p>
          <a:p>
            <a:pPr lvl="2"/>
            <a:r>
              <a:rPr lang="en-US" sz="1600" dirty="0"/>
              <a:t>we don’t want contracts introducing new UB </a:t>
            </a:r>
          </a:p>
          <a:p>
            <a:pPr lvl="2"/>
            <a:r>
              <a:rPr lang="en-US" sz="1600" dirty="0"/>
              <a:t>side effects means we’re not checking the same program</a:t>
            </a:r>
          </a:p>
          <a:p>
            <a:pPr lvl="2"/>
            <a:r>
              <a:rPr lang="en-US" sz="1600" dirty="0"/>
              <a:t>and may also discourage contracts adoption</a:t>
            </a:r>
          </a:p>
          <a:p>
            <a:pPr lvl="2"/>
            <a:endParaRPr lang="en-US" sz="2300" dirty="0"/>
          </a:p>
          <a:p>
            <a:pPr lvl="2"/>
            <a:endParaRPr lang="en-US" sz="2300" dirty="0"/>
          </a:p>
          <a:p>
            <a:pPr lvl="2"/>
            <a:endParaRPr lang="en-US" sz="2300" dirty="0"/>
          </a:p>
          <a:p>
            <a:pPr lvl="2"/>
            <a:endParaRPr lang="en-US" sz="2300" dirty="0"/>
          </a:p>
          <a:p>
            <a:pPr marL="914400" lvl="2" indent="0">
              <a:buNone/>
            </a:pPr>
            <a:endParaRPr lang="en-US" sz="2300" dirty="0"/>
          </a:p>
          <a:p>
            <a:endParaRPr lang="LID4096" dirty="0"/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6BCDC395-5833-23F8-B07B-9616A259BB38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256C2A35-81CC-4088-9903-628FC5B16538}" type="slidenum">
              <a:rPr lang="LID4096" smtClean="0"/>
              <a:t>38</a:t>
            </a:fld>
            <a:endParaRPr lang="LID4096"/>
          </a:p>
        </p:txBody>
      </p:sp>
      <p:pic>
        <p:nvPicPr>
          <p:cNvPr id="6" name="Picture 5">
            <a:extLst>
              <a:ext uri="{FF2B5EF4-FFF2-40B4-BE49-F238E27FC236}">
                <a16:creationId xmlns:a16="http://schemas.microsoft.com/office/drawing/2014/main" id="{DCB303AC-7B9E-4465-F863-43B7F28BADDA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550524" y="3237049"/>
            <a:ext cx="9464674" cy="1231310"/>
          </a:xfrm>
          <a:prstGeom prst="rect">
            <a:avLst/>
          </a:prstGeom>
        </p:spPr>
      </p:pic>
      <p:pic>
        <p:nvPicPr>
          <p:cNvPr id="7" name="Picture 6">
            <a:extLst>
              <a:ext uri="{FF2B5EF4-FFF2-40B4-BE49-F238E27FC236}">
                <a16:creationId xmlns:a16="http://schemas.microsoft.com/office/drawing/2014/main" id="{DD2DB2FE-2ABA-09C0-03A9-E43190A70E7A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550524" y="4697548"/>
            <a:ext cx="9415409" cy="1283176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3589782938"/>
      </p:ext>
    </p:extLst>
  </p:cSld>
  <p:clrMapOvr>
    <a:masterClrMapping/>
  </p:clrMapOvr>
</p:sld>
</file>

<file path=ppt/slides/slide3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D0031B7B-2981-89DC-F477-9324E55A7E0A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4FD0FC3F-A4E9-5C2C-B5F9-B3AD5D8026E0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Predicate Side Effects and UB </a:t>
            </a:r>
            <a:br>
              <a:rPr lang="en-US" dirty="0"/>
            </a:br>
            <a:r>
              <a:rPr lang="en-US" dirty="0"/>
              <a:t>– how do we convey that?</a:t>
            </a:r>
            <a:endParaRPr lang="LID4096" dirty="0"/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C7653B3B-667F-2379-4258-31F37813C11E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>
            <a:normAutofit/>
          </a:bodyPr>
          <a:lstStyle/>
          <a:p>
            <a:r>
              <a:rPr lang="en-US" sz="2300" dirty="0"/>
              <a:t>Controversy </a:t>
            </a:r>
          </a:p>
          <a:p>
            <a:pPr lvl="1"/>
            <a:r>
              <a:rPr lang="en-US" sz="2300" dirty="0"/>
              <a:t>On the other hand</a:t>
            </a:r>
          </a:p>
          <a:p>
            <a:pPr lvl="2"/>
            <a:r>
              <a:rPr lang="en-US" sz="2300" dirty="0"/>
              <a:t>Can lack of side effects be effectively enforced in C++? </a:t>
            </a:r>
          </a:p>
          <a:p>
            <a:pPr lvl="2"/>
            <a:r>
              <a:rPr lang="en-US" sz="2300" dirty="0"/>
              <a:t>Can UB be reliably detected?</a:t>
            </a:r>
          </a:p>
          <a:p>
            <a:pPr lvl="2"/>
            <a:r>
              <a:rPr lang="en-US" sz="2300" dirty="0"/>
              <a:t>UBs are just a part of normal C++ - should we make sweeping language changes applying only to contract predicates?</a:t>
            </a:r>
          </a:p>
          <a:p>
            <a:r>
              <a:rPr lang="en-US" sz="2300" dirty="0"/>
              <a:t>Now let’s see some suggested solutions</a:t>
            </a:r>
          </a:p>
          <a:p>
            <a:endParaRPr lang="LID4096" dirty="0"/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3BCDA107-44F8-26FF-204D-7ABB78F143C9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256C2A35-81CC-4088-9903-628FC5B16538}" type="slidenum">
              <a:rPr lang="LID4096" smtClean="0"/>
              <a:t>39</a:t>
            </a:fld>
            <a:endParaRPr lang="LID4096"/>
          </a:p>
        </p:txBody>
      </p:sp>
    </p:spTree>
    <p:extLst>
      <p:ext uri="{BB962C8B-B14F-4D97-AF65-F5344CB8AC3E}">
        <p14:creationId xmlns:p14="http://schemas.microsoft.com/office/powerpoint/2010/main" val="1466374395"/>
      </p:ext>
    </p:extLst>
  </p:cSld>
  <p:clrMapOvr>
    <a:masterClrMapping/>
  </p:clrMapOvr>
</p:sld>
</file>

<file path=ppt/slides/slide4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AC35390D-B7C1-83E0-F6C1-2AA584B1FFEB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C1821F46-99EC-80E7-D3E8-161A03BCC772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Predicate Side Effects and UB </a:t>
            </a:r>
            <a:br>
              <a:rPr lang="en-US" dirty="0"/>
            </a:br>
            <a:r>
              <a:rPr lang="en-US" dirty="0"/>
              <a:t>– how do we convey that?</a:t>
            </a:r>
            <a:endParaRPr lang="LID4096" dirty="0"/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C5643117-8D08-AF39-02C1-FBC40F31B5B2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838199" y="1825625"/>
            <a:ext cx="10977081" cy="4351338"/>
          </a:xfrm>
        </p:spPr>
        <p:txBody>
          <a:bodyPr>
            <a:noAutofit/>
          </a:bodyPr>
          <a:lstStyle/>
          <a:p>
            <a:r>
              <a:rPr lang="en-US" sz="2000" dirty="0"/>
              <a:t>conveyor functions (p3285R0) – partial list of restrictions</a:t>
            </a:r>
          </a:p>
          <a:p>
            <a:pPr lvl="1"/>
            <a:r>
              <a:rPr lang="en-US" sz="2000" dirty="0"/>
              <a:t>no side effects outside of own body</a:t>
            </a:r>
          </a:p>
          <a:p>
            <a:pPr lvl="1"/>
            <a:r>
              <a:rPr lang="en-US" sz="2000" dirty="0"/>
              <a:t>does not modify the parameters</a:t>
            </a:r>
          </a:p>
          <a:p>
            <a:pPr lvl="1"/>
            <a:r>
              <a:rPr lang="en-US" sz="2000" dirty="0"/>
              <a:t>does not do anything with potential for UB</a:t>
            </a:r>
          </a:p>
          <a:p>
            <a:pPr lvl="1"/>
            <a:r>
              <a:rPr lang="en-US" sz="2000" dirty="0"/>
              <a:t>[[conveyor]] attribute - enforces the respective syntactic restrictions</a:t>
            </a:r>
          </a:p>
          <a:p>
            <a:pPr lvl="1"/>
            <a:r>
              <a:rPr lang="en-US" sz="2000" dirty="0"/>
              <a:t>only kind of function invocable from strict CAs </a:t>
            </a:r>
          </a:p>
          <a:p>
            <a:pPr lvl="2"/>
            <a:r>
              <a:rPr lang="en-US" dirty="0"/>
              <a:t>no such restriction on relaxed CAs</a:t>
            </a:r>
          </a:p>
          <a:p>
            <a:pPr lvl="1"/>
            <a:r>
              <a:rPr lang="en-US" sz="2000" dirty="0"/>
              <a:t>can only call other conveyor functions </a:t>
            </a:r>
          </a:p>
          <a:p>
            <a:pPr lvl="2"/>
            <a:r>
              <a:rPr lang="en-US" dirty="0"/>
              <a:t>either explicitly [[conveyor]] or deduced</a:t>
            </a:r>
          </a:p>
          <a:p>
            <a:pPr lvl="1"/>
            <a:r>
              <a:rPr lang="en-US" sz="2000" dirty="0"/>
              <a:t>can only have strict CAs</a:t>
            </a:r>
          </a:p>
          <a:p>
            <a:pPr lvl="1"/>
            <a:r>
              <a:rPr lang="en-US" sz="2000" dirty="0"/>
              <a:t>parameters may only be passed by value (not move) or by const ref</a:t>
            </a:r>
          </a:p>
          <a:p>
            <a:pPr lvl="1"/>
            <a:r>
              <a:rPr lang="en-US" sz="2000" dirty="0"/>
              <a:t>cannot </a:t>
            </a:r>
            <a:r>
              <a:rPr lang="en-US" sz="2000" dirty="0" err="1"/>
              <a:t>reinterpret_cast</a:t>
            </a:r>
            <a:r>
              <a:rPr lang="en-US" sz="2000" dirty="0"/>
              <a:t>, cast away const, downcast, </a:t>
            </a:r>
            <a:br>
              <a:rPr lang="en-US" sz="2000" dirty="0"/>
            </a:br>
            <a:r>
              <a:rPr lang="en-US" sz="2000" dirty="0"/>
              <a:t>do narrowing conversions, </a:t>
            </a:r>
            <a:r>
              <a:rPr lang="en-US" sz="2000" dirty="0" err="1"/>
              <a:t>etc</a:t>
            </a:r>
            <a:endParaRPr lang="en-US" sz="2000" dirty="0"/>
          </a:p>
          <a:p>
            <a:pPr lvl="1"/>
            <a:r>
              <a:rPr lang="en-US" sz="2000" dirty="0"/>
              <a:t>no new or delete</a:t>
            </a:r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2F2A9AAF-DBE7-D25C-33F5-EFCF5BB0D607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256C2A35-81CC-4088-9903-628FC5B16538}" type="slidenum">
              <a:rPr lang="LID4096" smtClean="0"/>
              <a:t>40</a:t>
            </a:fld>
            <a:endParaRPr lang="LID4096" dirty="0"/>
          </a:p>
        </p:txBody>
      </p:sp>
    </p:spTree>
    <p:extLst>
      <p:ext uri="{BB962C8B-B14F-4D97-AF65-F5344CB8AC3E}">
        <p14:creationId xmlns:p14="http://schemas.microsoft.com/office/powerpoint/2010/main" val="3979165274"/>
      </p:ext>
    </p:extLst>
  </p:cSld>
  <p:clrMapOvr>
    <a:masterClrMapping/>
  </p:clrMapOvr>
</p:sld>
</file>

<file path=ppt/slides/slide4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AC35390D-B7C1-83E0-F6C1-2AA584B1FFEB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C1821F46-99EC-80E7-D3E8-161A03BCC772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Predicate Side Effects and UB </a:t>
            </a:r>
            <a:br>
              <a:rPr lang="en-US" dirty="0"/>
            </a:br>
            <a:r>
              <a:rPr lang="en-US" dirty="0"/>
              <a:t>– how do we convey that?</a:t>
            </a:r>
            <a:endParaRPr lang="LID4096" dirty="0"/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C5643117-8D08-AF39-02C1-FBC40F31B5B2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838199" y="1825625"/>
            <a:ext cx="10833243" cy="4351338"/>
          </a:xfrm>
        </p:spPr>
        <p:txBody>
          <a:bodyPr>
            <a:normAutofit fontScale="85000" lnSpcReduction="20000"/>
          </a:bodyPr>
          <a:lstStyle/>
          <a:p>
            <a:pPr lvl="1"/>
            <a:r>
              <a:rPr lang="en-US" dirty="0"/>
              <a:t>For *e, the operand e must satisfy std::</a:t>
            </a:r>
            <a:r>
              <a:rPr lang="en-US" dirty="0" err="1"/>
              <a:t>object_address</a:t>
            </a:r>
            <a:r>
              <a:rPr lang="en-US" dirty="0"/>
              <a:t>(e) </a:t>
            </a:r>
          </a:p>
          <a:p>
            <a:pPr lvl="2"/>
            <a:r>
              <a:rPr lang="en-US" sz="2400" dirty="0"/>
              <a:t>I.e. *e must be a valid object</a:t>
            </a:r>
          </a:p>
          <a:p>
            <a:pPr lvl="2"/>
            <a:r>
              <a:rPr lang="en-US" sz="2400" dirty="0"/>
              <a:t>May not be implementable in many cases, as it would require tracking all objects</a:t>
            </a:r>
          </a:p>
          <a:p>
            <a:pPr lvl="2"/>
            <a:r>
              <a:rPr lang="en-US" sz="2400" dirty="0"/>
              <a:t>Even if implementable, pointer provenance might be unprovable in most cases, rendering most such code ill-formed</a:t>
            </a:r>
          </a:p>
          <a:p>
            <a:pPr lvl="2"/>
            <a:r>
              <a:rPr lang="en-US" sz="2400" dirty="0"/>
              <a:t>Would hinder optimizations, and in particular [[</a:t>
            </a:r>
            <a:r>
              <a:rPr lang="en-US" sz="2400" dirty="0" err="1"/>
              <a:t>no_unique_address</a:t>
            </a:r>
            <a:r>
              <a:rPr lang="en-US" sz="2400" dirty="0"/>
              <a:t>]]</a:t>
            </a:r>
          </a:p>
          <a:p>
            <a:pPr lvl="2"/>
            <a:r>
              <a:rPr lang="en-US" sz="2400" dirty="0"/>
              <a:t>std::</a:t>
            </a:r>
            <a:r>
              <a:rPr lang="en-US" sz="2400" dirty="0" err="1"/>
              <a:t>object_address</a:t>
            </a:r>
            <a:r>
              <a:rPr lang="en-US" sz="2400" dirty="0"/>
              <a:t> is required to compare pointers of doubtful origin, which may itself ironically introduce new UB</a:t>
            </a:r>
          </a:p>
          <a:p>
            <a:pPr lvl="1"/>
            <a:r>
              <a:rPr lang="en-US" dirty="0"/>
              <a:t>Were rebutted as impractical for compilers to implement, as well as: </a:t>
            </a:r>
          </a:p>
          <a:p>
            <a:pPr lvl="2"/>
            <a:r>
              <a:rPr lang="en-US" sz="2400" dirty="0"/>
              <a:t>Too many restrictions, making them unusable in practice</a:t>
            </a:r>
          </a:p>
          <a:p>
            <a:pPr lvl="3"/>
            <a:r>
              <a:rPr lang="en-US" sz="2400" dirty="0"/>
              <a:t>E.g. no calls to non-static member functions since this cannot consistently be proven valid</a:t>
            </a:r>
          </a:p>
          <a:p>
            <a:pPr lvl="2"/>
            <a:r>
              <a:rPr lang="en-US" sz="2400" dirty="0"/>
              <a:t>Huge effort required to adapt existing codebases </a:t>
            </a:r>
          </a:p>
          <a:p>
            <a:pPr lvl="3"/>
            <a:r>
              <a:rPr lang="en-US" sz="2400" dirty="0"/>
              <a:t>Forcing many places to default to relaxed contracts, defeating the purpose of contracts</a:t>
            </a:r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EBF09715-E609-9DB2-2A65-1FBACAA59A80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256C2A35-81CC-4088-9903-628FC5B16538}" type="slidenum">
              <a:rPr lang="LID4096" smtClean="0"/>
              <a:t>41</a:t>
            </a:fld>
            <a:endParaRPr lang="LID4096"/>
          </a:p>
        </p:txBody>
      </p:sp>
    </p:spTree>
    <p:extLst>
      <p:ext uri="{BB962C8B-B14F-4D97-AF65-F5344CB8AC3E}">
        <p14:creationId xmlns:p14="http://schemas.microsoft.com/office/powerpoint/2010/main" val="3749586569"/>
      </p:ext>
    </p:extLst>
  </p:cSld>
  <p:clrMapOvr>
    <a:masterClrMapping/>
  </p:clrMapOvr>
</p:sld>
</file>

<file path=ppt/slides/slide4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BDD1CFA4-F0D6-AB6F-A1FD-C4211CC03DF0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455E8330-9637-9BC7-E981-6932717D3716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Predicate Side Effects and UB </a:t>
            </a:r>
            <a:br>
              <a:rPr lang="en-US" dirty="0"/>
            </a:br>
            <a:r>
              <a:rPr lang="en-US" dirty="0"/>
              <a:t>– how do we convey that?</a:t>
            </a:r>
            <a:endParaRPr lang="LID4096" dirty="0"/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7B03CDE3-8630-8E86-AB62-20C21F72EE93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>
            <a:normAutofit/>
          </a:bodyPr>
          <a:lstStyle/>
          <a:p>
            <a:r>
              <a:rPr lang="en-US" sz="2400" dirty="0"/>
              <a:t>“Exploring strict contract predicates” - P3499R1</a:t>
            </a:r>
          </a:p>
          <a:p>
            <a:pPr lvl="1"/>
            <a:r>
              <a:rPr lang="en-US" dirty="0"/>
              <a:t>written over lunch break in Hagenberg (February 2025)</a:t>
            </a:r>
          </a:p>
          <a:p>
            <a:pPr lvl="1"/>
            <a:r>
              <a:rPr lang="en-US" dirty="0"/>
              <a:t>intended to show all options are being explored</a:t>
            </a:r>
          </a:p>
          <a:p>
            <a:pPr lvl="1"/>
            <a:r>
              <a:rPr lang="en-US" dirty="0"/>
              <a:t>also trying to demonstrate what strict and relaxed contracts would entail</a:t>
            </a:r>
          </a:p>
          <a:p>
            <a:pPr lvl="1"/>
            <a:r>
              <a:rPr lang="en-US" dirty="0"/>
              <a:t>concluded that lack of UB would require a practically useless subset of the language</a:t>
            </a:r>
          </a:p>
          <a:p>
            <a:r>
              <a:rPr lang="en-US" sz="2400" dirty="0"/>
              <a:t>Assuming a practical UB-free language subset could be found after all</a:t>
            </a:r>
          </a:p>
          <a:p>
            <a:pPr lvl="1"/>
            <a:r>
              <a:rPr lang="en-US" dirty="0"/>
              <a:t>Should strict CAs be the default or an explicit (opt-in)?</a:t>
            </a:r>
          </a:p>
          <a:p>
            <a:pPr lvl="1"/>
            <a:endParaRPr lang="en-US" dirty="0"/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D8502EA7-A029-5F4B-D5FC-1CEE7DA36048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256C2A35-81CC-4088-9903-628FC5B16538}" type="slidenum">
              <a:rPr lang="LID4096" smtClean="0"/>
              <a:t>42</a:t>
            </a:fld>
            <a:endParaRPr lang="LID4096"/>
          </a:p>
        </p:txBody>
      </p:sp>
    </p:spTree>
    <p:extLst>
      <p:ext uri="{BB962C8B-B14F-4D97-AF65-F5344CB8AC3E}">
        <p14:creationId xmlns:p14="http://schemas.microsoft.com/office/powerpoint/2010/main" val="1686792144"/>
      </p:ext>
    </p:extLst>
  </p:cSld>
  <p:clrMapOvr>
    <a:masterClrMapping/>
  </p:clrMapOvr>
</p:sld>
</file>

<file path=ppt/slides/slide4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44907DD1-001A-A40F-FE1F-1193D5648833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Thank You!</a:t>
            </a:r>
            <a:endParaRPr lang="LID4096" dirty="0"/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C6CA89E7-FB2D-3A01-01FD-72BFE8EDA65A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marL="0" indent="0">
              <a:buNone/>
            </a:pPr>
            <a:r>
              <a:rPr lang="en-US" dirty="0"/>
              <a:t>Let’s get in touch!</a:t>
            </a:r>
          </a:p>
          <a:p>
            <a:pPr marL="0" indent="0">
              <a:buNone/>
            </a:pPr>
            <a:r>
              <a:rPr lang="en-US" dirty="0">
                <a:hlinkClick r:id="rId2"/>
              </a:rPr>
              <a:t>andrziss@gmail.com</a:t>
            </a:r>
            <a:r>
              <a:rPr lang="en-US" dirty="0"/>
              <a:t> </a:t>
            </a:r>
          </a:p>
          <a:p>
            <a:pPr marL="0" indent="0">
              <a:buNone/>
            </a:pPr>
            <a:r>
              <a:rPr lang="en-US" dirty="0">
                <a:hlinkClick r:id="rId3"/>
              </a:rPr>
              <a:t>https://www.linkedin.com/in/andreizissu/</a:t>
            </a:r>
            <a:endParaRPr lang="en-US" dirty="0"/>
          </a:p>
          <a:p>
            <a:pPr marL="0" indent="0">
              <a:buNone/>
            </a:pPr>
            <a:endParaRPr lang="en-US" dirty="0"/>
          </a:p>
          <a:p>
            <a:pPr marL="0" indent="0">
              <a:buNone/>
            </a:pPr>
            <a:r>
              <a:rPr lang="en-US" dirty="0"/>
              <a:t>Questions?</a:t>
            </a:r>
          </a:p>
          <a:p>
            <a:pPr marL="0" indent="0">
              <a:buNone/>
            </a:pPr>
            <a:endParaRPr lang="LID4096" dirty="0"/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89A9FAE0-93EA-005C-3B75-9A3B9089F345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256C2A35-81CC-4088-9903-628FC5B16538}" type="slidenum">
              <a:rPr lang="LID4096" smtClean="0"/>
              <a:t>43</a:t>
            </a:fld>
            <a:endParaRPr lang="LID4096"/>
          </a:p>
        </p:txBody>
      </p:sp>
    </p:spTree>
    <p:extLst>
      <p:ext uri="{BB962C8B-B14F-4D97-AF65-F5344CB8AC3E}">
        <p14:creationId xmlns:p14="http://schemas.microsoft.com/office/powerpoint/2010/main" val="3029503074"/>
      </p:ext>
    </p:extLst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0E2841"/>
      </a:dk2>
      <a:lt2>
        <a:srgbClr val="E8E8E8"/>
      </a:lt2>
      <a:accent1>
        <a:srgbClr val="156082"/>
      </a:accent1>
      <a:accent2>
        <a:srgbClr val="E97132"/>
      </a:accent2>
      <a:accent3>
        <a:srgbClr val="196B24"/>
      </a:accent3>
      <a:accent4>
        <a:srgbClr val="0F9ED5"/>
      </a:accent4>
      <a:accent5>
        <a:srgbClr val="A02B93"/>
      </a:accent5>
      <a:accent6>
        <a:srgbClr val="4EA72E"/>
      </a:accent6>
      <a:hlink>
        <a:srgbClr val="467886"/>
      </a:hlink>
      <a:folHlink>
        <a:srgbClr val="96607D"/>
      </a:folHlink>
    </a:clrScheme>
    <a:fontScheme name="Office">
      <a:majorFont>
        <a:latin typeface="Aptos Display" panose="0211000402020202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Aptos" panose="0211000402020202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  <a:ln w="2540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  <a:extLst>
    <a:ext uri="{05A4C25C-085E-4340-85A3-A5531E510DB2}">
      <thm15:themeFamily xmlns:thm15="http://schemas.microsoft.com/office/thememl/2012/main" name="Office Theme" id="{2E142A2C-CD16-42D6-873A-C26D2A0506FA}" vid="{1BDDFF52-6CD6-40A5-AB3C-68EB2F1E4D0A}"/>
    </a:ext>
  </a:extLst>
</a:theme>
</file>

<file path=ppt/theme/theme2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0E2841"/>
      </a:dk2>
      <a:lt2>
        <a:srgbClr val="E8E8E8"/>
      </a:lt2>
      <a:accent1>
        <a:srgbClr val="156082"/>
      </a:accent1>
      <a:accent2>
        <a:srgbClr val="E97132"/>
      </a:accent2>
      <a:accent3>
        <a:srgbClr val="196B24"/>
      </a:accent3>
      <a:accent4>
        <a:srgbClr val="0F9ED5"/>
      </a:accent4>
      <a:accent5>
        <a:srgbClr val="A02B93"/>
      </a:accent5>
      <a:accent6>
        <a:srgbClr val="4EA72E"/>
      </a:accent6>
      <a:hlink>
        <a:srgbClr val="467886"/>
      </a:hlink>
      <a:folHlink>
        <a:srgbClr val="96607D"/>
      </a:folHlink>
    </a:clrScheme>
    <a:fontScheme name="Office">
      <a:majorFont>
        <a:latin typeface="Aptos Display" panose="0211000402020202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Aptos" panose="0211000402020202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  <a:ln w="2540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  <a:extLst>
    <a:ext uri="{05A4C25C-085E-4340-85A3-A5531E510DB2}">
      <thm15:themeFamily xmlns:thm15="http://schemas.microsoft.com/office/thememl/2012/main" name="Office Theme" id="{2E142A2C-CD16-42D6-873A-C26D2A0506FA}" vid="{1BDDFF52-6CD6-40A5-AB3C-68EB2F1E4D0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0</TotalTime>
  <Words>2674</Words>
  <Application>Microsoft Office PowerPoint</Application>
  <PresentationFormat>Widescreen</PresentationFormat>
  <Paragraphs>328</Paragraphs>
  <Slides>43</Slides>
  <Notes>27</Notes>
  <HiddenSlides>0</HiddenSlides>
  <MMClips>0</MMClips>
  <ScaleCrop>false</ScaleCrop>
  <HeadingPairs>
    <vt:vector size="6" baseType="variant">
      <vt:variant>
        <vt:lpstr>Fonts Used</vt:lpstr>
      </vt:variant>
      <vt:variant>
        <vt:i4>3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43</vt:i4>
      </vt:variant>
    </vt:vector>
  </HeadingPairs>
  <TitlesOfParts>
    <vt:vector size="47" baseType="lpstr">
      <vt:lpstr>Aptos</vt:lpstr>
      <vt:lpstr>Aptos Display</vt:lpstr>
      <vt:lpstr>Arial</vt:lpstr>
      <vt:lpstr>Office Theme</vt:lpstr>
      <vt:lpstr>PowerPoint Presentation</vt:lpstr>
      <vt:lpstr>C++ Contracts – a Meaningfully Viable Product Part II</vt:lpstr>
      <vt:lpstr>Syntactic restrictions,  and how they came to be</vt:lpstr>
      <vt:lpstr>Defaulted and Deleted Functions  – because life is far from trivial</vt:lpstr>
      <vt:lpstr>Defaulted and Deleted Functions  – because life is far from trivial</vt:lpstr>
      <vt:lpstr>Defaulted and Deleted Functions  – because life is far from trivial</vt:lpstr>
      <vt:lpstr>Defaulted and Deleted Functions  – because life is far from trivial</vt:lpstr>
      <vt:lpstr>Pointers to Functions  – can you point us to a solution?</vt:lpstr>
      <vt:lpstr>Pointers to Functions  – can you point us to a solution?</vt:lpstr>
      <vt:lpstr>Pointers to Functions  – can you point us to a solution?</vt:lpstr>
      <vt:lpstr>Pointers to Functions  – can you point us to a solution?</vt:lpstr>
      <vt:lpstr>Pointers to Functions  – can you point us to a solution?</vt:lpstr>
      <vt:lpstr>Pointers to Functions  Possible future solution – function usage types</vt:lpstr>
      <vt:lpstr>Constructors and Destructors - this and that</vt:lpstr>
      <vt:lpstr>Constructors and Destructors - this and that</vt:lpstr>
      <vt:lpstr>Semantics</vt:lpstr>
      <vt:lpstr>Objects Passed and Returned in Registers  – hey, where’s my object?</vt:lpstr>
      <vt:lpstr>Objects Passed and Returned in Registers  – hey, where’s my object?</vt:lpstr>
      <vt:lpstr>Objects Passed and Returned in Registers  – hey, where’s my object?</vt:lpstr>
      <vt:lpstr>Objects Passed and Returned in Registers  – hey, where’s my object?</vt:lpstr>
      <vt:lpstr>No Implicit Lambda Captures  – you must really mean it!</vt:lpstr>
      <vt:lpstr>No Implicit Lambda Captures  – you must really mean it!</vt:lpstr>
      <vt:lpstr>No Implicit Lambda Captures  – you must really mean it!</vt:lpstr>
      <vt:lpstr>Evaluation and Contract-Violation Handling</vt:lpstr>
      <vt:lpstr>Caller-Facing and Callee-Facing Function Contract Assertions</vt:lpstr>
      <vt:lpstr>Virtual Function Calls  – am I an interface or an implementation?</vt:lpstr>
      <vt:lpstr>Virtual Function Calls  – am I an interface or an implementation?</vt:lpstr>
      <vt:lpstr>Virtual Function Calls  – am I an interface or an implementation?</vt:lpstr>
      <vt:lpstr>Virtual Function Calls  – am I an interface or an implementation?</vt:lpstr>
      <vt:lpstr>Virtual Function Calls  – am I an interface or an implementation?</vt:lpstr>
      <vt:lpstr>Compile-Time Evaluation  – down to the very core</vt:lpstr>
      <vt:lpstr>Compile-Time Evaluation  – down to the very core</vt:lpstr>
      <vt:lpstr>Coroutines  – come see us move the mighty consts!</vt:lpstr>
      <vt:lpstr>Coroutines  – come see us move the mighty consts!</vt:lpstr>
      <vt:lpstr>Coroutines  – come see us move the mighty consts!</vt:lpstr>
      <vt:lpstr>Coroutines  – come see us move the mighty consts!</vt:lpstr>
      <vt:lpstr>Undefined Behavior During Contract Checking  – because all you really wanted was to blow up the universe!</vt:lpstr>
      <vt:lpstr>Predicate Side Effects and UB  – how do we convey that?</vt:lpstr>
      <vt:lpstr>Predicate Side Effects and UB  – how do we convey that?</vt:lpstr>
      <vt:lpstr>Predicate Side Effects and UB  – how do we convey that?</vt:lpstr>
      <vt:lpstr>Predicate Side Effects and UB  – how do we convey that?</vt:lpstr>
      <vt:lpstr>Predicate Side Effects and UB  – how do we convey that?</vt:lpstr>
      <vt:lpstr>Thank You!</vt:lpstr>
    </vt:vector>
  </TitlesOfParts>
  <Company/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creator/>
  <cp:lastModifiedBy/>
  <cp:revision>1</cp:revision>
  <dcterms:created xsi:type="dcterms:W3CDTF">2026-03-13T16:14:54Z</dcterms:created>
  <dcterms:modified xsi:type="dcterms:W3CDTF">2026-03-13T16:15:20Z</dcterms:modified>
</cp:coreProperties>
</file>