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58"/>
  </p:notesMasterIdLst>
  <p:sldIdLst>
    <p:sldId id="256" r:id="rId2"/>
    <p:sldId id="273" r:id="rId3"/>
    <p:sldId id="276" r:id="rId4"/>
    <p:sldId id="274" r:id="rId5"/>
    <p:sldId id="275" r:id="rId6"/>
    <p:sldId id="261" r:id="rId7"/>
    <p:sldId id="303" r:id="rId8"/>
    <p:sldId id="313" r:id="rId9"/>
    <p:sldId id="277" r:id="rId10"/>
    <p:sldId id="281" r:id="rId11"/>
    <p:sldId id="291" r:id="rId12"/>
    <p:sldId id="292" r:id="rId13"/>
    <p:sldId id="293" r:id="rId14"/>
    <p:sldId id="262" r:id="rId15"/>
    <p:sldId id="263" r:id="rId16"/>
    <p:sldId id="294" r:id="rId17"/>
    <p:sldId id="283" r:id="rId18"/>
    <p:sldId id="295" r:id="rId19"/>
    <p:sldId id="296" r:id="rId20"/>
    <p:sldId id="297" r:id="rId21"/>
    <p:sldId id="300" r:id="rId22"/>
    <p:sldId id="299" r:id="rId23"/>
    <p:sldId id="307" r:id="rId24"/>
    <p:sldId id="309" r:id="rId25"/>
    <p:sldId id="334" r:id="rId26"/>
    <p:sldId id="301" r:id="rId27"/>
    <p:sldId id="302" r:id="rId28"/>
    <p:sldId id="306" r:id="rId29"/>
    <p:sldId id="320" r:id="rId30"/>
    <p:sldId id="321" r:id="rId31"/>
    <p:sldId id="310" r:id="rId32"/>
    <p:sldId id="288" r:id="rId33"/>
    <p:sldId id="314" r:id="rId34"/>
    <p:sldId id="315" r:id="rId35"/>
    <p:sldId id="324" r:id="rId36"/>
    <p:sldId id="326" r:id="rId37"/>
    <p:sldId id="327" r:id="rId38"/>
    <p:sldId id="328" r:id="rId39"/>
    <p:sldId id="330" r:id="rId40"/>
    <p:sldId id="329" r:id="rId41"/>
    <p:sldId id="333" r:id="rId42"/>
    <p:sldId id="332" r:id="rId43"/>
    <p:sldId id="335" r:id="rId44"/>
    <p:sldId id="268" r:id="rId45"/>
    <p:sldId id="339" r:id="rId46"/>
    <p:sldId id="340" r:id="rId47"/>
    <p:sldId id="343" r:id="rId48"/>
    <p:sldId id="336" r:id="rId49"/>
    <p:sldId id="341" r:id="rId50"/>
    <p:sldId id="342" r:id="rId51"/>
    <p:sldId id="318" r:id="rId52"/>
    <p:sldId id="331" r:id="rId53"/>
    <p:sldId id="337" r:id="rId54"/>
    <p:sldId id="322" r:id="rId55"/>
    <p:sldId id="319" r:id="rId56"/>
    <p:sldId id="317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AE9A6-0C01-4E7D-8B8C-B74F54EC9F45}" v="1" dt="2026-03-27T17:53:03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31" autoAdjust="0"/>
    <p:restoredTop sz="69128" autoAdjust="0"/>
  </p:normalViewPr>
  <p:slideViewPr>
    <p:cSldViewPr snapToGrid="0">
      <p:cViewPr varScale="1">
        <p:scale>
          <a:sx n="76" d="100"/>
          <a:sy n="76" d="100"/>
        </p:scale>
        <p:origin x="1434" y="9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0352F-ED6F-4AD4-AA95-EFE2105AA50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31CD3-26C0-4DF2-A8AC-23D8E4B3D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2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1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00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1E86-1130-F57B-4B53-75F0014B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EAB6A-7732-8D5B-70AB-EFB5793F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C1F69-033A-0131-5E25-87B491E1C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854AD-71BB-2427-47C2-856312220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4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FC66E-EB45-4770-EF75-C3FBC81E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6D2DF-56ED-6F5B-2F31-A342EDA75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FD28D-94BF-D1B2-6031-E8FB40DE7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E2A0C-DB71-D6DF-CB3C-701E177E8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10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593B-1DB9-59B3-085C-69991C0B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4E2B5-02E7-82CB-FC39-0FA9F8D51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399DD-2407-0BCC-1287-7642DC552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99A21-DF80-1152-D8D9-1AD563930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02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26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725B-A300-26D4-6B2E-02411E4A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F5575-00BA-5D95-5F96-AE17BA2F6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C5095-68F9-6CE5-AE4B-A830F63EB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DE25C-5AD8-BF5C-3116-C958B8F21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19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45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41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DA51-704F-7F29-321E-42DB98A9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655C4-5D8B-E376-A08A-B8B77749F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680A9-C95D-A561-0B08-70858F185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8066D-D6A3-5054-2A90-DCF757995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34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016A-19AC-8B8A-2CA1-960A5BEBB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92CC8-0A7A-DC6A-A186-6D6D85F5C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EFF39-8873-5FB8-CDE1-7C3DA0B5F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52356-7B5B-5A78-048D-839E02BA9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01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763C-E6D5-BDE1-CA5B-6CA412FC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9518E-7C2A-C5C4-073D-3803E66CC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B9DEE-9BAA-4182-26CC-F7844BCC7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B33B4-8251-5478-E38F-071E0F63F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26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83D8-6B69-E9D8-F7CF-36F13AC01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1F997-20F9-6F2F-714D-52A79AB69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4861D-CFD7-EF96-31EC-E819EF0CD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1C9B0-E1B1-0B08-ED8B-EA6B4282F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22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2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43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34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67D6A-E4A3-E0E8-DFB8-497BB116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26F8E-52B6-9318-48C2-CC559174F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5D55B-168B-2C9F-4BB5-7B4F8E65F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019FA-C2C2-179B-203D-375408285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77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513BC-C2C6-7A90-0AAC-07AAF3D8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DDA46-302E-60AB-31AF-A6296C7BF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2CE36-888A-F02B-6EC9-D865E793F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4311D-BA17-3151-725E-288E0F224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434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03B25-DCD0-38D9-9538-9DD1F4E5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9CCA3-A447-289F-9606-6407EF5DB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F2818-4BFD-CBC9-00A8-34793991F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570E2-1E7D-8C35-9AFD-FFE61562F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754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A82C-14E0-F010-C4E0-BD93CFF8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60636-6F0B-2906-BDEB-8C50676DD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1153E-9882-6D91-0079-BB9F4E4C4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6595D-E584-7B58-44D1-1ECCFF971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69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C317-E38F-4CDF-CF91-CF4B89026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74164-67EC-D841-3777-50FCA3DA5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53E8E-F4F6-7A1D-54A8-6EAC9FCC2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FC219-340C-9594-BF4D-BAE1DC210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058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0681-3715-54CC-160D-D989C3E7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136BE-DAE0-77F0-CF63-F84CFFBFB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7E254-DE51-6E58-A95D-812153374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EE54A-9400-C176-5F72-A4009FF0E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426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2419-3446-6605-1589-A9383E28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5AFDB-3925-F426-3D03-75C846FDD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8E93F-5053-0AB7-2215-EA1C63B47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FC94E-AE48-4A0B-F421-C7DA257BD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52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62E6-9543-AF10-74BC-0450314C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B1C13-386C-9070-05CA-C77D0827D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60636-FFBE-7C79-9644-33D07EBB6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E968B-51AD-F54D-2610-DD0C30F82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457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62E6-9543-AF10-74BC-0450314C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B1C13-386C-9070-05CA-C77D0827D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60636-FFBE-7C79-9644-33D07EBB6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E968B-51AD-F54D-2610-DD0C30F82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35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84D7-5473-6AEA-D423-61D72901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219CA-332F-68DC-079C-C1467856B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BD37B-3AA8-8D32-9223-10E80542C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4280B-9831-F985-7180-D834C1687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362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EEA9-7D85-2BF4-EC27-66710B53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4BD5C-DABA-846E-6DBF-C7BF7F2DB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B4424-C7C6-968F-974E-494F26FDD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3FC9F-7BE1-91A3-AFFD-49BBC91C4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83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0C29C-5FF9-1BD5-EDD3-4D7CC68B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9BFE-421C-9C70-9E64-F420D39F7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A5763-9999-2206-6A07-20A7771AF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085F3-B0F6-7AA8-2081-013409589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774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C6CCA-9169-301E-9363-B7BCD1F2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2582B-2234-7EDD-E779-02F771C00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A6F33-B43F-B853-C206-0E9FBD243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28A31-D566-3B4A-1B37-5E120E4F9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90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246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01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961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A357-542D-6644-E540-3A3E2774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39220-14BE-40BF-44A8-B98D4D2D9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C3211-B7F1-32D2-121E-EE0285D8D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9CCC5-75B5-B6D1-7ED4-E544F8767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916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29B41-88F7-366E-F2A3-4CAB5E95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4F650-329E-96F5-96A7-60217B7DB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AD853-C6E3-55B0-0EDA-A7C9A93CA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5BDC-A429-1049-D564-28BB9198D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299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0A113-D2DD-9D60-BFD2-3F01883C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E99F4-167E-0B85-3B7B-BAFE98C77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D044C-8E18-855A-5F10-6A8E3285E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4E87C-2EB0-0076-A9FF-44EC3F781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189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727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A050-52B7-6DF0-8FD1-F81939B1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2FAF5-8571-B8FB-909E-E4EC39575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E7CE8-FCE8-3445-AA17-BE5C14BFA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8E350-B772-C0E7-7458-0E0A3AD9A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254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4FB3-6968-4942-BCAE-7C1394C2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C128E-5289-12E8-0ED6-8510424AA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E5D16-9930-6674-2E7E-36FD1D187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37B09-ED4B-BA0E-4ACA-185991B75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48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2A011-B774-4E6A-4E4F-00E3252D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6A331-0BF5-460C-50BE-D92BB755F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69A37-3550-4DA7-4CA2-B2BD353D0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736A4-8CF9-A39F-B14F-5D5421514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894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532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707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BF89-3520-7A88-65BD-669A024C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904D6-E9B0-2E00-C275-4827C3E13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7BDEB-BECA-B930-AE48-FA659EAF4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AB8E1-8322-0A87-E60C-E497777A0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978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0FE1-0CE5-25F0-CBEC-5D7195AB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E1005-69FB-D120-EC32-1CBAF6EA6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2D8AB-6FD7-A478-4C1E-89E2C92B1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738EF-B1E4-199A-2277-A34F29225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079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560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2486-351F-75ED-E241-EF17B725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60D66-3A24-2B69-109E-204F27483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6F2E7-A333-63E1-6FDD-728698FC5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0BF65-B902-6669-0C10-14090892E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961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924F1-7FD9-54D9-063D-DB47E295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8871F-9534-CA89-E2E8-60FA621B4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BAD19-A55B-E049-BC19-72901C490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0CE5E-2642-64A4-D6BC-A807291FA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08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2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214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49B6-E21D-8B3A-0CC2-A4B0718F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5E919-45BD-8004-070E-382BD5034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78914-85F0-E562-D900-0D4994338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87675-9768-FBB6-C44A-D8F2B2FDD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699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894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144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925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952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1CD3-26C0-4DF2-A8AC-23D8E4B3D01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11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5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8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02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4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1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35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97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1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1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C2E30-18C1-43EB-91B3-53971BB0C358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1B715-7B1A-466F-BF35-E3F7208B6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31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no-entry-traffic-sign-sign-160681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no-entry-traffic-sign-sign-160681/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E89C-EE89-AFE0-4634-6E8E31F118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Concurrency – </a:t>
            </a:r>
            <a:br>
              <a:rPr lang="en-US"/>
            </a:br>
            <a:r>
              <a:rPr lang="en-US"/>
              <a:t>All the way down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2BA21-E8C8-E571-C606-BF5113C3F4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Ofek Shilon</a:t>
            </a:r>
          </a:p>
          <a:p>
            <a:r>
              <a:rPr lang="en-US"/>
              <a:t>C++Online 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AA8A1-7F62-F6F0-4B87-5A87F22AF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2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4028-DCB5-FC17-522C-150A15EAB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AC50-6EF5-6334-6782-1012700D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1CAEAF-8B65-1974-0FDD-6DE6BA177550}"/>
              </a:ext>
            </a:extLst>
          </p:cNvPr>
          <p:cNvSpPr/>
          <p:nvPr/>
        </p:nvSpPr>
        <p:spPr>
          <a:xfrm>
            <a:off x="938646" y="3266282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Store1: 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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85B32-E7B9-4AB8-68E2-74D15FDFB07E}"/>
              </a:ext>
            </a:extLst>
          </p:cNvPr>
          <p:cNvSpPr/>
          <p:nvPr/>
        </p:nvSpPr>
        <p:spPr>
          <a:xfrm>
            <a:off x="5881254" y="3270250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 ready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A78165-E377-FF3A-A3A5-C541DCD8CB92}"/>
              </a:ext>
            </a:extLst>
          </p:cNvPr>
          <p:cNvSpPr/>
          <p:nvPr/>
        </p:nvSpPr>
        <p:spPr>
          <a:xfrm>
            <a:off x="938646" y="3926682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Store2: TRUE 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E2DD0-DD6D-5530-1CD1-890D1C0DCA5E}"/>
              </a:ext>
            </a:extLst>
          </p:cNvPr>
          <p:cNvSpPr/>
          <p:nvPr/>
        </p:nvSpPr>
        <p:spPr>
          <a:xfrm>
            <a:off x="5881254" y="4624387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Load2:   reg2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22ED29-4A99-B9F4-D85C-1E7E47DD3FE2}"/>
              </a:ext>
            </a:extLst>
          </p:cNvPr>
          <p:cNvSpPr/>
          <p:nvPr/>
        </p:nvSpPr>
        <p:spPr>
          <a:xfrm>
            <a:off x="5881253" y="3900487"/>
            <a:ext cx="5347855" cy="774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Branch1: if !reg1 </a:t>
            </a:r>
            <a:r>
              <a:rPr lang="en-US" sz="2400" dirty="0" err="1">
                <a:latin typeface="Consolas" panose="020B0609020204030204" pitchFamily="49" charset="0"/>
              </a:rPr>
              <a:t>goto</a:t>
            </a:r>
            <a:r>
              <a:rPr lang="en-US" sz="2400" dirty="0">
                <a:latin typeface="Consolas" panose="020B0609020204030204" pitchFamily="49" charset="0"/>
              </a:rPr>
              <a:t> Load1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B03FA1-C083-9288-E365-518208C6856F}"/>
              </a:ext>
            </a:extLst>
          </p:cNvPr>
          <p:cNvSpPr/>
          <p:nvPr/>
        </p:nvSpPr>
        <p:spPr>
          <a:xfrm>
            <a:off x="938646" y="2605882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734CC-C7BB-CD73-32FD-417B5ABBA8DB}"/>
              </a:ext>
            </a:extLst>
          </p:cNvPr>
          <p:cNvSpPr/>
          <p:nvPr/>
        </p:nvSpPr>
        <p:spPr>
          <a:xfrm>
            <a:off x="5881254" y="2605882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9CD7C6-11A7-F892-53A1-73D76E544109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63098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0E188-A524-77B3-49B2-7F24D1F3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CC94-E7D4-A586-BF9F-0DD2C5BF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Consistency (SC)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C2B7B-AD08-BBDE-DAB4-E376DB0E50B2}"/>
              </a:ext>
            </a:extLst>
          </p:cNvPr>
          <p:cNvSpPr/>
          <p:nvPr/>
        </p:nvSpPr>
        <p:spPr>
          <a:xfrm>
            <a:off x="938646" y="3266282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Store1: 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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F38375-6761-F289-AEDD-C3DA725CF37D}"/>
              </a:ext>
            </a:extLst>
          </p:cNvPr>
          <p:cNvSpPr/>
          <p:nvPr/>
        </p:nvSpPr>
        <p:spPr>
          <a:xfrm>
            <a:off x="5881254" y="3270250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 ready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1B956-2DA2-0D21-2E30-9F2615955B10}"/>
              </a:ext>
            </a:extLst>
          </p:cNvPr>
          <p:cNvSpPr/>
          <p:nvPr/>
        </p:nvSpPr>
        <p:spPr>
          <a:xfrm>
            <a:off x="938646" y="3926682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Store2: TRUE 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ED09AD-7968-208B-4597-313A69150B71}"/>
              </a:ext>
            </a:extLst>
          </p:cNvPr>
          <p:cNvSpPr/>
          <p:nvPr/>
        </p:nvSpPr>
        <p:spPr>
          <a:xfrm>
            <a:off x="5881254" y="4624387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Load2:   reg2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31510-C21C-A2F5-0136-4C4EC7DFF13E}"/>
              </a:ext>
            </a:extLst>
          </p:cNvPr>
          <p:cNvSpPr/>
          <p:nvPr/>
        </p:nvSpPr>
        <p:spPr>
          <a:xfrm>
            <a:off x="5881253" y="3900487"/>
            <a:ext cx="5347855" cy="774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Branch1: if !reg1 </a:t>
            </a:r>
            <a:r>
              <a:rPr lang="en-US" sz="2400" dirty="0" err="1">
                <a:latin typeface="Consolas" panose="020B0609020204030204" pitchFamily="49" charset="0"/>
              </a:rPr>
              <a:t>goto</a:t>
            </a:r>
            <a:r>
              <a:rPr lang="en-US" sz="2400" dirty="0">
                <a:latin typeface="Consolas" panose="020B0609020204030204" pitchFamily="49" charset="0"/>
              </a:rPr>
              <a:t> Load1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C2D209-7F63-896B-E74E-4316BA6C4CEB}"/>
              </a:ext>
            </a:extLst>
          </p:cNvPr>
          <p:cNvSpPr/>
          <p:nvPr/>
        </p:nvSpPr>
        <p:spPr>
          <a:xfrm>
            <a:off x="938646" y="2605882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B1FA6F-A7D2-DA9C-6D89-6C547F31B02F}"/>
              </a:ext>
            </a:extLst>
          </p:cNvPr>
          <p:cNvSpPr/>
          <p:nvPr/>
        </p:nvSpPr>
        <p:spPr>
          <a:xfrm>
            <a:off x="5881254" y="2605882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E5B04B-EAAD-07B4-1C04-8C22FF86061B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66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AF9BE-CC71-8CDA-CACD-02F9FBDE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0FC4-1333-AA35-41B1-97E859C2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Consistency (SC)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DA85A-95DF-BA53-560C-10602A546B7A}"/>
              </a:ext>
            </a:extLst>
          </p:cNvPr>
          <p:cNvSpPr/>
          <p:nvPr/>
        </p:nvSpPr>
        <p:spPr>
          <a:xfrm>
            <a:off x="938646" y="1836737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Store1: 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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225E2-5BB3-933B-3D10-4B6037A7FB91}"/>
              </a:ext>
            </a:extLst>
          </p:cNvPr>
          <p:cNvSpPr/>
          <p:nvPr/>
        </p:nvSpPr>
        <p:spPr>
          <a:xfrm>
            <a:off x="5881254" y="3270250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 ready=true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7E1B3-B14B-4A8A-82C7-046C62AE127B}"/>
              </a:ext>
            </a:extLst>
          </p:cNvPr>
          <p:cNvSpPr/>
          <p:nvPr/>
        </p:nvSpPr>
        <p:spPr>
          <a:xfrm>
            <a:off x="938646" y="2643186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Store2: TRUE 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19ED06-766B-E912-5A32-67CAB5DE5CC3}"/>
              </a:ext>
            </a:extLst>
          </p:cNvPr>
          <p:cNvSpPr/>
          <p:nvPr/>
        </p:nvSpPr>
        <p:spPr>
          <a:xfrm>
            <a:off x="5881254" y="5305424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Load2:   reg2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152A69-CD41-E7D9-EABE-3CC073221637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31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0CA63-8F65-0933-6755-27263044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C8B3-FB0E-50D9-F746-5A89B02B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Consistency (SC)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172A4E-FD28-5F2E-A20C-83982337A4D3}"/>
              </a:ext>
            </a:extLst>
          </p:cNvPr>
          <p:cNvSpPr/>
          <p:nvPr/>
        </p:nvSpPr>
        <p:spPr>
          <a:xfrm>
            <a:off x="938646" y="2197100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Store1: 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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A2360-B715-3C01-035C-B5C8ACB35E14}"/>
              </a:ext>
            </a:extLst>
          </p:cNvPr>
          <p:cNvSpPr/>
          <p:nvPr/>
        </p:nvSpPr>
        <p:spPr>
          <a:xfrm>
            <a:off x="5881254" y="1762919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 ready=false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C928A-0AE3-00CE-8CB8-D0C1C4697095}"/>
              </a:ext>
            </a:extLst>
          </p:cNvPr>
          <p:cNvSpPr/>
          <p:nvPr/>
        </p:nvSpPr>
        <p:spPr>
          <a:xfrm>
            <a:off x="938646" y="3627438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Store2: TRUE 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8050FD-F0D8-C75B-DD1E-C43C0612A9A3}"/>
              </a:ext>
            </a:extLst>
          </p:cNvPr>
          <p:cNvSpPr/>
          <p:nvPr/>
        </p:nvSpPr>
        <p:spPr>
          <a:xfrm>
            <a:off x="5881254" y="5251450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Load2:   reg2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06F1CA-A56B-AAA7-FCA7-C5A3864558E3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2894B9B-C25E-8147-B587-0830CC6E9FA0}"/>
              </a:ext>
            </a:extLst>
          </p:cNvPr>
          <p:cNvSpPr/>
          <p:nvPr/>
        </p:nvSpPr>
        <p:spPr>
          <a:xfrm>
            <a:off x="5881254" y="3421063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 ready=false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8CA13B-02DE-A212-59E6-7198EF4F6AE3}"/>
              </a:ext>
            </a:extLst>
          </p:cNvPr>
          <p:cNvSpPr/>
          <p:nvPr/>
        </p:nvSpPr>
        <p:spPr>
          <a:xfrm>
            <a:off x="5881254" y="2585641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 ready=false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481E51-11B7-6191-A9DA-DA5F9A9C090C}"/>
              </a:ext>
            </a:extLst>
          </p:cNvPr>
          <p:cNvSpPr/>
          <p:nvPr/>
        </p:nvSpPr>
        <p:spPr>
          <a:xfrm>
            <a:off x="5881254" y="4256485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 ready=true</a:t>
            </a:r>
          </a:p>
        </p:txBody>
      </p:sp>
    </p:spTree>
    <p:extLst>
      <p:ext uri="{BB962C8B-B14F-4D97-AF65-F5344CB8AC3E}">
        <p14:creationId xmlns:p14="http://schemas.microsoft.com/office/powerpoint/2010/main" val="2697032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751421C-185A-D17C-01D0-5C56AF87CAFE}"/>
              </a:ext>
            </a:extLst>
          </p:cNvPr>
          <p:cNvSpPr/>
          <p:nvPr/>
        </p:nvSpPr>
        <p:spPr>
          <a:xfrm>
            <a:off x="3471718" y="1819565"/>
            <a:ext cx="4572000" cy="3180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B86FE-590A-63EC-F9CA-0A3743B3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System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F4221-F9B1-7407-C8AA-37B2015404A0}"/>
              </a:ext>
            </a:extLst>
          </p:cNvPr>
          <p:cNvSpPr txBox="1"/>
          <p:nvPr/>
        </p:nvSpPr>
        <p:spPr>
          <a:xfrm>
            <a:off x="4107124" y="5461928"/>
            <a:ext cx="888592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08C8D-06FA-6A9C-D942-2F4A19783D56}"/>
              </a:ext>
            </a:extLst>
          </p:cNvPr>
          <p:cNvSpPr txBox="1"/>
          <p:nvPr/>
        </p:nvSpPr>
        <p:spPr>
          <a:xfrm>
            <a:off x="6462399" y="5461928"/>
            <a:ext cx="888592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C05AF-9A7E-13F5-FBAC-59C99D066813}"/>
              </a:ext>
            </a:extLst>
          </p:cNvPr>
          <p:cNvSpPr txBox="1"/>
          <p:nvPr/>
        </p:nvSpPr>
        <p:spPr>
          <a:xfrm>
            <a:off x="3700726" y="1987041"/>
            <a:ext cx="4084374" cy="46166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Main 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293C9-E9D1-1A0A-2BCD-6A48BDD7A816}"/>
              </a:ext>
            </a:extLst>
          </p:cNvPr>
          <p:cNvSpPr txBox="1"/>
          <p:nvPr/>
        </p:nvSpPr>
        <p:spPr>
          <a:xfrm>
            <a:off x="3700726" y="2762895"/>
            <a:ext cx="4084374" cy="46166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L2/L3: Shared Caches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AD82F-E167-6443-6347-A8DE012E0E47}"/>
              </a:ext>
            </a:extLst>
          </p:cNvPr>
          <p:cNvSpPr txBox="1"/>
          <p:nvPr/>
        </p:nvSpPr>
        <p:spPr>
          <a:xfrm>
            <a:off x="3857743" y="3538749"/>
            <a:ext cx="1387355" cy="120032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L1:</a:t>
            </a:r>
          </a:p>
          <a:p>
            <a:pPr algn="ctr"/>
            <a:r>
              <a:rPr lang="en-US" sz="2400" dirty="0"/>
              <a:t>Private Cache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EAAD8-0CAA-B9FC-727C-BE4311E5EB5E}"/>
              </a:ext>
            </a:extLst>
          </p:cNvPr>
          <p:cNvSpPr txBox="1"/>
          <p:nvPr/>
        </p:nvSpPr>
        <p:spPr>
          <a:xfrm>
            <a:off x="6213017" y="3538749"/>
            <a:ext cx="1387356" cy="120032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L1: Private Cache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C7948A-3FF7-38D7-8ADC-AC7DD0D6496C}"/>
              </a:ext>
            </a:extLst>
          </p:cNvPr>
          <p:cNvCxnSpPr>
            <a:stCxn id="4" idx="0"/>
            <a:endCxn id="9" idx="2"/>
          </p:cNvCxnSpPr>
          <p:nvPr/>
        </p:nvCxnSpPr>
        <p:spPr>
          <a:xfrm flipV="1">
            <a:off x="4551420" y="4739078"/>
            <a:ext cx="1" cy="72285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5CAA61-CC5A-96F5-06EE-2858590D8B95}"/>
              </a:ext>
            </a:extLst>
          </p:cNvPr>
          <p:cNvCxnSpPr>
            <a:cxnSpLocks/>
            <a:stCxn id="6" idx="0"/>
            <a:endCxn id="10" idx="2"/>
          </p:cNvCxnSpPr>
          <p:nvPr/>
        </p:nvCxnSpPr>
        <p:spPr>
          <a:xfrm flipV="1">
            <a:off x="6906695" y="4739078"/>
            <a:ext cx="0" cy="72285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7DB9E2-D0B6-C084-9A66-97AA28D72049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6906695" y="3224560"/>
            <a:ext cx="0" cy="314189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592DD0-3A13-1653-04E2-42AC415B397B}"/>
              </a:ext>
            </a:extLst>
          </p:cNvPr>
          <p:cNvCxnSpPr>
            <a:cxnSpLocks/>
          </p:cNvCxnSpPr>
          <p:nvPr/>
        </p:nvCxnSpPr>
        <p:spPr>
          <a:xfrm flipV="1">
            <a:off x="4504288" y="3224560"/>
            <a:ext cx="0" cy="314189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E2228A-D90A-4AAE-E7C0-D1A0ECCAD741}"/>
              </a:ext>
            </a:extLst>
          </p:cNvPr>
          <p:cNvCxnSpPr>
            <a:cxnSpLocks/>
          </p:cNvCxnSpPr>
          <p:nvPr/>
        </p:nvCxnSpPr>
        <p:spPr>
          <a:xfrm flipV="1">
            <a:off x="5759483" y="2448706"/>
            <a:ext cx="0" cy="314189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05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061C-0C61-4307-6D5B-6E12C392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E773AFB-7599-3AA2-D29F-45BA92B7EA8E}"/>
              </a:ext>
            </a:extLst>
          </p:cNvPr>
          <p:cNvSpPr/>
          <p:nvPr/>
        </p:nvSpPr>
        <p:spPr>
          <a:xfrm>
            <a:off x="3471718" y="1819565"/>
            <a:ext cx="4572000" cy="31806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Caches + Memory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6E46F-E73E-B73A-FA3A-3810BFE9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System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4DDAF-1C9F-4BD6-58BD-8E1E9F3393B4}"/>
              </a:ext>
            </a:extLst>
          </p:cNvPr>
          <p:cNvSpPr txBox="1"/>
          <p:nvPr/>
        </p:nvSpPr>
        <p:spPr>
          <a:xfrm>
            <a:off x="4107124" y="5461928"/>
            <a:ext cx="888592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F6D49-85AA-CB06-DD7A-9BD26B1A0368}"/>
              </a:ext>
            </a:extLst>
          </p:cNvPr>
          <p:cNvSpPr txBox="1"/>
          <p:nvPr/>
        </p:nvSpPr>
        <p:spPr>
          <a:xfrm>
            <a:off x="6462399" y="5461928"/>
            <a:ext cx="888592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Core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74D059-DDF7-2439-AC23-0D1D3E375BB7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551420" y="4739078"/>
            <a:ext cx="1" cy="72285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F4085B-8DFC-EC00-99BC-D3B8D5E8AD9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906695" y="4739078"/>
            <a:ext cx="0" cy="72285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88323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EB94FB-4BD3-A540-E7DC-3D8776B540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Hardware Optimizations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467ADD4-EB47-9063-72DF-7A1DE4D04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That mess with perceived order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310005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6956-85FC-D0D9-5B8C-82534D57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6BE7-9E9B-4F9D-BC5D-78BDF3C2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#1: FIFO write buffers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BE378-7D06-654A-C6D4-400D4513958B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215469-BD7E-B51C-34A0-0F1A7ACAB999}"/>
              </a:ext>
            </a:extLst>
          </p:cNvPr>
          <p:cNvSpPr txBox="1"/>
          <p:nvPr/>
        </p:nvSpPr>
        <p:spPr>
          <a:xfrm>
            <a:off x="3998797" y="5231159"/>
            <a:ext cx="4274634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D01853CE-BA6D-9207-B40A-10FEBDB90C52}"/>
              </a:ext>
            </a:extLst>
          </p:cNvPr>
          <p:cNvSpPr/>
          <p:nvPr/>
        </p:nvSpPr>
        <p:spPr>
          <a:xfrm>
            <a:off x="4141735" y="2308303"/>
            <a:ext cx="4131696" cy="292285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D675D-42CB-6AA4-A9CC-147A3DA448F2}"/>
              </a:ext>
            </a:extLst>
          </p:cNvPr>
          <p:cNvSpPr/>
          <p:nvPr/>
        </p:nvSpPr>
        <p:spPr>
          <a:xfrm>
            <a:off x="5175630" y="5099004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  <a:r>
              <a:rPr lang="en-US" dirty="0">
                <a:sym typeface="Wingdings" panose="05000000000000000000" pitchFamily="2" charset="2"/>
              </a:rPr>
              <a:t> NEW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3C716-D91A-BE78-51A0-4FB5E3B6B8A3}"/>
              </a:ext>
            </a:extLst>
          </p:cNvPr>
          <p:cNvSpPr txBox="1"/>
          <p:nvPr/>
        </p:nvSpPr>
        <p:spPr>
          <a:xfrm>
            <a:off x="5649529" y="3429000"/>
            <a:ext cx="13698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Write </a:t>
            </a:r>
            <a:br>
              <a:rPr lang="en-US" sz="3200" dirty="0"/>
            </a:br>
            <a:r>
              <a:rPr lang="en-US" sz="3200" dirty="0"/>
              <a:t>buffer</a:t>
            </a:r>
            <a:endParaRPr lang="LID4096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0691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4.58333E-6 -0.45694 " pathEditMode="relative" rAng="0" ptsTypes="AA">
                                      <p:cBhvr>
                                        <p:cTn id="16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9F85-620B-AD26-C1B6-816A9729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692CE6-721A-415B-2E29-98189891EB62}"/>
              </a:ext>
            </a:extLst>
          </p:cNvPr>
          <p:cNvCxnSpPr/>
          <p:nvPr/>
        </p:nvCxnSpPr>
        <p:spPr>
          <a:xfrm flipV="1">
            <a:off x="8218449" y="2120923"/>
            <a:ext cx="0" cy="3126961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DA9AFA1-A6C7-0873-E8D5-EB2E7A42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#1: FIFO write buffers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8388E0-C0E8-5C80-02DE-ED86AB3AE5F3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57ED1-D3FE-C4FF-06DF-D183E7CDEEE8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241ACB5C-6B9F-048F-52C7-228CCD2D294B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E0E2A1-57B0-C276-2F0B-5DEADDD28760}"/>
              </a:ext>
            </a:extLst>
          </p:cNvPr>
          <p:cNvSpPr/>
          <p:nvPr/>
        </p:nvSpPr>
        <p:spPr>
          <a:xfrm>
            <a:off x="2497873" y="4740828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  <a:r>
              <a:rPr lang="en-US" dirty="0">
                <a:sym typeface="Wingdings" panose="05000000000000000000" pitchFamily="2" charset="2"/>
              </a:rPr>
              <a:t> NEW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EFF0C-8017-8232-641C-B46B5066D513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FC28B8-C1ED-363F-4111-623E399EF472}"/>
              </a:ext>
            </a:extLst>
          </p:cNvPr>
          <p:cNvSpPr txBox="1"/>
          <p:nvPr/>
        </p:nvSpPr>
        <p:spPr>
          <a:xfrm>
            <a:off x="2497873" y="6233532"/>
            <a:ext cx="1126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   </a:t>
            </a:r>
            <a:endParaRPr lang="LID4096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41D41-0F80-1087-3C48-332DE35EDF5E}"/>
              </a:ext>
            </a:extLst>
          </p:cNvPr>
          <p:cNvSpPr txBox="1"/>
          <p:nvPr/>
        </p:nvSpPr>
        <p:spPr>
          <a:xfrm>
            <a:off x="7482468" y="6111119"/>
            <a:ext cx="108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</a:t>
            </a:r>
            <a:endParaRPr lang="LID4096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BBDA7-3406-38E4-BDE1-E92B51F47935}"/>
              </a:ext>
            </a:extLst>
          </p:cNvPr>
          <p:cNvSpPr txBox="1"/>
          <p:nvPr/>
        </p:nvSpPr>
        <p:spPr>
          <a:xfrm>
            <a:off x="3730083" y="6233532"/>
            <a:ext cx="1126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NEW</a:t>
            </a:r>
            <a:endParaRPr lang="LID4096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E0D14-86D5-F18F-B9B9-522DB3348699}"/>
              </a:ext>
            </a:extLst>
          </p:cNvPr>
          <p:cNvSpPr txBox="1"/>
          <p:nvPr/>
        </p:nvSpPr>
        <p:spPr>
          <a:xfrm>
            <a:off x="8714678" y="6111119"/>
            <a:ext cx="108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OLD</a:t>
            </a:r>
            <a:endParaRPr lang="LID4096" sz="2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659274-1597-E1F6-23D7-4551B0510432}"/>
              </a:ext>
            </a:extLst>
          </p:cNvPr>
          <p:cNvCxnSpPr/>
          <p:nvPr/>
        </p:nvCxnSpPr>
        <p:spPr>
          <a:xfrm>
            <a:off x="8614851" y="2181019"/>
            <a:ext cx="0" cy="300677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46014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-3.125E-6 -0.15348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DAFF8-87BE-1A1F-6AE2-99A9448B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2AEF-2EAC-D53B-EC77-29DD19DD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#1: FIFO write buffers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911640-F2C8-9643-B483-561D6BB9A402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9D337-1055-64EE-602C-15C9BB0ED6B5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4E3DCCEB-5E5C-A12D-C9B6-0300E48F8483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C36E9A-E711-BAEE-F1D7-3E81603F6FA9}"/>
              </a:ext>
            </a:extLst>
          </p:cNvPr>
          <p:cNvSpPr/>
          <p:nvPr/>
        </p:nvSpPr>
        <p:spPr>
          <a:xfrm>
            <a:off x="2511320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  <a:r>
              <a:rPr lang="en-US" dirty="0">
                <a:sym typeface="Wingdings" panose="05000000000000000000" pitchFamily="2" charset="2"/>
              </a:rPr>
              <a:t> NEW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E4863-57BD-EEED-743A-BEE3F931D0F5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C51E41-01A0-0E5B-D195-87C3C0C5B58C}"/>
              </a:ext>
            </a:extLst>
          </p:cNvPr>
          <p:cNvSpPr/>
          <p:nvPr/>
        </p:nvSpPr>
        <p:spPr>
          <a:xfrm>
            <a:off x="2493285" y="4800255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ready </a:t>
            </a:r>
            <a:r>
              <a:rPr lang="en-US" dirty="0">
                <a:sym typeface="Wingdings" panose="05000000000000000000" pitchFamily="2" charset="2"/>
              </a:rPr>
              <a:t> TRUE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9A3179-3873-1451-03B9-799627B814F5}"/>
              </a:ext>
            </a:extLst>
          </p:cNvPr>
          <p:cNvSpPr txBox="1"/>
          <p:nvPr/>
        </p:nvSpPr>
        <p:spPr>
          <a:xfrm>
            <a:off x="7377332" y="3901815"/>
            <a:ext cx="2475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    OLD</a:t>
            </a:r>
          </a:p>
          <a:p>
            <a:r>
              <a:rPr lang="en-US" sz="2800" dirty="0"/>
              <a:t>ready?   FALSE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727625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4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5E-6 -0.21574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78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70833E-6 -1.48148E-6 L -2.70833E-6 -0.15092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2" grpId="1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2832-CE94-CE33-ACC4-B73C2500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49506-5F16-C6F1-91FD-DC0E8D97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#1: FIFO write buffers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B0CBDB-EC71-886E-F246-55673BDB7297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D589D-C197-69EB-48A4-1EC93E1B7A39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779F1363-E895-41A7-4E40-77A6954A89E5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D8FB5-CE3A-E750-08E8-8E1067C86771}"/>
              </a:ext>
            </a:extLst>
          </p:cNvPr>
          <p:cNvSpPr/>
          <p:nvPr/>
        </p:nvSpPr>
        <p:spPr>
          <a:xfrm>
            <a:off x="2511320" y="3429000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  <a:r>
              <a:rPr lang="en-US" dirty="0">
                <a:sym typeface="Wingdings" panose="05000000000000000000" pitchFamily="2" charset="2"/>
              </a:rPr>
              <a:t> NEW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4A30C-85AE-2EB8-76CE-B521874FF8D5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E6CB17-1523-A85C-AB62-CBD82FA6E0E4}"/>
              </a:ext>
            </a:extLst>
          </p:cNvPr>
          <p:cNvSpPr/>
          <p:nvPr/>
        </p:nvSpPr>
        <p:spPr>
          <a:xfrm>
            <a:off x="2506735" y="3890664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ready </a:t>
            </a:r>
            <a:r>
              <a:rPr lang="en-US" dirty="0">
                <a:sym typeface="Wingdings" panose="05000000000000000000" pitchFamily="2" charset="2"/>
              </a:rPr>
              <a:t> TRUE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8925C-3B67-E3D4-42FA-45B1CA150C17}"/>
              </a:ext>
            </a:extLst>
          </p:cNvPr>
          <p:cNvSpPr txBox="1"/>
          <p:nvPr/>
        </p:nvSpPr>
        <p:spPr>
          <a:xfrm>
            <a:off x="7377332" y="3901815"/>
            <a:ext cx="2475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    </a:t>
            </a:r>
            <a:r>
              <a:rPr lang="en-US" sz="2800" dirty="0">
                <a:solidFill>
                  <a:srgbClr val="FF0000"/>
                </a:solidFill>
              </a:rPr>
              <a:t>NEW</a:t>
            </a:r>
          </a:p>
          <a:p>
            <a:r>
              <a:rPr lang="en-US" sz="2800" dirty="0"/>
              <a:t>ready?   FALSE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4761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48148E-6 L 5E-6 -0.21574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78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2.59259E-6 L -4.375E-6 -0.15092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40A6-7803-1A77-8D91-609AAEFC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613E-D8F0-72AA-D735-C0FE5F52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#1: FIFO write buffers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EFF84-50E9-5FF4-B6CD-EB8E2DB9A9D5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DB73B-8E3E-63B7-71B7-24871A574101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EBE4E02C-79E4-FAA2-7565-83C20DDE74D8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C45D1-BA74-52E9-0D28-32180B0956ED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83150A-2DDD-3011-FE09-E216681AB9C7}"/>
              </a:ext>
            </a:extLst>
          </p:cNvPr>
          <p:cNvSpPr/>
          <p:nvPr/>
        </p:nvSpPr>
        <p:spPr>
          <a:xfrm>
            <a:off x="2513830" y="2856981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ready </a:t>
            </a:r>
            <a:r>
              <a:rPr lang="en-US" dirty="0">
                <a:sym typeface="Wingdings" panose="05000000000000000000" pitchFamily="2" charset="2"/>
              </a:rPr>
              <a:t> TRUE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AD8FE8-F44F-6011-D2B5-0BF015FD38B6}"/>
              </a:ext>
            </a:extLst>
          </p:cNvPr>
          <p:cNvSpPr txBox="1"/>
          <p:nvPr/>
        </p:nvSpPr>
        <p:spPr>
          <a:xfrm>
            <a:off x="7377332" y="3890664"/>
            <a:ext cx="2475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    </a:t>
            </a:r>
            <a:r>
              <a:rPr lang="en-US" sz="2800" dirty="0">
                <a:solidFill>
                  <a:srgbClr val="FF0000"/>
                </a:solidFill>
              </a:rPr>
              <a:t>NEW</a:t>
            </a:r>
          </a:p>
          <a:p>
            <a:r>
              <a:rPr lang="en-US" sz="2800" dirty="0"/>
              <a:t>ready?   </a:t>
            </a:r>
            <a:r>
              <a:rPr lang="en-US" sz="2800" dirty="0">
                <a:solidFill>
                  <a:srgbClr val="FF0000"/>
                </a:solidFill>
              </a:rPr>
              <a:t>TRUE</a:t>
            </a:r>
            <a:endParaRPr lang="LID4096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1040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85185E-6 L 4.58333E-6 -0.1509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81274-65FA-13BB-BED8-97DF1F5D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Store Order (TSO)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26D90-422A-51D4-7B37-33E097574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cores agree on the order of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stores-initiated-by-a-given-core</a:t>
            </a:r>
          </a:p>
          <a:p>
            <a:r>
              <a:rPr lang="en-US" dirty="0"/>
              <a:t>Implemented in all x86-64 systems</a:t>
            </a:r>
          </a:p>
        </p:txBody>
      </p:sp>
    </p:spTree>
    <p:extLst>
      <p:ext uri="{BB962C8B-B14F-4D97-AF65-F5344CB8AC3E}">
        <p14:creationId xmlns:p14="http://schemas.microsoft.com/office/powerpoint/2010/main" val="4199425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6A07-4113-3A5A-812F-A01BDA91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2DBC-1352-8FBD-1744-D037FB36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Coalesce writes to the same cache line</a:t>
            </a:r>
          </a:p>
        </p:txBody>
      </p:sp>
    </p:spTree>
    <p:extLst>
      <p:ext uri="{BB962C8B-B14F-4D97-AF65-F5344CB8AC3E}">
        <p14:creationId xmlns:p14="http://schemas.microsoft.com/office/powerpoint/2010/main" val="3299717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F41E-37FA-43AF-06DA-2C6F9FAAF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Lines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7832E-8131-976B-A9B0-6A6002CB0B0E}"/>
              </a:ext>
            </a:extLst>
          </p:cNvPr>
          <p:cNvSpPr txBox="1"/>
          <p:nvPr/>
        </p:nvSpPr>
        <p:spPr>
          <a:xfrm>
            <a:off x="4897306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606B1-85B1-D8D3-908C-C4512A6FC2DA}"/>
              </a:ext>
            </a:extLst>
          </p:cNvPr>
          <p:cNvSpPr txBox="1"/>
          <p:nvPr/>
        </p:nvSpPr>
        <p:spPr>
          <a:xfrm>
            <a:off x="8127999" y="1811291"/>
            <a:ext cx="3338279" cy="391285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3600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0B635-0EDC-BBF8-3221-D7A833D71EEF}"/>
              </a:ext>
            </a:extLst>
          </p:cNvPr>
          <p:cNvSpPr txBox="1"/>
          <p:nvPr/>
        </p:nvSpPr>
        <p:spPr>
          <a:xfrm>
            <a:off x="429050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7A57FD-81DB-62CB-F182-9B8E127DD24A}"/>
              </a:ext>
            </a:extLst>
          </p:cNvPr>
          <p:cNvSpPr txBox="1"/>
          <p:nvPr/>
        </p:nvSpPr>
        <p:spPr>
          <a:xfrm>
            <a:off x="8670880" y="3068988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3A759-F579-E578-25E3-DC95975FF335}"/>
              </a:ext>
            </a:extLst>
          </p:cNvPr>
          <p:cNvSpPr txBox="1"/>
          <p:nvPr/>
        </p:nvSpPr>
        <p:spPr>
          <a:xfrm>
            <a:off x="8670880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DC36CE-A06B-C854-CC3D-ADB0A3E70D77}"/>
              </a:ext>
            </a:extLst>
          </p:cNvPr>
          <p:cNvCxnSpPr>
            <a:stCxn id="5" idx="0"/>
          </p:cNvCxnSpPr>
          <p:nvPr/>
        </p:nvCxnSpPr>
        <p:spPr>
          <a:xfrm flipV="1">
            <a:off x="6023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D3AD2A9-4C91-E32C-090B-4A9CE420AE89}"/>
              </a:ext>
            </a:extLst>
          </p:cNvPr>
          <p:cNvSpPr txBox="1"/>
          <p:nvPr/>
        </p:nvSpPr>
        <p:spPr>
          <a:xfrm>
            <a:off x="4631648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deadc</a:t>
            </a:r>
            <a:r>
              <a:rPr lang="en-US" sz="3600" b="1" dirty="0">
                <a:highlight>
                  <a:srgbClr val="000000"/>
                </a:highlight>
                <a:latin typeface="Consolas" panose="020B0609020204030204" pitchFamily="49" charset="0"/>
              </a:rPr>
              <a:t>9</a:t>
            </a:r>
            <a:r>
              <a:rPr lang="en-US" sz="3600" dirty="0">
                <a:latin typeface="Consolas" panose="020B0609020204030204" pitchFamily="49" charset="0"/>
              </a:rPr>
              <a:t>fe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D9361A-DCD8-B942-C976-7303663BC0B4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4ED6B0-8BC6-3BD7-2052-E2612A0305EC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8DDAEF-EA88-0D72-8E32-59E40C9FD068}"/>
              </a:ext>
            </a:extLst>
          </p:cNvPr>
          <p:cNvCxnSpPr>
            <a:cxnSpLocks/>
          </p:cNvCxnSpPr>
          <p:nvPr/>
        </p:nvCxnSpPr>
        <p:spPr>
          <a:xfrm flipH="1">
            <a:off x="3387813" y="3358587"/>
            <a:ext cx="902691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792C10BC-756B-55F4-CD7E-7182AFEF068E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F1774-D2C8-D835-25DE-40D8E4F2D4CC}"/>
              </a:ext>
            </a:extLst>
          </p:cNvPr>
          <p:cNvSpPr txBox="1"/>
          <p:nvPr/>
        </p:nvSpPr>
        <p:spPr>
          <a:xfrm>
            <a:off x="872460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5455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L -0.33125 -4.44444E-6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3BB9-78A8-3506-1D30-060433FE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BD53-6439-4CEA-3F70-CFE32394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85F4778-9112-0C1A-DFF7-E563FFC1C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Coalesche</a:t>
            </a:r>
            <a:r>
              <a:rPr lang="en-US" dirty="0"/>
              <a:t> writes to the same cache line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91291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D923-9AC9-F0B0-FB29-B50EA57D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Up 2">
            <a:extLst>
              <a:ext uri="{FF2B5EF4-FFF2-40B4-BE49-F238E27FC236}">
                <a16:creationId xmlns:a16="http://schemas.microsoft.com/office/drawing/2014/main" id="{DC015473-C496-7C38-A61D-48B168661DC4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970AE8-3F39-453F-D11A-F8130E19AF04}"/>
              </a:ext>
            </a:extLst>
          </p:cNvPr>
          <p:cNvSpPr/>
          <p:nvPr/>
        </p:nvSpPr>
        <p:spPr>
          <a:xfrm>
            <a:off x="2516592" y="4800255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A5AF86-FD05-F4A7-8D7A-BB7A1B7683C8}"/>
              </a:ext>
            </a:extLst>
          </p:cNvPr>
          <p:cNvSpPr/>
          <p:nvPr/>
        </p:nvSpPr>
        <p:spPr>
          <a:xfrm>
            <a:off x="2515233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A2BED-D7B4-899B-C878-E93BBB4B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EEE7B7-90EF-B38F-C93E-310F708DF84D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7C66E-589A-5B2A-9E68-89CF7570F081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A53A81-8438-3DFA-D79B-C17712AF9BF0}"/>
              </a:ext>
            </a:extLst>
          </p:cNvPr>
          <p:cNvSpPr/>
          <p:nvPr/>
        </p:nvSpPr>
        <p:spPr>
          <a:xfrm>
            <a:off x="2505493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3693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4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L -4.16667E-6 -0.21574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78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375E-6 -1.48148E-6 L 4.375E-6 -0.15092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4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58333E-6 0 L 4.58333E-6 -0.08426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9" grpId="0" animBg="1"/>
      <p:bldP spid="9" grpId="1" animBg="1"/>
      <p:bldP spid="7" grpId="0" animBg="1"/>
      <p:bldP spid="7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4122-EA25-D7A2-B58C-3428CB5AC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39C5-9BC1-78EA-281E-199A8D520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813BEB-C2E7-04C5-D4C2-1D69BF143424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0629B-40B1-3EC9-CA40-57F38343FF11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25ECBE5E-D5E0-DAC3-EF20-E1E4EB3516FC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2C717E-671F-9BEB-E07C-28D655CEE1BF}"/>
              </a:ext>
            </a:extLst>
          </p:cNvPr>
          <p:cNvSpPr/>
          <p:nvPr/>
        </p:nvSpPr>
        <p:spPr>
          <a:xfrm>
            <a:off x="2497873" y="3380369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A, B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237EB1-6D47-EDD0-01CF-5966190F1BB2}"/>
              </a:ext>
            </a:extLst>
          </p:cNvPr>
          <p:cNvSpPr/>
          <p:nvPr/>
        </p:nvSpPr>
        <p:spPr>
          <a:xfrm>
            <a:off x="2507613" y="4244845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0717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Char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C9D7-ABF6-2B19-DF94-EAEACE52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Up 2">
            <a:extLst>
              <a:ext uri="{FF2B5EF4-FFF2-40B4-BE49-F238E27FC236}">
                <a16:creationId xmlns:a16="http://schemas.microsoft.com/office/drawing/2014/main" id="{3F9DEB6D-4BD6-D18D-A1B8-E799B851E98D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654A67-E360-6D37-0BA8-1C630917D093}"/>
              </a:ext>
            </a:extLst>
          </p:cNvPr>
          <p:cNvSpPr/>
          <p:nvPr/>
        </p:nvSpPr>
        <p:spPr>
          <a:xfrm>
            <a:off x="2511261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3ED9D-6DC5-E046-F143-52BDEB77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198835-0926-F47A-D1F9-3EF05D9F4681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6D2ED-DF87-7CC0-8729-A927F9F488A4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38D883-8BBB-4745-8342-AB9B0280730F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3F8A29-3001-5040-6774-0EF793F1CF95}"/>
              </a:ext>
            </a:extLst>
          </p:cNvPr>
          <p:cNvSpPr/>
          <p:nvPr/>
        </p:nvSpPr>
        <p:spPr>
          <a:xfrm>
            <a:off x="2511260" y="4783588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79B83-2D26-CD3F-77EE-74049F808FF9}"/>
              </a:ext>
            </a:extLst>
          </p:cNvPr>
          <p:cNvSpPr txBox="1"/>
          <p:nvPr/>
        </p:nvSpPr>
        <p:spPr>
          <a:xfrm>
            <a:off x="8064817" y="3630789"/>
            <a:ext cx="247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A? 0</a:t>
            </a:r>
            <a:br>
              <a:rPr lang="en-US" sz="2800" dirty="0"/>
            </a:br>
            <a:r>
              <a:rPr lang="en-US" sz="2800" dirty="0"/>
              <a:t>B? 0</a:t>
            </a:r>
            <a:br>
              <a:rPr lang="en-US" sz="2800" dirty="0"/>
            </a:br>
            <a:r>
              <a:rPr lang="en-US" sz="2800" dirty="0"/>
              <a:t>C? 0</a:t>
            </a:r>
            <a:endParaRPr lang="LID4096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2C7B30-9E11-9123-8000-D345B1AE3DE6}"/>
              </a:ext>
            </a:extLst>
          </p:cNvPr>
          <p:cNvSpPr/>
          <p:nvPr/>
        </p:nvSpPr>
        <p:spPr>
          <a:xfrm>
            <a:off x="2511260" y="4777684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0518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4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5E-6 -0.21574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78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5E-6 4.81481E-6 L 5E-6 -0.15093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4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5E-6 0 L 5E-6 -0.08426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 animBg="1"/>
      <p:bldP spid="12" grpId="1" animBg="1"/>
      <p:bldP spid="8" grpId="0"/>
      <p:bldP spid="7" grpId="0" animBg="1"/>
      <p:bldP spid="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A279-B93A-F706-F674-3F9DB0F64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A507-95A8-7B5E-998C-A3394191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F4183-E769-A38E-1A8A-3A3DC4797020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DF5A8-145B-D1F0-69E4-9847E82A937E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1F63EC72-55EB-5C26-4329-099AB1DC1FA4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38F77-AC7A-B852-D2B1-1B672DD892C7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BF722C-AA86-8EB1-608D-66E6FD3A6553}"/>
              </a:ext>
            </a:extLst>
          </p:cNvPr>
          <p:cNvSpPr/>
          <p:nvPr/>
        </p:nvSpPr>
        <p:spPr>
          <a:xfrm>
            <a:off x="2508972" y="3765998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354F25-C13E-5FD7-F9C0-82A6CE2A17B6}"/>
              </a:ext>
            </a:extLst>
          </p:cNvPr>
          <p:cNvSpPr/>
          <p:nvPr/>
        </p:nvSpPr>
        <p:spPr>
          <a:xfrm>
            <a:off x="2505493" y="3318621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A, C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E2D8CA-F254-5AF2-A542-B3C7C06C903B}"/>
              </a:ext>
            </a:extLst>
          </p:cNvPr>
          <p:cNvSpPr txBox="1"/>
          <p:nvPr/>
        </p:nvSpPr>
        <p:spPr>
          <a:xfrm>
            <a:off x="8064817" y="3630789"/>
            <a:ext cx="247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A? 0</a:t>
            </a:r>
            <a:br>
              <a:rPr lang="en-US" sz="2800" dirty="0"/>
            </a:br>
            <a:r>
              <a:rPr lang="en-US" sz="2800" dirty="0"/>
              <a:t>B? 0</a:t>
            </a:r>
            <a:br>
              <a:rPr lang="en-US" sz="2800" dirty="0"/>
            </a:br>
            <a:r>
              <a:rPr lang="en-US" sz="2800" dirty="0"/>
              <a:t>C? 0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512214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Cha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22222E-6 L -4.16667E-6 -0.1972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6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44444E-6 L -4.58333E-6 -0.1972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F847C-9D8E-BBA2-D269-6C6ABC03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B4AA-AB60-5FAE-8327-53FD81B6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C642C-D9BE-2363-661A-15155F06C46B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64BC06-AEF6-FB78-A0ED-130297655005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22E4FA3D-8562-6B68-9BDC-27B5BD411209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B80E3-4F51-2F76-A2B5-76D352FE20AD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F8AF9D-BE6C-285F-211C-F5DD820BC438}"/>
              </a:ext>
            </a:extLst>
          </p:cNvPr>
          <p:cNvSpPr/>
          <p:nvPr/>
        </p:nvSpPr>
        <p:spPr>
          <a:xfrm>
            <a:off x="2508972" y="241026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ADF57E-E63A-753B-EDEF-4D6FBD7B7775}"/>
              </a:ext>
            </a:extLst>
          </p:cNvPr>
          <p:cNvSpPr txBox="1"/>
          <p:nvPr/>
        </p:nvSpPr>
        <p:spPr>
          <a:xfrm>
            <a:off x="8064817" y="3630789"/>
            <a:ext cx="247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A? 1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B? 0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C?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1</a:t>
            </a:r>
            <a:endParaRPr lang="LID4096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409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Char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57174-1EDA-76C2-7A37-7131DD58C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744B-169A-48CD-14BC-A9DEB47C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E30B89-7C36-E3A8-31C7-9BA51C104678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74BAA-22AC-3B34-B124-4A3A32CA3CD8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CEEE7D24-40C5-A002-5CD8-B60DF16784AC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EED2F-0FC2-CAF4-3C21-00CC45812B9F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EEEAB-BA01-CDF2-944A-20B1C4B1D26E}"/>
              </a:ext>
            </a:extLst>
          </p:cNvPr>
          <p:cNvSpPr txBox="1"/>
          <p:nvPr/>
        </p:nvSpPr>
        <p:spPr>
          <a:xfrm>
            <a:off x="8064817" y="3630789"/>
            <a:ext cx="247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dummy?  0</a:t>
            </a:r>
            <a:br>
              <a:rPr lang="en-US" sz="2800" dirty="0"/>
            </a:br>
            <a:r>
              <a:rPr lang="en-US" sz="2800" dirty="0"/>
              <a:t>data? OLD</a:t>
            </a:r>
            <a:br>
              <a:rPr lang="en-US" sz="2800" dirty="0"/>
            </a:br>
            <a:r>
              <a:rPr lang="en-US" sz="2800" dirty="0"/>
              <a:t>ready? FALSE</a:t>
            </a:r>
            <a:endParaRPr lang="LID4096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AA22B-D4B3-FBE3-224D-6DBBE89E3D2B}"/>
              </a:ext>
            </a:extLst>
          </p:cNvPr>
          <p:cNvSpPr/>
          <p:nvPr/>
        </p:nvSpPr>
        <p:spPr>
          <a:xfrm>
            <a:off x="2507768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ready </a:t>
            </a:r>
            <a:r>
              <a:rPr lang="en-US" dirty="0">
                <a:sym typeface="Wingdings" panose="05000000000000000000" pitchFamily="2" charset="2"/>
              </a:rPr>
              <a:t> TRUE</a:t>
            </a:r>
            <a:endParaRPr lang="LID4096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53F2C-A6A2-0FDF-2E62-F5A7E681D9E8}"/>
              </a:ext>
            </a:extLst>
          </p:cNvPr>
          <p:cNvSpPr/>
          <p:nvPr/>
        </p:nvSpPr>
        <p:spPr>
          <a:xfrm>
            <a:off x="2509282" y="4800255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  <a:r>
              <a:rPr lang="en-US" dirty="0">
                <a:sym typeface="Wingdings" panose="05000000000000000000" pitchFamily="2" charset="2"/>
              </a:rPr>
              <a:t> NEW</a:t>
            </a:r>
            <a:endParaRPr lang="LID409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C17672-AD73-47B7-63A4-C564B2C23C3A}"/>
              </a:ext>
            </a:extLst>
          </p:cNvPr>
          <p:cNvSpPr/>
          <p:nvPr/>
        </p:nvSpPr>
        <p:spPr>
          <a:xfrm>
            <a:off x="2509286" y="479971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dummy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8497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4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0 L -4.79167E-6 -0.21574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78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4" presetClass="pat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-1.48148E-6 L -4.79167E-6 -0.15092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54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4" presetClass="pat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58333E-6 0 L -4.58333E-6 -0.08426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9" grpId="1" animBg="1"/>
      <p:bldP spid="12" grpId="0" animBg="1"/>
      <p:bldP spid="12" grpId="1" animBg="1"/>
      <p:bldP spid="7" grpId="0" animBg="1"/>
      <p:bldP spid="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E9B2-2646-595A-D0A2-E06F8530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5825-8AA0-C564-2777-FAF77ACE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C66930-CC8C-0BC6-5EF2-F729B1F446DE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8DBE2-1AA7-8EE2-E1D3-C17CF53B8009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00344696-0219-4D99-4D3E-547EF490C2EC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E7D63-81B1-8216-F533-013960B09992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32833-086E-7FFD-B1E5-43FD698409A7}"/>
              </a:ext>
            </a:extLst>
          </p:cNvPr>
          <p:cNvSpPr/>
          <p:nvPr/>
        </p:nvSpPr>
        <p:spPr>
          <a:xfrm>
            <a:off x="2508972" y="3765998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  <a:r>
              <a:rPr lang="en-US" dirty="0">
                <a:sym typeface="Wingdings" panose="05000000000000000000" pitchFamily="2" charset="2"/>
              </a:rPr>
              <a:t> NEW</a:t>
            </a:r>
            <a:endParaRPr lang="LID409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1AC69-6554-77DA-0662-7822E65FB5EA}"/>
              </a:ext>
            </a:extLst>
          </p:cNvPr>
          <p:cNvSpPr/>
          <p:nvPr/>
        </p:nvSpPr>
        <p:spPr>
          <a:xfrm>
            <a:off x="2505493" y="3148383"/>
            <a:ext cx="2063905" cy="6023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dummy </a:t>
            </a:r>
            <a:r>
              <a:rPr lang="en-US" dirty="0">
                <a:sym typeface="Wingdings" panose="05000000000000000000" pitchFamily="2" charset="2"/>
              </a:rPr>
              <a:t> 1</a:t>
            </a:r>
            <a:br>
              <a:rPr lang="en-US" dirty="0"/>
            </a:br>
            <a:r>
              <a:rPr lang="en-US" dirty="0"/>
              <a:t>ready </a:t>
            </a:r>
            <a:r>
              <a:rPr lang="en-US" dirty="0">
                <a:sym typeface="Wingdings" panose="05000000000000000000" pitchFamily="2" charset="2"/>
              </a:rPr>
              <a:t> TRUE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E0CCA-A5CE-31B4-9F9F-1FCD83F8D9F5}"/>
              </a:ext>
            </a:extLst>
          </p:cNvPr>
          <p:cNvSpPr txBox="1"/>
          <p:nvPr/>
        </p:nvSpPr>
        <p:spPr>
          <a:xfrm>
            <a:off x="8064817" y="3630789"/>
            <a:ext cx="247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dummy?  0</a:t>
            </a:r>
            <a:br>
              <a:rPr lang="en-US" sz="2800" dirty="0"/>
            </a:br>
            <a:r>
              <a:rPr lang="en-US" sz="2800" dirty="0"/>
              <a:t>data? OLD</a:t>
            </a:r>
            <a:br>
              <a:rPr lang="en-US" sz="2800" dirty="0"/>
            </a:br>
            <a:r>
              <a:rPr lang="en-US" sz="2800" dirty="0"/>
              <a:t>ready? FALSE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567061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Cha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7.40741E-7 L -4.16667E-6 -0.1972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6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44444E-6 L -4.58333E-6 -0.1972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E9B2-2646-595A-D0A2-E06F8530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5825-8AA0-C564-2777-FAF77ACE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Coalescing write buffers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C66930-CC8C-0BC6-5EF2-F729B1F446DE}"/>
              </a:ext>
            </a:extLst>
          </p:cNvPr>
          <p:cNvSpPr/>
          <p:nvPr/>
        </p:nvSpPr>
        <p:spPr>
          <a:xfrm>
            <a:off x="1054100" y="1434659"/>
            <a:ext cx="9626600" cy="746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Caches +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8DBE2-1AA7-8EE2-E1D3-C17CF53B8009}"/>
              </a:ext>
            </a:extLst>
          </p:cNvPr>
          <p:cNvSpPr txBox="1"/>
          <p:nvPr/>
        </p:nvSpPr>
        <p:spPr>
          <a:xfrm>
            <a:off x="1893221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00344696-0219-4D99-4D3E-547EF490C2EC}"/>
              </a:ext>
            </a:extLst>
          </p:cNvPr>
          <p:cNvSpPr/>
          <p:nvPr/>
        </p:nvSpPr>
        <p:spPr>
          <a:xfrm>
            <a:off x="1477367" y="2308303"/>
            <a:ext cx="4131696" cy="2879486"/>
          </a:xfrm>
          <a:prstGeom prst="upArrow">
            <a:avLst>
              <a:gd name="adj1" fmla="val 50000"/>
              <a:gd name="adj2" fmla="val 238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E7D63-81B1-8216-F533-013960B09992}"/>
              </a:ext>
            </a:extLst>
          </p:cNvPr>
          <p:cNvSpPr txBox="1"/>
          <p:nvPr/>
        </p:nvSpPr>
        <p:spPr>
          <a:xfrm>
            <a:off x="6964858" y="5187789"/>
            <a:ext cx="3299987" cy="92333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i="1" dirty="0"/>
              <a:t>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32833-086E-7FFD-B1E5-43FD698409A7}"/>
              </a:ext>
            </a:extLst>
          </p:cNvPr>
          <p:cNvSpPr/>
          <p:nvPr/>
        </p:nvSpPr>
        <p:spPr>
          <a:xfrm>
            <a:off x="2508972" y="2410266"/>
            <a:ext cx="2063905" cy="43213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  <a:r>
              <a:rPr lang="en-US" dirty="0">
                <a:sym typeface="Wingdings" panose="05000000000000000000" pitchFamily="2" charset="2"/>
              </a:rPr>
              <a:t> NEW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AB28E-C7EE-1699-10B7-1F694FD81257}"/>
              </a:ext>
            </a:extLst>
          </p:cNvPr>
          <p:cNvSpPr txBox="1"/>
          <p:nvPr/>
        </p:nvSpPr>
        <p:spPr>
          <a:xfrm>
            <a:off x="8064817" y="3630789"/>
            <a:ext cx="247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dummy?  1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data?  OLD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ready? TRUE</a:t>
            </a:r>
            <a:endParaRPr lang="LID4096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440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Char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591BC-37A4-B650-B1DB-9E092EF0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748F-44CB-878F-0601-D0947150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#3: Invalidate queues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FDF90-2078-388D-4421-D55D5AAA9ECA}"/>
              </a:ext>
            </a:extLst>
          </p:cNvPr>
          <p:cNvSpPr txBox="1"/>
          <p:nvPr/>
        </p:nvSpPr>
        <p:spPr>
          <a:xfrm>
            <a:off x="4897306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69F4B-2BF8-7422-D8D7-684132F3FCB5}"/>
              </a:ext>
            </a:extLst>
          </p:cNvPr>
          <p:cNvSpPr txBox="1"/>
          <p:nvPr/>
        </p:nvSpPr>
        <p:spPr>
          <a:xfrm>
            <a:off x="8127999" y="1811291"/>
            <a:ext cx="3338279" cy="391285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3600" dirty="0"/>
              <a:t>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7C55F-A270-15E6-BBB1-46C87E9CDCCF}"/>
              </a:ext>
            </a:extLst>
          </p:cNvPr>
          <p:cNvSpPr txBox="1"/>
          <p:nvPr/>
        </p:nvSpPr>
        <p:spPr>
          <a:xfrm>
            <a:off x="429050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22FD1B-CB25-39F0-D692-36A979E44081}"/>
              </a:ext>
            </a:extLst>
          </p:cNvPr>
          <p:cNvSpPr txBox="1"/>
          <p:nvPr/>
        </p:nvSpPr>
        <p:spPr>
          <a:xfrm>
            <a:off x="8670880" y="3068988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A17C9-D3B5-045A-863B-25E23FC4A7F4}"/>
              </a:ext>
            </a:extLst>
          </p:cNvPr>
          <p:cNvSpPr txBox="1"/>
          <p:nvPr/>
        </p:nvSpPr>
        <p:spPr>
          <a:xfrm>
            <a:off x="8670880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737D18D-20E6-FB0C-9A76-7D791543FD31}"/>
              </a:ext>
            </a:extLst>
          </p:cNvPr>
          <p:cNvCxnSpPr>
            <a:stCxn id="5" idx="0"/>
          </p:cNvCxnSpPr>
          <p:nvPr/>
        </p:nvCxnSpPr>
        <p:spPr>
          <a:xfrm flipV="1">
            <a:off x="6023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C84C75E-FF8E-CCF1-263B-39644CA71AF5}"/>
              </a:ext>
            </a:extLst>
          </p:cNvPr>
          <p:cNvSpPr txBox="1"/>
          <p:nvPr/>
        </p:nvSpPr>
        <p:spPr>
          <a:xfrm>
            <a:off x="4631648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deadc</a:t>
            </a:r>
            <a:r>
              <a:rPr lang="en-US" sz="3600" b="1" dirty="0">
                <a:highlight>
                  <a:srgbClr val="000000"/>
                </a:highlight>
                <a:latin typeface="Consolas" panose="020B0609020204030204" pitchFamily="49" charset="0"/>
              </a:rPr>
              <a:t>9</a:t>
            </a:r>
            <a:r>
              <a:rPr lang="en-US" sz="3600" dirty="0">
                <a:latin typeface="Consolas" panose="020B0609020204030204" pitchFamily="49" charset="0"/>
              </a:rPr>
              <a:t>fe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1EC780-7D68-B32E-5434-D82B309BF9AF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D47ED1-E3F8-33AD-5C82-082D030B6709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E10582-EC8E-83C3-165B-6805AEC7A43F}"/>
              </a:ext>
            </a:extLst>
          </p:cNvPr>
          <p:cNvCxnSpPr>
            <a:cxnSpLocks/>
          </p:cNvCxnSpPr>
          <p:nvPr/>
        </p:nvCxnSpPr>
        <p:spPr>
          <a:xfrm flipH="1">
            <a:off x="3387813" y="3434787"/>
            <a:ext cx="902691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C79124A8-D02C-95CE-EA5A-B9D352CBCC3A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22A06-DF12-54E4-20F9-2BCFB9F12327}"/>
              </a:ext>
            </a:extLst>
          </p:cNvPr>
          <p:cNvSpPr txBox="1"/>
          <p:nvPr/>
        </p:nvSpPr>
        <p:spPr>
          <a:xfrm>
            <a:off x="872460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329391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44444E-6 L -0.33125 -4.44444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935A-C658-89B3-B538-86CE2029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row: Left 18">
            <a:extLst>
              <a:ext uri="{FF2B5EF4-FFF2-40B4-BE49-F238E27FC236}">
                <a16:creationId xmlns:a16="http://schemas.microsoft.com/office/drawing/2014/main" id="{675B9DB9-D323-36D1-5FEA-0052ECEF3CF5}"/>
              </a:ext>
            </a:extLst>
          </p:cNvPr>
          <p:cNvSpPr/>
          <p:nvPr/>
        </p:nvSpPr>
        <p:spPr>
          <a:xfrm>
            <a:off x="7214874" y="2533766"/>
            <a:ext cx="2417075" cy="132556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Invalidate</a:t>
            </a:r>
          </a:p>
          <a:p>
            <a:pPr algn="ctr"/>
            <a:r>
              <a:rPr lang="en-US" b="1" dirty="0"/>
              <a:t>queue</a:t>
            </a:r>
            <a:endParaRPr lang="LID4096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E96EAB-2760-52D9-BD48-30BA16461356}"/>
              </a:ext>
            </a:extLst>
          </p:cNvPr>
          <p:cNvCxnSpPr>
            <a:cxnSpLocks/>
          </p:cNvCxnSpPr>
          <p:nvPr/>
        </p:nvCxnSpPr>
        <p:spPr>
          <a:xfrm flipH="1">
            <a:off x="7214874" y="3429000"/>
            <a:ext cx="2045168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F3EB7B-5FEB-6A4E-B7F4-D359F3ED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#3: Invalidate queues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E3BF4-3C0D-341C-FDBD-1DC8F7A6B4B9}"/>
              </a:ext>
            </a:extLst>
          </p:cNvPr>
          <p:cNvSpPr txBox="1"/>
          <p:nvPr/>
        </p:nvSpPr>
        <p:spPr>
          <a:xfrm>
            <a:off x="7821676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300C83-2C9F-6B64-1C5A-EEAD78BBEB8E}"/>
              </a:ext>
            </a:extLst>
          </p:cNvPr>
          <p:cNvSpPr txBox="1"/>
          <p:nvPr/>
        </p:nvSpPr>
        <p:spPr>
          <a:xfrm>
            <a:off x="721487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EFB65C-35B4-B147-A0C4-971EA41A16C1}"/>
              </a:ext>
            </a:extLst>
          </p:cNvPr>
          <p:cNvCxnSpPr>
            <a:stCxn id="5" idx="0"/>
          </p:cNvCxnSpPr>
          <p:nvPr/>
        </p:nvCxnSpPr>
        <p:spPr>
          <a:xfrm flipV="1">
            <a:off x="894793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54ABB4F-BA50-F3B1-008D-A9790B7ADECF}"/>
              </a:ext>
            </a:extLst>
          </p:cNvPr>
          <p:cNvSpPr txBox="1"/>
          <p:nvPr/>
        </p:nvSpPr>
        <p:spPr>
          <a:xfrm>
            <a:off x="1948391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04C75D-75E9-E25C-CD81-64D3874BCE05}"/>
              </a:ext>
            </a:extLst>
          </p:cNvPr>
          <p:cNvSpPr txBox="1"/>
          <p:nvPr/>
        </p:nvSpPr>
        <p:spPr>
          <a:xfrm>
            <a:off x="2251857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FE920-B3E9-2077-A8C6-396F413EE28A}"/>
              </a:ext>
            </a:extLst>
          </p:cNvPr>
          <p:cNvSpPr txBox="1"/>
          <p:nvPr/>
        </p:nvSpPr>
        <p:spPr>
          <a:xfrm>
            <a:off x="2251857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E6889-92AC-BD79-FEF2-6BF7902611B8}"/>
              </a:ext>
            </a:extLst>
          </p:cNvPr>
          <p:cNvSpPr txBox="1"/>
          <p:nvPr/>
        </p:nvSpPr>
        <p:spPr>
          <a:xfrm>
            <a:off x="7579047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A367E-CE92-0D18-423D-9EF95E2A7B8B}"/>
              </a:ext>
            </a:extLst>
          </p:cNvPr>
          <p:cNvSpPr txBox="1"/>
          <p:nvPr/>
        </p:nvSpPr>
        <p:spPr>
          <a:xfrm>
            <a:off x="7581418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deadc</a:t>
            </a:r>
            <a:r>
              <a:rPr lang="en-US" sz="3600" b="1" dirty="0">
                <a:highlight>
                  <a:srgbClr val="000000"/>
                </a:highlight>
                <a:latin typeface="Consolas" panose="020B0609020204030204" pitchFamily="49" charset="0"/>
              </a:rPr>
              <a:t>9</a:t>
            </a:r>
            <a:r>
              <a:rPr lang="en-US" sz="3600" dirty="0">
                <a:latin typeface="Consolas" panose="020B0609020204030204" pitchFamily="49" charset="0"/>
              </a:rPr>
              <a:t>fe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D4763B-9A25-5D37-E6BE-E9B4BF12DCBF}"/>
              </a:ext>
            </a:extLst>
          </p:cNvPr>
          <p:cNvSpPr txBox="1"/>
          <p:nvPr/>
        </p:nvSpPr>
        <p:spPr>
          <a:xfrm>
            <a:off x="2140596" y="4583665"/>
            <a:ext cx="247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</a:t>
            </a:r>
            <a:r>
              <a:rPr lang="en-US" sz="2800" dirty="0" err="1">
                <a:solidFill>
                  <a:srgbClr val="FF0000"/>
                </a:solidFill>
              </a:rPr>
              <a:t>deadcafe</a:t>
            </a:r>
            <a:endParaRPr lang="LID4096" sz="28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F666DA-8958-75DD-C48B-EE6B85CBD14D}"/>
              </a:ext>
            </a:extLst>
          </p:cNvPr>
          <p:cNvSpPr txBox="1"/>
          <p:nvPr/>
        </p:nvSpPr>
        <p:spPr>
          <a:xfrm>
            <a:off x="7556018" y="4583665"/>
            <a:ext cx="247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data? deadc9fe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4562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22222E-6 L -0.17943 -2.22222E-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4" grpId="0" animBg="1"/>
      <p:bldP spid="16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F9F0-9ACE-4715-D18E-5ACA01520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9214A0-0B7F-CCE1-B1B2-53898427E9F8}"/>
              </a:ext>
            </a:extLst>
          </p:cNvPr>
          <p:cNvCxnSpPr>
            <a:cxnSpLocks/>
          </p:cNvCxnSpPr>
          <p:nvPr/>
        </p:nvCxnSpPr>
        <p:spPr>
          <a:xfrm>
            <a:off x="6158149" y="3429000"/>
            <a:ext cx="131947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E81398C-02D7-BEB2-8E0D-4D1FB787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#4: non multi-copy atomicity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A25CE-A155-D91B-0047-06C45F3BCF6E}"/>
              </a:ext>
            </a:extLst>
          </p:cNvPr>
          <p:cNvSpPr txBox="1"/>
          <p:nvPr/>
        </p:nvSpPr>
        <p:spPr>
          <a:xfrm>
            <a:off x="4897306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0FE57-39FB-B68D-2D41-B1A00CFA0317}"/>
              </a:ext>
            </a:extLst>
          </p:cNvPr>
          <p:cNvSpPr txBox="1"/>
          <p:nvPr/>
        </p:nvSpPr>
        <p:spPr>
          <a:xfrm>
            <a:off x="4553341" y="1959428"/>
            <a:ext cx="2915792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FF6F4-7089-EE46-19F9-FF596282008A}"/>
              </a:ext>
            </a:extLst>
          </p:cNvPr>
          <p:cNvSpPr txBox="1"/>
          <p:nvPr/>
        </p:nvSpPr>
        <p:spPr>
          <a:xfrm>
            <a:off x="5000262" y="3079186"/>
            <a:ext cx="1883902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OLD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A28543-FCD5-4C73-1252-27312B0C3EF6}"/>
              </a:ext>
            </a:extLst>
          </p:cNvPr>
          <p:cNvCxnSpPr>
            <a:stCxn id="5" idx="0"/>
          </p:cNvCxnSpPr>
          <p:nvPr/>
        </p:nvCxnSpPr>
        <p:spPr>
          <a:xfrm flipV="1">
            <a:off x="6023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044F1A5-DB2C-B0D6-ADA4-F411E8DA9A05}"/>
              </a:ext>
            </a:extLst>
          </p:cNvPr>
          <p:cNvSpPr txBox="1"/>
          <p:nvPr/>
        </p:nvSpPr>
        <p:spPr>
          <a:xfrm>
            <a:off x="5000262" y="3068986"/>
            <a:ext cx="1883901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NEW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7B1F09-39F8-A658-14E9-D0B40CA6FCC2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64726-89B5-00A9-97DA-6A48C88523CB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OLD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24240A-0B0A-1424-6396-29443A625C93}"/>
              </a:ext>
            </a:extLst>
          </p:cNvPr>
          <p:cNvCxnSpPr>
            <a:cxnSpLocks/>
          </p:cNvCxnSpPr>
          <p:nvPr/>
        </p:nvCxnSpPr>
        <p:spPr>
          <a:xfrm flipH="1">
            <a:off x="3387813" y="3434787"/>
            <a:ext cx="1080015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097266B8-0EFC-D460-D785-4C994F994D60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4187DF-138B-1253-51FA-BA1B5776434D}"/>
              </a:ext>
            </a:extLst>
          </p:cNvPr>
          <p:cNvSpPr txBox="1"/>
          <p:nvPr/>
        </p:nvSpPr>
        <p:spPr>
          <a:xfrm>
            <a:off x="872460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D8664-1BCF-6323-50BA-84077A68FCAF}"/>
              </a:ext>
            </a:extLst>
          </p:cNvPr>
          <p:cNvSpPr txBox="1"/>
          <p:nvPr/>
        </p:nvSpPr>
        <p:spPr>
          <a:xfrm>
            <a:off x="8747713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75062F-70E9-B849-D106-5D0994D77A04}"/>
              </a:ext>
            </a:extLst>
          </p:cNvPr>
          <p:cNvSpPr txBox="1"/>
          <p:nvPr/>
        </p:nvSpPr>
        <p:spPr>
          <a:xfrm>
            <a:off x="8403748" y="1959428"/>
            <a:ext cx="2915792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91917-2498-098F-328C-34018B6FB45D}"/>
              </a:ext>
            </a:extLst>
          </p:cNvPr>
          <p:cNvSpPr txBox="1"/>
          <p:nvPr/>
        </p:nvSpPr>
        <p:spPr>
          <a:xfrm>
            <a:off x="8850669" y="3079186"/>
            <a:ext cx="1883902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OLD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4311A1-0FE4-88C3-1764-94FBED383756}"/>
              </a:ext>
            </a:extLst>
          </p:cNvPr>
          <p:cNvCxnSpPr>
            <a:stCxn id="6" idx="0"/>
          </p:cNvCxnSpPr>
          <p:nvPr/>
        </p:nvCxnSpPr>
        <p:spPr>
          <a:xfrm flipV="1">
            <a:off x="9873971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BD76A3D-9182-8AA2-90DF-EBE64D688FEE}"/>
              </a:ext>
            </a:extLst>
          </p:cNvPr>
          <p:cNvSpPr txBox="1"/>
          <p:nvPr/>
        </p:nvSpPr>
        <p:spPr>
          <a:xfrm>
            <a:off x="8850669" y="3068986"/>
            <a:ext cx="1883901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4638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0.06524 0 " pathEditMode="relative" rAng="0" ptsTypes="AA">
                                      <p:cBhvr>
                                        <p:cTn id="30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2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A475-BE6F-4AD2-0CD2-07D7B77B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7956EA2-81AA-E0BC-4CC4-4311C1E4B38C}"/>
              </a:ext>
            </a:extLst>
          </p:cNvPr>
          <p:cNvSpPr/>
          <p:nvPr/>
        </p:nvSpPr>
        <p:spPr>
          <a:xfrm>
            <a:off x="5896003" y="5291849"/>
            <a:ext cx="5347855" cy="692150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Load2’: reg2’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data (=OLD)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D6241-6022-C65A-816D-5CFBD7A6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#5: Out-of-Order Execution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710FB0-545B-80D2-037C-583E48E49C4D}"/>
              </a:ext>
            </a:extLst>
          </p:cNvPr>
          <p:cNvSpPr/>
          <p:nvPr/>
        </p:nvSpPr>
        <p:spPr>
          <a:xfrm>
            <a:off x="938646" y="3255042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Store1: NEW 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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E1C041-BD27-A044-95CC-4447D0F855C0}"/>
              </a:ext>
            </a:extLst>
          </p:cNvPr>
          <p:cNvSpPr/>
          <p:nvPr/>
        </p:nvSpPr>
        <p:spPr>
          <a:xfrm>
            <a:off x="5881254" y="4422718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ready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4E52A-EB7D-6454-F00E-2C7FB5A5BB29}"/>
              </a:ext>
            </a:extLst>
          </p:cNvPr>
          <p:cNvSpPr/>
          <p:nvPr/>
        </p:nvSpPr>
        <p:spPr>
          <a:xfrm>
            <a:off x="938646" y="3915442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Store2: TRUE 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CB8BD-556E-063C-F0B6-4D612484680F}"/>
              </a:ext>
            </a:extLst>
          </p:cNvPr>
          <p:cNvSpPr/>
          <p:nvPr/>
        </p:nvSpPr>
        <p:spPr>
          <a:xfrm>
            <a:off x="5865724" y="5291849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Load2:  reg2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7E593C-E943-F7C2-C530-98186EC63083}"/>
              </a:ext>
            </a:extLst>
          </p:cNvPr>
          <p:cNvSpPr/>
          <p:nvPr/>
        </p:nvSpPr>
        <p:spPr>
          <a:xfrm>
            <a:off x="938646" y="1827724"/>
            <a:ext cx="3943927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97DCA1-47DB-6008-CAB7-6D81C63B4040}"/>
              </a:ext>
            </a:extLst>
          </p:cNvPr>
          <p:cNvSpPr/>
          <p:nvPr/>
        </p:nvSpPr>
        <p:spPr>
          <a:xfrm>
            <a:off x="5881254" y="1827724"/>
            <a:ext cx="534785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F74930-2DC6-E6DB-6150-1077E1CA8749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995727-ABD2-4EC7-A77B-4AC7EC36A6D0}"/>
              </a:ext>
            </a:extLst>
          </p:cNvPr>
          <p:cNvSpPr txBox="1"/>
          <p:nvPr/>
        </p:nvSpPr>
        <p:spPr>
          <a:xfrm>
            <a:off x="9630697" y="4537960"/>
            <a:ext cx="1430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(=TRUE)</a:t>
            </a:r>
            <a:endParaRPr lang="LID4096" sz="24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63BCA3-F448-1E05-E272-BECBEBD5DD07}"/>
              </a:ext>
            </a:extLst>
          </p:cNvPr>
          <p:cNvSpPr txBox="1"/>
          <p:nvPr/>
        </p:nvSpPr>
        <p:spPr>
          <a:xfrm>
            <a:off x="9630697" y="5407091"/>
            <a:ext cx="1430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(=OLD!)</a:t>
            </a:r>
            <a:endParaRPr lang="LID4096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06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7.40741E-7 L -4.58333E-6 -0.34745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3" grpId="0" animBg="1"/>
      <p:bldP spid="5" grpId="0" animBg="1"/>
      <p:bldP spid="6" grpId="0" animBg="1"/>
      <p:bldP spid="7" grpId="0" animBg="1"/>
      <p:bldP spid="19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28F7-6409-D36C-6D5F-8B0644EF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#6: Speculative Execution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88674-6DDC-3F9F-C467-80F509FF8C08}"/>
              </a:ext>
            </a:extLst>
          </p:cNvPr>
          <p:cNvSpPr txBox="1"/>
          <p:nvPr/>
        </p:nvSpPr>
        <p:spPr>
          <a:xfrm>
            <a:off x="793848" y="2324868"/>
            <a:ext cx="40583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baseline="-25000" dirty="0">
                <a:latin typeface="Consolas" panose="020B0609020204030204" pitchFamily="49" charset="0"/>
              </a:rPr>
              <a:t>if (ready) {</a:t>
            </a:r>
          </a:p>
          <a:p>
            <a:endParaRPr lang="en-US" sz="4000" b="1" baseline="-25000" dirty="0">
              <a:latin typeface="Consolas" panose="020B0609020204030204" pitchFamily="49" charset="0"/>
            </a:endParaRPr>
          </a:p>
          <a:p>
            <a:endParaRPr lang="en-US" sz="4000" b="1" baseline="-25000" dirty="0">
              <a:latin typeface="Consolas" panose="020B0609020204030204" pitchFamily="49" charset="0"/>
            </a:endParaRPr>
          </a:p>
          <a:p>
            <a:r>
              <a:rPr lang="en-US" sz="4000" b="1" baseline="-25000" dirty="0">
                <a:latin typeface="Consolas" panose="020B0609020204030204" pitchFamily="49" charset="0"/>
              </a:rPr>
              <a:t>  </a:t>
            </a:r>
            <a:r>
              <a:rPr lang="en-US" sz="4000" b="1" baseline="-25000" dirty="0" err="1">
                <a:latin typeface="Consolas" panose="020B0609020204030204" pitchFamily="49" charset="0"/>
              </a:rPr>
              <a:t>local_data</a:t>
            </a:r>
            <a:r>
              <a:rPr lang="en-US" sz="4000" b="1" baseline="-25000" dirty="0">
                <a:latin typeface="Consolas" panose="020B0609020204030204" pitchFamily="49" charset="0"/>
              </a:rPr>
              <a:t> = data </a:t>
            </a:r>
          </a:p>
          <a:p>
            <a:r>
              <a:rPr lang="en-US" sz="4000" b="1" baseline="-25000" dirty="0">
                <a:latin typeface="Consolas" panose="020B0609020204030204" pitchFamily="49" charset="0"/>
              </a:rPr>
              <a:t>  …</a:t>
            </a:r>
          </a:p>
          <a:p>
            <a:endParaRPr lang="LID4096" sz="4000" b="1" baseline="-250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4A82B7-ECA6-DB89-2860-C7543395DE45}"/>
              </a:ext>
            </a:extLst>
          </p:cNvPr>
          <p:cNvSpPr/>
          <p:nvPr/>
        </p:nvSpPr>
        <p:spPr>
          <a:xfrm>
            <a:off x="8627806" y="1755058"/>
            <a:ext cx="2831691" cy="334788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Memory/Caches</a:t>
            </a:r>
            <a:endParaRPr lang="LID4096" sz="48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AB401C-869F-1D83-C449-D3D4B9A49088}"/>
              </a:ext>
            </a:extLst>
          </p:cNvPr>
          <p:cNvCxnSpPr>
            <a:cxnSpLocks/>
          </p:cNvCxnSpPr>
          <p:nvPr/>
        </p:nvCxnSpPr>
        <p:spPr>
          <a:xfrm>
            <a:off x="3834581" y="2551471"/>
            <a:ext cx="4702277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736518-A503-247F-3EC5-33D778BEEBFD}"/>
              </a:ext>
            </a:extLst>
          </p:cNvPr>
          <p:cNvGrpSpPr/>
          <p:nvPr/>
        </p:nvGrpSpPr>
        <p:grpSpPr>
          <a:xfrm>
            <a:off x="3554361" y="2753483"/>
            <a:ext cx="4982497" cy="461665"/>
            <a:chOff x="3554361" y="2812475"/>
            <a:chExt cx="4982497" cy="461665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C3B3D57-221D-D9C1-0B99-688657045A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510" y="2846438"/>
              <a:ext cx="4053348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217D78-2B3F-02B2-8C20-3F3C79E4DABD}"/>
                </a:ext>
              </a:extLst>
            </p:cNvPr>
            <p:cNvSpPr txBox="1"/>
            <p:nvPr/>
          </p:nvSpPr>
          <p:spPr>
            <a:xfrm>
              <a:off x="3554361" y="2812475"/>
              <a:ext cx="929150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</a:rPr>
                <a:t>TRUE</a:t>
              </a:r>
              <a:endParaRPr lang="LID4096" sz="2400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235651-AF81-C760-0115-C25C31422CEB}"/>
              </a:ext>
            </a:extLst>
          </p:cNvPr>
          <p:cNvCxnSpPr>
            <a:cxnSpLocks/>
          </p:cNvCxnSpPr>
          <p:nvPr/>
        </p:nvCxnSpPr>
        <p:spPr>
          <a:xfrm>
            <a:off x="5380704" y="3849329"/>
            <a:ext cx="3156154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8E7FE3-15E0-593D-9E11-D4E36C005B4E}"/>
              </a:ext>
            </a:extLst>
          </p:cNvPr>
          <p:cNvGrpSpPr/>
          <p:nvPr/>
        </p:nvGrpSpPr>
        <p:grpSpPr>
          <a:xfrm>
            <a:off x="4881716" y="3987204"/>
            <a:ext cx="3655142" cy="461665"/>
            <a:chOff x="3721274" y="2827223"/>
            <a:chExt cx="4815584" cy="46166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A361378-2CF6-959B-D1BD-4E9707077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735" y="2846438"/>
              <a:ext cx="3832123" cy="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40B758-F99C-91B2-4CBB-528EEA4AC2BE}"/>
                </a:ext>
              </a:extLst>
            </p:cNvPr>
            <p:cNvSpPr txBox="1"/>
            <p:nvPr/>
          </p:nvSpPr>
          <p:spPr>
            <a:xfrm>
              <a:off x="3721274" y="2827223"/>
              <a:ext cx="1002891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onsolas" panose="020B0609020204030204" pitchFamily="49" charset="0"/>
                </a:rPr>
                <a:t>OLD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704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0D13A0-5413-3EDC-F2AA-AA73F709A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Counter Measures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E61D46F-F204-211F-F745-879D3CBB35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Fences, load-acquire, store-release, RMW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3687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2801-5681-6E60-11B2-58920DA4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Full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AD75E-A498-0436-5F0C-FCC23BD29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021"/>
            <a:ext cx="10515600" cy="3369137"/>
          </a:xfrm>
        </p:spPr>
        <p:txBody>
          <a:bodyPr>
            <a:normAutofit/>
          </a:bodyPr>
          <a:lstStyle/>
          <a:p>
            <a:r>
              <a:rPr lang="en-US" dirty="0"/>
              <a:t>x86/64:    </a:t>
            </a:r>
            <a:r>
              <a:rPr lang="en-US" dirty="0">
                <a:latin typeface="Consolas" panose="020B0609020204030204" pitchFamily="49" charset="0"/>
              </a:rPr>
              <a:t>MFENCE  (Memory Fence)</a:t>
            </a:r>
          </a:p>
          <a:p>
            <a:r>
              <a:rPr lang="en-US" dirty="0"/>
              <a:t>ARM:</a:t>
            </a:r>
            <a:r>
              <a:rPr lang="en-US" dirty="0">
                <a:latin typeface="Consolas" panose="020B0609020204030204" pitchFamily="49" charset="0"/>
              </a:rPr>
              <a:t>   DSB     (Data Store Barrier)</a:t>
            </a:r>
          </a:p>
          <a:p>
            <a:pPr lvl="1"/>
            <a:r>
              <a:rPr lang="en-US" dirty="0"/>
              <a:t>Drain store buffer</a:t>
            </a:r>
          </a:p>
          <a:p>
            <a:pPr lvl="1"/>
            <a:r>
              <a:rPr lang="en-US" dirty="0"/>
              <a:t>Wait until previous stores are visible everywhere and previous loads retired</a:t>
            </a:r>
          </a:p>
          <a:p>
            <a:pPr lvl="1"/>
            <a:r>
              <a:rPr lang="en-US" dirty="0"/>
              <a:t>Acts as a reorder/speculation barrier</a:t>
            </a:r>
          </a:p>
          <a:p>
            <a:r>
              <a:rPr lang="en-US" dirty="0"/>
              <a:t>Safest + most expensive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0561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DDD7-E39B-1E0E-4034-2C7F9DC1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63EE-F79E-3ECA-588E-33736BF2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Full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7B07D-C339-D1D9-CB97-554452818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102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x86/64:    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MFENCE  (Memory Fence)</a:t>
            </a:r>
          </a:p>
          <a:p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ARM: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DSB     (Data Store Barrier) </a:t>
            </a:r>
          </a:p>
          <a:p>
            <a:r>
              <a:rPr lang="en-US" dirty="0"/>
              <a:t>ARM:</a:t>
            </a:r>
            <a:r>
              <a:rPr lang="en-US" dirty="0">
                <a:latin typeface="Consolas" panose="020B0609020204030204" pitchFamily="49" charset="0"/>
              </a:rPr>
              <a:t>   DMB SY  (Data Memory Barrier, System-wide)</a:t>
            </a:r>
          </a:p>
          <a:p>
            <a:r>
              <a:rPr lang="en-US" dirty="0"/>
              <a:t>Operation:</a:t>
            </a:r>
          </a:p>
          <a:p>
            <a:pPr lvl="1"/>
            <a:r>
              <a:rPr lang="en-US" dirty="0"/>
              <a:t>Enforce </a:t>
            </a:r>
            <a:r>
              <a:rPr lang="en-US" b="1" dirty="0"/>
              <a:t>ordering</a:t>
            </a:r>
            <a:r>
              <a:rPr lang="en-US" dirty="0"/>
              <a:t>, not completion</a:t>
            </a:r>
          </a:p>
          <a:p>
            <a:pPr lvl="1"/>
            <a:r>
              <a:rPr lang="en-US" dirty="0"/>
              <a:t>At: Reorder buffers, write buffers, load queues </a:t>
            </a:r>
          </a:p>
          <a:p>
            <a:r>
              <a:rPr lang="en-US" dirty="0"/>
              <a:t>Cheaper alternative with mostly-compatible semantics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927AAC-4353-9401-8570-028946D1A393}"/>
              </a:ext>
            </a:extLst>
          </p:cNvPr>
          <p:cNvCxnSpPr/>
          <p:nvPr/>
        </p:nvCxnSpPr>
        <p:spPr>
          <a:xfrm>
            <a:off x="1960749" y="5176681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682CD56-4043-2BD7-68DB-D7D76F11BB90}"/>
              </a:ext>
            </a:extLst>
          </p:cNvPr>
          <p:cNvSpPr/>
          <p:nvPr/>
        </p:nvSpPr>
        <p:spPr>
          <a:xfrm>
            <a:off x="1960749" y="5324165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3D048F-8246-49BF-1E4B-E1A93DD81C7C}"/>
              </a:ext>
            </a:extLst>
          </p:cNvPr>
          <p:cNvSpPr/>
          <p:nvPr/>
        </p:nvSpPr>
        <p:spPr>
          <a:xfrm>
            <a:off x="2618683" y="5748896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ADD7DC-8CC1-3764-1D9A-7845F502A88F}"/>
              </a:ext>
            </a:extLst>
          </p:cNvPr>
          <p:cNvSpPr/>
          <p:nvPr/>
        </p:nvSpPr>
        <p:spPr>
          <a:xfrm>
            <a:off x="8921989" y="5324165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20DB027-3F9B-29D7-DB03-2E8EBB021AD2}"/>
              </a:ext>
            </a:extLst>
          </p:cNvPr>
          <p:cNvSpPr/>
          <p:nvPr/>
        </p:nvSpPr>
        <p:spPr>
          <a:xfrm>
            <a:off x="8538531" y="5748896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6" name="Graphic 15" descr="Fence outline">
            <a:extLst>
              <a:ext uri="{FF2B5EF4-FFF2-40B4-BE49-F238E27FC236}">
                <a16:creationId xmlns:a16="http://schemas.microsoft.com/office/drawing/2014/main" id="{C3FFE2B4-C0B4-BB9A-6125-C03D66BF15D7}"/>
              </a:ext>
            </a:extLst>
          </p:cNvPr>
          <p:cNvSpPr/>
          <p:nvPr/>
        </p:nvSpPr>
        <p:spPr>
          <a:xfrm>
            <a:off x="5105416" y="5175499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308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85185E-6 C 2.91667E-6 0.01296 0.02487 0.02384 0.05547 0.02384 C 0.09153 0.02384 0.10455 0.01181 0.11002 0.00463 L 0.11562 -0.00486 C 0.12122 -0.0118 0.13502 -0.02291 0.17578 -0.02291 C 0.20169 -0.02291 0.23164 -0.01319 0.23164 -1.85185E-6 C 0.23164 0.01296 0.20169 0.02384 0.17578 0.02384 C 0.13502 0.02384 0.12122 0.01181 0.11562 0.00463 L 0.11002 -0.00486 C 0.10455 -0.0118 0.09153 -0.02291 0.05547 -0.02291 C 0.02487 -0.02291 2.91667E-6 -0.01319 2.91667E-6 -1.85185E-6 Z " pathEditMode="relative" rAng="0" ptsTypes="AAAAAAAAAAA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76" y="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95833E-6 3.33333E-6 L 0.14284 3.33333E-6 L 0.17982 -0.03473 L -0.03411 -0.03473 L -3.95833E-6 3.33333E-6 Z " pathEditMode="relative" rAng="0" ptsTypes="AAAAA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6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6.25E-7 4.07407E-6 C -6.25E-7 0.01342 -0.02891 0.02453 -0.06458 0.02453 C -0.10599 0.02453 -0.12122 0.01226 -0.1276 0.00486 L -0.13385 -0.00487 C -0.14049 -0.01227 -0.15651 -0.02431 -0.20351 -0.02431 C -0.23359 -0.02431 -0.26771 -0.01343 -0.26771 4.07407E-6 C -0.26771 0.01342 -0.23359 0.02453 -0.20351 0.02453 C -0.15651 0.02453 -0.14049 0.01226 -0.13385 0.00486 L -0.1276 -0.00487 C -0.12122 -0.01227 -0.10599 -0.02431 -0.06458 -0.02431 C -0.02891 -0.02431 -6.25E-7 -0.01343 -6.25E-7 4.07407E-6 Z " pathEditMode="relative" rAng="0" ptsTypes="AAAAAAAAAAA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0" presetClass="path" presetSubtype="0" accel="50000" de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2.08333E-7 0.01783 C -2.08333E-7 0.01297 -0.02409 0.00903 -0.05352 0.00903 L -0.17721 0.00903 C -0.20664 0.00903 -0.2306 0.01297 -0.2306 0.01783 L -0.2306 0.03843 C -0.2306 0.04329 -0.20664 0.04769 -0.17721 0.04769 L -0.05352 0.04769 C -0.02409 0.04769 -2.08333E-7 0.04329 -2.08333E-7 0.03843 L -2.08333E-7 0.01783 Z " pathEditMode="relative" rAng="0" ptsTypes="AAAAAAAAA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36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1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12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13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8991-6017-A42A-21C7-DA211660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8A82-6BF0-340A-1BBA-46F0BDCA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Store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88122-1018-AA50-3ACD-AFC6A4B5D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6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x86/64:    </a:t>
            </a:r>
            <a:r>
              <a:rPr lang="en-US" dirty="0">
                <a:latin typeface="Consolas" panose="020B0609020204030204" pitchFamily="49" charset="0"/>
              </a:rPr>
              <a:t>SFENCE</a:t>
            </a:r>
          </a:p>
          <a:p>
            <a:pPr lvl="1"/>
            <a:r>
              <a:rPr lang="en-US" dirty="0"/>
              <a:t>Controls completion</a:t>
            </a:r>
          </a:p>
          <a:p>
            <a:pPr lvl="1"/>
            <a:r>
              <a:rPr lang="en-US" dirty="0"/>
              <a:t>Drain store buffer, stall until older stores are visible everywhere</a:t>
            </a:r>
          </a:p>
          <a:p>
            <a:pPr lvl="1"/>
            <a:r>
              <a:rPr lang="en-US" dirty="0"/>
              <a:t>Reorder barrier</a:t>
            </a:r>
          </a:p>
          <a:p>
            <a:pPr lvl="1"/>
            <a:r>
              <a:rPr lang="en-US" i="1" dirty="0"/>
              <a:t>Regular stores are already ordered!  </a:t>
            </a:r>
            <a:r>
              <a:rPr lang="en-US" dirty="0"/>
              <a:t>Empty </a:t>
            </a:r>
            <a:r>
              <a:rPr lang="en-US" dirty="0" err="1"/>
              <a:t>pessimization</a:t>
            </a:r>
            <a:endParaRPr lang="en-US" dirty="0"/>
          </a:p>
          <a:p>
            <a:pPr lvl="1"/>
            <a:r>
              <a:rPr lang="en-US" dirty="0"/>
              <a:t>Impacts special non-cached store instructions (MOVNT*).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CD7015-19B0-D27D-2EB0-C35EFF24AD23}"/>
              </a:ext>
            </a:extLst>
          </p:cNvPr>
          <p:cNvCxnSpPr/>
          <p:nvPr/>
        </p:nvCxnSpPr>
        <p:spPr>
          <a:xfrm>
            <a:off x="1936365" y="5314234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420EAE9-CDE2-A2E0-32D3-614864E8BC3C}"/>
              </a:ext>
            </a:extLst>
          </p:cNvPr>
          <p:cNvSpPr/>
          <p:nvPr/>
        </p:nvSpPr>
        <p:spPr>
          <a:xfrm>
            <a:off x="1936365" y="5461718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CEA9C0-4C3A-127E-5E52-3F545F7D37AF}"/>
              </a:ext>
            </a:extLst>
          </p:cNvPr>
          <p:cNvSpPr/>
          <p:nvPr/>
        </p:nvSpPr>
        <p:spPr>
          <a:xfrm>
            <a:off x="8897605" y="5461718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2" name="Graphic 15" descr="Fence outline">
            <a:extLst>
              <a:ext uri="{FF2B5EF4-FFF2-40B4-BE49-F238E27FC236}">
                <a16:creationId xmlns:a16="http://schemas.microsoft.com/office/drawing/2014/main" id="{668F1EF1-455D-0993-F4BD-E3FE0BBAD4FF}"/>
              </a:ext>
            </a:extLst>
          </p:cNvPr>
          <p:cNvSpPr/>
          <p:nvPr/>
        </p:nvSpPr>
        <p:spPr>
          <a:xfrm>
            <a:off x="5081032" y="5129410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560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1"/>
                            </p:stCondLst>
                            <p:childTnLst>
                              <p:par>
                                <p:cTn id="8" presetID="2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81481E-6 C 2.91667E-6 0.01297 0.02487 0.02385 0.05547 0.02385 C 0.09153 0.02385 0.10455 0.01181 0.11002 0.00463 L 0.11562 -0.00486 C 0.12122 -0.0118 0.13502 -0.02291 0.17578 -0.02291 C 0.20169 -0.02291 0.23164 -0.01319 0.23164 -4.81481E-6 C 0.23164 0.01297 0.20169 0.02385 0.17578 0.02385 C 0.13502 0.02385 0.12122 0.01181 0.11562 0.00463 L 0.11002 -0.00486 C 0.10455 -0.0118 0.09153 -0.02291 0.05547 -0.02291 C 0.02487 -0.02291 2.91667E-6 -0.01319 2.91667E-6 -4.81481E-6 Z " pathEditMode="relative" rAng="0" ptsTypes="AAAAAAAAAAA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76" y="4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6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6.25E-7 -4.81481E-6 C -6.25E-7 0.01343 -0.02891 0.02454 -0.06458 0.02454 C -0.10599 0.02454 -0.12122 0.01227 -0.1276 0.00487 L -0.13385 -0.00486 C -0.14049 -0.01226 -0.15651 -0.0243 -0.20351 -0.0243 C -0.23359 -0.0243 -0.26771 -0.01342 -0.26771 -4.81481E-6 C -0.26771 0.01343 -0.23359 0.02454 -0.20351 0.02454 C -0.15651 0.02454 -0.14049 0.01227 -0.13385 0.00487 L -0.1276 -0.00486 C -0.12122 -0.01226 -0.10599 -0.0243 -0.06458 -0.0243 C -0.02891 -0.0243 -6.25E-7 -0.01342 -6.25E-7 -4.81481E-6 Z " pathEditMode="relative" rAng="0" ptsTypes="AAAAAAAAAAA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11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97315-A16A-8565-DF3F-2C1F97B4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E185-CC3E-3748-CAEF-D0DAF2CA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Load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85D9D-CC05-138D-8351-F381F091A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6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x86/64:    </a:t>
            </a:r>
            <a:r>
              <a:rPr lang="en-US" dirty="0">
                <a:latin typeface="Consolas" panose="020B0609020204030204" pitchFamily="49" charset="0"/>
              </a:rPr>
              <a:t>LFENCE</a:t>
            </a:r>
          </a:p>
          <a:p>
            <a:pPr lvl="1"/>
            <a:r>
              <a:rPr lang="en-US" dirty="0"/>
              <a:t>Block a younger read from issuing until all older reads have completed</a:t>
            </a:r>
          </a:p>
          <a:p>
            <a:pPr lvl="2"/>
            <a:r>
              <a:rPr lang="en-US" dirty="0"/>
              <a:t>Completed = issued + resolved cache misses + retired</a:t>
            </a:r>
          </a:p>
          <a:p>
            <a:pPr lvl="1"/>
            <a:r>
              <a:rPr lang="en-US" dirty="0"/>
              <a:t>Block speculative execution past the fence </a:t>
            </a:r>
          </a:p>
          <a:p>
            <a:pPr lvl="2"/>
            <a:r>
              <a:rPr lang="en-US" dirty="0"/>
              <a:t>only in recent generations – 2018+ (since </a:t>
            </a:r>
            <a:r>
              <a:rPr lang="en-US" dirty="0" err="1"/>
              <a:t>Spectre</a:t>
            </a:r>
            <a:r>
              <a:rPr lang="en-US" dirty="0"/>
              <a:t>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F5E121-23BC-6C7E-C084-A6E6B630D9B6}"/>
              </a:ext>
            </a:extLst>
          </p:cNvPr>
          <p:cNvCxnSpPr/>
          <p:nvPr/>
        </p:nvCxnSpPr>
        <p:spPr>
          <a:xfrm>
            <a:off x="1680333" y="5176681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ABAC580-5C35-F0C1-6EDD-69293319C7E7}"/>
              </a:ext>
            </a:extLst>
          </p:cNvPr>
          <p:cNvSpPr/>
          <p:nvPr/>
        </p:nvSpPr>
        <p:spPr>
          <a:xfrm>
            <a:off x="2338267" y="5419712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9DBD19-1E0D-CA88-181C-B3C758DA986A}"/>
              </a:ext>
            </a:extLst>
          </p:cNvPr>
          <p:cNvSpPr/>
          <p:nvPr/>
        </p:nvSpPr>
        <p:spPr>
          <a:xfrm>
            <a:off x="8258115" y="5419712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10" name="Graphic 15" descr="Fence outline">
            <a:extLst>
              <a:ext uri="{FF2B5EF4-FFF2-40B4-BE49-F238E27FC236}">
                <a16:creationId xmlns:a16="http://schemas.microsoft.com/office/drawing/2014/main" id="{DDDE7C9E-4144-F83E-EE53-6A9F6DBF504E}"/>
              </a:ext>
            </a:extLst>
          </p:cNvPr>
          <p:cNvSpPr/>
          <p:nvPr/>
        </p:nvSpPr>
        <p:spPr>
          <a:xfrm>
            <a:off x="4774208" y="5108480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060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1"/>
                            </p:stCondLst>
                            <p:childTnLst>
                              <p:par>
                                <p:cTn id="8" presetID="8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0.14284 3.7037E-6 L 0.17982 -0.03473 L -0.03411 -0.03473 L -3.33333E-6 3.7037E-6 Z " pathEditMode="relative" rAng="0" ptsTypes="AAAAA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0.01782 C -2.08333E-7 0.01296 -0.02409 0.00902 -0.05352 0.00902 L -0.17721 0.00902 C -0.20664 0.00902 -0.2306 0.01296 -0.2306 0.01782 L -0.2306 0.03842 C -0.2306 0.04328 -0.20664 0.04768 -0.17721 0.04768 L -0.05352 0.04768 C -0.02409 0.04768 -2.08333E-7 0.04328 -2.08333E-7 0.03842 L -2.08333E-7 0.01782 Z " pathEditMode="relative" rAng="0" ptsTypes="AAAAAAAAA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36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81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A847-E78A-51A6-268B-5518497C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ARM: Acquire / Release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EFBB-2D72-9E3A-5C95-393594588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dmb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ld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latin typeface="Consolas" panose="020B0609020204030204" pitchFamily="49" charset="0"/>
              </a:rPr>
              <a:t>dmb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st</a:t>
            </a:r>
            <a:endParaRPr lang="LID4096" dirty="0">
              <a:latin typeface="Consolas" panose="020B06090202040302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FF2F54-31E1-C48B-44E9-5F139DB09C18}"/>
              </a:ext>
            </a:extLst>
          </p:cNvPr>
          <p:cNvCxnSpPr/>
          <p:nvPr/>
        </p:nvCxnSpPr>
        <p:spPr>
          <a:xfrm>
            <a:off x="1716909" y="2543209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1A66AFD-E11C-0DFC-8853-6B1066CC17A9}"/>
              </a:ext>
            </a:extLst>
          </p:cNvPr>
          <p:cNvSpPr/>
          <p:nvPr/>
        </p:nvSpPr>
        <p:spPr>
          <a:xfrm>
            <a:off x="8678149" y="2690693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CAE93-F421-8806-7891-F3F39CA3239C}"/>
              </a:ext>
            </a:extLst>
          </p:cNvPr>
          <p:cNvSpPr/>
          <p:nvPr/>
        </p:nvSpPr>
        <p:spPr>
          <a:xfrm>
            <a:off x="8294691" y="3115424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244880-2AE8-EDDE-9E6D-20221DA056D3}"/>
              </a:ext>
            </a:extLst>
          </p:cNvPr>
          <p:cNvCxnSpPr/>
          <p:nvPr/>
        </p:nvCxnSpPr>
        <p:spPr>
          <a:xfrm>
            <a:off x="1716909" y="4730162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77B6439-815A-6381-6D55-B14825DB1EDF}"/>
              </a:ext>
            </a:extLst>
          </p:cNvPr>
          <p:cNvSpPr/>
          <p:nvPr/>
        </p:nvSpPr>
        <p:spPr>
          <a:xfrm>
            <a:off x="1716909" y="4877646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BEDE34-23EB-AC0D-5049-2FEACC2C9F63}"/>
              </a:ext>
            </a:extLst>
          </p:cNvPr>
          <p:cNvSpPr/>
          <p:nvPr/>
        </p:nvSpPr>
        <p:spPr>
          <a:xfrm>
            <a:off x="2374843" y="5302377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87688B-7EC8-BC32-A785-C8C557DFD0C6}"/>
              </a:ext>
            </a:extLst>
          </p:cNvPr>
          <p:cNvSpPr txBox="1"/>
          <p:nvPr/>
        </p:nvSpPr>
        <p:spPr>
          <a:xfrm>
            <a:off x="2833081" y="1825625"/>
            <a:ext cx="2190023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LID409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EE2969-7369-CD05-9658-AFAED041CC42}"/>
              </a:ext>
            </a:extLst>
          </p:cNvPr>
          <p:cNvSpPr txBox="1"/>
          <p:nvPr/>
        </p:nvSpPr>
        <p:spPr>
          <a:xfrm>
            <a:off x="2381977" y="3871343"/>
            <a:ext cx="2190023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LID4096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6AEAF56-DE24-551B-7EE6-11EC9BA68B6A}"/>
              </a:ext>
            </a:extLst>
          </p:cNvPr>
          <p:cNvSpPr/>
          <p:nvPr/>
        </p:nvSpPr>
        <p:spPr>
          <a:xfrm>
            <a:off x="2374843" y="3044903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97F9E2D-4972-8F95-871D-98BF08BEB75F}"/>
              </a:ext>
            </a:extLst>
          </p:cNvPr>
          <p:cNvSpPr/>
          <p:nvPr/>
        </p:nvSpPr>
        <p:spPr>
          <a:xfrm>
            <a:off x="8678149" y="4991145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6" name="Graphic 15" descr="Fence outline">
            <a:extLst>
              <a:ext uri="{FF2B5EF4-FFF2-40B4-BE49-F238E27FC236}">
                <a16:creationId xmlns:a16="http://schemas.microsoft.com/office/drawing/2014/main" id="{C782F127-B049-7EF9-B6C6-B265A74A7FC8}"/>
              </a:ext>
            </a:extLst>
          </p:cNvPr>
          <p:cNvSpPr/>
          <p:nvPr/>
        </p:nvSpPr>
        <p:spPr>
          <a:xfrm>
            <a:off x="4892056" y="2406107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15" name="Graphic 15" descr="Fence outline">
            <a:extLst>
              <a:ext uri="{FF2B5EF4-FFF2-40B4-BE49-F238E27FC236}">
                <a16:creationId xmlns:a16="http://schemas.microsoft.com/office/drawing/2014/main" id="{5D5F0484-D12C-CB87-6F11-5F72FB477738}"/>
              </a:ext>
            </a:extLst>
          </p:cNvPr>
          <p:cNvSpPr/>
          <p:nvPr/>
        </p:nvSpPr>
        <p:spPr>
          <a:xfrm>
            <a:off x="4861576" y="4679915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282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C -6.25E-7 0.01342 -0.02891 0.02454 -0.06458 0.02454 C -0.10599 0.02454 -0.12122 0.01227 -0.1276 0.00486 L -0.13385 -0.00486 C -0.14049 -0.01227 -0.15651 -0.02431 -0.20351 -0.02431 C -0.23359 -0.02431 -0.26771 -0.01343 -0.26771 1.85185E-6 C -0.26771 0.01342 -0.23359 0.02454 -0.20351 0.02454 C -0.15651 0.02454 -0.14049 0.01227 -0.13385 0.00486 L -0.1276 -0.00486 C -0.12122 -0.01227 -0.10599 -0.02431 -0.06458 -0.02431 C -0.02891 -0.02431 -6.25E-7 -0.01343 -6.25E-7 1.85185E-6 Z " pathEditMode="relative" rAng="0" ptsTypes="AAAAAAAAA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0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08333E-7 0.01782 C -2.08333E-7 0.01296 -0.02409 0.00902 -0.05352 0.00902 L -0.17721 0.00902 C -0.20664 0.00902 -0.2306 0.01296 -0.2306 0.01782 L -0.2306 0.03842 C -0.2306 0.04328 -0.20664 0.04768 -0.17721 0.04768 L -0.05352 0.04768 C -0.02409 0.04768 -2.08333E-7 0.04328 -2.08333E-7 0.03842 L -2.08333E-7 0.01782 Z " pathEditMode="relative" rAng="0" ptsTypes="AAAAAAA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36" y="104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 L 0.14284 0 L 0.17982 -0.03472 L -0.03411 -0.03472 L -3.33333E-6 0 Z " pathEditMode="relative" rAng="0" ptsTypes="AAAAA">
                                      <p:cBhvr>
                                        <p:cTn id="1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7 C 2.91667E-6 0.01296 0.02487 0.02384 0.05547 0.02384 C 0.09153 0.02384 0.10455 0.01181 0.11002 0.00463 L 0.11562 -0.00486 C 0.12122 -0.01181 0.13502 -0.02292 0.17578 -0.02292 C 0.20169 -0.02292 0.23164 -0.01319 0.23164 3.7037E-7 C 0.23164 0.01296 0.20169 0.02384 0.17578 0.02384 C 0.13502 0.02384 0.12122 0.01181 0.11562 0.00463 L 0.11002 -0.00486 C 0.10455 -0.01181 0.09153 -0.02292 0.05547 -0.02292 C 0.02487 -0.02292 2.91667E-6 -0.01319 2.91667E-6 3.7037E-7 Z " pathEditMode="relative" rAng="0" ptsTypes="AAAAAAAAAAA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76" y="4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33333E-6 3.33333E-6 L 0.14284 3.33333E-6 L 0.17982 -0.03473 L -0.03411 -0.03473 L -3.33333E-6 3.33333E-6 Z " pathEditMode="relative" rAng="0" ptsTypes="AAAAA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6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6.25E-7 1.85185E-6 C -6.25E-7 0.01342 -0.02891 0.02454 -0.06458 0.02454 C -0.10599 0.02454 -0.12122 0.01227 -0.1276 0.00486 L -0.13385 -0.00486 C -0.14049 -0.01227 -0.15651 -0.02431 -0.20351 -0.02431 C -0.23359 -0.02431 -0.26771 -0.01343 -0.26771 1.85185E-6 C -0.26771 0.01342 -0.23359 0.02454 -0.20351 0.02454 C -0.15651 0.02454 -0.14049 0.01227 -0.13385 0.00486 L -0.1276 -0.00486 C -0.12122 -0.01227 -0.10599 -0.02431 -0.06458 -0.02431 C -0.02891 -0.02431 -6.25E-7 -0.01343 -6.25E-7 1.85185E-6 Z " pathEditMode="relative" rAng="0" ptsTypes="AAAAAAAAAAA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F07F8-523E-3B23-F2FE-1C4FF308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D2C5-716B-6CC9-72DD-DC718224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ARM: Acquire / Release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7B62-0354-EEB9-63A0-63CC5798A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dmb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ld</a:t>
            </a:r>
            <a:endParaRPr lang="en-US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dmb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st</a:t>
            </a:r>
            <a:endParaRPr lang="LID4096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C78B10-5769-9F3E-1B90-AE13243C5966}"/>
              </a:ext>
            </a:extLst>
          </p:cNvPr>
          <p:cNvCxnSpPr/>
          <p:nvPr/>
        </p:nvCxnSpPr>
        <p:spPr>
          <a:xfrm>
            <a:off x="1765677" y="2543209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AECDB92-E46A-C030-4B3C-B88A6EB19071}"/>
              </a:ext>
            </a:extLst>
          </p:cNvPr>
          <p:cNvSpPr/>
          <p:nvPr/>
        </p:nvSpPr>
        <p:spPr>
          <a:xfrm>
            <a:off x="8726917" y="2690693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230EEA-E21D-959C-7181-6B494E950ED2}"/>
              </a:ext>
            </a:extLst>
          </p:cNvPr>
          <p:cNvSpPr/>
          <p:nvPr/>
        </p:nvSpPr>
        <p:spPr>
          <a:xfrm>
            <a:off x="8343459" y="3115424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CB263E-4602-2BD0-EA44-40773AA1BC6D}"/>
              </a:ext>
            </a:extLst>
          </p:cNvPr>
          <p:cNvCxnSpPr/>
          <p:nvPr/>
        </p:nvCxnSpPr>
        <p:spPr>
          <a:xfrm>
            <a:off x="1765677" y="4730162"/>
            <a:ext cx="8067368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1DC15AC-C4A2-9014-C712-A7EA0A33DC18}"/>
              </a:ext>
            </a:extLst>
          </p:cNvPr>
          <p:cNvSpPr/>
          <p:nvPr/>
        </p:nvSpPr>
        <p:spPr>
          <a:xfrm>
            <a:off x="1765677" y="4877646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9493A8-E513-DA7E-62AE-2EB5FB9FEED3}"/>
              </a:ext>
            </a:extLst>
          </p:cNvPr>
          <p:cNvSpPr/>
          <p:nvPr/>
        </p:nvSpPr>
        <p:spPr>
          <a:xfrm>
            <a:off x="2423611" y="5302377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C080CE-12BC-507F-70B0-F63989ED89BD}"/>
              </a:ext>
            </a:extLst>
          </p:cNvPr>
          <p:cNvSpPr txBox="1"/>
          <p:nvPr/>
        </p:nvSpPr>
        <p:spPr>
          <a:xfrm>
            <a:off x="2833081" y="1825625"/>
            <a:ext cx="2190023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LID409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92E23C-E953-1394-BCA9-D6B2997CFC29}"/>
              </a:ext>
            </a:extLst>
          </p:cNvPr>
          <p:cNvSpPr txBox="1"/>
          <p:nvPr/>
        </p:nvSpPr>
        <p:spPr>
          <a:xfrm>
            <a:off x="3180913" y="1825625"/>
            <a:ext cx="4418066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 err="1"/>
              <a:t>ldar</a:t>
            </a:r>
            <a:r>
              <a:rPr lang="en-US" dirty="0"/>
              <a:t> – Load Acquire</a:t>
            </a:r>
            <a:endParaRPr lang="LID409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5E5C07-7C8A-4B72-A3B6-EBEBB0FEAFCB}"/>
              </a:ext>
            </a:extLst>
          </p:cNvPr>
          <p:cNvSpPr txBox="1"/>
          <p:nvPr/>
        </p:nvSpPr>
        <p:spPr>
          <a:xfrm>
            <a:off x="2430745" y="3871343"/>
            <a:ext cx="2190023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LID4096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614107-D3E9-C769-DDC6-2BE34B98A5EA}"/>
              </a:ext>
            </a:extLst>
          </p:cNvPr>
          <p:cNvSpPr txBox="1"/>
          <p:nvPr/>
        </p:nvSpPr>
        <p:spPr>
          <a:xfrm>
            <a:off x="3180913" y="3872811"/>
            <a:ext cx="4418066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 err="1"/>
              <a:t>stlr</a:t>
            </a:r>
            <a:r>
              <a:rPr lang="en-US" dirty="0"/>
              <a:t> – Store Release</a:t>
            </a:r>
            <a:endParaRPr lang="LID4096" dirty="0"/>
          </a:p>
        </p:txBody>
      </p:sp>
      <p:sp>
        <p:nvSpPr>
          <p:cNvPr id="16" name="Graphic 15" descr="Fence outline">
            <a:extLst>
              <a:ext uri="{FF2B5EF4-FFF2-40B4-BE49-F238E27FC236}">
                <a16:creationId xmlns:a16="http://schemas.microsoft.com/office/drawing/2014/main" id="{D64240EF-E360-1B23-C8BD-8A14167FC109}"/>
              </a:ext>
            </a:extLst>
          </p:cNvPr>
          <p:cNvSpPr/>
          <p:nvPr/>
        </p:nvSpPr>
        <p:spPr>
          <a:xfrm>
            <a:off x="4940824" y="2406107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15" name="Graphic 15" descr="Fence outline">
            <a:extLst>
              <a:ext uri="{FF2B5EF4-FFF2-40B4-BE49-F238E27FC236}">
                <a16:creationId xmlns:a16="http://schemas.microsoft.com/office/drawing/2014/main" id="{A227C79B-61AB-DB2D-28DF-362B93152706}"/>
              </a:ext>
            </a:extLst>
          </p:cNvPr>
          <p:cNvSpPr/>
          <p:nvPr/>
        </p:nvSpPr>
        <p:spPr>
          <a:xfrm>
            <a:off x="4910344" y="4679915"/>
            <a:ext cx="1394576" cy="1047193"/>
          </a:xfrm>
          <a:custGeom>
            <a:avLst/>
            <a:gdLst>
              <a:gd name="csX0" fmla="*/ 965981 w 965980"/>
              <a:gd name="csY0" fmla="*/ 217346 h 676186"/>
              <a:gd name="csX1" fmla="*/ 965981 w 965980"/>
              <a:gd name="csY1" fmla="*/ 193196 h 676186"/>
              <a:gd name="csX2" fmla="*/ 929757 w 965980"/>
              <a:gd name="csY2" fmla="*/ 193196 h 676186"/>
              <a:gd name="csX3" fmla="*/ 929757 w 965980"/>
              <a:gd name="csY3" fmla="*/ 72449 h 676186"/>
              <a:gd name="csX4" fmla="*/ 869383 w 965980"/>
              <a:gd name="csY4" fmla="*/ 0 h 676186"/>
              <a:gd name="csX5" fmla="*/ 809009 w 965980"/>
              <a:gd name="csY5" fmla="*/ 72449 h 676186"/>
              <a:gd name="csX6" fmla="*/ 809009 w 965980"/>
              <a:gd name="csY6" fmla="*/ 193196 h 676186"/>
              <a:gd name="csX7" fmla="*/ 736560 w 965980"/>
              <a:gd name="csY7" fmla="*/ 193196 h 676186"/>
              <a:gd name="csX8" fmla="*/ 736560 w 965980"/>
              <a:gd name="csY8" fmla="*/ 72449 h 676186"/>
              <a:gd name="csX9" fmla="*/ 676187 w 965980"/>
              <a:gd name="csY9" fmla="*/ 0 h 676186"/>
              <a:gd name="csX10" fmla="*/ 615813 w 965980"/>
              <a:gd name="csY10" fmla="*/ 72449 h 676186"/>
              <a:gd name="csX11" fmla="*/ 615813 w 965980"/>
              <a:gd name="csY11" fmla="*/ 193196 h 676186"/>
              <a:gd name="csX12" fmla="*/ 543364 w 965980"/>
              <a:gd name="csY12" fmla="*/ 193196 h 676186"/>
              <a:gd name="csX13" fmla="*/ 543364 w 965980"/>
              <a:gd name="csY13" fmla="*/ 72449 h 676186"/>
              <a:gd name="csX14" fmla="*/ 482990 w 965980"/>
              <a:gd name="csY14" fmla="*/ 0 h 676186"/>
              <a:gd name="csX15" fmla="*/ 422617 w 965980"/>
              <a:gd name="csY15" fmla="*/ 72449 h 676186"/>
              <a:gd name="csX16" fmla="*/ 422617 w 965980"/>
              <a:gd name="csY16" fmla="*/ 193196 h 676186"/>
              <a:gd name="csX17" fmla="*/ 350168 w 965980"/>
              <a:gd name="csY17" fmla="*/ 193196 h 676186"/>
              <a:gd name="csX18" fmla="*/ 350168 w 965980"/>
              <a:gd name="csY18" fmla="*/ 72449 h 676186"/>
              <a:gd name="csX19" fmla="*/ 289794 w 965980"/>
              <a:gd name="csY19" fmla="*/ 0 h 676186"/>
              <a:gd name="csX20" fmla="*/ 229420 w 965980"/>
              <a:gd name="csY20" fmla="*/ 72449 h 676186"/>
              <a:gd name="csX21" fmla="*/ 229420 w 965980"/>
              <a:gd name="csY21" fmla="*/ 193196 h 676186"/>
              <a:gd name="csX22" fmla="*/ 156972 w 965980"/>
              <a:gd name="csY22" fmla="*/ 193196 h 676186"/>
              <a:gd name="csX23" fmla="*/ 156972 w 965980"/>
              <a:gd name="csY23" fmla="*/ 72449 h 676186"/>
              <a:gd name="csX24" fmla="*/ 96598 w 965980"/>
              <a:gd name="csY24" fmla="*/ 0 h 676186"/>
              <a:gd name="csX25" fmla="*/ 36224 w 965980"/>
              <a:gd name="csY25" fmla="*/ 72449 h 676186"/>
              <a:gd name="csX26" fmla="*/ 36224 w 965980"/>
              <a:gd name="csY26" fmla="*/ 193196 h 676186"/>
              <a:gd name="csX27" fmla="*/ 0 w 965980"/>
              <a:gd name="csY27" fmla="*/ 193196 h 676186"/>
              <a:gd name="csX28" fmla="*/ 0 w 965980"/>
              <a:gd name="csY28" fmla="*/ 217346 h 676186"/>
              <a:gd name="csX29" fmla="*/ 36224 w 965980"/>
              <a:gd name="csY29" fmla="*/ 217346 h 676186"/>
              <a:gd name="csX30" fmla="*/ 36224 w 965980"/>
              <a:gd name="csY30" fmla="*/ 507140 h 676186"/>
              <a:gd name="csX31" fmla="*/ 0 w 965980"/>
              <a:gd name="csY31" fmla="*/ 507140 h 676186"/>
              <a:gd name="csX32" fmla="*/ 0 w 965980"/>
              <a:gd name="csY32" fmla="*/ 531289 h 676186"/>
              <a:gd name="csX33" fmla="*/ 36224 w 965980"/>
              <a:gd name="csY33" fmla="*/ 531289 h 676186"/>
              <a:gd name="csX34" fmla="*/ 36224 w 965980"/>
              <a:gd name="csY34" fmla="*/ 676187 h 676186"/>
              <a:gd name="csX35" fmla="*/ 156972 w 965980"/>
              <a:gd name="csY35" fmla="*/ 676187 h 676186"/>
              <a:gd name="csX36" fmla="*/ 156972 w 965980"/>
              <a:gd name="csY36" fmla="*/ 531289 h 676186"/>
              <a:gd name="csX37" fmla="*/ 229420 w 965980"/>
              <a:gd name="csY37" fmla="*/ 531289 h 676186"/>
              <a:gd name="csX38" fmla="*/ 229420 w 965980"/>
              <a:gd name="csY38" fmla="*/ 676187 h 676186"/>
              <a:gd name="csX39" fmla="*/ 350168 w 965980"/>
              <a:gd name="csY39" fmla="*/ 676187 h 676186"/>
              <a:gd name="csX40" fmla="*/ 350168 w 965980"/>
              <a:gd name="csY40" fmla="*/ 531289 h 676186"/>
              <a:gd name="csX41" fmla="*/ 422617 w 965980"/>
              <a:gd name="csY41" fmla="*/ 531289 h 676186"/>
              <a:gd name="csX42" fmla="*/ 422617 w 965980"/>
              <a:gd name="csY42" fmla="*/ 676187 h 676186"/>
              <a:gd name="csX43" fmla="*/ 543364 w 965980"/>
              <a:gd name="csY43" fmla="*/ 676187 h 676186"/>
              <a:gd name="csX44" fmla="*/ 543364 w 965980"/>
              <a:gd name="csY44" fmla="*/ 531289 h 676186"/>
              <a:gd name="csX45" fmla="*/ 615813 w 965980"/>
              <a:gd name="csY45" fmla="*/ 531289 h 676186"/>
              <a:gd name="csX46" fmla="*/ 615813 w 965980"/>
              <a:gd name="csY46" fmla="*/ 676187 h 676186"/>
              <a:gd name="csX47" fmla="*/ 736560 w 965980"/>
              <a:gd name="csY47" fmla="*/ 676187 h 676186"/>
              <a:gd name="csX48" fmla="*/ 736560 w 965980"/>
              <a:gd name="csY48" fmla="*/ 531289 h 676186"/>
              <a:gd name="csX49" fmla="*/ 809009 w 965980"/>
              <a:gd name="csY49" fmla="*/ 531289 h 676186"/>
              <a:gd name="csX50" fmla="*/ 809009 w 965980"/>
              <a:gd name="csY50" fmla="*/ 676187 h 676186"/>
              <a:gd name="csX51" fmla="*/ 929757 w 965980"/>
              <a:gd name="csY51" fmla="*/ 676187 h 676186"/>
              <a:gd name="csX52" fmla="*/ 929757 w 965980"/>
              <a:gd name="csY52" fmla="*/ 531289 h 676186"/>
              <a:gd name="csX53" fmla="*/ 965981 w 965980"/>
              <a:gd name="csY53" fmla="*/ 531289 h 676186"/>
              <a:gd name="csX54" fmla="*/ 965981 w 965980"/>
              <a:gd name="csY54" fmla="*/ 507140 h 676186"/>
              <a:gd name="csX55" fmla="*/ 929757 w 965980"/>
              <a:gd name="csY55" fmla="*/ 507140 h 676186"/>
              <a:gd name="csX56" fmla="*/ 929757 w 965980"/>
              <a:gd name="csY56" fmla="*/ 217346 h 676186"/>
              <a:gd name="csX57" fmla="*/ 132822 w 965980"/>
              <a:gd name="csY57" fmla="*/ 169047 h 676186"/>
              <a:gd name="csX58" fmla="*/ 132822 w 965980"/>
              <a:gd name="csY58" fmla="*/ 652037 h 676186"/>
              <a:gd name="csX59" fmla="*/ 60374 w 965980"/>
              <a:gd name="csY59" fmla="*/ 652037 h 676186"/>
              <a:gd name="csX60" fmla="*/ 60374 w 965980"/>
              <a:gd name="csY60" fmla="*/ 81191 h 676186"/>
              <a:gd name="csX61" fmla="*/ 96598 w 965980"/>
              <a:gd name="csY61" fmla="*/ 37722 h 676186"/>
              <a:gd name="csX62" fmla="*/ 132822 w 965980"/>
              <a:gd name="csY62" fmla="*/ 81191 h 676186"/>
              <a:gd name="csX63" fmla="*/ 156972 w 965980"/>
              <a:gd name="csY63" fmla="*/ 507140 h 676186"/>
              <a:gd name="csX64" fmla="*/ 156972 w 965980"/>
              <a:gd name="csY64" fmla="*/ 217346 h 676186"/>
              <a:gd name="csX65" fmla="*/ 229420 w 965980"/>
              <a:gd name="csY65" fmla="*/ 217346 h 676186"/>
              <a:gd name="csX66" fmla="*/ 229420 w 965980"/>
              <a:gd name="csY66" fmla="*/ 507140 h 676186"/>
              <a:gd name="csX67" fmla="*/ 326019 w 965980"/>
              <a:gd name="csY67" fmla="*/ 169047 h 676186"/>
              <a:gd name="csX68" fmla="*/ 326019 w 965980"/>
              <a:gd name="csY68" fmla="*/ 652037 h 676186"/>
              <a:gd name="csX69" fmla="*/ 253570 w 965980"/>
              <a:gd name="csY69" fmla="*/ 652037 h 676186"/>
              <a:gd name="csX70" fmla="*/ 253570 w 965980"/>
              <a:gd name="csY70" fmla="*/ 81191 h 676186"/>
              <a:gd name="csX71" fmla="*/ 289794 w 965980"/>
              <a:gd name="csY71" fmla="*/ 37722 h 676186"/>
              <a:gd name="csX72" fmla="*/ 326019 w 965980"/>
              <a:gd name="csY72" fmla="*/ 81191 h 676186"/>
              <a:gd name="csX73" fmla="*/ 350168 w 965980"/>
              <a:gd name="csY73" fmla="*/ 507140 h 676186"/>
              <a:gd name="csX74" fmla="*/ 350168 w 965980"/>
              <a:gd name="csY74" fmla="*/ 217346 h 676186"/>
              <a:gd name="csX75" fmla="*/ 422617 w 965980"/>
              <a:gd name="csY75" fmla="*/ 217346 h 676186"/>
              <a:gd name="csX76" fmla="*/ 422617 w 965980"/>
              <a:gd name="csY76" fmla="*/ 507140 h 676186"/>
              <a:gd name="csX77" fmla="*/ 519215 w 965980"/>
              <a:gd name="csY77" fmla="*/ 169047 h 676186"/>
              <a:gd name="csX78" fmla="*/ 519215 w 965980"/>
              <a:gd name="csY78" fmla="*/ 652037 h 676186"/>
              <a:gd name="csX79" fmla="*/ 446766 w 965980"/>
              <a:gd name="csY79" fmla="*/ 652037 h 676186"/>
              <a:gd name="csX80" fmla="*/ 446766 w 965980"/>
              <a:gd name="csY80" fmla="*/ 81191 h 676186"/>
              <a:gd name="csX81" fmla="*/ 482990 w 965980"/>
              <a:gd name="csY81" fmla="*/ 37722 h 676186"/>
              <a:gd name="csX82" fmla="*/ 519215 w 965980"/>
              <a:gd name="csY82" fmla="*/ 81191 h 676186"/>
              <a:gd name="csX83" fmla="*/ 543364 w 965980"/>
              <a:gd name="csY83" fmla="*/ 507140 h 676186"/>
              <a:gd name="csX84" fmla="*/ 543364 w 965980"/>
              <a:gd name="csY84" fmla="*/ 217346 h 676186"/>
              <a:gd name="csX85" fmla="*/ 615813 w 965980"/>
              <a:gd name="csY85" fmla="*/ 217346 h 676186"/>
              <a:gd name="csX86" fmla="*/ 615813 w 965980"/>
              <a:gd name="csY86" fmla="*/ 507140 h 676186"/>
              <a:gd name="csX87" fmla="*/ 712411 w 965980"/>
              <a:gd name="csY87" fmla="*/ 169047 h 676186"/>
              <a:gd name="csX88" fmla="*/ 712411 w 965980"/>
              <a:gd name="csY88" fmla="*/ 652037 h 676186"/>
              <a:gd name="csX89" fmla="*/ 639962 w 965980"/>
              <a:gd name="csY89" fmla="*/ 652037 h 676186"/>
              <a:gd name="csX90" fmla="*/ 639962 w 965980"/>
              <a:gd name="csY90" fmla="*/ 81191 h 676186"/>
              <a:gd name="csX91" fmla="*/ 676187 w 965980"/>
              <a:gd name="csY91" fmla="*/ 37722 h 676186"/>
              <a:gd name="csX92" fmla="*/ 712411 w 965980"/>
              <a:gd name="csY92" fmla="*/ 81191 h 676186"/>
              <a:gd name="csX93" fmla="*/ 736560 w 965980"/>
              <a:gd name="csY93" fmla="*/ 507140 h 676186"/>
              <a:gd name="csX94" fmla="*/ 736560 w 965980"/>
              <a:gd name="csY94" fmla="*/ 217346 h 676186"/>
              <a:gd name="csX95" fmla="*/ 809009 w 965980"/>
              <a:gd name="csY95" fmla="*/ 217346 h 676186"/>
              <a:gd name="csX96" fmla="*/ 809009 w 965980"/>
              <a:gd name="csY96" fmla="*/ 507140 h 676186"/>
              <a:gd name="csX97" fmla="*/ 905607 w 965980"/>
              <a:gd name="csY97" fmla="*/ 169047 h 676186"/>
              <a:gd name="csX98" fmla="*/ 905607 w 965980"/>
              <a:gd name="csY98" fmla="*/ 652037 h 676186"/>
              <a:gd name="csX99" fmla="*/ 833158 w 965980"/>
              <a:gd name="csY99" fmla="*/ 652037 h 676186"/>
              <a:gd name="csX100" fmla="*/ 833158 w 965980"/>
              <a:gd name="csY100" fmla="*/ 81191 h 676186"/>
              <a:gd name="csX101" fmla="*/ 869383 w 965980"/>
              <a:gd name="csY101" fmla="*/ 37722 h 676186"/>
              <a:gd name="csX102" fmla="*/ 905607 w 965980"/>
              <a:gd name="csY102" fmla="*/ 81191 h 6761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</a:cxnLst>
            <a:rect l="l" t="t" r="r" b="b"/>
            <a:pathLst>
              <a:path w="965980" h="676186">
                <a:moveTo>
                  <a:pt x="965981" y="217346"/>
                </a:moveTo>
                <a:lnTo>
                  <a:pt x="965981" y="193196"/>
                </a:lnTo>
                <a:lnTo>
                  <a:pt x="929757" y="193196"/>
                </a:lnTo>
                <a:lnTo>
                  <a:pt x="929757" y="72449"/>
                </a:lnTo>
                <a:lnTo>
                  <a:pt x="869383" y="0"/>
                </a:lnTo>
                <a:lnTo>
                  <a:pt x="809009" y="72449"/>
                </a:lnTo>
                <a:lnTo>
                  <a:pt x="809009" y="193196"/>
                </a:lnTo>
                <a:lnTo>
                  <a:pt x="736560" y="193196"/>
                </a:lnTo>
                <a:lnTo>
                  <a:pt x="736560" y="72449"/>
                </a:lnTo>
                <a:lnTo>
                  <a:pt x="676187" y="0"/>
                </a:lnTo>
                <a:lnTo>
                  <a:pt x="615813" y="72449"/>
                </a:lnTo>
                <a:lnTo>
                  <a:pt x="615813" y="193196"/>
                </a:lnTo>
                <a:lnTo>
                  <a:pt x="543364" y="193196"/>
                </a:lnTo>
                <a:lnTo>
                  <a:pt x="543364" y="72449"/>
                </a:lnTo>
                <a:lnTo>
                  <a:pt x="482990" y="0"/>
                </a:lnTo>
                <a:lnTo>
                  <a:pt x="422617" y="72449"/>
                </a:lnTo>
                <a:lnTo>
                  <a:pt x="422617" y="193196"/>
                </a:lnTo>
                <a:lnTo>
                  <a:pt x="350168" y="193196"/>
                </a:lnTo>
                <a:lnTo>
                  <a:pt x="350168" y="72449"/>
                </a:lnTo>
                <a:lnTo>
                  <a:pt x="289794" y="0"/>
                </a:lnTo>
                <a:lnTo>
                  <a:pt x="229420" y="72449"/>
                </a:lnTo>
                <a:lnTo>
                  <a:pt x="229420" y="193196"/>
                </a:lnTo>
                <a:lnTo>
                  <a:pt x="156972" y="193196"/>
                </a:lnTo>
                <a:lnTo>
                  <a:pt x="156972" y="72449"/>
                </a:lnTo>
                <a:lnTo>
                  <a:pt x="96598" y="0"/>
                </a:lnTo>
                <a:lnTo>
                  <a:pt x="36224" y="72449"/>
                </a:lnTo>
                <a:lnTo>
                  <a:pt x="36224" y="193196"/>
                </a:lnTo>
                <a:lnTo>
                  <a:pt x="0" y="193196"/>
                </a:lnTo>
                <a:lnTo>
                  <a:pt x="0" y="217346"/>
                </a:lnTo>
                <a:lnTo>
                  <a:pt x="36224" y="217346"/>
                </a:lnTo>
                <a:lnTo>
                  <a:pt x="36224" y="507140"/>
                </a:lnTo>
                <a:lnTo>
                  <a:pt x="0" y="507140"/>
                </a:lnTo>
                <a:lnTo>
                  <a:pt x="0" y="531289"/>
                </a:lnTo>
                <a:lnTo>
                  <a:pt x="36224" y="531289"/>
                </a:lnTo>
                <a:lnTo>
                  <a:pt x="36224" y="676187"/>
                </a:lnTo>
                <a:lnTo>
                  <a:pt x="156972" y="676187"/>
                </a:lnTo>
                <a:lnTo>
                  <a:pt x="156972" y="531289"/>
                </a:lnTo>
                <a:lnTo>
                  <a:pt x="229420" y="531289"/>
                </a:lnTo>
                <a:lnTo>
                  <a:pt x="229420" y="676187"/>
                </a:lnTo>
                <a:lnTo>
                  <a:pt x="350168" y="676187"/>
                </a:lnTo>
                <a:lnTo>
                  <a:pt x="350168" y="531289"/>
                </a:lnTo>
                <a:lnTo>
                  <a:pt x="422617" y="531289"/>
                </a:lnTo>
                <a:lnTo>
                  <a:pt x="422617" y="676187"/>
                </a:lnTo>
                <a:lnTo>
                  <a:pt x="543364" y="676187"/>
                </a:lnTo>
                <a:lnTo>
                  <a:pt x="543364" y="531289"/>
                </a:lnTo>
                <a:lnTo>
                  <a:pt x="615813" y="531289"/>
                </a:lnTo>
                <a:lnTo>
                  <a:pt x="615813" y="676187"/>
                </a:lnTo>
                <a:lnTo>
                  <a:pt x="736560" y="676187"/>
                </a:lnTo>
                <a:lnTo>
                  <a:pt x="736560" y="531289"/>
                </a:lnTo>
                <a:lnTo>
                  <a:pt x="809009" y="531289"/>
                </a:lnTo>
                <a:lnTo>
                  <a:pt x="809009" y="676187"/>
                </a:lnTo>
                <a:lnTo>
                  <a:pt x="929757" y="676187"/>
                </a:lnTo>
                <a:lnTo>
                  <a:pt x="929757" y="531289"/>
                </a:lnTo>
                <a:lnTo>
                  <a:pt x="965981" y="531289"/>
                </a:lnTo>
                <a:lnTo>
                  <a:pt x="965981" y="507140"/>
                </a:lnTo>
                <a:lnTo>
                  <a:pt x="929757" y="507140"/>
                </a:lnTo>
                <a:lnTo>
                  <a:pt x="929757" y="217346"/>
                </a:lnTo>
                <a:close/>
                <a:moveTo>
                  <a:pt x="132822" y="169047"/>
                </a:moveTo>
                <a:lnTo>
                  <a:pt x="132822" y="652037"/>
                </a:lnTo>
                <a:lnTo>
                  <a:pt x="60374" y="652037"/>
                </a:lnTo>
                <a:lnTo>
                  <a:pt x="60374" y="81191"/>
                </a:lnTo>
                <a:lnTo>
                  <a:pt x="96598" y="37722"/>
                </a:lnTo>
                <a:lnTo>
                  <a:pt x="132822" y="81191"/>
                </a:lnTo>
                <a:close/>
                <a:moveTo>
                  <a:pt x="156972" y="507140"/>
                </a:moveTo>
                <a:lnTo>
                  <a:pt x="156972" y="217346"/>
                </a:lnTo>
                <a:lnTo>
                  <a:pt x="229420" y="217346"/>
                </a:lnTo>
                <a:lnTo>
                  <a:pt x="229420" y="507140"/>
                </a:lnTo>
                <a:close/>
                <a:moveTo>
                  <a:pt x="326019" y="169047"/>
                </a:moveTo>
                <a:lnTo>
                  <a:pt x="326019" y="652037"/>
                </a:lnTo>
                <a:lnTo>
                  <a:pt x="253570" y="652037"/>
                </a:lnTo>
                <a:lnTo>
                  <a:pt x="253570" y="81191"/>
                </a:lnTo>
                <a:lnTo>
                  <a:pt x="289794" y="37722"/>
                </a:lnTo>
                <a:lnTo>
                  <a:pt x="326019" y="81191"/>
                </a:lnTo>
                <a:close/>
                <a:moveTo>
                  <a:pt x="350168" y="507140"/>
                </a:moveTo>
                <a:lnTo>
                  <a:pt x="350168" y="217346"/>
                </a:lnTo>
                <a:lnTo>
                  <a:pt x="422617" y="217346"/>
                </a:lnTo>
                <a:lnTo>
                  <a:pt x="422617" y="507140"/>
                </a:lnTo>
                <a:close/>
                <a:moveTo>
                  <a:pt x="519215" y="169047"/>
                </a:moveTo>
                <a:lnTo>
                  <a:pt x="519215" y="652037"/>
                </a:lnTo>
                <a:lnTo>
                  <a:pt x="446766" y="652037"/>
                </a:lnTo>
                <a:lnTo>
                  <a:pt x="446766" y="81191"/>
                </a:lnTo>
                <a:lnTo>
                  <a:pt x="482990" y="37722"/>
                </a:lnTo>
                <a:lnTo>
                  <a:pt x="519215" y="81191"/>
                </a:lnTo>
                <a:close/>
                <a:moveTo>
                  <a:pt x="543364" y="507140"/>
                </a:moveTo>
                <a:lnTo>
                  <a:pt x="543364" y="217346"/>
                </a:lnTo>
                <a:lnTo>
                  <a:pt x="615813" y="217346"/>
                </a:lnTo>
                <a:lnTo>
                  <a:pt x="615813" y="507140"/>
                </a:lnTo>
                <a:close/>
                <a:moveTo>
                  <a:pt x="712411" y="169047"/>
                </a:moveTo>
                <a:lnTo>
                  <a:pt x="712411" y="652037"/>
                </a:lnTo>
                <a:lnTo>
                  <a:pt x="639962" y="652037"/>
                </a:lnTo>
                <a:lnTo>
                  <a:pt x="639962" y="81191"/>
                </a:lnTo>
                <a:lnTo>
                  <a:pt x="676187" y="37722"/>
                </a:lnTo>
                <a:lnTo>
                  <a:pt x="712411" y="81191"/>
                </a:lnTo>
                <a:close/>
                <a:moveTo>
                  <a:pt x="736560" y="507140"/>
                </a:moveTo>
                <a:lnTo>
                  <a:pt x="736560" y="217346"/>
                </a:lnTo>
                <a:lnTo>
                  <a:pt x="809009" y="217346"/>
                </a:lnTo>
                <a:lnTo>
                  <a:pt x="809009" y="507140"/>
                </a:lnTo>
                <a:close/>
                <a:moveTo>
                  <a:pt x="905607" y="169047"/>
                </a:moveTo>
                <a:lnTo>
                  <a:pt x="905607" y="652037"/>
                </a:lnTo>
                <a:lnTo>
                  <a:pt x="833158" y="652037"/>
                </a:lnTo>
                <a:lnTo>
                  <a:pt x="833158" y="81191"/>
                </a:lnTo>
                <a:lnTo>
                  <a:pt x="869383" y="37722"/>
                </a:lnTo>
                <a:lnTo>
                  <a:pt x="905607" y="81191"/>
                </a:lnTo>
                <a:close/>
              </a:path>
            </a:pathLst>
          </a:custGeom>
          <a:solidFill>
            <a:schemeClr val="accent2"/>
          </a:solidFill>
          <a:ln w="12005" cap="flat">
            <a:noFill/>
            <a:prstDash val="solid"/>
            <a:miter/>
          </a:ln>
          <a:scene3d>
            <a:camera prst="orthographicFront">
              <a:rot lat="2400000" lon="3000000" rev="0"/>
            </a:camera>
            <a:lightRig rig="threePt" dir="t"/>
          </a:scene3d>
        </p:spPr>
        <p:txBody>
          <a:bodyPr/>
          <a:lstStyle/>
          <a:p>
            <a:endParaRPr lang="LID409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8BE1FCE-CDDF-802F-7720-ABCC039125D3}"/>
              </a:ext>
            </a:extLst>
          </p:cNvPr>
          <p:cNvSpPr/>
          <p:nvPr/>
        </p:nvSpPr>
        <p:spPr>
          <a:xfrm>
            <a:off x="4867937" y="3044903"/>
            <a:ext cx="1106128" cy="4247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  <a:endParaRPr lang="LID4096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5D0EEA-6421-A27E-543C-2CE3E20E4BA3}"/>
              </a:ext>
            </a:extLst>
          </p:cNvPr>
          <p:cNvSpPr/>
          <p:nvPr/>
        </p:nvSpPr>
        <p:spPr>
          <a:xfrm>
            <a:off x="5229272" y="4991145"/>
            <a:ext cx="1106128" cy="42473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53145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C -6.25E-7 0.01342 -0.02891 0.02454 -0.06458 0.02454 C -0.10599 0.02454 -0.12122 0.01227 -0.1276 0.00486 L -0.13385 -0.00486 C -0.14049 -0.01227 -0.15651 -0.02431 -0.20351 -0.02431 C -0.23359 -0.02431 -0.26771 -0.01343 -0.26771 1.85185E-6 C -0.26771 0.01342 -0.23359 0.02454 -0.20351 0.02454 C -0.15651 0.02454 -0.14049 0.01227 -0.13385 0.00486 L -0.1276 -0.00486 C -0.12122 -0.01227 -0.10599 -0.02431 -0.06458 -0.02431 C -0.02891 -0.02431 -6.25E-7 -0.01343 -6.25E-7 1.85185E-6 Z " pathEditMode="relative" rAng="0" ptsTypes="AAAAAAAAAAA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85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0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08333E-7 0.01782 C -2.08333E-7 0.01296 -0.02409 0.00902 -0.05352 0.00902 L -0.17721 0.00902 C -0.20664 0.00902 -0.2306 0.01296 -0.2306 0.01782 L -0.2306 0.03842 C -0.2306 0.04328 -0.20664 0.04768 -0.17721 0.04768 L -0.05352 0.04768 C -0.02409 0.04768 -2.08333E-7 0.04328 -2.08333E-7 0.03842 L -2.08333E-7 0.01782 Z " pathEditMode="relative" rAng="0" ptsTypes="AAAAAAAAA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36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7 C 2.91667E-6 0.01296 0.02487 0.02384 0.05547 0.02384 C 0.09153 0.02384 0.10455 0.01181 0.11002 0.00463 L 0.11562 -0.00486 C 0.12122 -0.01181 0.13502 -0.02292 0.17578 -0.02292 C 0.20169 -0.02292 0.23164 -0.01319 0.23164 3.7037E-7 C 0.23164 0.01296 0.20169 0.02384 0.17578 0.02384 C 0.13502 0.02384 0.12122 0.01181 0.11562 0.00463 L 0.11002 -0.00486 C 0.10455 -0.01181 0.09153 -0.02292 0.05547 -0.02292 C 0.02487 -0.02292 2.91667E-6 -0.01319 2.91667E-6 3.7037E-7 Z " pathEditMode="relative" rAng="0" ptsTypes="AAAAAAAAA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76" y="4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8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33333E-6 3.33333E-6 L 0.14284 3.33333E-6 L 0.17982 -0.03473 L -0.03411 -0.03473 L -3.33333E-6 3.33333E-6 Z " pathEditMode="relative" rAng="0" ptsTypes="AAAAA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9" grpId="0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5AD3-84EC-78F5-CB65-1189FDFF3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39AE-D95A-1B3C-6E8C-9A78D74E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ARM: Acquire /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4B223-523E-E159-F7A4-AB92665FC4F1}"/>
              </a:ext>
            </a:extLst>
          </p:cNvPr>
          <p:cNvSpPr/>
          <p:nvPr/>
        </p:nvSpPr>
        <p:spPr>
          <a:xfrm>
            <a:off x="691855" y="2991888"/>
            <a:ext cx="4299246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Store1: NEW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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AB08E7-5696-E580-49C7-440D8FEDDFE2}"/>
              </a:ext>
            </a:extLst>
          </p:cNvPr>
          <p:cNvSpPr/>
          <p:nvPr/>
        </p:nvSpPr>
        <p:spPr>
          <a:xfrm>
            <a:off x="5881255" y="3910807"/>
            <a:ext cx="4965422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 reg1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2400" dirty="0">
                <a:latin typeface="Consolas" panose="020B0609020204030204" pitchFamily="49" charset="0"/>
              </a:rPr>
              <a:t> ready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F3B7D-AED8-D61D-9C16-AFF39EBC5DCF}"/>
              </a:ext>
            </a:extLst>
          </p:cNvPr>
          <p:cNvSpPr/>
          <p:nvPr/>
        </p:nvSpPr>
        <p:spPr>
          <a:xfrm>
            <a:off x="5881255" y="5264944"/>
            <a:ext cx="4965422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Load2:   reg2 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 data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626441-4C5D-62C8-1966-E8F36ADE1FE4}"/>
              </a:ext>
            </a:extLst>
          </p:cNvPr>
          <p:cNvSpPr/>
          <p:nvPr/>
        </p:nvSpPr>
        <p:spPr>
          <a:xfrm>
            <a:off x="5881254" y="4541044"/>
            <a:ext cx="4965422" cy="774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Branch1: if !reg1 </a:t>
            </a:r>
            <a:r>
              <a:rPr lang="en-US" sz="2400" dirty="0" err="1">
                <a:latin typeface="Consolas" panose="020B0609020204030204" pitchFamily="49" charset="0"/>
              </a:rPr>
              <a:t>goto</a:t>
            </a:r>
            <a:r>
              <a:rPr lang="en-US" sz="2400" dirty="0">
                <a:latin typeface="Consolas" panose="020B0609020204030204" pitchFamily="49" charset="0"/>
              </a:rPr>
              <a:t> Load1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CCB4F-362F-7566-5294-0F17F98E2050}"/>
              </a:ext>
            </a:extLst>
          </p:cNvPr>
          <p:cNvSpPr/>
          <p:nvPr/>
        </p:nvSpPr>
        <p:spPr>
          <a:xfrm>
            <a:off x="5881255" y="1786068"/>
            <a:ext cx="4965422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u="sng" dirty="0">
                <a:latin typeface="Consolas" panose="020B0609020204030204" pitchFamily="49" charset="0"/>
              </a:rPr>
              <a:t>Reader 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164194-1C00-AC36-E66C-6F34F1D09CF9}"/>
              </a:ext>
            </a:extLst>
          </p:cNvPr>
          <p:cNvCxnSpPr>
            <a:cxnSpLocks/>
          </p:cNvCxnSpPr>
          <p:nvPr/>
        </p:nvCxnSpPr>
        <p:spPr>
          <a:xfrm>
            <a:off x="5359400" y="1690688"/>
            <a:ext cx="0" cy="4659312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2FBC49A-2048-C6A8-EC89-7EC8F458FBB1}"/>
              </a:ext>
            </a:extLst>
          </p:cNvPr>
          <p:cNvSpPr/>
          <p:nvPr/>
        </p:nvSpPr>
        <p:spPr>
          <a:xfrm>
            <a:off x="691855" y="3735258"/>
            <a:ext cx="4299246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Store2: TRUE  ready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E78F60-0140-066E-C1BA-AB7306366C9C}"/>
              </a:ext>
            </a:extLst>
          </p:cNvPr>
          <p:cNvSpPr/>
          <p:nvPr/>
        </p:nvSpPr>
        <p:spPr>
          <a:xfrm>
            <a:off x="691855" y="1801943"/>
            <a:ext cx="4299246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>
                <a:latin typeface="Consolas" panose="020B0609020204030204" pitchFamily="49" charset="0"/>
              </a:rPr>
              <a:t>Writer Core</a:t>
            </a:r>
            <a:endParaRPr lang="en-US" sz="2800" b="1" u="sng" dirty="0"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7CDC71-BEC8-2A0F-2976-895A3EA48847}"/>
              </a:ext>
            </a:extLst>
          </p:cNvPr>
          <p:cNvSpPr/>
          <p:nvPr/>
        </p:nvSpPr>
        <p:spPr>
          <a:xfrm>
            <a:off x="974757" y="4148428"/>
            <a:ext cx="4299246" cy="660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Store2: </a:t>
            </a:r>
            <a:r>
              <a:rPr lang="en-US" sz="2400" dirty="0" err="1">
                <a:latin typeface="Consolas" panose="020B0609020204030204" pitchFamily="49" charset="0"/>
                <a:sym typeface="Wingdings" panose="05000000000000000000" pitchFamily="2" charset="2"/>
              </a:rPr>
              <a:t>stlr</a:t>
            </a:r>
            <a:r>
              <a:rPr lang="en-US" sz="2400" dirty="0">
                <a:latin typeface="Consolas" panose="020B0609020204030204" pitchFamily="49" charset="0"/>
                <a:sym typeface="Wingdings" panose="05000000000000000000" pitchFamily="2" charset="2"/>
              </a:rPr>
              <a:t> ready, TRUE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593339-3452-AEB5-A00B-3C293E463C8D}"/>
              </a:ext>
            </a:extLst>
          </p:cNvPr>
          <p:cNvSpPr/>
          <p:nvPr/>
        </p:nvSpPr>
        <p:spPr>
          <a:xfrm>
            <a:off x="6251821" y="3532982"/>
            <a:ext cx="4965422" cy="6921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onsolas" panose="020B0609020204030204" pitchFamily="49" charset="0"/>
              </a:rPr>
              <a:t>Load1:  </a:t>
            </a:r>
            <a:r>
              <a:rPr lang="en-US" sz="2400" dirty="0" err="1">
                <a:latin typeface="Consolas" panose="020B0609020204030204" pitchFamily="49" charset="0"/>
              </a:rPr>
              <a:t>ldar</a:t>
            </a:r>
            <a:r>
              <a:rPr lang="en-US" sz="2400" dirty="0">
                <a:latin typeface="Consolas" panose="020B0609020204030204" pitchFamily="49" charset="0"/>
              </a:rPr>
              <a:t> reg1, ready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0801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D59B-10CD-3FE0-D5C0-E3A52F84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E298-2D90-9E74-4B50-EC752334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ARM: Acquire /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0AA00A-0A23-05A3-4EC7-538655A1E7C5}"/>
              </a:ext>
            </a:extLst>
          </p:cNvPr>
          <p:cNvSpPr/>
          <p:nvPr/>
        </p:nvSpPr>
        <p:spPr>
          <a:xfrm>
            <a:off x="1227882" y="1690688"/>
            <a:ext cx="3706723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Store1: NEW </a:t>
            </a:r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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BFB185-3331-98BC-76BC-BE9A44875104}"/>
              </a:ext>
            </a:extLst>
          </p:cNvPr>
          <p:cNvSpPr/>
          <p:nvPr/>
        </p:nvSpPr>
        <p:spPr>
          <a:xfrm>
            <a:off x="6638000" y="3106738"/>
            <a:ext cx="4168745" cy="692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Load2:   reg2 </a:t>
            </a:r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 data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29621E-D7E7-6C76-59E6-FE9692D21A44}"/>
              </a:ext>
            </a:extLst>
          </p:cNvPr>
          <p:cNvSpPr/>
          <p:nvPr/>
        </p:nvSpPr>
        <p:spPr>
          <a:xfrm>
            <a:off x="6637999" y="2382838"/>
            <a:ext cx="4168745" cy="774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Branch1: if !reg1 </a:t>
            </a:r>
            <a:r>
              <a:rPr lang="en-US" sz="2000" dirty="0" err="1">
                <a:latin typeface="Consolas" panose="020B0609020204030204" pitchFamily="49" charset="0"/>
              </a:rPr>
              <a:t>goto</a:t>
            </a:r>
            <a:r>
              <a:rPr lang="en-US" sz="2000" dirty="0">
                <a:latin typeface="Consolas" panose="020B0609020204030204" pitchFamily="49" charset="0"/>
              </a:rPr>
              <a:t> Load1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BD1B60-89D5-5429-910D-32D1D7F20139}"/>
              </a:ext>
            </a:extLst>
          </p:cNvPr>
          <p:cNvSpPr/>
          <p:nvPr/>
        </p:nvSpPr>
        <p:spPr>
          <a:xfrm>
            <a:off x="1227882" y="2341646"/>
            <a:ext cx="3706723" cy="660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Store2: </a:t>
            </a:r>
            <a:r>
              <a:rPr lang="en-US" sz="2000" dirty="0" err="1">
                <a:latin typeface="Consolas" panose="020B0609020204030204" pitchFamily="49" charset="0"/>
                <a:sym typeface="Wingdings" panose="05000000000000000000" pitchFamily="2" charset="2"/>
              </a:rPr>
              <a:t>stlr</a:t>
            </a:r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 ready, TRUE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7FDB26-C234-C5ED-55BB-0BC18B41EE45}"/>
              </a:ext>
            </a:extLst>
          </p:cNvPr>
          <p:cNvSpPr/>
          <p:nvPr/>
        </p:nvSpPr>
        <p:spPr>
          <a:xfrm>
            <a:off x="6630634" y="1690688"/>
            <a:ext cx="4168745" cy="6921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Load1:  </a:t>
            </a:r>
            <a:r>
              <a:rPr lang="en-US" sz="2000" dirty="0" err="1">
                <a:latin typeface="Consolas" panose="020B0609020204030204" pitchFamily="49" charset="0"/>
              </a:rPr>
              <a:t>ldar</a:t>
            </a:r>
            <a:r>
              <a:rPr lang="en-US" sz="2000" dirty="0">
                <a:latin typeface="Consolas" panose="020B0609020204030204" pitchFamily="49" charset="0"/>
              </a:rPr>
              <a:t> reg1, ready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298CD-5D9C-0D42-8A6C-997E2015914B}"/>
              </a:ext>
            </a:extLst>
          </p:cNvPr>
          <p:cNvSpPr txBox="1"/>
          <p:nvPr/>
        </p:nvSpPr>
        <p:spPr>
          <a:xfrm>
            <a:off x="838200" y="3429000"/>
            <a:ext cx="6093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data = </a:t>
            </a:r>
            <a:r>
              <a:rPr lang="en-US" sz="20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1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::atomic&lt;</a:t>
            </a:r>
            <a:r>
              <a:rPr lang="en-US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ready = </a:t>
            </a:r>
            <a:r>
              <a:rPr lang="en-US" sz="20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6DE42-7905-555F-9F90-31D0687EA821}"/>
              </a:ext>
            </a:extLst>
          </p:cNvPr>
          <p:cNvSpPr txBox="1"/>
          <p:nvPr/>
        </p:nvSpPr>
        <p:spPr>
          <a:xfrm>
            <a:off x="6253656" y="4070350"/>
            <a:ext cx="5714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       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US" b="1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memory_order_acquire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data;</a:t>
            </a:r>
          </a:p>
          <a:p>
            <a:pPr>
              <a:buNone/>
            </a:pP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A99B8-7FC1-C046-B41F-BF12F7B9A3BF}"/>
              </a:ext>
            </a:extLst>
          </p:cNvPr>
          <p:cNvSpPr txBox="1"/>
          <p:nvPr/>
        </p:nvSpPr>
        <p:spPr>
          <a:xfrm>
            <a:off x="838200" y="47625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data = </a:t>
            </a:r>
            <a:r>
              <a:rPr lang="en-US" sz="18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1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sz="18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(true,</a:t>
            </a:r>
          </a:p>
          <a:p>
            <a:pPr>
              <a:buNone/>
            </a:pPr>
            <a:r>
              <a:rPr lang="en-US" sz="1800" b="1" dirty="0">
                <a:solidFill>
                  <a:srgbClr val="D4D4D4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memory_order_release</a:t>
            </a: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8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7792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4101-1118-CF4E-5D73-5E3A9C7C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 </a:t>
            </a: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memory_order</a:t>
            </a:r>
            <a:endParaRPr lang="LID4096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74207-33B9-814B-5527-067D4006D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stores:</a:t>
            </a:r>
          </a:p>
          <a:p>
            <a:pPr lvl="1"/>
            <a:r>
              <a:rPr lang="en-US" dirty="0" err="1"/>
              <a:t>memory_order_release</a:t>
            </a:r>
            <a:endParaRPr lang="en-US" i="1" dirty="0"/>
          </a:p>
          <a:p>
            <a:r>
              <a:rPr lang="en-US" dirty="0"/>
              <a:t>For loads:</a:t>
            </a:r>
          </a:p>
          <a:p>
            <a:pPr lvl="1"/>
            <a:r>
              <a:rPr lang="en-US" dirty="0" err="1"/>
              <a:t>memory_order_acquire</a:t>
            </a:r>
            <a:endParaRPr lang="en-US" i="1" dirty="0"/>
          </a:p>
          <a:p>
            <a:pPr lvl="1"/>
            <a:r>
              <a:rPr lang="en-US" dirty="0"/>
              <a:t>(==</a:t>
            </a:r>
            <a:r>
              <a:rPr lang="en-US" dirty="0" err="1"/>
              <a:t>memory_order_consume</a:t>
            </a:r>
            <a:r>
              <a:rPr lang="en-US" dirty="0"/>
              <a:t>)</a:t>
            </a:r>
          </a:p>
          <a:p>
            <a:r>
              <a:rPr lang="en-US" dirty="0"/>
              <a:t>For Read-Modify-Write (RMW) ops,  such as </a:t>
            </a:r>
            <a:r>
              <a:rPr lang="en-US" dirty="0">
                <a:latin typeface="Consolas" panose="020B0609020204030204" pitchFamily="49" charset="0"/>
              </a:rPr>
              <a:t>+=:</a:t>
            </a:r>
            <a:endParaRPr lang="LID4096" dirty="0">
              <a:latin typeface="Consolas" panose="020B0609020204030204" pitchFamily="49" charset="0"/>
            </a:endParaRPr>
          </a:p>
          <a:p>
            <a:pPr lvl="1"/>
            <a:r>
              <a:rPr lang="en-US" dirty="0" err="1"/>
              <a:t>memory_order_relaxed</a:t>
            </a:r>
            <a:r>
              <a:rPr lang="en-US" dirty="0"/>
              <a:t>:   no order guarantees</a:t>
            </a:r>
          </a:p>
          <a:p>
            <a:pPr lvl="1"/>
            <a:r>
              <a:rPr lang="en-US" dirty="0" err="1"/>
              <a:t>memory_order_acq_rel</a:t>
            </a:r>
            <a:r>
              <a:rPr lang="en-US" dirty="0"/>
              <a:t>:   acquire AND release</a:t>
            </a:r>
          </a:p>
          <a:p>
            <a:r>
              <a:rPr lang="en-US" dirty="0"/>
              <a:t>For all:</a:t>
            </a:r>
          </a:p>
          <a:p>
            <a:pPr lvl="1"/>
            <a:r>
              <a:rPr lang="en-US" dirty="0" err="1"/>
              <a:t>memory_order_seq_cst</a:t>
            </a:r>
            <a:r>
              <a:rPr lang="en-US" dirty="0"/>
              <a:t>:   full sequential consistency</a:t>
            </a:r>
          </a:p>
          <a:p>
            <a:pPr lvl="2"/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7029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41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82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A9E4-16E1-5AF5-5F7A-62839C50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Read-Modify-Write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50BFF-0634-782A-C80C-524E166E2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C++ atomic&lt;&gt; ops: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+=, -=, &amp;=, |=, ^=</a:t>
            </a:r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fetch_add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fetch_sub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fetch_and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fetch_or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fetch_xor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exchange()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compare_exchange_weak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compare_exchange_strong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/>
              <a:t>X86-64: </a:t>
            </a:r>
            <a:r>
              <a:rPr lang="en-US" dirty="0">
                <a:latin typeface="Consolas" panose="020B0609020204030204" pitchFamily="49" charset="0"/>
              </a:rPr>
              <a:t>LOCK </a:t>
            </a:r>
            <a:r>
              <a:rPr lang="en-US" dirty="0"/>
              <a:t>prefix</a:t>
            </a:r>
          </a:p>
          <a:p>
            <a:r>
              <a:rPr lang="en-US" dirty="0"/>
              <a:t>ARM: LL/SC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+ dedicated instructions, in ARM v8.1+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0879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1C6BA-8FFC-5B32-A01F-552A6219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4C53-537C-25EC-7745-38E2C856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x86-64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3474A-275E-59A6-03BB-2815A73BA7A4}"/>
              </a:ext>
            </a:extLst>
          </p:cNvPr>
          <p:cNvSpPr txBox="1"/>
          <p:nvPr/>
        </p:nvSpPr>
        <p:spPr>
          <a:xfrm>
            <a:off x="4770306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04AF5-5BE2-3589-FE39-D6D856951E4B}"/>
              </a:ext>
            </a:extLst>
          </p:cNvPr>
          <p:cNvSpPr txBox="1"/>
          <p:nvPr/>
        </p:nvSpPr>
        <p:spPr>
          <a:xfrm>
            <a:off x="429050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0DE8DD1-A8C7-D4FA-F413-87812C9211FE}"/>
              </a:ext>
            </a:extLst>
          </p:cNvPr>
          <p:cNvCxnSpPr>
            <a:stCxn id="4" idx="0"/>
          </p:cNvCxnSpPr>
          <p:nvPr/>
        </p:nvCxnSpPr>
        <p:spPr>
          <a:xfrm flipV="1">
            <a:off x="5896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EC33CC-4586-9D2F-5AE4-2F52697664A7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534E5-1ED4-BA42-CF9A-794B757BCD40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E433B6-917B-A473-6AB4-47E9E6AB2B90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24976" y="3358587"/>
            <a:ext cx="1397597" cy="43765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4A3C2CCE-D7CB-DEBB-362E-49C51D9BBE5F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B8738C-AC47-E395-AAF1-CA5BB71C2209}"/>
              </a:ext>
            </a:extLst>
          </p:cNvPr>
          <p:cNvSpPr txBox="1"/>
          <p:nvPr/>
        </p:nvSpPr>
        <p:spPr>
          <a:xfrm>
            <a:off x="4686566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81B88-A296-54A4-6F6E-93A8176ECB84}"/>
              </a:ext>
            </a:extLst>
          </p:cNvPr>
          <p:cNvSpPr txBox="1"/>
          <p:nvPr/>
        </p:nvSpPr>
        <p:spPr>
          <a:xfrm>
            <a:off x="4682448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deadc</a:t>
            </a:r>
            <a:r>
              <a:rPr lang="en-US" sz="3600" b="1" dirty="0">
                <a:highlight>
                  <a:srgbClr val="000000"/>
                </a:highlight>
                <a:latin typeface="Consolas" panose="020B0609020204030204" pitchFamily="49" charset="0"/>
              </a:rPr>
              <a:t>9</a:t>
            </a:r>
            <a:r>
              <a:rPr lang="en-US" sz="3600" dirty="0">
                <a:latin typeface="Consolas" panose="020B0609020204030204" pitchFamily="49" charset="0"/>
              </a:rPr>
              <a:t>fe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4E78538-7EDC-2215-458A-5797D331C05F}"/>
              </a:ext>
            </a:extLst>
          </p:cNvPr>
          <p:cNvCxnSpPr>
            <a:cxnSpLocks/>
          </p:cNvCxnSpPr>
          <p:nvPr/>
        </p:nvCxnSpPr>
        <p:spPr>
          <a:xfrm>
            <a:off x="5639477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10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75E-6 -7.40741E-7 L -3.75E-6 2.59259E-6 " pathEditMode="relative" rAng="0" ptsTypes="AA">
                                      <p:cBhvr>
                                        <p:cTn id="23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6"/>
                                    </p:animMotion>
                                    <p:animRot by="1500000">
                                      <p:cBhvr>
                                        <p:cTn id="24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7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25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325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F799E-D6CF-1F4A-D1AC-02F9AAE8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77F8-C896-DBFC-8318-1CE5640B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x86-64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2AF89-4568-9DCB-D0DB-671637398D79}"/>
              </a:ext>
            </a:extLst>
          </p:cNvPr>
          <p:cNvSpPr txBox="1"/>
          <p:nvPr/>
        </p:nvSpPr>
        <p:spPr>
          <a:xfrm>
            <a:off x="4770306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956BF-2327-2AFB-4737-4BA4CB9EB721}"/>
              </a:ext>
            </a:extLst>
          </p:cNvPr>
          <p:cNvSpPr txBox="1"/>
          <p:nvPr/>
        </p:nvSpPr>
        <p:spPr>
          <a:xfrm>
            <a:off x="4290504" y="1959428"/>
            <a:ext cx="317862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7FC3EF-851A-B1D0-4F54-83166D457281}"/>
              </a:ext>
            </a:extLst>
          </p:cNvPr>
          <p:cNvCxnSpPr>
            <a:stCxn id="4" idx="0"/>
          </p:cNvCxnSpPr>
          <p:nvPr/>
        </p:nvCxnSpPr>
        <p:spPr>
          <a:xfrm flipV="1">
            <a:off x="5896564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60CBDA-CEC3-693D-E67D-018CC661C4BD}"/>
              </a:ext>
            </a:extLst>
          </p:cNvPr>
          <p:cNvSpPr txBox="1"/>
          <p:nvPr/>
        </p:nvSpPr>
        <p:spPr>
          <a:xfrm>
            <a:off x="568994" y="1959428"/>
            <a:ext cx="2818819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C71CD-714E-F5DF-855C-814376D1D100}"/>
              </a:ext>
            </a:extLst>
          </p:cNvPr>
          <p:cNvSpPr txBox="1"/>
          <p:nvPr/>
        </p:nvSpPr>
        <p:spPr>
          <a:xfrm>
            <a:off x="872460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39D457-6F0F-29B3-5A8A-459AFDE20FEC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24976" y="3358587"/>
            <a:ext cx="1397597" cy="43765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340AC3EE-0898-0143-1CE4-C6176809CAF9}"/>
              </a:ext>
            </a:extLst>
          </p:cNvPr>
          <p:cNvSpPr/>
          <p:nvPr/>
        </p:nvSpPr>
        <p:spPr>
          <a:xfrm>
            <a:off x="348344" y="3010761"/>
            <a:ext cx="3357192" cy="762783"/>
          </a:xfrm>
          <a:prstGeom prst="mathMultiply">
            <a:avLst/>
          </a:prstGeom>
          <a:solidFill>
            <a:srgbClr val="6C0000">
              <a:alpha val="80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C8920D-0EA5-3EB5-1095-B4947DDD2D92}"/>
              </a:ext>
            </a:extLst>
          </p:cNvPr>
          <p:cNvGrpSpPr/>
          <p:nvPr/>
        </p:nvGrpSpPr>
        <p:grpSpPr>
          <a:xfrm>
            <a:off x="8276593" y="1959428"/>
            <a:ext cx="3178629" cy="2239517"/>
            <a:chOff x="8276593" y="1959428"/>
            <a:chExt cx="3178629" cy="223951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2F2FE5-7362-65C0-E822-5CA828A6CB78}"/>
                </a:ext>
              </a:extLst>
            </p:cNvPr>
            <p:cNvSpPr txBox="1"/>
            <p:nvPr/>
          </p:nvSpPr>
          <p:spPr>
            <a:xfrm>
              <a:off x="8276593" y="1959428"/>
              <a:ext cx="3178629" cy="223951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600" dirty="0"/>
                <a:t>L1 Cache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02ABBA-BBFC-E537-4DFA-1709CC5D84B5}"/>
                </a:ext>
              </a:extLst>
            </p:cNvPr>
            <p:cNvSpPr txBox="1"/>
            <p:nvPr/>
          </p:nvSpPr>
          <p:spPr>
            <a:xfrm>
              <a:off x="8836335" y="3079186"/>
              <a:ext cx="2252516" cy="6463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err="1">
                  <a:highlight>
                    <a:srgbClr val="000000"/>
                  </a:highlight>
                  <a:latin typeface="Consolas" panose="020B0609020204030204" pitchFamily="49" charset="0"/>
                </a:rPr>
                <a:t>b</a:t>
              </a:r>
              <a:r>
                <a:rPr lang="en-US" sz="3600" dirty="0" err="1">
                  <a:latin typeface="Consolas" panose="020B0609020204030204" pitchFamily="49" charset="0"/>
                </a:rPr>
                <a:t>eadcafe</a:t>
              </a:r>
              <a:endParaRPr lang="en-US" sz="36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9F2A5C0-9AD7-942F-60AD-282B1990373E}"/>
              </a:ext>
            </a:extLst>
          </p:cNvPr>
          <p:cNvSpPr txBox="1"/>
          <p:nvPr/>
        </p:nvSpPr>
        <p:spPr>
          <a:xfrm>
            <a:off x="4686566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DD54A-B03A-A2C5-70E8-CD0052BFCB8D}"/>
              </a:ext>
            </a:extLst>
          </p:cNvPr>
          <p:cNvSpPr txBox="1"/>
          <p:nvPr/>
        </p:nvSpPr>
        <p:spPr>
          <a:xfrm>
            <a:off x="4682448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deadc</a:t>
            </a:r>
            <a:r>
              <a:rPr lang="en-US" sz="3600" b="1" dirty="0">
                <a:highlight>
                  <a:srgbClr val="000000"/>
                </a:highlight>
                <a:latin typeface="Consolas" panose="020B0609020204030204" pitchFamily="49" charset="0"/>
              </a:rPr>
              <a:t>9</a:t>
            </a:r>
            <a:r>
              <a:rPr lang="en-US" sz="3600" dirty="0">
                <a:latin typeface="Consolas" panose="020B0609020204030204" pitchFamily="49" charset="0"/>
              </a:rPr>
              <a:t>fe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A3DE51-1572-C5CC-0641-7C01606AB792}"/>
              </a:ext>
            </a:extLst>
          </p:cNvPr>
          <p:cNvCxnSpPr>
            <a:cxnSpLocks/>
          </p:cNvCxnSpPr>
          <p:nvPr/>
        </p:nvCxnSpPr>
        <p:spPr>
          <a:xfrm flipH="1">
            <a:off x="7933644" y="3495249"/>
            <a:ext cx="902691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 descr="Exclamation mark with solid fill">
            <a:extLst>
              <a:ext uri="{FF2B5EF4-FFF2-40B4-BE49-F238E27FC236}">
                <a16:creationId xmlns:a16="http://schemas.microsoft.com/office/drawing/2014/main" id="{C69C4691-0384-BFE1-C04F-4FFFB4B5F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3239" y="2537637"/>
            <a:ext cx="1685663" cy="168566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387AF8B-6354-E507-53C9-F1E3E733F6E6}"/>
              </a:ext>
            </a:extLst>
          </p:cNvPr>
          <p:cNvCxnSpPr>
            <a:cxnSpLocks/>
          </p:cNvCxnSpPr>
          <p:nvPr/>
        </p:nvCxnSpPr>
        <p:spPr>
          <a:xfrm>
            <a:off x="5639477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21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75E-6 -7.40741E-7 L -3.75E-6 2.59259E-6 " pathEditMode="relative" rAng="0" ptsTypes="AA">
                                      <p:cBhvr>
                                        <p:cTn id="11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6"/>
                                    </p:animMotion>
                                    <p:animRot by="1500000">
                                      <p:cBhvr>
                                        <p:cTn id="12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75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94CB-EE90-6B6A-4860-A00842C8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5B7E2F-340A-D129-75A8-7251B88605B5}"/>
              </a:ext>
            </a:extLst>
          </p:cNvPr>
          <p:cNvSpPr txBox="1"/>
          <p:nvPr/>
        </p:nvSpPr>
        <p:spPr>
          <a:xfrm>
            <a:off x="3072135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70E00-3C7A-65F6-92D3-4D07CB3C915D}"/>
              </a:ext>
            </a:extLst>
          </p:cNvPr>
          <p:cNvSpPr txBox="1"/>
          <p:nvPr/>
        </p:nvSpPr>
        <p:spPr>
          <a:xfrm>
            <a:off x="1683657" y="1959428"/>
            <a:ext cx="4087305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764E91-8EA3-868E-20C3-BD02B98E5704}"/>
              </a:ext>
            </a:extLst>
          </p:cNvPr>
          <p:cNvCxnSpPr>
            <a:stCxn id="4" idx="0"/>
          </p:cNvCxnSpPr>
          <p:nvPr/>
        </p:nvCxnSpPr>
        <p:spPr>
          <a:xfrm flipV="1">
            <a:off x="4198393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9E500A-7CB9-2981-4043-6CBA89E66D52}"/>
              </a:ext>
            </a:extLst>
          </p:cNvPr>
          <p:cNvSpPr txBox="1"/>
          <p:nvPr/>
        </p:nvSpPr>
        <p:spPr>
          <a:xfrm>
            <a:off x="2254753" y="3105834"/>
            <a:ext cx="558049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73D2C-64EB-D0E3-8080-1F4D5416079C}"/>
              </a:ext>
            </a:extLst>
          </p:cNvPr>
          <p:cNvSpPr txBox="1"/>
          <p:nvPr/>
        </p:nvSpPr>
        <p:spPr>
          <a:xfrm>
            <a:off x="2988395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309A1-30C2-2D4F-69C9-DB5339B3F6E3}"/>
              </a:ext>
            </a:extLst>
          </p:cNvPr>
          <p:cNvSpPr txBox="1"/>
          <p:nvPr/>
        </p:nvSpPr>
        <p:spPr>
          <a:xfrm>
            <a:off x="2988395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nsolas" panose="020B0609020204030204" pitchFamily="49" charset="0"/>
              </a:rPr>
              <a:t>deadc</a:t>
            </a:r>
            <a:r>
              <a:rPr lang="en-US" sz="3600" b="1" dirty="0">
                <a:highlight>
                  <a:srgbClr val="000000"/>
                </a:highlight>
                <a:latin typeface="Consolas" panose="020B0609020204030204" pitchFamily="49" charset="0"/>
              </a:rPr>
              <a:t>9</a:t>
            </a:r>
            <a:r>
              <a:rPr lang="en-US" sz="3600" dirty="0">
                <a:latin typeface="Consolas" panose="020B0609020204030204" pitchFamily="49" charset="0"/>
              </a:rPr>
              <a:t>fe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1AD73B-4C31-85ED-23BA-062841549F87}"/>
              </a:ext>
            </a:extLst>
          </p:cNvPr>
          <p:cNvCxnSpPr>
            <a:cxnSpLocks/>
          </p:cNvCxnSpPr>
          <p:nvPr/>
        </p:nvCxnSpPr>
        <p:spPr>
          <a:xfrm>
            <a:off x="3649206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EB5E01C-9F68-C8BA-7358-25DAA58297D6}"/>
              </a:ext>
            </a:extLst>
          </p:cNvPr>
          <p:cNvSpPr txBox="1"/>
          <p:nvPr/>
        </p:nvSpPr>
        <p:spPr>
          <a:xfrm>
            <a:off x="2606689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LDXR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76254-7405-7A63-37CE-A8FBB761387F}"/>
              </a:ext>
            </a:extLst>
          </p:cNvPr>
          <p:cNvSpPr txBox="1"/>
          <p:nvPr/>
        </p:nvSpPr>
        <p:spPr>
          <a:xfrm>
            <a:off x="4323806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STXR</a:t>
            </a:r>
            <a:endParaRPr lang="LID4096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1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-7.40741E-7 L -8.33333E-7 -1.11111E-6 " pathEditMode="relative" rAng="0" ptsTypes="AA">
                                      <p:cBhvr>
                                        <p:cTn id="21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81"/>
                                    </p:animMotion>
                                    <p:animRot by="1500000">
                                      <p:cBhvr>
                                        <p:cTn id="22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1" grpId="0" animBg="1"/>
      <p:bldP spid="16" grpId="0"/>
      <p:bldP spid="1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C697F-1DA5-5D2A-9B46-A8851688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22BA-B7CB-DED4-EC2B-5774BE18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365F2-B0C9-37F9-85A1-AAE952659118}"/>
              </a:ext>
            </a:extLst>
          </p:cNvPr>
          <p:cNvSpPr txBox="1"/>
          <p:nvPr/>
        </p:nvSpPr>
        <p:spPr>
          <a:xfrm>
            <a:off x="3072135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79E9F-A2D8-65CE-069E-21295C99574E}"/>
              </a:ext>
            </a:extLst>
          </p:cNvPr>
          <p:cNvSpPr txBox="1"/>
          <p:nvPr/>
        </p:nvSpPr>
        <p:spPr>
          <a:xfrm>
            <a:off x="1683657" y="1959428"/>
            <a:ext cx="4087305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07FCA5-10EC-3744-1987-B9A6E58FD180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198393" y="4538354"/>
            <a:ext cx="0" cy="862629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FC0928-B425-0280-E5EA-3AF621AEE238}"/>
              </a:ext>
            </a:extLst>
          </p:cNvPr>
          <p:cNvSpPr txBox="1"/>
          <p:nvPr/>
        </p:nvSpPr>
        <p:spPr>
          <a:xfrm>
            <a:off x="2254753" y="3105834"/>
            <a:ext cx="558049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7CDF1E-EBAF-701E-FECA-EC408CDDCC27}"/>
              </a:ext>
            </a:extLst>
          </p:cNvPr>
          <p:cNvSpPr txBox="1"/>
          <p:nvPr/>
        </p:nvSpPr>
        <p:spPr>
          <a:xfrm>
            <a:off x="2988395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858F11-6D67-EBFB-7177-F45F151E9A24}"/>
              </a:ext>
            </a:extLst>
          </p:cNvPr>
          <p:cNvCxnSpPr>
            <a:cxnSpLocks/>
          </p:cNvCxnSpPr>
          <p:nvPr/>
        </p:nvCxnSpPr>
        <p:spPr>
          <a:xfrm>
            <a:off x="3674606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CD9540-17D5-C319-020B-674CFBA3A969}"/>
              </a:ext>
            </a:extLst>
          </p:cNvPr>
          <p:cNvSpPr txBox="1"/>
          <p:nvPr/>
        </p:nvSpPr>
        <p:spPr>
          <a:xfrm>
            <a:off x="2632089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LDXR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4A3C8A-95FB-83D3-E435-949EA793386A}"/>
              </a:ext>
            </a:extLst>
          </p:cNvPr>
          <p:cNvSpPr txBox="1"/>
          <p:nvPr/>
        </p:nvSpPr>
        <p:spPr>
          <a:xfrm>
            <a:off x="4323806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STXR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F95EE-1425-B235-D5D6-4B46CFD41290}"/>
              </a:ext>
            </a:extLst>
          </p:cNvPr>
          <p:cNvSpPr txBox="1"/>
          <p:nvPr/>
        </p:nvSpPr>
        <p:spPr>
          <a:xfrm>
            <a:off x="6578422" y="1959428"/>
            <a:ext cx="4305478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7A219-E633-B0E3-3DED-B93E9FCB88CE}"/>
              </a:ext>
            </a:extLst>
          </p:cNvPr>
          <p:cNvSpPr txBox="1"/>
          <p:nvPr/>
        </p:nvSpPr>
        <p:spPr>
          <a:xfrm>
            <a:off x="7336597" y="3079186"/>
            <a:ext cx="3051051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highlight>
                  <a:srgbClr val="000000"/>
                </a:highlight>
                <a:latin typeface="Consolas" panose="020B0609020204030204" pitchFamily="49" charset="0"/>
              </a:rPr>
              <a:t>b</a:t>
            </a:r>
            <a:r>
              <a:rPr lang="en-US" sz="3600" dirty="0" err="1">
                <a:latin typeface="Consolas" panose="020B0609020204030204" pitchFamily="49" charset="0"/>
              </a:rPr>
              <a:t>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72F40F-399F-F894-E68A-9E80DAD595D3}"/>
              </a:ext>
            </a:extLst>
          </p:cNvPr>
          <p:cNvCxnSpPr>
            <a:cxnSpLocks/>
          </p:cNvCxnSpPr>
          <p:nvPr/>
        </p:nvCxnSpPr>
        <p:spPr>
          <a:xfrm flipH="1">
            <a:off x="5324651" y="3495249"/>
            <a:ext cx="2011946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E4247B-1397-1DC7-F789-F55CEBA4D7C4}"/>
              </a:ext>
            </a:extLst>
          </p:cNvPr>
          <p:cNvSpPr txBox="1"/>
          <p:nvPr/>
        </p:nvSpPr>
        <p:spPr>
          <a:xfrm>
            <a:off x="7840357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62DB7F-19A0-DD5C-E2DF-FFA7C3AF29C1}"/>
              </a:ext>
            </a:extLst>
          </p:cNvPr>
          <p:cNvCxnSpPr>
            <a:stCxn id="15" idx="0"/>
          </p:cNvCxnSpPr>
          <p:nvPr/>
        </p:nvCxnSpPr>
        <p:spPr>
          <a:xfrm flipV="1">
            <a:off x="8966615" y="3715319"/>
            <a:ext cx="0" cy="168566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D44BC3-8841-D8DE-056B-EDDDA3131686}"/>
              </a:ext>
            </a:extLst>
          </p:cNvPr>
          <p:cNvSpPr txBox="1"/>
          <p:nvPr/>
        </p:nvSpPr>
        <p:spPr>
          <a:xfrm>
            <a:off x="9092028" y="4538354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STR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EF69DFC-6119-3074-92A8-9D24EC80A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14569" y="3773544"/>
            <a:ext cx="646332" cy="6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3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9" presetClass="exit" presetSubtype="0" ac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-7.40741E-7 L -8.33333E-7 -3.7037E-7 " pathEditMode="relative" rAng="0" ptsTypes="AA">
                                      <p:cBhvr>
                                        <p:cTn id="44" dur="1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69"/>
                                    </p:animMotion>
                                    <p:animRot by="1500000">
                                      <p:cBhvr>
                                        <p:cTn id="45" dur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6" dur="63" fill="hold">
                                          <p:stCondLst>
                                            <p:cond delay="6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7" dur="63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8" dur="63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5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25"/>
                            </p:stCondLst>
                            <p:childTnLst>
                              <p:par>
                                <p:cTn id="5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9" grpId="1" animBg="1"/>
      <p:bldP spid="16" grpId="0"/>
      <p:bldP spid="17" grpId="0"/>
      <p:bldP spid="8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139E-48FC-BC73-090A-45B5862E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E86E-27C1-AF87-C7A2-0ACEFB15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Read-modify-write: ARM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46B75-80B3-129B-3BF1-968ADF1DBFD1}"/>
              </a:ext>
            </a:extLst>
          </p:cNvPr>
          <p:cNvSpPr txBox="1"/>
          <p:nvPr/>
        </p:nvSpPr>
        <p:spPr>
          <a:xfrm>
            <a:off x="3072135" y="5400983"/>
            <a:ext cx="2252516" cy="646331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A4E02-E4D1-3844-CA6A-AC588525677D}"/>
              </a:ext>
            </a:extLst>
          </p:cNvPr>
          <p:cNvSpPr txBox="1"/>
          <p:nvPr/>
        </p:nvSpPr>
        <p:spPr>
          <a:xfrm>
            <a:off x="1683657" y="1959428"/>
            <a:ext cx="4087305" cy="22395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600" dirty="0"/>
              <a:t>L1 Cache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D0C6FF-B9B5-D010-7F15-6D6633EC3FB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198393" y="4538354"/>
            <a:ext cx="0" cy="862629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9C4FB8-9104-C0C2-9044-F6148837CBF5}"/>
              </a:ext>
            </a:extLst>
          </p:cNvPr>
          <p:cNvSpPr txBox="1"/>
          <p:nvPr/>
        </p:nvSpPr>
        <p:spPr>
          <a:xfrm>
            <a:off x="2254753" y="3105834"/>
            <a:ext cx="558049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27E44-0891-60CA-DDFF-DE70C096F586}"/>
              </a:ext>
            </a:extLst>
          </p:cNvPr>
          <p:cNvSpPr txBox="1"/>
          <p:nvPr/>
        </p:nvSpPr>
        <p:spPr>
          <a:xfrm>
            <a:off x="2988395" y="3079186"/>
            <a:ext cx="2252516" cy="646331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Consolas" panose="020B0609020204030204" pitchFamily="49" charset="0"/>
              </a:rPr>
              <a:t>deadcafe</a:t>
            </a:r>
            <a:endParaRPr lang="en-US" sz="3600" dirty="0">
              <a:latin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991847-A5EC-6B41-CF64-9C75FBB259CA}"/>
              </a:ext>
            </a:extLst>
          </p:cNvPr>
          <p:cNvCxnSpPr>
            <a:cxnSpLocks/>
          </p:cNvCxnSpPr>
          <p:nvPr/>
        </p:nvCxnSpPr>
        <p:spPr>
          <a:xfrm>
            <a:off x="3674606" y="3773544"/>
            <a:ext cx="0" cy="163750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3652B7-7E35-F39D-B244-1D586B9A6E2D}"/>
              </a:ext>
            </a:extLst>
          </p:cNvPr>
          <p:cNvSpPr txBox="1"/>
          <p:nvPr/>
        </p:nvSpPr>
        <p:spPr>
          <a:xfrm>
            <a:off x="2632089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LDXR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A900AF-7313-66E2-21C4-2102CFFBB44C}"/>
              </a:ext>
            </a:extLst>
          </p:cNvPr>
          <p:cNvSpPr txBox="1"/>
          <p:nvPr/>
        </p:nvSpPr>
        <p:spPr>
          <a:xfrm>
            <a:off x="4323806" y="453835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STXR</a:t>
            </a:r>
            <a:endParaRPr lang="LID4096" sz="2800" dirty="0">
              <a:latin typeface="Consolas" panose="020B0609020204030204" pitchFamily="49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7E4B39B-B707-45C6-D745-F48ACB26F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14569" y="3773544"/>
            <a:ext cx="646332" cy="6463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8793D2-06A1-8FED-D143-4C1387E26774}"/>
              </a:ext>
            </a:extLst>
          </p:cNvPr>
          <p:cNvSpPr txBox="1"/>
          <p:nvPr/>
        </p:nvSpPr>
        <p:spPr>
          <a:xfrm>
            <a:off x="5946555" y="2798058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800" dirty="0" err="1">
                <a:latin typeface="Consolas" panose="020B0609020204030204" pitchFamily="49" charset="0"/>
              </a:rPr>
              <a:t>compare_exchange_weak</a:t>
            </a:r>
            <a:r>
              <a:rPr lang="en-US" sz="2800" dirty="0">
                <a:latin typeface="Consolas" panose="020B0609020204030204" pitchFamily="49" charset="0"/>
              </a:rPr>
              <a:t>(), </a:t>
            </a:r>
            <a:r>
              <a:rPr lang="en-US" sz="2800" dirty="0" err="1">
                <a:latin typeface="Consolas" panose="020B0609020204030204" pitchFamily="49" charset="0"/>
              </a:rPr>
              <a:t>compare_exchange_strong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97206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CA83-7FC1-B814-5A46-026948C6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Read-modify-write: ARM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3DD17-48A2-8FB8-668C-060F9E592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LDXR/STXR extension: </a:t>
            </a:r>
          </a:p>
          <a:p>
            <a:pPr lvl="1"/>
            <a:r>
              <a:rPr lang="en-US" dirty="0"/>
              <a:t>LDAXR – load-acquire exclusive register</a:t>
            </a:r>
          </a:p>
          <a:p>
            <a:pPr lvl="1"/>
            <a:r>
              <a:rPr lang="en-US" dirty="0"/>
              <a:t>STLXR – store-release exclusive register</a:t>
            </a:r>
          </a:p>
          <a:p>
            <a:pPr lvl="1"/>
            <a:r>
              <a:rPr lang="en-US" dirty="0"/>
              <a:t>Additionally enforce acquire/release ordering, same as LDAR/STLR</a:t>
            </a:r>
          </a:p>
          <a:p>
            <a:pPr lvl="1"/>
            <a:r>
              <a:rPr lang="en-US" dirty="0"/>
              <a:t>Necessary to actually be usable in locks</a:t>
            </a:r>
          </a:p>
          <a:p>
            <a:r>
              <a:rPr lang="en-US" dirty="0"/>
              <a:t>Riddle: why is the exclusive monitor needed?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6432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81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BC5E-B018-03A6-6397-03854E132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Coherence Protocols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C8A92-A409-E19A-DE4C-5BA155A21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line states:</a:t>
            </a:r>
          </a:p>
          <a:p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F71B3-2EA6-855B-995F-DB30C1A9176A}"/>
              </a:ext>
            </a:extLst>
          </p:cNvPr>
          <p:cNvSpPr txBox="1"/>
          <p:nvPr/>
        </p:nvSpPr>
        <p:spPr>
          <a:xfrm>
            <a:off x="2209800" y="2730500"/>
            <a:ext cx="219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Valid</a:t>
            </a:r>
            <a:endParaRPr lang="LID4096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C2A87-DA1A-1FDA-87A3-864802DDD82C}"/>
              </a:ext>
            </a:extLst>
          </p:cNvPr>
          <p:cNvSpPr txBox="1"/>
          <p:nvPr/>
        </p:nvSpPr>
        <p:spPr>
          <a:xfrm>
            <a:off x="8750300" y="2730500"/>
            <a:ext cx="219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Invalid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757922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8BA92-55C0-2D79-ADAE-C7E9AFE6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51B1-71F1-BEAA-DF51-939442F2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Coherence Protocols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08FAC-7F2B-080B-595E-487693BF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line states:</a:t>
            </a:r>
          </a:p>
          <a:p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260FF-6B29-4FDB-E0B4-9AC654030CCB}"/>
              </a:ext>
            </a:extLst>
          </p:cNvPr>
          <p:cNvSpPr txBox="1"/>
          <p:nvPr/>
        </p:nvSpPr>
        <p:spPr>
          <a:xfrm>
            <a:off x="1498600" y="2730500"/>
            <a:ext cx="219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Modified</a:t>
            </a:r>
            <a:endParaRPr lang="LID4096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AC19A-BEF6-CE37-869D-B7344E147DD7}"/>
              </a:ext>
            </a:extLst>
          </p:cNvPr>
          <p:cNvSpPr txBox="1"/>
          <p:nvPr/>
        </p:nvSpPr>
        <p:spPr>
          <a:xfrm>
            <a:off x="8750300" y="2730500"/>
            <a:ext cx="219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Invalid</a:t>
            </a:r>
            <a:endParaRPr lang="LID4096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F54CE-6C47-7F0B-E5E6-86D7FF26CFAF}"/>
              </a:ext>
            </a:extLst>
          </p:cNvPr>
          <p:cNvSpPr txBox="1"/>
          <p:nvPr/>
        </p:nvSpPr>
        <p:spPr>
          <a:xfrm>
            <a:off x="3898900" y="2730500"/>
            <a:ext cx="219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Exclusive</a:t>
            </a:r>
            <a:endParaRPr lang="LID4096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B7665-08C7-295A-4EB3-FFEEB8DB061E}"/>
              </a:ext>
            </a:extLst>
          </p:cNvPr>
          <p:cNvSpPr txBox="1"/>
          <p:nvPr/>
        </p:nvSpPr>
        <p:spPr>
          <a:xfrm>
            <a:off x="6299200" y="2730500"/>
            <a:ext cx="219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Shared</a:t>
            </a:r>
            <a:endParaRPr lang="LID4096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E4B1F-C76E-4D5D-D1FB-54438471C298}"/>
              </a:ext>
            </a:extLst>
          </p:cNvPr>
          <p:cNvSpPr txBox="1"/>
          <p:nvPr/>
        </p:nvSpPr>
        <p:spPr>
          <a:xfrm>
            <a:off x="3302000" y="3238500"/>
            <a:ext cx="469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MESI</a:t>
            </a:r>
            <a:endParaRPr lang="LID4096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4CA303-2798-042A-B35F-153752167403}"/>
              </a:ext>
            </a:extLst>
          </p:cNvPr>
          <p:cNvSpPr txBox="1"/>
          <p:nvPr/>
        </p:nvSpPr>
        <p:spPr>
          <a:xfrm>
            <a:off x="1397000" y="4802981"/>
            <a:ext cx="469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(MESIF)</a:t>
            </a:r>
            <a:endParaRPr lang="LID4096" sz="4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0944B-46D8-9FFA-FA92-9FAB16606B8F}"/>
              </a:ext>
            </a:extLst>
          </p:cNvPr>
          <p:cNvSpPr txBox="1"/>
          <p:nvPr/>
        </p:nvSpPr>
        <p:spPr>
          <a:xfrm>
            <a:off x="5651500" y="4802981"/>
            <a:ext cx="469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(MOESI)</a:t>
            </a:r>
            <a:endParaRPr lang="LID4096" sz="4400" dirty="0"/>
          </a:p>
        </p:txBody>
      </p:sp>
    </p:spTree>
    <p:extLst>
      <p:ext uri="{BB962C8B-B14F-4D97-AF65-F5344CB8AC3E}">
        <p14:creationId xmlns:p14="http://schemas.microsoft.com/office/powerpoint/2010/main" val="74023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Word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FC52-24E6-189B-A112-1A29A664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FB256-ADC1-B404-9679-2383CB707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cores can have different views of memory because:</a:t>
            </a:r>
          </a:p>
          <a:p>
            <a:pPr lvl="1"/>
            <a:r>
              <a:rPr lang="en-US" dirty="0"/>
              <a:t>Reasons</a:t>
            </a:r>
          </a:p>
          <a:p>
            <a:pPr lvl="1"/>
            <a:r>
              <a:rPr lang="en-US" dirty="0"/>
              <a:t>More reasons</a:t>
            </a:r>
          </a:p>
          <a:p>
            <a:pPr lvl="1"/>
            <a:r>
              <a:rPr lang="en-US" dirty="0"/>
              <a:t>Other reasons</a:t>
            </a:r>
          </a:p>
          <a:p>
            <a:r>
              <a:rPr lang="en-US" dirty="0"/>
              <a:t>Software solves these problems by:</a:t>
            </a:r>
          </a:p>
          <a:p>
            <a:pPr lvl="1"/>
            <a:r>
              <a:rPr lang="en-US" dirty="0"/>
              <a:t>Fences</a:t>
            </a:r>
          </a:p>
          <a:p>
            <a:pPr lvl="1"/>
            <a:r>
              <a:rPr lang="en-US" dirty="0"/>
              <a:t>RMW</a:t>
            </a:r>
          </a:p>
          <a:p>
            <a:pPr lvl="1"/>
            <a:r>
              <a:rPr lang="en-US" dirty="0"/>
              <a:t>OS level locks: </a:t>
            </a:r>
            <a:r>
              <a:rPr lang="en-US" dirty="0" err="1"/>
              <a:t>futexes</a:t>
            </a:r>
            <a:r>
              <a:rPr lang="en-US" dirty="0"/>
              <a:t>, mutexes etc. 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6552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1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22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81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82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23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56B285A-551B-5B96-29D0-BEA088022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322" y="2821804"/>
            <a:ext cx="9545382" cy="32008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3ADC2-CE0E-AB35-6D67-6515B649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19ED0-9BF3-B910-7429-80F78F8E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chance you care only about x64 (?)</a:t>
            </a:r>
          </a:p>
          <a:p>
            <a:r>
              <a:rPr lang="en-US" dirty="0"/>
              <a:t>Doubtful the C++ standard phrasing is any simpler.</a:t>
            </a:r>
          </a:p>
          <a:p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DFE8FF-443A-E92F-0B48-CB7A6BDC4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43" y="3429000"/>
            <a:ext cx="9716856" cy="1686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07DAB9-F7BF-611A-056C-21A8519C7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112" y="3882778"/>
            <a:ext cx="8897592" cy="22005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932604-24C7-C357-96F9-8E2C79B2A9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2791" y="5247533"/>
            <a:ext cx="9754961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3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902C-20D2-03CE-2A90-02069860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listening!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BF880-E650-8345-1E6A-F7524E693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 and comments are welcome, in gather town or discord.</a:t>
            </a:r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2F28B5-9100-5922-1AC7-E75A3B6FDD8E}"/>
              </a:ext>
            </a:extLst>
          </p:cNvPr>
          <p:cNvSpPr txBox="1">
            <a:spLocks/>
          </p:cNvSpPr>
          <p:nvPr/>
        </p:nvSpPr>
        <p:spPr>
          <a:xfrm>
            <a:off x="3677047" y="3403600"/>
            <a:ext cx="4210844" cy="15244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/>
              <a:t>Ofek Shilon </a:t>
            </a:r>
            <a:endParaRPr lang="he-IL" sz="6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34937-3A41-C78C-1C33-5DACA70DD2BC}"/>
              </a:ext>
            </a:extLst>
          </p:cNvPr>
          <p:cNvSpPr txBox="1"/>
          <p:nvPr/>
        </p:nvSpPr>
        <p:spPr>
          <a:xfrm>
            <a:off x="2316244" y="5199787"/>
            <a:ext cx="2827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  <a:r>
              <a:rPr lang="en-US" sz="3600" dirty="0" err="1"/>
              <a:t>OfekShilon</a:t>
            </a:r>
            <a:r>
              <a:rPr lang="en-US" sz="3600" dirty="0"/>
              <a:t> @</a:t>
            </a:r>
            <a:endParaRPr lang="LID4096" sz="3600" dirty="0"/>
          </a:p>
        </p:txBody>
      </p:sp>
      <p:pic>
        <p:nvPicPr>
          <p:cNvPr id="2050" name="Picture 2" descr="Gmail Logo and symbol, meaning, history, PNG, brand">
            <a:extLst>
              <a:ext uri="{FF2B5EF4-FFF2-40B4-BE49-F238E27FC236}">
                <a16:creationId xmlns:a16="http://schemas.microsoft.com/office/drawing/2014/main" id="{EA3FAE91-9489-A152-7ECD-36457500C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9" r="21191"/>
          <a:stretch>
            <a:fillRect/>
          </a:stretch>
        </p:blipFill>
        <p:spPr bwMode="auto">
          <a:xfrm>
            <a:off x="5372100" y="5062948"/>
            <a:ext cx="857250" cy="84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6ACD851-1443-73FB-4072-4EF408699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760" y="5133551"/>
            <a:ext cx="705800" cy="7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wnload Github, Github Logo, Github Icon. Royalty-Free ...">
            <a:extLst>
              <a:ext uri="{FF2B5EF4-FFF2-40B4-BE49-F238E27FC236}">
                <a16:creationId xmlns:a16="http://schemas.microsoft.com/office/drawing/2014/main" id="{E39E9042-6010-38BD-30D5-8FDBE6FD3D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8" t="12601" r="13515" b="12500"/>
          <a:stretch>
            <a:fillRect/>
          </a:stretch>
        </p:blipFill>
        <p:spPr bwMode="auto">
          <a:xfrm>
            <a:off x="7782501" y="5123883"/>
            <a:ext cx="705799" cy="7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1272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376E-9644-5DDB-AC3E-B7B80160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12102-E9A5-73D0-F47C-DCAE0AE4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44517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048FA-F55D-1A0F-5C91-35647708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2D514-18BE-142D-AC67-BEBFED79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450" y="1690689"/>
            <a:ext cx="2949521" cy="3186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5EA280-0A8D-19E0-5E09-ED79A5C5A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406" y="1690688"/>
            <a:ext cx="2509468" cy="3186114"/>
          </a:xfrm>
          <a:prstGeom prst="rect">
            <a:avLst/>
          </a:prstGeom>
        </p:spPr>
      </p:pic>
      <p:pic>
        <p:nvPicPr>
          <p:cNvPr id="3074" name="Picture 2" descr="A NotebookLM app for iOS and Android is coming soon ...">
            <a:extLst>
              <a:ext uri="{FF2B5EF4-FFF2-40B4-BE49-F238E27FC236}">
                <a16:creationId xmlns:a16="http://schemas.microsoft.com/office/drawing/2014/main" id="{160EAFC6-4768-966D-75DD-EF63E8ED2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269" y="5003800"/>
            <a:ext cx="1845964" cy="148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ownload ChatGPT Logo - Chat gpt Icon on Black Background">
            <a:extLst>
              <a:ext uri="{FF2B5EF4-FFF2-40B4-BE49-F238E27FC236}">
                <a16:creationId xmlns:a16="http://schemas.microsoft.com/office/drawing/2014/main" id="{A0838DC1-7C17-D706-1E34-E3B5916EB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003800"/>
            <a:ext cx="1489075" cy="148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829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8387-134B-6F8C-C62B-2A3EE583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 writes, Write-Combine Buffers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BC32-C83D-2B6E-0C69-91CFD33D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(Canonical) Example use case: zero a memory page</a:t>
            </a:r>
          </a:p>
          <a:p>
            <a:r>
              <a:rPr lang="en-US" dirty="0"/>
              <a:t>Telling the processor it is about to overwrite full cache lines</a:t>
            </a:r>
          </a:p>
          <a:p>
            <a:r>
              <a:rPr lang="en-US" dirty="0"/>
              <a:t>WCB: collect multiple writes before sending to the cache coherency system</a:t>
            </a:r>
          </a:p>
          <a:p>
            <a:r>
              <a:rPr lang="en-US" dirty="0"/>
              <a:t>Avoid the inefficient dance of RFO (Read-For-Ownership) request + modification + writeback.</a:t>
            </a:r>
          </a:p>
          <a:p>
            <a:r>
              <a:rPr lang="en-US" dirty="0"/>
              <a:t>MOVNT* instructions, do not undergo the usual coherency route – may be visible only some time in the future.</a:t>
            </a:r>
          </a:p>
          <a:p>
            <a:endParaRPr lang="en-US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696485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1F2F-7521-98D0-5738-727A5861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Fences: Implicit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5CE4-277E-DCA3-667D-997C16778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Instructions with some order-serialization </a:t>
            </a:r>
            <a:r>
              <a:rPr lang="en-US" i="1" dirty="0"/>
              <a:t>side effects:</a:t>
            </a:r>
            <a:endParaRPr lang="en-US" dirty="0"/>
          </a:p>
          <a:p>
            <a:pPr lvl="1"/>
            <a:r>
              <a:rPr lang="en-US" dirty="0"/>
              <a:t>x86/64:  </a:t>
            </a:r>
          </a:p>
          <a:p>
            <a:pPr lvl="2"/>
            <a:r>
              <a:rPr lang="en-US" dirty="0"/>
              <a:t>CPUID, IRET, RSM, LOCK *, …</a:t>
            </a:r>
          </a:p>
          <a:p>
            <a:pPr lvl="1"/>
            <a:r>
              <a:rPr lang="en-US" dirty="0"/>
              <a:t>ARM:</a:t>
            </a:r>
          </a:p>
          <a:p>
            <a:pPr lvl="2"/>
            <a:r>
              <a:rPr lang="en-US" dirty="0"/>
              <a:t> MSR, MRS, ERET, SVC, HVC, SMC …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0249282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|0.5|0.7|0.5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1.4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2.6|5.7|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|0.5|0.7|0.5|0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|0.5|0.7|0.5|0.7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1595</Words>
  <Application>Microsoft Office PowerPoint</Application>
  <PresentationFormat>Widescreen</PresentationFormat>
  <Paragraphs>465</Paragraphs>
  <Slides>56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Consolas</vt:lpstr>
      <vt:lpstr>Wingdings</vt:lpstr>
      <vt:lpstr>Office Theme</vt:lpstr>
      <vt:lpstr>Concurrency –  All the way down</vt:lpstr>
      <vt:lpstr>Example Program</vt:lpstr>
      <vt:lpstr>Sequential Consistency (SC)</vt:lpstr>
      <vt:lpstr>Sequential Consistency (SC)</vt:lpstr>
      <vt:lpstr>Sequential Consistency (SC)</vt:lpstr>
      <vt:lpstr>Initial System Model</vt:lpstr>
      <vt:lpstr>Initial System Model</vt:lpstr>
      <vt:lpstr>Hardware Optimizations</vt:lpstr>
      <vt:lpstr>#1: FIFO write buffers </vt:lpstr>
      <vt:lpstr>#1: FIFO write buffers </vt:lpstr>
      <vt:lpstr>#1: FIFO write buffers </vt:lpstr>
      <vt:lpstr>#1: FIFO write buffers </vt:lpstr>
      <vt:lpstr>#1: FIFO write buffers </vt:lpstr>
      <vt:lpstr>Total Store Order (TSO)</vt:lpstr>
      <vt:lpstr>#2: Coalescing write buffers</vt:lpstr>
      <vt:lpstr>Cache Lines</vt:lpstr>
      <vt:lpstr>#2: Coalescing write buffers</vt:lpstr>
      <vt:lpstr>#2: Coalescing write buffers</vt:lpstr>
      <vt:lpstr>#2: Coalescing write buffers</vt:lpstr>
      <vt:lpstr>#2: Coalescing write buffers</vt:lpstr>
      <vt:lpstr>#2: Coalescing write buffers</vt:lpstr>
      <vt:lpstr>#2: Coalescing write buffers</vt:lpstr>
      <vt:lpstr>#2: Coalescing write buffers</vt:lpstr>
      <vt:lpstr>#2: Coalescing write buffers</vt:lpstr>
      <vt:lpstr>#2: Coalescing write buffers</vt:lpstr>
      <vt:lpstr>#3: Invalidate queues</vt:lpstr>
      <vt:lpstr>#3: Invalidate queues</vt:lpstr>
      <vt:lpstr>#4: non multi-copy atomicity</vt:lpstr>
      <vt:lpstr>#5: Out-of-Order Execution</vt:lpstr>
      <vt:lpstr>#6: Speculative Execution</vt:lpstr>
      <vt:lpstr>Counter Measures</vt:lpstr>
      <vt:lpstr>Fences: Full</vt:lpstr>
      <vt:lpstr>Fences: Full</vt:lpstr>
      <vt:lpstr>Fences: Store</vt:lpstr>
      <vt:lpstr>Fences: Load</vt:lpstr>
      <vt:lpstr>ARM: Acquire / Release</vt:lpstr>
      <vt:lpstr>ARM: Acquire / Release</vt:lpstr>
      <vt:lpstr>ARM: Acquire / Release</vt:lpstr>
      <vt:lpstr>ARM: Acquire / Release</vt:lpstr>
      <vt:lpstr>C++  std::memory_order</vt:lpstr>
      <vt:lpstr>Read-Modify-Write</vt:lpstr>
      <vt:lpstr>Read-modify-write: x86-64</vt:lpstr>
      <vt:lpstr>Read-modify-write: x86-64</vt:lpstr>
      <vt:lpstr>Read-modify-write: ARM</vt:lpstr>
      <vt:lpstr>Read-modify-write: ARM</vt:lpstr>
      <vt:lpstr>Read-modify-write: ARM</vt:lpstr>
      <vt:lpstr>Read-modify-write: ARM</vt:lpstr>
      <vt:lpstr>Cache Coherence Protocols</vt:lpstr>
      <vt:lpstr>Cache Coherence Protocols</vt:lpstr>
      <vt:lpstr>Summary</vt:lpstr>
      <vt:lpstr>Final Thoughts</vt:lpstr>
      <vt:lpstr>Thanks for listening!</vt:lpstr>
      <vt:lpstr>PowerPoint Presentation</vt:lpstr>
      <vt:lpstr>Resources</vt:lpstr>
      <vt:lpstr>NT writes, Write-Combine Buffers</vt:lpstr>
      <vt:lpstr>Fences: Implicit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2026-03-27T17:53:03Z</dcterms:created>
  <dcterms:modified xsi:type="dcterms:W3CDTF">2026-03-27T17:53:08Z</dcterms:modified>
</cp:coreProperties>
</file>