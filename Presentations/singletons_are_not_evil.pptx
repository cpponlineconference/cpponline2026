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3"/>
  </p:notesMasterIdLst>
  <p:sldIdLst>
    <p:sldId id="256" r:id="rId2"/>
    <p:sldId id="338" r:id="rId3"/>
    <p:sldId id="258" r:id="rId4"/>
    <p:sldId id="259" r:id="rId5"/>
    <p:sldId id="339" r:id="rId6"/>
    <p:sldId id="260" r:id="rId7"/>
    <p:sldId id="261" r:id="rId8"/>
    <p:sldId id="262" r:id="rId9"/>
    <p:sldId id="263" r:id="rId10"/>
    <p:sldId id="321" r:id="rId11"/>
    <p:sldId id="265" r:id="rId12"/>
    <p:sldId id="329" r:id="rId13"/>
    <p:sldId id="331" r:id="rId14"/>
    <p:sldId id="313" r:id="rId15"/>
    <p:sldId id="310" r:id="rId16"/>
    <p:sldId id="311" r:id="rId17"/>
    <p:sldId id="312" r:id="rId18"/>
    <p:sldId id="314" r:id="rId19"/>
    <p:sldId id="267" r:id="rId20"/>
    <p:sldId id="325" r:id="rId21"/>
    <p:sldId id="317" r:id="rId22"/>
    <p:sldId id="326" r:id="rId23"/>
    <p:sldId id="266" r:id="rId24"/>
    <p:sldId id="322" r:id="rId25"/>
    <p:sldId id="318" r:id="rId26"/>
    <p:sldId id="323" r:id="rId27"/>
    <p:sldId id="316" r:id="rId28"/>
    <p:sldId id="324" r:id="rId29"/>
    <p:sldId id="315" r:id="rId30"/>
    <p:sldId id="330" r:id="rId31"/>
    <p:sldId id="320" r:id="rId32"/>
    <p:sldId id="268" r:id="rId33"/>
    <p:sldId id="327" r:id="rId34"/>
    <p:sldId id="332" r:id="rId35"/>
    <p:sldId id="333" r:id="rId36"/>
    <p:sldId id="334" r:id="rId37"/>
    <p:sldId id="335" r:id="rId38"/>
    <p:sldId id="343" r:id="rId39"/>
    <p:sldId id="340" r:id="rId40"/>
    <p:sldId id="341" r:id="rId41"/>
    <p:sldId id="342" r:id="rId42"/>
    <p:sldId id="269" r:id="rId43"/>
    <p:sldId id="345" r:id="rId44"/>
    <p:sldId id="346" r:id="rId45"/>
    <p:sldId id="347" r:id="rId46"/>
    <p:sldId id="348" r:id="rId47"/>
    <p:sldId id="349" r:id="rId48"/>
    <p:sldId id="350" r:id="rId49"/>
    <p:sldId id="351" r:id="rId50"/>
    <p:sldId id="352" r:id="rId51"/>
    <p:sldId id="353" r:id="rId52"/>
    <p:sldId id="354" r:id="rId53"/>
    <p:sldId id="356" r:id="rId54"/>
    <p:sldId id="355" r:id="rId55"/>
    <p:sldId id="357" r:id="rId56"/>
    <p:sldId id="358" r:id="rId57"/>
    <p:sldId id="359" r:id="rId58"/>
    <p:sldId id="361" r:id="rId59"/>
    <p:sldId id="362" r:id="rId60"/>
    <p:sldId id="363" r:id="rId61"/>
    <p:sldId id="364" r:id="rId62"/>
    <p:sldId id="367" r:id="rId63"/>
    <p:sldId id="365" r:id="rId64"/>
    <p:sldId id="368" r:id="rId65"/>
    <p:sldId id="369" r:id="rId66"/>
    <p:sldId id="371" r:id="rId67"/>
    <p:sldId id="372" r:id="rId68"/>
    <p:sldId id="373" r:id="rId69"/>
    <p:sldId id="374" r:id="rId70"/>
    <p:sldId id="289" r:id="rId71"/>
    <p:sldId id="375" r:id="rId72"/>
    <p:sldId id="376" r:id="rId73"/>
    <p:sldId id="377" r:id="rId74"/>
    <p:sldId id="297" r:id="rId75"/>
    <p:sldId id="378" r:id="rId76"/>
    <p:sldId id="379" r:id="rId77"/>
    <p:sldId id="380" r:id="rId78"/>
    <p:sldId id="381" r:id="rId79"/>
    <p:sldId id="382" r:id="rId80"/>
    <p:sldId id="383" r:id="rId81"/>
    <p:sldId id="384" r:id="rId82"/>
    <p:sldId id="385" r:id="rId83"/>
    <p:sldId id="387" r:id="rId84"/>
    <p:sldId id="388" r:id="rId85"/>
    <p:sldId id="389" r:id="rId86"/>
    <p:sldId id="391" r:id="rId87"/>
    <p:sldId id="392" r:id="rId88"/>
    <p:sldId id="393" r:id="rId89"/>
    <p:sldId id="394" r:id="rId90"/>
    <p:sldId id="395" r:id="rId91"/>
    <p:sldId id="300" r:id="rId92"/>
    <p:sldId id="396" r:id="rId93"/>
    <p:sldId id="401" r:id="rId94"/>
    <p:sldId id="397" r:id="rId95"/>
    <p:sldId id="304" r:id="rId96"/>
    <p:sldId id="283" r:id="rId97"/>
    <p:sldId id="282" r:id="rId98"/>
    <p:sldId id="306" r:id="rId99"/>
    <p:sldId id="309" r:id="rId100"/>
    <p:sldId id="307" r:id="rId101"/>
    <p:sldId id="400" r:id="rId10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3A5F"/>
    <a:srgbClr val="EBF4FF"/>
    <a:srgbClr val="0D1117"/>
    <a:srgbClr val="F4F6FA"/>
    <a:srgbClr val="569C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2494" autoAdjust="0"/>
  </p:normalViewPr>
  <p:slideViewPr>
    <p:cSldViewPr snapToGrid="0">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990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63848-3B23-DEB5-8AC6-16445BB6F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052E8A-063E-B847-A0A8-17529E5F2C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A26A08-468C-527D-EF9C-EBE5858125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3AFECE-C43F-BE80-A9DB-C7DEC0337F5E}"/>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055384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17689-4FCC-D258-BE13-FDDA9E9F0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83364-8FB4-EADF-E078-977802DF9B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36C4B8-6830-A60D-E96B-DDB6D795E8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F7B3A22-99F9-66E9-E68F-1636233D6C9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73742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77FDF-97BA-9BB4-E828-F7AE329DC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A0184-DD97-CD93-CB9A-7ECB6D2BBF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A5E80-9478-DCE9-0D9B-70C2E15613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19E12A-4016-98F1-337B-3995116E3F6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52392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Image source: Microsoft 365 content library
The </a:t>
            </a:r>
            <a:r>
              <a:rPr lang="en-US" dirty="0" err="1"/>
              <a:t>XRayMachine</a:t>
            </a:r>
            <a:r>
              <a:rPr lang="en-US" dirty="0"/>
              <a:t> class provides high-level functionalities for image acquisition, processing, and system control. It manages properties such as exposure settings, patient information, and image storage. Additionally, it ensures safety protocols, supports error logging, and interfaces with hardware for precise operation and integration with hospital systems.</a:t>
            </a:r>
          </a:p>
        </p:txBody>
      </p:sp>
    </p:spTree>
    <p:extLst>
      <p:ext uri="{BB962C8B-B14F-4D97-AF65-F5344CB8AC3E}">
        <p14:creationId xmlns:p14="http://schemas.microsoft.com/office/powerpoint/2010/main" val="958146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CD2B-DA36-03C5-7BC6-C20B672A7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B3D0D-A178-0C8F-91C0-EBCA1A01D31B}"/>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F93FCA4-E969-8CEA-39A7-2679C0BDFE2A}"/>
              </a:ext>
            </a:extLst>
          </p:cNvPr>
          <p:cNvSpPr>
            <a:spLocks noGrp="1"/>
          </p:cNvSpPr>
          <p:nvPr>
            <p:ph type="body" idx="1"/>
          </p:nvPr>
        </p:nvSpPr>
        <p:spPr>
          <a:xfrm>
            <a:off x="514350" y="4400550"/>
            <a:ext cx="4114800" cy="3600450"/>
          </a:xfrm>
          <a:prstGeom prst="rect">
            <a:avLst/>
          </a:prstGeom>
        </p:spPr>
        <p:txBody>
          <a:bodyPr/>
          <a:lstStyle/>
          <a:p>
            <a:r>
              <a:rPr lang="en-US" dirty="0"/>
              <a:t>Image source: Microsoft 365 content library
The </a:t>
            </a:r>
            <a:r>
              <a:rPr lang="en-US" dirty="0" err="1"/>
              <a:t>XRayMachine</a:t>
            </a:r>
            <a:r>
              <a:rPr lang="en-US" dirty="0"/>
              <a:t> class provides high-level functionalities for image acquisition, processing, and system control. It manages properties such as exposure settings, patient information, and image storage. Additionally, it ensures safety protocols, supports error logging, and interfaces with hardware for precise operation and integration with hospital systems.</a:t>
            </a:r>
          </a:p>
        </p:txBody>
      </p:sp>
    </p:spTree>
    <p:extLst>
      <p:ext uri="{BB962C8B-B14F-4D97-AF65-F5344CB8AC3E}">
        <p14:creationId xmlns:p14="http://schemas.microsoft.com/office/powerpoint/2010/main" val="257246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AF872-5146-32A8-D253-9C1141CC6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99FA5-1487-7112-559C-AA3B16D7DA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38DC0-6107-F231-3399-FDF57C5B04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DDB22EA-7E29-C922-2E48-68B644CF7F6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693772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FB523-048A-5AB1-B56F-4CCBE3E49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54785-CA66-07D6-CE67-199968EBA2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BA8E5-45A3-8D92-85DB-D7155C4113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D787CB-5EC3-A9C8-2412-9FED6E5D712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834107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EE12C-A3F9-E5EB-DA5F-CDCE04CC3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1E44A-2F78-6F13-C893-A16077A26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E4BE75-CEA2-71C4-7239-C37CBC0338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718483-D8A2-466C-66A0-34F2CD42923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915603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3C966-DD86-BEB0-EFE8-CDB587B13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1C0A4-C90E-9AC7-E44B-8F10BA99A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BC5B0-C6B5-5089-9368-4D85844C9D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12C8FC-A1C0-F1C4-981F-FF42893F77D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4180675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Image source: Microsoft 365 content library
Using Dependency Injection (DI) in the XRayMachine example can violate four core design principles: 1) It weakens encapsulation by exposing internal dependencies. 2) It increases coupling as components become heavily dependent on DI configuration. 3) It reduces code clarity, making it harder to trace dependencies. 4) It complicates testing and maintenance due to hidden object graphs.</a:t>
            </a:r>
          </a:p>
        </p:txBody>
      </p:sp>
    </p:spTree>
    <p:extLst>
      <p:ext uri="{BB962C8B-B14F-4D97-AF65-F5344CB8AC3E}">
        <p14:creationId xmlns:p14="http://schemas.microsoft.com/office/powerpoint/2010/main" val="6451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BB539-0315-90C7-EA59-5CE8502C0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D323E-34A3-6A94-039C-290393676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48D580-2305-7388-5C31-017E3AAD85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687E71-F840-8A59-481C-FE7E63138E51}"/>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7239133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9E990-DF79-CBCF-CBED-043C0960F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56DE39-129C-78D5-D2CF-9F069736D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2CD89-4A34-C205-5933-8FBE74143D8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DDD0D23-0CB3-C083-1076-B84AFC8F2A36}"/>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885146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CEDD5-8B8B-8702-BD3B-A2BDF7399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EDE21-9BEA-0425-0391-DAA1B5C45F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67222-FF72-91AB-E29A-4A37EE7EC4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AE132F-888E-9251-D763-566BD64273C5}"/>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0663605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02649-260A-3B74-E798-4D59B05C1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D1CEB-D814-5797-1830-033497AE4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EA66C-8018-D0A8-EBBC-B44BE28752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3A4FEE-F6C5-1F0C-896F-1DE7B4ED943B}"/>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9951148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D2CD2-628F-5F01-7EA0-6E2CA3BB0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D13847-B108-9744-9643-DE4BB14789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93F8CF-07AA-1AC3-D800-D043B065D3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6D94FE-CBBC-B241-C751-0DDCE43797EF}"/>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6221370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74953-3089-3F94-D4A0-838F3ED42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7FD10-68A7-CA92-480C-1EA38D7DF1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E64F09-7266-64E8-49C2-A60BD5F01B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DE331F-AE7B-071C-5707-C749D1C5C56A}"/>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9059076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09299-0B39-9F5F-6C47-2CB253D69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454B3-CBA9-C713-5898-87099F1B43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AB374-D4CE-E65A-279D-8233F66622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FA0E11-C5C7-72C1-E3B5-ABB102D8830B}"/>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967339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3ABF1-686F-010F-87C2-FC9906CAE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C73DF-218F-0A81-2CD8-B0C843919E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867F56-5084-CA8C-845F-E5ECD9AAD65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3ABEAA-E142-2504-DEED-6107A61A1F93}"/>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463183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B2149-4135-9DD6-795A-A5FB437EE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B914C-78F0-812F-C3EC-DB6308D720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4BC7B-B74D-3D6F-FBBE-E2697FAD59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172314-9614-16DB-3B4F-9C13178DE594}"/>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933328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E3F81-D5FE-5475-DCF5-E430A89B9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B5CC1-B817-E81D-BA30-CC4BB848C5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6B9E2-133F-55A3-3B29-E78AAE34BE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B5732F-2434-0A98-924F-388D9DECD740}"/>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551460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3EA95-C515-C451-7796-28D868872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8B963-542B-9B7F-2F1B-495A7C636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652FDF-034D-2909-D7F4-F6A5EC8359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569C52-F125-E190-2A71-3AF8527FA657}"/>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4812087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22854-CDE9-B803-B727-AA946C5B7A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DE9B10-7885-DE3E-261D-1CD3C1D0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118148-0B45-F9C9-7D44-9DF43E4C47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00E4C8A-6CA2-2D0A-827B-6659688C5996}"/>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6366845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67307-F01E-06EF-29FE-5D2896C49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B6621-0390-CC2A-7F67-B377AEBFF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26DF03-3663-930D-89DC-76357041A70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590E55-E29D-0EF9-6BAC-48EFD328ABD6}"/>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1328688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04649-E8D5-104C-FD65-39F9388D8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40F28-DF3F-2FBF-A8EA-F0961FFD2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DF0990-3647-25E6-5E1A-C85D1909AE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ECD332-8AB4-7279-CA16-6F84615CD8A9}"/>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6799137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0115B-E78F-591C-B5FC-75FA20F8E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67C13-AC1C-CC0C-B605-F148270BB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3C373-FD56-32D7-F061-BCFE38F99E1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C1772B-643A-D7D4-B9CF-62D6FB097C3E}"/>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42055818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4FAD5-8BD8-76AB-3228-ED06617F2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4D9FC-FD19-5E2C-C049-D7A2E464B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8BE8C9-C6FE-EF78-4AB1-A9689A7DCEC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1E177C-E5FD-0872-311B-841A682A19A6}"/>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345198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7EF68-B93B-AB6C-E97A-FCBE8E3200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F3A11-CFAC-7129-B568-C7954C48B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638821-C952-6D09-BAE3-0DF5A585E1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6F5A4E-028A-813C-8516-FE8AD776F4BF}"/>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5860114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F9DA0-EB4A-123F-D8C2-61242CE0E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54DD1-897F-BFD6-526C-DB3DA60EC8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5118E8-E48B-FA26-7131-911D96F263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F78DE8-EED9-A841-6971-C20779185F95}"/>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4377142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5F00C-168D-6235-B2A7-93F13CE8D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333B8D-AA8C-77BA-3A2E-2881B5993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A1ACD5-C460-8024-9CAE-98EBB1527A7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A078BC-9A19-88D2-AD11-A503BB157138}"/>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40128501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5249A-6999-DD80-0358-8FA89E15F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9D9061-5631-B821-52C8-46A8B3E4CC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DC01F-06F2-65E6-F83E-340AA46423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D783EE-05F3-CB19-8E7B-DCF792429B35}"/>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7452952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5E949-29A7-6613-63F5-6C66C4A9AB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50EEA-89A8-253B-89AA-7A528D119B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4B307-6D3E-8B43-7D24-34FEF6E4D1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CE6B25-82FE-F85E-F158-EAEC95C5EBCB}"/>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815471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BBA90-84BB-46C7-3A58-D1B98E8878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51ABD-D2D6-099B-A299-1E40AAF9E0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EBA42E-0DD2-36AF-D1EF-55468EC058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E736C4-BEF1-94EB-DA8D-A830576F62FD}"/>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7492627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9B8CF-E870-F560-4ED2-A7E1D0614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611A6-6CAE-C17C-76C9-07C79DF19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EEE40-FA0E-7BA6-F1E2-C3C9D768B5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120B07-D6A7-9543-F7C7-79A4FBDC654A}"/>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3489001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AC24E-BFBE-ACE1-7264-DCA568A444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04206-7CF3-9C8F-08E9-95181205C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092F1-F3B2-1A88-D0DE-2207DAD793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D40112-18DF-B1FA-3C90-7C260233EC3C}"/>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9131266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03F3C-5462-100F-0AAA-B1F7CCC49E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43F3B-FA25-CA5D-7B8B-0E8C747A68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029F54-93F0-10C3-C93A-4261D22DBA8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61B2CF-7318-A4F6-EC44-74A2782839DC}"/>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32563299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36E49-553A-B40D-0559-BACB56399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E065F-4FD7-10F6-50E6-3A7EFE9FF8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6AF9F-1052-FD86-D637-8111C79FC1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D909C9-6740-782B-67AF-CE961B819FC8}"/>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26968100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88E1F-F957-3BF8-DF72-294638765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BC504A-3670-C689-6CE4-01E4044075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E14687-22D1-ED88-7C57-F69CFD7851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CAC8CD-07C0-F53C-97B8-C1CF815929E1}"/>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38582644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30292-4B00-597E-DA5E-909A51647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FCF43-7DA5-78DE-264A-C810EB32C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611D9-E684-89BD-B1A9-47FAC901D0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AD85C8-6C68-B94E-F3CF-29D15BADFA5D}"/>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28250272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8D8CC-AD28-4295-3728-DFEE7D5DA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FFF94-7B78-283E-8E20-F02EF69DF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F5F568-58DD-3975-562A-8E523D6B18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B07508-7BB2-C352-947D-EA99D4B94570}"/>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3782408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8B7A8-79A3-C90B-03A3-6CE0103AC4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08A93-5180-126F-199C-2E2BFAB905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CB7332-6082-4A3D-C520-32D0CA86FB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210EBD-DB2A-AAC8-08C6-8FBF57DBF93E}"/>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36359180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6BB65-61FC-676F-D0BD-AEEC2D059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64F1D-D631-AE26-7D1A-1C806FB551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4D86E2-E0B4-CA6D-F7C5-78AB77693FE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B2041A-CECF-DCAF-61FA-5845DB22554F}"/>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3855989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87F45-AB7F-0F79-FB56-45E26FC65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8955F-BD0E-5BA8-0DCA-B9423A237E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133FFB-80B5-1BB3-529F-6B3CBA6754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70CFDB-62CF-384D-A034-E396955BC5A2}"/>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31711879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0BC28-DB1B-F369-E725-577B16BA5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A652D-7769-5680-B56B-B504304CC5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F51FC8-F6E8-54D1-5C10-C7F8B94E2C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FDD74F-BD03-F1C0-1591-78E435A334A6}"/>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31075300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4BCBB-CD67-07D2-4810-050A13F9E1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00DAB-104A-A30B-58B2-1DA1D5B8EC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B654B0-0D62-5CBE-AE9B-904FE37792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EE7512-E674-28CD-C090-BD9366DA43AC}"/>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33185466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BE94E-D16C-5E1A-8223-9AB69F0E1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D4D94-B1EA-7EDF-2C29-D6A036FCB0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BFC6E4-8F96-6ED9-A40C-D6C6D4BCFA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19D38C-EF04-AA37-F2DD-47FE904FE1E4}"/>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8514641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EADDB-AF8C-3745-9FC3-82860696F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1731D-628E-348D-DE5B-3A87E28730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45B93C-C318-3FC4-36F5-307C1AF82C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868F1D-80FA-BB7A-FD6A-AE53E02CA060}"/>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346813372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4B9BD-A552-CDE5-8ED6-F6E076580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98DC8-D9ED-1F10-4BF5-C97156072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E1892-525E-02D5-4926-A73DFE368F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991C25-9B01-FCDD-712F-0C543AF5D00B}"/>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26220404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7C7E1-6A27-9FD0-918E-CD765A591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476C7-5D58-16F9-09FB-F9BE339AC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245AC-4B48-F085-9845-8AD65604015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4D89FF-E5E1-DD5E-9A33-55B4B1FE2C8F}"/>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39750816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3E357-858A-CD6F-DDBA-16E569BC81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00B9B6-7495-43DB-10B0-DAC72D096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2E960-2C5A-2660-8335-3F6F15FD0A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8E4F446-387E-392F-EAC8-8D273DDA6CA8}"/>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8080878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0E691-B8A7-6559-5C97-A1B9EBBC82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C8C5F-4C17-188E-0F50-675E93D59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8CE0F6-E305-1D1A-46D6-AF7F7C2ACD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D1E12D-3F17-BFEF-FE30-C135CE582F97}"/>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84636852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13D9-A75A-5440-70A1-04C1A2842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34185-6A01-4180-F13D-411537E08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4BC17-E26D-BB9E-309C-63C525E855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37644B-E54E-5B33-3B11-D8D60F0A2157}"/>
              </a:ext>
            </a:extLst>
          </p:cNvPr>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23075180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AFE7C-9F4B-7B49-49BF-40B454BE8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647DF-0ECF-4F75-5379-7C7C859BE9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45B5D1-508B-70E4-B29F-1333C1646C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9E27BD-10AE-3627-A9B2-6574833326BB}"/>
              </a:ext>
            </a:extLst>
          </p:cNvPr>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33732162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96C3B-342E-7999-93C8-70FE20480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ACC80-7B8C-F3A9-1365-EDF7FA83F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16492-2327-2973-B490-4F0BB19433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BF6A9A0-A44F-5362-354B-D9CA4319E854}"/>
              </a:ext>
            </a:extLst>
          </p:cNvPr>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69126831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18323-F4EF-20E2-6A4B-25DB0A25EA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ECC4C-9C02-218F-7434-C68640097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8EBD16-7F77-8DF2-9727-4061DC654B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660859-25F5-E121-0E2E-89314B2C066F}"/>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49205250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7413F-0F65-5A19-D3DF-CCBA0487A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5F626-332F-4F4C-4314-187748113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E0F0DA-4C0C-DF89-3042-51800A0368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2EC852-5E03-2314-1585-D74435C32023}"/>
              </a:ext>
            </a:extLst>
          </p:cNvPr>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36664379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9D418-63F2-76DD-D100-E15FFFFC9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6BBBD9-9DD5-AD4C-5131-4369ABADBE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63138-7B97-1DE5-8294-04D5A3108C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59AF52-20A1-7A98-DC44-52A6A5EE2D81}"/>
              </a:ext>
            </a:extLst>
          </p:cNvPr>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28394055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603E9-5027-9A70-6E6C-398AC8F93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06642-493F-97B7-3C03-B7E21D9BE2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A98BD0-5292-B9F2-E1BE-05E7C11994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653FA1-AD5C-8A79-F6A7-30753B544A12}"/>
              </a:ext>
            </a:extLst>
          </p:cNvPr>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72124856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038A1-5C6E-B35E-610E-77F9CA47B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2DAAD-CD59-415A-D162-BB083FB7AE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5F1E5-D9CD-74EC-DDC4-BBCA9649C1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E2CC87-BF47-01F1-BBAD-AF468DB94E9F}"/>
              </a:ext>
            </a:extLst>
          </p:cNvPr>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347716596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FF128-7197-F50F-75D7-539D6451C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01766-A84C-70FD-407C-E6E3F307D3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A87D1-D204-539B-E6AB-A0A4292A4F9E}"/>
              </a:ext>
            </a:extLst>
          </p:cNvPr>
          <p:cNvSpPr>
            <a:spLocks noGrp="1"/>
          </p:cNvSpPr>
          <p:nvPr>
            <p:ph type="body" idx="1"/>
          </p:nvPr>
        </p:nvSpPr>
        <p:spPr/>
        <p:txBody>
          <a:bodyPr/>
          <a:lstStyle/>
          <a:p>
            <a:endParaRPr lang="en-US" dirty="0">
              <a:effectLst/>
            </a:endParaRPr>
          </a:p>
          <a:p>
            <a:r>
              <a:rPr lang="en-US" sz="1200" b="0" i="0" kern="1200" dirty="0">
                <a:solidFill>
                  <a:schemeClr val="tx1"/>
                </a:solidFill>
                <a:effectLst/>
                <a:latin typeface="+mn-lt"/>
                <a:ea typeface="+mn-ea"/>
                <a:cs typeface="+mn-cs"/>
              </a:rPr>
              <a:t>“At this point, something really important becomes clear: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system isn’t just </a:t>
            </a:r>
            <a:r>
              <a:rPr lang="en-US" sz="1200" b="0" i="1" kern="1200" dirty="0">
                <a:solidFill>
                  <a:schemeClr val="tx1"/>
                </a:solidFill>
                <a:effectLst/>
                <a:latin typeface="+mn-lt"/>
                <a:ea typeface="+mn-ea"/>
                <a:cs typeface="+mn-cs"/>
              </a:rPr>
              <a:t>testable</a:t>
            </a:r>
            <a:r>
              <a:rPr lang="en-US" sz="1200" b="0" i="0" kern="1200" dirty="0">
                <a:solidFill>
                  <a:schemeClr val="tx1"/>
                </a:solidFill>
                <a:effectLst/>
                <a:latin typeface="+mn-lt"/>
                <a:ea typeface="+mn-ea"/>
                <a:cs typeface="+mn-cs"/>
              </a:rPr>
              <a:t> — it’s </a:t>
            </a:r>
            <a:r>
              <a:rPr lang="en-US" sz="1200" b="1" i="0" kern="1200" dirty="0">
                <a:solidFill>
                  <a:schemeClr val="tx1"/>
                </a:solidFill>
                <a:effectLst/>
                <a:latin typeface="+mn-lt"/>
                <a:ea typeface="+mn-ea"/>
                <a:cs typeface="+mn-cs"/>
              </a:rPr>
              <a:t>self‑proofing</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I mean by that is: the design enforces correctness automatically.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Developers don’t need to remember rules, follow patterns, or manage cleanup.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architecture </a:t>
            </a:r>
            <a:r>
              <a:rPr lang="en-US" sz="1200" b="0" i="1" kern="1200" dirty="0">
                <a:solidFill>
                  <a:schemeClr val="tx1"/>
                </a:solidFill>
                <a:effectLst/>
                <a:latin typeface="+mn-lt"/>
                <a:ea typeface="+mn-ea"/>
                <a:cs typeface="+mn-cs"/>
              </a:rPr>
              <a:t>itself</a:t>
            </a:r>
            <a:r>
              <a:rPr lang="en-US" sz="1200" b="0" i="0" kern="1200" dirty="0">
                <a:solidFill>
                  <a:schemeClr val="tx1"/>
                </a:solidFill>
                <a:effectLst/>
                <a:latin typeface="+mn-lt"/>
                <a:ea typeface="+mn-ea"/>
                <a:cs typeface="+mn-cs"/>
              </a:rPr>
              <a:t> guarantees safe behavior.”</a:t>
            </a:r>
          </a:p>
          <a:p>
            <a:r>
              <a:rPr lang="en-US" sz="1200" b="0" i="0" kern="1200" dirty="0">
                <a:solidFill>
                  <a:schemeClr val="tx1"/>
                </a:solidFill>
                <a:effectLst/>
                <a:latin typeface="+mn-lt"/>
                <a:ea typeface="+mn-ea"/>
                <a:cs typeface="+mn-cs"/>
              </a:rPr>
              <a:t>“You can’t accidentally create multiple instances.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forget to restore a mock.</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leak state between tests.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Even if you tried, the system simply wouldn’t let you.”</a:t>
            </a:r>
          </a:p>
          <a:p>
            <a:r>
              <a:rPr lang="en-US" sz="1200" b="0" i="0" kern="1200" dirty="0">
                <a:solidFill>
                  <a:schemeClr val="tx1"/>
                </a:solidFill>
                <a:effectLst/>
                <a:latin typeface="+mn-lt"/>
                <a:ea typeface="+mn-ea"/>
                <a:cs typeface="+mn-cs"/>
              </a:rPr>
              <a:t>“This gives us a huge real‑world advantage: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removes human error from global‑state interactions.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lifecycle and the active instance are always correct, because the mechanics make them correct.”</a:t>
            </a:r>
          </a:p>
          <a:p>
            <a:r>
              <a:rPr lang="en-US" sz="1200" b="0" i="0" kern="1200" dirty="0">
                <a:solidFill>
                  <a:schemeClr val="tx1"/>
                </a:solidFill>
                <a:effectLst/>
                <a:latin typeface="+mn-lt"/>
                <a:ea typeface="+mn-ea"/>
                <a:cs typeface="+mn-cs"/>
              </a:rPr>
              <a:t>“And the surprising part?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When we started using this in real projects, we discovered that this self‑proofing behavior unlocked several </a:t>
            </a:r>
            <a:r>
              <a:rPr lang="en-US" sz="1200" b="1" i="0" kern="1200" dirty="0">
                <a:solidFill>
                  <a:schemeClr val="tx1"/>
                </a:solidFill>
                <a:effectLst/>
                <a:latin typeface="+mn-lt"/>
                <a:ea typeface="+mn-ea"/>
                <a:cs typeface="+mn-cs"/>
              </a:rPr>
              <a:t>emergent properties</a:t>
            </a:r>
            <a:r>
              <a:rPr lang="en-US" sz="1200" b="0" i="0" kern="1200" dirty="0">
                <a:solidFill>
                  <a:schemeClr val="tx1"/>
                </a:solidFill>
                <a:effectLst/>
                <a:latin typeface="+mn-lt"/>
                <a:ea typeface="+mn-ea"/>
                <a:cs typeface="+mn-cs"/>
              </a:rPr>
              <a:t> we didn’t even design for explicitly — properties that made the system far more usable than expected.”</a:t>
            </a:r>
          </a:p>
          <a:p>
            <a:r>
              <a:rPr lang="en-US" sz="1200" b="0" i="0" kern="1200" dirty="0">
                <a:solidFill>
                  <a:schemeClr val="tx1"/>
                </a:solidFill>
                <a:effectLst/>
                <a:latin typeface="+mn-lt"/>
                <a:ea typeface="+mn-ea"/>
                <a:cs typeface="+mn-cs"/>
              </a:rPr>
              <a:t>“These included effortless mocking, natural nested scoping, polymorphic overrides, safe cross‑library behavior — all emerging organically from the architecture.”</a:t>
            </a:r>
          </a:p>
          <a:p>
            <a:r>
              <a:rPr lang="en-US" sz="1200" b="0" i="0" kern="1200" dirty="0">
                <a:solidFill>
                  <a:schemeClr val="tx1"/>
                </a:solidFill>
                <a:effectLst/>
                <a:latin typeface="+mn-lt"/>
                <a:ea typeface="+mn-ea"/>
                <a:cs typeface="+mn-cs"/>
              </a:rPr>
              <a:t>“So next, let’s walk through those real‑world findings and see how these emergent behaviors shaped the actual developer experience.”</a:t>
            </a:r>
          </a:p>
          <a:p>
            <a:endParaRPr lang="en-US" dirty="0"/>
          </a:p>
        </p:txBody>
      </p:sp>
      <p:sp>
        <p:nvSpPr>
          <p:cNvPr id="4" name="Slide Number Placeholder 3">
            <a:extLst>
              <a:ext uri="{FF2B5EF4-FFF2-40B4-BE49-F238E27FC236}">
                <a16:creationId xmlns:a16="http://schemas.microsoft.com/office/drawing/2014/main" id="{28A21F5A-1DE5-7E86-37B7-2D4452A10010}"/>
              </a:ext>
            </a:extLst>
          </p:cNvPr>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48457017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B8A5F-F92D-FAF4-2734-537F187E7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96031-F063-B549-2BBE-0B3CBC90A3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6D199-2182-EF17-2E76-73754C7E6A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FE1E73-9EC3-788E-0B14-FA9FE4C4A46C}"/>
              </a:ext>
            </a:extLst>
          </p:cNvPr>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8963575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599C0-DE66-036C-6403-459D8EB985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B6EC1-B54D-8296-22FF-64D3F85F82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7044E-6849-07F2-2AE1-9337F39FB7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402344-9F91-0F36-D9E8-BC97AD2998B8}"/>
              </a:ext>
            </a:extLst>
          </p:cNvPr>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241960727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E1ACF-DD22-4C18-1F43-CDCD93354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D486B-22DD-AA83-58EA-774F62FA48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390A14-CC69-FD8A-5C0B-54B639E210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73A9A2-6A34-FC34-A577-46AE9E18C33F}"/>
              </a:ext>
            </a:extLst>
          </p:cNvPr>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258160468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7E62C-4CFB-D05C-B0D4-F6E7C2609B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6BC23-4C35-6FD0-4E35-9E729347B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216E8-5B29-B544-C1E2-101CB835B3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FB5CD6-4762-E75F-00A5-8A9775651B98}"/>
              </a:ext>
            </a:extLst>
          </p:cNvPr>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21390464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8D18D-9933-95F4-80BB-84B782D7F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ADFD8-F39F-5D34-8F33-F2B12ACDC3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745EC-616E-4BB5-ADE6-0A22B3F940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923944-279A-6FE8-3CD0-F1ED5BD8F675}"/>
              </a:ext>
            </a:extLst>
          </p:cNvPr>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344575275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6472A-642D-E554-4725-AE7E60B9F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7A798-9CF1-29CD-6498-69E32B963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9BAE8-E711-AAC8-CF9F-64A172E0DD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429B9F-8ECE-8E52-7F7E-0A30AB171677}"/>
              </a:ext>
            </a:extLst>
          </p:cNvPr>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44205515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26AE6-6473-1B81-6671-0A384530B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8D7B2F-73D7-A8E0-5426-DE23CEAB6D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FA121-6153-D891-FBAA-8DD25E209C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238F5C-93F9-8123-7915-EE96FC1BDFDC}"/>
              </a:ext>
            </a:extLst>
          </p:cNvPr>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298422235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EEC0F-79FB-E1C2-A310-5EC2FB189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91D8F-9CB3-E846-C097-A92FD4EF0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1006B-8F42-9AE4-6EBC-8867FAE4E6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DC7464-5ABC-3ADB-B23E-94AC316DBA88}"/>
              </a:ext>
            </a:extLst>
          </p:cNvPr>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37469968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19FFE-ADFD-F900-4456-758FDB29F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12A76-3B70-B0B6-B5DE-F3A6A460E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B51C2-7E31-5ACD-4563-5C359F3174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B4F2895-623F-D306-1244-2DC5D63340C8}"/>
              </a:ext>
            </a:extLst>
          </p:cNvPr>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34593385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CD38E-136A-5452-893C-4B2CAC31B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AEE24-4A67-12A1-B72F-0EB96FEA83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50C8F-3213-8FC0-1DC6-44787970FC23}"/>
              </a:ext>
            </a:extLst>
          </p:cNvPr>
          <p:cNvSpPr>
            <a:spLocks noGrp="1"/>
          </p:cNvSpPr>
          <p:nvPr>
            <p:ph type="body" idx="1"/>
          </p:nvPr>
        </p:nvSpPr>
        <p:spPr/>
        <p:txBody>
          <a:bodyPr/>
          <a:lstStyle/>
          <a:p>
            <a:endParaRPr lang="en-US" dirty="0">
              <a:effectLst/>
            </a:endParaRPr>
          </a:p>
          <a:p>
            <a:r>
              <a:rPr lang="en-US" sz="1200" b="0" i="0" kern="1200" dirty="0">
                <a:solidFill>
                  <a:schemeClr val="tx1"/>
                </a:solidFill>
                <a:effectLst/>
                <a:latin typeface="+mn-lt"/>
                <a:ea typeface="+mn-ea"/>
                <a:cs typeface="+mn-cs"/>
              </a:rPr>
              <a:t>“At this point, something really important becomes clear: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system isn’t just </a:t>
            </a:r>
            <a:r>
              <a:rPr lang="en-US" sz="1200" b="0" i="1" kern="1200" dirty="0">
                <a:solidFill>
                  <a:schemeClr val="tx1"/>
                </a:solidFill>
                <a:effectLst/>
                <a:latin typeface="+mn-lt"/>
                <a:ea typeface="+mn-ea"/>
                <a:cs typeface="+mn-cs"/>
              </a:rPr>
              <a:t>testable</a:t>
            </a:r>
            <a:r>
              <a:rPr lang="en-US" sz="1200" b="0" i="0" kern="1200" dirty="0">
                <a:solidFill>
                  <a:schemeClr val="tx1"/>
                </a:solidFill>
                <a:effectLst/>
                <a:latin typeface="+mn-lt"/>
                <a:ea typeface="+mn-ea"/>
                <a:cs typeface="+mn-cs"/>
              </a:rPr>
              <a:t> — it’s </a:t>
            </a:r>
            <a:r>
              <a:rPr lang="en-US" sz="1200" b="1" i="0" kern="1200" dirty="0">
                <a:solidFill>
                  <a:schemeClr val="tx1"/>
                </a:solidFill>
                <a:effectLst/>
                <a:latin typeface="+mn-lt"/>
                <a:ea typeface="+mn-ea"/>
                <a:cs typeface="+mn-cs"/>
              </a:rPr>
              <a:t>self‑proofing</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I mean by that is: the design enforces correctness automatically.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Developers don’t need to remember rules, follow patterns, or manage cleanup.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architecture </a:t>
            </a:r>
            <a:r>
              <a:rPr lang="en-US" sz="1200" b="0" i="1" kern="1200" dirty="0">
                <a:solidFill>
                  <a:schemeClr val="tx1"/>
                </a:solidFill>
                <a:effectLst/>
                <a:latin typeface="+mn-lt"/>
                <a:ea typeface="+mn-ea"/>
                <a:cs typeface="+mn-cs"/>
              </a:rPr>
              <a:t>itself</a:t>
            </a:r>
            <a:r>
              <a:rPr lang="en-US" sz="1200" b="0" i="0" kern="1200" dirty="0">
                <a:solidFill>
                  <a:schemeClr val="tx1"/>
                </a:solidFill>
                <a:effectLst/>
                <a:latin typeface="+mn-lt"/>
                <a:ea typeface="+mn-ea"/>
                <a:cs typeface="+mn-cs"/>
              </a:rPr>
              <a:t> guarantees safe behavior.”</a:t>
            </a:r>
          </a:p>
          <a:p>
            <a:r>
              <a:rPr lang="en-US" sz="1200" b="0" i="0" kern="1200" dirty="0">
                <a:solidFill>
                  <a:schemeClr val="tx1"/>
                </a:solidFill>
                <a:effectLst/>
                <a:latin typeface="+mn-lt"/>
                <a:ea typeface="+mn-ea"/>
                <a:cs typeface="+mn-cs"/>
              </a:rPr>
              <a:t>“You can’t accidentally create multiple instances.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forget to restore a mock.</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leak state between tests.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Even if you tried, the system simply wouldn’t let you.”</a:t>
            </a:r>
          </a:p>
          <a:p>
            <a:r>
              <a:rPr lang="en-US" sz="1200" b="0" i="0" kern="1200" dirty="0">
                <a:solidFill>
                  <a:schemeClr val="tx1"/>
                </a:solidFill>
                <a:effectLst/>
                <a:latin typeface="+mn-lt"/>
                <a:ea typeface="+mn-ea"/>
                <a:cs typeface="+mn-cs"/>
              </a:rPr>
              <a:t>“This gives us a huge real‑world advantage: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removes human error from global‑state interactions.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lifecycle and the active instance are always correct, because the mechanics make them correct.”</a:t>
            </a:r>
          </a:p>
          <a:p>
            <a:r>
              <a:rPr lang="en-US" sz="1200" b="0" i="0" kern="1200" dirty="0">
                <a:solidFill>
                  <a:schemeClr val="tx1"/>
                </a:solidFill>
                <a:effectLst/>
                <a:latin typeface="+mn-lt"/>
                <a:ea typeface="+mn-ea"/>
                <a:cs typeface="+mn-cs"/>
              </a:rPr>
              <a:t>“And the surprising part?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When we started using this in real projects, we discovered that this self‑proofing behavior unlocked several </a:t>
            </a:r>
            <a:r>
              <a:rPr lang="en-US" sz="1200" b="1" i="0" kern="1200" dirty="0">
                <a:solidFill>
                  <a:schemeClr val="tx1"/>
                </a:solidFill>
                <a:effectLst/>
                <a:latin typeface="+mn-lt"/>
                <a:ea typeface="+mn-ea"/>
                <a:cs typeface="+mn-cs"/>
              </a:rPr>
              <a:t>emergent properties</a:t>
            </a:r>
            <a:r>
              <a:rPr lang="en-US" sz="1200" b="0" i="0" kern="1200" dirty="0">
                <a:solidFill>
                  <a:schemeClr val="tx1"/>
                </a:solidFill>
                <a:effectLst/>
                <a:latin typeface="+mn-lt"/>
                <a:ea typeface="+mn-ea"/>
                <a:cs typeface="+mn-cs"/>
              </a:rPr>
              <a:t> we didn’t even design for explicitly — properties that made the system far more usable than expected.”</a:t>
            </a:r>
          </a:p>
          <a:p>
            <a:r>
              <a:rPr lang="en-US" sz="1200" b="0" i="0" kern="1200" dirty="0">
                <a:solidFill>
                  <a:schemeClr val="tx1"/>
                </a:solidFill>
                <a:effectLst/>
                <a:latin typeface="+mn-lt"/>
                <a:ea typeface="+mn-ea"/>
                <a:cs typeface="+mn-cs"/>
              </a:rPr>
              <a:t>“These included effortless mocking, natural nested scoping, polymorphic overrides, safe cross‑library behavior — all emerging organically from the architecture.”</a:t>
            </a:r>
          </a:p>
          <a:p>
            <a:r>
              <a:rPr lang="en-US" sz="1200" b="0" i="0" kern="1200" dirty="0">
                <a:solidFill>
                  <a:schemeClr val="tx1"/>
                </a:solidFill>
                <a:effectLst/>
                <a:latin typeface="+mn-lt"/>
                <a:ea typeface="+mn-ea"/>
                <a:cs typeface="+mn-cs"/>
              </a:rPr>
              <a:t>“So next, let’s walk through those real‑world findings and see how these emergent behaviors shaped the actual developer experience.”</a:t>
            </a:r>
          </a:p>
          <a:p>
            <a:endParaRPr lang="en-US" dirty="0"/>
          </a:p>
        </p:txBody>
      </p:sp>
      <p:sp>
        <p:nvSpPr>
          <p:cNvPr id="4" name="Slide Number Placeholder 3">
            <a:extLst>
              <a:ext uri="{FF2B5EF4-FFF2-40B4-BE49-F238E27FC236}">
                <a16:creationId xmlns:a16="http://schemas.microsoft.com/office/drawing/2014/main" id="{EB755904-CED3-96B3-01C0-9AD82445F95E}"/>
              </a:ext>
            </a:extLst>
          </p:cNvPr>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296407173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6BB5-E954-6372-5152-80232E8A4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91F77E-5280-5BB2-25F9-2388F2F77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26E9E-1CF4-6145-0D94-6E6A03100257}"/>
              </a:ext>
            </a:extLst>
          </p:cNvPr>
          <p:cNvSpPr>
            <a:spLocks noGrp="1"/>
          </p:cNvSpPr>
          <p:nvPr>
            <p:ph type="body" idx="1"/>
          </p:nvPr>
        </p:nvSpPr>
        <p:spPr/>
        <p:txBody>
          <a:bodyPr/>
          <a:lstStyle/>
          <a:p>
            <a:endParaRPr lang="en-US" dirty="0">
              <a:effectLst/>
            </a:endParaRPr>
          </a:p>
          <a:p>
            <a:r>
              <a:rPr lang="en-US" sz="1200" b="0" i="0" kern="1200" dirty="0">
                <a:solidFill>
                  <a:schemeClr val="tx1"/>
                </a:solidFill>
                <a:effectLst/>
                <a:latin typeface="+mn-lt"/>
                <a:ea typeface="+mn-ea"/>
                <a:cs typeface="+mn-cs"/>
              </a:rPr>
              <a:t>“At this point, something really important becomes clear: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system isn’t just </a:t>
            </a:r>
            <a:r>
              <a:rPr lang="en-US" sz="1200" b="0" i="1" kern="1200" dirty="0">
                <a:solidFill>
                  <a:schemeClr val="tx1"/>
                </a:solidFill>
                <a:effectLst/>
                <a:latin typeface="+mn-lt"/>
                <a:ea typeface="+mn-ea"/>
                <a:cs typeface="+mn-cs"/>
              </a:rPr>
              <a:t>testable</a:t>
            </a:r>
            <a:r>
              <a:rPr lang="en-US" sz="1200" b="0" i="0" kern="1200" dirty="0">
                <a:solidFill>
                  <a:schemeClr val="tx1"/>
                </a:solidFill>
                <a:effectLst/>
                <a:latin typeface="+mn-lt"/>
                <a:ea typeface="+mn-ea"/>
                <a:cs typeface="+mn-cs"/>
              </a:rPr>
              <a:t> — it’s </a:t>
            </a:r>
            <a:r>
              <a:rPr lang="en-US" sz="1200" b="1" i="0" kern="1200" dirty="0">
                <a:solidFill>
                  <a:schemeClr val="tx1"/>
                </a:solidFill>
                <a:effectLst/>
                <a:latin typeface="+mn-lt"/>
                <a:ea typeface="+mn-ea"/>
                <a:cs typeface="+mn-cs"/>
              </a:rPr>
              <a:t>self‑proofing</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I mean by that is: the design enforces correctness automatically.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Developers don’t need to remember rules, follow patterns, or manage cleanup.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architecture </a:t>
            </a:r>
            <a:r>
              <a:rPr lang="en-US" sz="1200" b="0" i="1" kern="1200" dirty="0">
                <a:solidFill>
                  <a:schemeClr val="tx1"/>
                </a:solidFill>
                <a:effectLst/>
                <a:latin typeface="+mn-lt"/>
                <a:ea typeface="+mn-ea"/>
                <a:cs typeface="+mn-cs"/>
              </a:rPr>
              <a:t>itself</a:t>
            </a:r>
            <a:r>
              <a:rPr lang="en-US" sz="1200" b="0" i="0" kern="1200" dirty="0">
                <a:solidFill>
                  <a:schemeClr val="tx1"/>
                </a:solidFill>
                <a:effectLst/>
                <a:latin typeface="+mn-lt"/>
                <a:ea typeface="+mn-ea"/>
                <a:cs typeface="+mn-cs"/>
              </a:rPr>
              <a:t> guarantees safe behavior.”</a:t>
            </a:r>
          </a:p>
          <a:p>
            <a:r>
              <a:rPr lang="en-US" sz="1200" b="0" i="0" kern="1200" dirty="0">
                <a:solidFill>
                  <a:schemeClr val="tx1"/>
                </a:solidFill>
                <a:effectLst/>
                <a:latin typeface="+mn-lt"/>
                <a:ea typeface="+mn-ea"/>
                <a:cs typeface="+mn-cs"/>
              </a:rPr>
              <a:t>“You can’t accidentally create multiple instances.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forget to restore a mock.</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leak state between tests.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Even if you tried, the system simply wouldn’t let you.”</a:t>
            </a:r>
          </a:p>
          <a:p>
            <a:r>
              <a:rPr lang="en-US" sz="1200" b="0" i="0" kern="1200" dirty="0">
                <a:solidFill>
                  <a:schemeClr val="tx1"/>
                </a:solidFill>
                <a:effectLst/>
                <a:latin typeface="+mn-lt"/>
                <a:ea typeface="+mn-ea"/>
                <a:cs typeface="+mn-cs"/>
              </a:rPr>
              <a:t>“This gives us a huge real‑world advantage: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removes human error from global‑state interactions.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lifecycle and the active instance are always correct, because the mechanics make them correct.”</a:t>
            </a:r>
          </a:p>
          <a:p>
            <a:r>
              <a:rPr lang="en-US" sz="1200" b="0" i="0" kern="1200" dirty="0">
                <a:solidFill>
                  <a:schemeClr val="tx1"/>
                </a:solidFill>
                <a:effectLst/>
                <a:latin typeface="+mn-lt"/>
                <a:ea typeface="+mn-ea"/>
                <a:cs typeface="+mn-cs"/>
              </a:rPr>
              <a:t>“And the surprising part?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When we started using this in real projects, we discovered that this self‑proofing behavior unlocked several </a:t>
            </a:r>
            <a:r>
              <a:rPr lang="en-US" sz="1200" b="1" i="0" kern="1200" dirty="0">
                <a:solidFill>
                  <a:schemeClr val="tx1"/>
                </a:solidFill>
                <a:effectLst/>
                <a:latin typeface="+mn-lt"/>
                <a:ea typeface="+mn-ea"/>
                <a:cs typeface="+mn-cs"/>
              </a:rPr>
              <a:t>emergent properties</a:t>
            </a:r>
            <a:r>
              <a:rPr lang="en-US" sz="1200" b="0" i="0" kern="1200" dirty="0">
                <a:solidFill>
                  <a:schemeClr val="tx1"/>
                </a:solidFill>
                <a:effectLst/>
                <a:latin typeface="+mn-lt"/>
                <a:ea typeface="+mn-ea"/>
                <a:cs typeface="+mn-cs"/>
              </a:rPr>
              <a:t> we didn’t even design for explicitly — properties that made the system far more usable than expected.”</a:t>
            </a:r>
          </a:p>
          <a:p>
            <a:r>
              <a:rPr lang="en-US" sz="1200" b="0" i="0" kern="1200" dirty="0">
                <a:solidFill>
                  <a:schemeClr val="tx1"/>
                </a:solidFill>
                <a:effectLst/>
                <a:latin typeface="+mn-lt"/>
                <a:ea typeface="+mn-ea"/>
                <a:cs typeface="+mn-cs"/>
              </a:rPr>
              <a:t>“These included effortless mocking, natural nested scoping, polymorphic overrides, safe cross‑library behavior — all emerging organically from the architecture.”</a:t>
            </a:r>
          </a:p>
          <a:p>
            <a:r>
              <a:rPr lang="en-US" sz="1200" b="0" i="0" kern="1200" dirty="0">
                <a:solidFill>
                  <a:schemeClr val="tx1"/>
                </a:solidFill>
                <a:effectLst/>
                <a:latin typeface="+mn-lt"/>
                <a:ea typeface="+mn-ea"/>
                <a:cs typeface="+mn-cs"/>
              </a:rPr>
              <a:t>“So next, let’s walk through those real‑world findings and see how these emergent behaviors shaped the actual developer experience.”</a:t>
            </a:r>
          </a:p>
          <a:p>
            <a:endParaRPr lang="en-US" dirty="0"/>
          </a:p>
        </p:txBody>
      </p:sp>
      <p:sp>
        <p:nvSpPr>
          <p:cNvPr id="4" name="Slide Number Placeholder 3">
            <a:extLst>
              <a:ext uri="{FF2B5EF4-FFF2-40B4-BE49-F238E27FC236}">
                <a16:creationId xmlns:a16="http://schemas.microsoft.com/office/drawing/2014/main" id="{5316DE9D-75D9-B43A-BB00-578C9F8680EC}"/>
              </a:ext>
            </a:extLst>
          </p:cNvPr>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80555744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C0EAB-A7BB-C6D1-9C94-0CA9BEB9B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6F4128-1454-B8D9-3507-2F26A02312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8FD7B1-5E57-40D5-3FA4-8BB7D8445446}"/>
              </a:ext>
            </a:extLst>
          </p:cNvPr>
          <p:cNvSpPr>
            <a:spLocks noGrp="1"/>
          </p:cNvSpPr>
          <p:nvPr>
            <p:ph type="body" idx="1"/>
          </p:nvPr>
        </p:nvSpPr>
        <p:spPr/>
        <p:txBody>
          <a:bodyPr/>
          <a:lstStyle/>
          <a:p>
            <a:endParaRPr lang="en-US" dirty="0">
              <a:effectLst/>
            </a:endParaRPr>
          </a:p>
          <a:p>
            <a:r>
              <a:rPr lang="en-US" sz="1200" b="0" i="0" kern="1200" dirty="0">
                <a:solidFill>
                  <a:schemeClr val="tx1"/>
                </a:solidFill>
                <a:effectLst/>
                <a:latin typeface="+mn-lt"/>
                <a:ea typeface="+mn-ea"/>
                <a:cs typeface="+mn-cs"/>
              </a:rPr>
              <a:t>“At this point, something really important becomes clear: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system isn’t just </a:t>
            </a:r>
            <a:r>
              <a:rPr lang="en-US" sz="1200" b="0" i="1" kern="1200" dirty="0">
                <a:solidFill>
                  <a:schemeClr val="tx1"/>
                </a:solidFill>
                <a:effectLst/>
                <a:latin typeface="+mn-lt"/>
                <a:ea typeface="+mn-ea"/>
                <a:cs typeface="+mn-cs"/>
              </a:rPr>
              <a:t>testable</a:t>
            </a:r>
            <a:r>
              <a:rPr lang="en-US" sz="1200" b="0" i="0" kern="1200" dirty="0">
                <a:solidFill>
                  <a:schemeClr val="tx1"/>
                </a:solidFill>
                <a:effectLst/>
                <a:latin typeface="+mn-lt"/>
                <a:ea typeface="+mn-ea"/>
                <a:cs typeface="+mn-cs"/>
              </a:rPr>
              <a:t> — it’s </a:t>
            </a:r>
            <a:r>
              <a:rPr lang="en-US" sz="1200" b="1" i="0" kern="1200" dirty="0">
                <a:solidFill>
                  <a:schemeClr val="tx1"/>
                </a:solidFill>
                <a:effectLst/>
                <a:latin typeface="+mn-lt"/>
                <a:ea typeface="+mn-ea"/>
                <a:cs typeface="+mn-cs"/>
              </a:rPr>
              <a:t>self‑proofing</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I mean by that is: the design enforces correctness automatically.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Developers don’t need to remember rules, follow patterns, or manage cleanup.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architecture </a:t>
            </a:r>
            <a:r>
              <a:rPr lang="en-US" sz="1200" b="0" i="1" kern="1200" dirty="0">
                <a:solidFill>
                  <a:schemeClr val="tx1"/>
                </a:solidFill>
                <a:effectLst/>
                <a:latin typeface="+mn-lt"/>
                <a:ea typeface="+mn-ea"/>
                <a:cs typeface="+mn-cs"/>
              </a:rPr>
              <a:t>itself</a:t>
            </a:r>
            <a:r>
              <a:rPr lang="en-US" sz="1200" b="0" i="0" kern="1200" dirty="0">
                <a:solidFill>
                  <a:schemeClr val="tx1"/>
                </a:solidFill>
                <a:effectLst/>
                <a:latin typeface="+mn-lt"/>
                <a:ea typeface="+mn-ea"/>
                <a:cs typeface="+mn-cs"/>
              </a:rPr>
              <a:t> guarantees safe behavior.”</a:t>
            </a:r>
          </a:p>
          <a:p>
            <a:r>
              <a:rPr lang="en-US" sz="1200" b="0" i="0" kern="1200" dirty="0">
                <a:solidFill>
                  <a:schemeClr val="tx1"/>
                </a:solidFill>
                <a:effectLst/>
                <a:latin typeface="+mn-lt"/>
                <a:ea typeface="+mn-ea"/>
                <a:cs typeface="+mn-cs"/>
              </a:rPr>
              <a:t>“You can’t accidentally create multiple instances.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forget to restore a mock.</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leak state between tests.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Even if you tried, the system simply wouldn’t let you.”</a:t>
            </a:r>
          </a:p>
          <a:p>
            <a:r>
              <a:rPr lang="en-US" sz="1200" b="0" i="0" kern="1200" dirty="0">
                <a:solidFill>
                  <a:schemeClr val="tx1"/>
                </a:solidFill>
                <a:effectLst/>
                <a:latin typeface="+mn-lt"/>
                <a:ea typeface="+mn-ea"/>
                <a:cs typeface="+mn-cs"/>
              </a:rPr>
              <a:t>“This gives us a huge real‑world advantage: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removes human error from global‑state interactions.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lifecycle and the active instance are always correct, because the mechanics make them correct.”</a:t>
            </a:r>
          </a:p>
          <a:p>
            <a:r>
              <a:rPr lang="en-US" sz="1200" b="0" i="0" kern="1200" dirty="0">
                <a:solidFill>
                  <a:schemeClr val="tx1"/>
                </a:solidFill>
                <a:effectLst/>
                <a:latin typeface="+mn-lt"/>
                <a:ea typeface="+mn-ea"/>
                <a:cs typeface="+mn-cs"/>
              </a:rPr>
              <a:t>“And the surprising part?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When we started using this in real projects, we discovered that this self‑proofing behavior unlocked several </a:t>
            </a:r>
            <a:r>
              <a:rPr lang="en-US" sz="1200" b="1" i="0" kern="1200" dirty="0">
                <a:solidFill>
                  <a:schemeClr val="tx1"/>
                </a:solidFill>
                <a:effectLst/>
                <a:latin typeface="+mn-lt"/>
                <a:ea typeface="+mn-ea"/>
                <a:cs typeface="+mn-cs"/>
              </a:rPr>
              <a:t>emergent properties</a:t>
            </a:r>
            <a:r>
              <a:rPr lang="en-US" sz="1200" b="0" i="0" kern="1200" dirty="0">
                <a:solidFill>
                  <a:schemeClr val="tx1"/>
                </a:solidFill>
                <a:effectLst/>
                <a:latin typeface="+mn-lt"/>
                <a:ea typeface="+mn-ea"/>
                <a:cs typeface="+mn-cs"/>
              </a:rPr>
              <a:t> we didn’t even design for explicitly — properties that made the system far more usable than expected.”</a:t>
            </a:r>
          </a:p>
          <a:p>
            <a:r>
              <a:rPr lang="en-US" sz="1200" b="0" i="0" kern="1200" dirty="0">
                <a:solidFill>
                  <a:schemeClr val="tx1"/>
                </a:solidFill>
                <a:effectLst/>
                <a:latin typeface="+mn-lt"/>
                <a:ea typeface="+mn-ea"/>
                <a:cs typeface="+mn-cs"/>
              </a:rPr>
              <a:t>“These included effortless mocking, natural nested scoping, polymorphic overrides, safe cross‑library behavior — all emerging organically from the architecture.”</a:t>
            </a:r>
          </a:p>
          <a:p>
            <a:r>
              <a:rPr lang="en-US" sz="1200" b="0" i="0" kern="1200" dirty="0">
                <a:solidFill>
                  <a:schemeClr val="tx1"/>
                </a:solidFill>
                <a:effectLst/>
                <a:latin typeface="+mn-lt"/>
                <a:ea typeface="+mn-ea"/>
                <a:cs typeface="+mn-cs"/>
              </a:rPr>
              <a:t>“So next, let’s walk through those real‑world findings and see how these emergent behaviors shaped the actual developer experience.”</a:t>
            </a:r>
          </a:p>
          <a:p>
            <a:endParaRPr lang="en-US" dirty="0"/>
          </a:p>
        </p:txBody>
      </p:sp>
      <p:sp>
        <p:nvSpPr>
          <p:cNvPr id="4" name="Slide Number Placeholder 3">
            <a:extLst>
              <a:ext uri="{FF2B5EF4-FFF2-40B4-BE49-F238E27FC236}">
                <a16:creationId xmlns:a16="http://schemas.microsoft.com/office/drawing/2014/main" id="{B11AE950-445D-50CE-5149-2B49A56D57EE}"/>
              </a:ext>
            </a:extLst>
          </p:cNvPr>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96804012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D2EF3-C210-01A7-9CB0-137E6BF3F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E7026-E83D-A40B-0E23-E3E78656A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41CF4-9EE6-5247-6736-AA33869AD652}"/>
              </a:ext>
            </a:extLst>
          </p:cNvPr>
          <p:cNvSpPr>
            <a:spLocks noGrp="1"/>
          </p:cNvSpPr>
          <p:nvPr>
            <p:ph type="body" idx="1"/>
          </p:nvPr>
        </p:nvSpPr>
        <p:spPr/>
        <p:txBody>
          <a:bodyPr/>
          <a:lstStyle/>
          <a:p>
            <a:endParaRPr lang="en-US" dirty="0">
              <a:effectLst/>
            </a:endParaRPr>
          </a:p>
          <a:p>
            <a:r>
              <a:rPr lang="en-US" sz="1200" b="0" i="0" kern="1200" dirty="0">
                <a:solidFill>
                  <a:schemeClr val="tx1"/>
                </a:solidFill>
                <a:effectLst/>
                <a:latin typeface="+mn-lt"/>
                <a:ea typeface="+mn-ea"/>
                <a:cs typeface="+mn-cs"/>
              </a:rPr>
              <a:t>“At this point, something really important becomes clear: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system isn’t just </a:t>
            </a:r>
            <a:r>
              <a:rPr lang="en-US" sz="1200" b="0" i="1" kern="1200" dirty="0">
                <a:solidFill>
                  <a:schemeClr val="tx1"/>
                </a:solidFill>
                <a:effectLst/>
                <a:latin typeface="+mn-lt"/>
                <a:ea typeface="+mn-ea"/>
                <a:cs typeface="+mn-cs"/>
              </a:rPr>
              <a:t>testable</a:t>
            </a:r>
            <a:r>
              <a:rPr lang="en-US" sz="1200" b="0" i="0" kern="1200" dirty="0">
                <a:solidFill>
                  <a:schemeClr val="tx1"/>
                </a:solidFill>
                <a:effectLst/>
                <a:latin typeface="+mn-lt"/>
                <a:ea typeface="+mn-ea"/>
                <a:cs typeface="+mn-cs"/>
              </a:rPr>
              <a:t> — it’s </a:t>
            </a:r>
            <a:r>
              <a:rPr lang="en-US" sz="1200" b="1" i="0" kern="1200" dirty="0">
                <a:solidFill>
                  <a:schemeClr val="tx1"/>
                </a:solidFill>
                <a:effectLst/>
                <a:latin typeface="+mn-lt"/>
                <a:ea typeface="+mn-ea"/>
                <a:cs typeface="+mn-cs"/>
              </a:rPr>
              <a:t>self‑proofing</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I mean by that is: the design enforces correctness automatically.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Developers don’t need to remember rules, follow patterns, or manage cleanup.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architecture </a:t>
            </a:r>
            <a:r>
              <a:rPr lang="en-US" sz="1200" b="0" i="1" kern="1200" dirty="0">
                <a:solidFill>
                  <a:schemeClr val="tx1"/>
                </a:solidFill>
                <a:effectLst/>
                <a:latin typeface="+mn-lt"/>
                <a:ea typeface="+mn-ea"/>
                <a:cs typeface="+mn-cs"/>
              </a:rPr>
              <a:t>itself</a:t>
            </a:r>
            <a:r>
              <a:rPr lang="en-US" sz="1200" b="0" i="0" kern="1200" dirty="0">
                <a:solidFill>
                  <a:schemeClr val="tx1"/>
                </a:solidFill>
                <a:effectLst/>
                <a:latin typeface="+mn-lt"/>
                <a:ea typeface="+mn-ea"/>
                <a:cs typeface="+mn-cs"/>
              </a:rPr>
              <a:t> guarantees safe behavior.”</a:t>
            </a:r>
          </a:p>
          <a:p>
            <a:r>
              <a:rPr lang="en-US" sz="1200" b="0" i="0" kern="1200" dirty="0">
                <a:solidFill>
                  <a:schemeClr val="tx1"/>
                </a:solidFill>
                <a:effectLst/>
                <a:latin typeface="+mn-lt"/>
                <a:ea typeface="+mn-ea"/>
                <a:cs typeface="+mn-cs"/>
              </a:rPr>
              <a:t>“You can’t accidentally create multiple instances.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forget to restore a mock.</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leak state between tests.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Even if you tried, the system simply wouldn’t let you.”</a:t>
            </a:r>
          </a:p>
          <a:p>
            <a:r>
              <a:rPr lang="en-US" sz="1200" b="0" i="0" kern="1200" dirty="0">
                <a:solidFill>
                  <a:schemeClr val="tx1"/>
                </a:solidFill>
                <a:effectLst/>
                <a:latin typeface="+mn-lt"/>
                <a:ea typeface="+mn-ea"/>
                <a:cs typeface="+mn-cs"/>
              </a:rPr>
              <a:t>“This gives us a huge real‑world advantage: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removes human error from global‑state interactions.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lifecycle and the active instance are always correct, because the mechanics make them correct.”</a:t>
            </a:r>
          </a:p>
          <a:p>
            <a:r>
              <a:rPr lang="en-US" sz="1200" b="0" i="0" kern="1200" dirty="0">
                <a:solidFill>
                  <a:schemeClr val="tx1"/>
                </a:solidFill>
                <a:effectLst/>
                <a:latin typeface="+mn-lt"/>
                <a:ea typeface="+mn-ea"/>
                <a:cs typeface="+mn-cs"/>
              </a:rPr>
              <a:t>“And the surprising part?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When we started using this in real projects, we discovered that this self‑proofing behavior unlocked several </a:t>
            </a:r>
            <a:r>
              <a:rPr lang="en-US" sz="1200" b="1" i="0" kern="1200" dirty="0">
                <a:solidFill>
                  <a:schemeClr val="tx1"/>
                </a:solidFill>
                <a:effectLst/>
                <a:latin typeface="+mn-lt"/>
                <a:ea typeface="+mn-ea"/>
                <a:cs typeface="+mn-cs"/>
              </a:rPr>
              <a:t>emergent properties</a:t>
            </a:r>
            <a:r>
              <a:rPr lang="en-US" sz="1200" b="0" i="0" kern="1200" dirty="0">
                <a:solidFill>
                  <a:schemeClr val="tx1"/>
                </a:solidFill>
                <a:effectLst/>
                <a:latin typeface="+mn-lt"/>
                <a:ea typeface="+mn-ea"/>
                <a:cs typeface="+mn-cs"/>
              </a:rPr>
              <a:t> we didn’t even design for explicitly — properties that made the system far more usable than expected.”</a:t>
            </a:r>
          </a:p>
          <a:p>
            <a:r>
              <a:rPr lang="en-US" sz="1200" b="0" i="0" kern="1200" dirty="0">
                <a:solidFill>
                  <a:schemeClr val="tx1"/>
                </a:solidFill>
                <a:effectLst/>
                <a:latin typeface="+mn-lt"/>
                <a:ea typeface="+mn-ea"/>
                <a:cs typeface="+mn-cs"/>
              </a:rPr>
              <a:t>“These included effortless mocking, natural nested scoping, polymorphic overrides, safe cross‑library behavior — all emerging organically from the architecture.”</a:t>
            </a:r>
          </a:p>
          <a:p>
            <a:r>
              <a:rPr lang="en-US" sz="1200" b="0" i="0" kern="1200" dirty="0">
                <a:solidFill>
                  <a:schemeClr val="tx1"/>
                </a:solidFill>
                <a:effectLst/>
                <a:latin typeface="+mn-lt"/>
                <a:ea typeface="+mn-ea"/>
                <a:cs typeface="+mn-cs"/>
              </a:rPr>
              <a:t>“So next, let’s walk through those real‑world findings and see how these emergent behaviors shaped the actual developer experience.”</a:t>
            </a:r>
          </a:p>
          <a:p>
            <a:endParaRPr lang="en-US" dirty="0"/>
          </a:p>
        </p:txBody>
      </p:sp>
      <p:sp>
        <p:nvSpPr>
          <p:cNvPr id="4" name="Slide Number Placeholder 3">
            <a:extLst>
              <a:ext uri="{FF2B5EF4-FFF2-40B4-BE49-F238E27FC236}">
                <a16:creationId xmlns:a16="http://schemas.microsoft.com/office/drawing/2014/main" id="{951588A6-87FD-EE3C-B54A-3E572DBC57C3}"/>
              </a:ext>
            </a:extLst>
          </p:cNvPr>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331849555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7C28D-4AB8-6E46-77F4-704A2B83A0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A0371-0B33-A4DD-2CEC-651B7D66C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11FBB9-1D11-A0A9-2053-001CE36402E6}"/>
              </a:ext>
            </a:extLst>
          </p:cNvPr>
          <p:cNvSpPr>
            <a:spLocks noGrp="1"/>
          </p:cNvSpPr>
          <p:nvPr>
            <p:ph type="body" idx="1"/>
          </p:nvPr>
        </p:nvSpPr>
        <p:spPr/>
        <p:txBody>
          <a:bodyPr/>
          <a:lstStyle/>
          <a:p>
            <a:endParaRPr lang="en-US" dirty="0">
              <a:effectLst/>
            </a:endParaRPr>
          </a:p>
          <a:p>
            <a:r>
              <a:rPr lang="en-US" sz="1200" b="0" i="0" kern="1200" dirty="0">
                <a:solidFill>
                  <a:schemeClr val="tx1"/>
                </a:solidFill>
                <a:effectLst/>
                <a:latin typeface="+mn-lt"/>
                <a:ea typeface="+mn-ea"/>
                <a:cs typeface="+mn-cs"/>
              </a:rPr>
              <a:t>“At this point, something really important becomes clear: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system isn’t just </a:t>
            </a:r>
            <a:r>
              <a:rPr lang="en-US" sz="1200" b="0" i="1" kern="1200" dirty="0">
                <a:solidFill>
                  <a:schemeClr val="tx1"/>
                </a:solidFill>
                <a:effectLst/>
                <a:latin typeface="+mn-lt"/>
                <a:ea typeface="+mn-ea"/>
                <a:cs typeface="+mn-cs"/>
              </a:rPr>
              <a:t>testable</a:t>
            </a:r>
            <a:r>
              <a:rPr lang="en-US" sz="1200" b="0" i="0" kern="1200" dirty="0">
                <a:solidFill>
                  <a:schemeClr val="tx1"/>
                </a:solidFill>
                <a:effectLst/>
                <a:latin typeface="+mn-lt"/>
                <a:ea typeface="+mn-ea"/>
                <a:cs typeface="+mn-cs"/>
              </a:rPr>
              <a:t> — it’s </a:t>
            </a:r>
            <a:r>
              <a:rPr lang="en-US" sz="1200" b="1" i="0" kern="1200" dirty="0">
                <a:solidFill>
                  <a:schemeClr val="tx1"/>
                </a:solidFill>
                <a:effectLst/>
                <a:latin typeface="+mn-lt"/>
                <a:ea typeface="+mn-ea"/>
                <a:cs typeface="+mn-cs"/>
              </a:rPr>
              <a:t>self‑proofing</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I mean by that is: the design enforces correctness automatically.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Developers don’t need to remember rules, follow patterns, or manage cleanup.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architecture </a:t>
            </a:r>
            <a:r>
              <a:rPr lang="en-US" sz="1200" b="0" i="1" kern="1200" dirty="0">
                <a:solidFill>
                  <a:schemeClr val="tx1"/>
                </a:solidFill>
                <a:effectLst/>
                <a:latin typeface="+mn-lt"/>
                <a:ea typeface="+mn-ea"/>
                <a:cs typeface="+mn-cs"/>
              </a:rPr>
              <a:t>itself</a:t>
            </a:r>
            <a:r>
              <a:rPr lang="en-US" sz="1200" b="0" i="0" kern="1200" dirty="0">
                <a:solidFill>
                  <a:schemeClr val="tx1"/>
                </a:solidFill>
                <a:effectLst/>
                <a:latin typeface="+mn-lt"/>
                <a:ea typeface="+mn-ea"/>
                <a:cs typeface="+mn-cs"/>
              </a:rPr>
              <a:t> guarantees safe behavior.”</a:t>
            </a:r>
          </a:p>
          <a:p>
            <a:r>
              <a:rPr lang="en-US" sz="1200" b="0" i="0" kern="1200" dirty="0">
                <a:solidFill>
                  <a:schemeClr val="tx1"/>
                </a:solidFill>
                <a:effectLst/>
                <a:latin typeface="+mn-lt"/>
                <a:ea typeface="+mn-ea"/>
                <a:cs typeface="+mn-cs"/>
              </a:rPr>
              <a:t>“You can’t accidentally create multiple instances.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forget to restore a mock.</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leak state between tests.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Even if you tried, the system simply wouldn’t let you.”</a:t>
            </a:r>
          </a:p>
          <a:p>
            <a:r>
              <a:rPr lang="en-US" sz="1200" b="0" i="0" kern="1200" dirty="0">
                <a:solidFill>
                  <a:schemeClr val="tx1"/>
                </a:solidFill>
                <a:effectLst/>
                <a:latin typeface="+mn-lt"/>
                <a:ea typeface="+mn-ea"/>
                <a:cs typeface="+mn-cs"/>
              </a:rPr>
              <a:t>“This gives us a huge real‑world advantage: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removes human error from global‑state interactions.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lifecycle and the active instance are always correct, because the mechanics make them correct.”</a:t>
            </a:r>
          </a:p>
          <a:p>
            <a:r>
              <a:rPr lang="en-US" sz="1200" b="0" i="0" kern="1200" dirty="0">
                <a:solidFill>
                  <a:schemeClr val="tx1"/>
                </a:solidFill>
                <a:effectLst/>
                <a:latin typeface="+mn-lt"/>
                <a:ea typeface="+mn-ea"/>
                <a:cs typeface="+mn-cs"/>
              </a:rPr>
              <a:t>“And the surprising part?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When we started using this in real projects, we discovered that this self‑proofing behavior unlocked several </a:t>
            </a:r>
            <a:r>
              <a:rPr lang="en-US" sz="1200" b="1" i="0" kern="1200" dirty="0">
                <a:solidFill>
                  <a:schemeClr val="tx1"/>
                </a:solidFill>
                <a:effectLst/>
                <a:latin typeface="+mn-lt"/>
                <a:ea typeface="+mn-ea"/>
                <a:cs typeface="+mn-cs"/>
              </a:rPr>
              <a:t>emergent properties</a:t>
            </a:r>
            <a:r>
              <a:rPr lang="en-US" sz="1200" b="0" i="0" kern="1200" dirty="0">
                <a:solidFill>
                  <a:schemeClr val="tx1"/>
                </a:solidFill>
                <a:effectLst/>
                <a:latin typeface="+mn-lt"/>
                <a:ea typeface="+mn-ea"/>
                <a:cs typeface="+mn-cs"/>
              </a:rPr>
              <a:t> we didn’t even design for explicitly — properties that made the system far more usable than expected.”</a:t>
            </a:r>
          </a:p>
          <a:p>
            <a:r>
              <a:rPr lang="en-US" sz="1200" b="0" i="0" kern="1200" dirty="0">
                <a:solidFill>
                  <a:schemeClr val="tx1"/>
                </a:solidFill>
                <a:effectLst/>
                <a:latin typeface="+mn-lt"/>
                <a:ea typeface="+mn-ea"/>
                <a:cs typeface="+mn-cs"/>
              </a:rPr>
              <a:t>“These included effortless mocking, natural nested scoping, polymorphic overrides, safe cross‑library behavior — all emerging organically from the architecture.”</a:t>
            </a:r>
          </a:p>
          <a:p>
            <a:r>
              <a:rPr lang="en-US" sz="1200" b="0" i="0" kern="1200" dirty="0">
                <a:solidFill>
                  <a:schemeClr val="tx1"/>
                </a:solidFill>
                <a:effectLst/>
                <a:latin typeface="+mn-lt"/>
                <a:ea typeface="+mn-ea"/>
                <a:cs typeface="+mn-cs"/>
              </a:rPr>
              <a:t>“So next, let’s walk through those real‑world findings and see how these emergent behaviors shaped the actual developer experience.”</a:t>
            </a:r>
          </a:p>
          <a:p>
            <a:endParaRPr lang="en-US" dirty="0"/>
          </a:p>
        </p:txBody>
      </p:sp>
      <p:sp>
        <p:nvSpPr>
          <p:cNvPr id="4" name="Slide Number Placeholder 3">
            <a:extLst>
              <a:ext uri="{FF2B5EF4-FFF2-40B4-BE49-F238E27FC236}">
                <a16:creationId xmlns:a16="http://schemas.microsoft.com/office/drawing/2014/main" id="{B919FE0E-AAB7-521B-69D9-7D58AA4E1E81}"/>
              </a:ext>
            </a:extLst>
          </p:cNvPr>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339788426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3D008-5B20-6589-E54E-70B996E2B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A5BBC-AEF2-E013-E60C-3413A46BD4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6DAB9-9592-1630-6B62-13549BE29D1C}"/>
              </a:ext>
            </a:extLst>
          </p:cNvPr>
          <p:cNvSpPr>
            <a:spLocks noGrp="1"/>
          </p:cNvSpPr>
          <p:nvPr>
            <p:ph type="body" idx="1"/>
          </p:nvPr>
        </p:nvSpPr>
        <p:spPr/>
        <p:txBody>
          <a:bodyPr/>
          <a:lstStyle/>
          <a:p>
            <a:endParaRPr lang="en-US" dirty="0">
              <a:effectLst/>
            </a:endParaRPr>
          </a:p>
          <a:p>
            <a:r>
              <a:rPr lang="en-US" sz="1200" b="0" i="0" kern="1200" dirty="0">
                <a:solidFill>
                  <a:schemeClr val="tx1"/>
                </a:solidFill>
                <a:effectLst/>
                <a:latin typeface="+mn-lt"/>
                <a:ea typeface="+mn-ea"/>
                <a:cs typeface="+mn-cs"/>
              </a:rPr>
              <a:t>“At this point, something really important becomes clear: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system isn’t just </a:t>
            </a:r>
            <a:r>
              <a:rPr lang="en-US" sz="1200" b="0" i="1" kern="1200" dirty="0">
                <a:solidFill>
                  <a:schemeClr val="tx1"/>
                </a:solidFill>
                <a:effectLst/>
                <a:latin typeface="+mn-lt"/>
                <a:ea typeface="+mn-ea"/>
                <a:cs typeface="+mn-cs"/>
              </a:rPr>
              <a:t>testable</a:t>
            </a:r>
            <a:r>
              <a:rPr lang="en-US" sz="1200" b="0" i="0" kern="1200" dirty="0">
                <a:solidFill>
                  <a:schemeClr val="tx1"/>
                </a:solidFill>
                <a:effectLst/>
                <a:latin typeface="+mn-lt"/>
                <a:ea typeface="+mn-ea"/>
                <a:cs typeface="+mn-cs"/>
              </a:rPr>
              <a:t> — it’s </a:t>
            </a:r>
            <a:r>
              <a:rPr lang="en-US" sz="1200" b="1" i="0" kern="1200" dirty="0">
                <a:solidFill>
                  <a:schemeClr val="tx1"/>
                </a:solidFill>
                <a:effectLst/>
                <a:latin typeface="+mn-lt"/>
                <a:ea typeface="+mn-ea"/>
                <a:cs typeface="+mn-cs"/>
              </a:rPr>
              <a:t>self‑proofing</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I mean by that is: the design enforces correctness automatically.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Developers don’t need to remember rules, follow patterns, or manage cleanup.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architecture </a:t>
            </a:r>
            <a:r>
              <a:rPr lang="en-US" sz="1200" b="0" i="1" kern="1200" dirty="0">
                <a:solidFill>
                  <a:schemeClr val="tx1"/>
                </a:solidFill>
                <a:effectLst/>
                <a:latin typeface="+mn-lt"/>
                <a:ea typeface="+mn-ea"/>
                <a:cs typeface="+mn-cs"/>
              </a:rPr>
              <a:t>itself</a:t>
            </a:r>
            <a:r>
              <a:rPr lang="en-US" sz="1200" b="0" i="0" kern="1200" dirty="0">
                <a:solidFill>
                  <a:schemeClr val="tx1"/>
                </a:solidFill>
                <a:effectLst/>
                <a:latin typeface="+mn-lt"/>
                <a:ea typeface="+mn-ea"/>
                <a:cs typeface="+mn-cs"/>
              </a:rPr>
              <a:t> guarantees safe behavior.”</a:t>
            </a:r>
          </a:p>
          <a:p>
            <a:r>
              <a:rPr lang="en-US" sz="1200" b="0" i="0" kern="1200" dirty="0">
                <a:solidFill>
                  <a:schemeClr val="tx1"/>
                </a:solidFill>
                <a:effectLst/>
                <a:latin typeface="+mn-lt"/>
                <a:ea typeface="+mn-ea"/>
                <a:cs typeface="+mn-cs"/>
              </a:rPr>
              <a:t>“You can’t accidentally create multiple instances.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forget to restore a mock.</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leak state between tests.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Even if you tried, the system simply wouldn’t let you.”</a:t>
            </a:r>
          </a:p>
          <a:p>
            <a:r>
              <a:rPr lang="en-US" sz="1200" b="0" i="0" kern="1200" dirty="0">
                <a:solidFill>
                  <a:schemeClr val="tx1"/>
                </a:solidFill>
                <a:effectLst/>
                <a:latin typeface="+mn-lt"/>
                <a:ea typeface="+mn-ea"/>
                <a:cs typeface="+mn-cs"/>
              </a:rPr>
              <a:t>“This gives us a huge real‑world advantage: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removes human error from global‑state interactions.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lifecycle and the active instance are always correct, because the mechanics make them correct.”</a:t>
            </a:r>
          </a:p>
          <a:p>
            <a:r>
              <a:rPr lang="en-US" sz="1200" b="0" i="0" kern="1200" dirty="0">
                <a:solidFill>
                  <a:schemeClr val="tx1"/>
                </a:solidFill>
                <a:effectLst/>
                <a:latin typeface="+mn-lt"/>
                <a:ea typeface="+mn-ea"/>
                <a:cs typeface="+mn-cs"/>
              </a:rPr>
              <a:t>“And the surprising part?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When we started using this in real projects, we discovered that this self‑proofing behavior unlocked several </a:t>
            </a:r>
            <a:r>
              <a:rPr lang="en-US" sz="1200" b="1" i="0" kern="1200" dirty="0">
                <a:solidFill>
                  <a:schemeClr val="tx1"/>
                </a:solidFill>
                <a:effectLst/>
                <a:latin typeface="+mn-lt"/>
                <a:ea typeface="+mn-ea"/>
                <a:cs typeface="+mn-cs"/>
              </a:rPr>
              <a:t>emergent properties</a:t>
            </a:r>
            <a:r>
              <a:rPr lang="en-US" sz="1200" b="0" i="0" kern="1200" dirty="0">
                <a:solidFill>
                  <a:schemeClr val="tx1"/>
                </a:solidFill>
                <a:effectLst/>
                <a:latin typeface="+mn-lt"/>
                <a:ea typeface="+mn-ea"/>
                <a:cs typeface="+mn-cs"/>
              </a:rPr>
              <a:t> we didn’t even design for explicitly — properties that made the system far more usable than expected.”</a:t>
            </a:r>
          </a:p>
          <a:p>
            <a:r>
              <a:rPr lang="en-US" sz="1200" b="0" i="0" kern="1200" dirty="0">
                <a:solidFill>
                  <a:schemeClr val="tx1"/>
                </a:solidFill>
                <a:effectLst/>
                <a:latin typeface="+mn-lt"/>
                <a:ea typeface="+mn-ea"/>
                <a:cs typeface="+mn-cs"/>
              </a:rPr>
              <a:t>“These included effortless mocking, natural nested scoping, polymorphic overrides, safe cross‑library behavior — all emerging organically from the architecture.”</a:t>
            </a:r>
          </a:p>
          <a:p>
            <a:r>
              <a:rPr lang="en-US" sz="1200" b="0" i="0" kern="1200" dirty="0">
                <a:solidFill>
                  <a:schemeClr val="tx1"/>
                </a:solidFill>
                <a:effectLst/>
                <a:latin typeface="+mn-lt"/>
                <a:ea typeface="+mn-ea"/>
                <a:cs typeface="+mn-cs"/>
              </a:rPr>
              <a:t>“So next, let’s walk through those real‑world findings and see how these emergent behaviors shaped the actual developer experience.”</a:t>
            </a:r>
          </a:p>
          <a:p>
            <a:endParaRPr lang="en-US" dirty="0"/>
          </a:p>
        </p:txBody>
      </p:sp>
      <p:sp>
        <p:nvSpPr>
          <p:cNvPr id="4" name="Slide Number Placeholder 3">
            <a:extLst>
              <a:ext uri="{FF2B5EF4-FFF2-40B4-BE49-F238E27FC236}">
                <a16:creationId xmlns:a16="http://schemas.microsoft.com/office/drawing/2014/main" id="{62802789-AF25-2252-5AB9-352C5B791D7B}"/>
              </a:ext>
            </a:extLst>
          </p:cNvPr>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425606176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67332-41DB-0B47-AEBB-6D551D6CC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079C6-6EB9-6D2D-379E-01597FA14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C4FC6-2FD2-4E02-639C-116623420436}"/>
              </a:ext>
            </a:extLst>
          </p:cNvPr>
          <p:cNvSpPr>
            <a:spLocks noGrp="1"/>
          </p:cNvSpPr>
          <p:nvPr>
            <p:ph type="body" idx="1"/>
          </p:nvPr>
        </p:nvSpPr>
        <p:spPr/>
        <p:txBody>
          <a:bodyPr/>
          <a:lstStyle/>
          <a:p>
            <a:endParaRPr lang="en-US" dirty="0">
              <a:effectLst/>
            </a:endParaRPr>
          </a:p>
          <a:p>
            <a:r>
              <a:rPr lang="en-US" sz="1200" b="0" i="0" kern="1200" dirty="0">
                <a:solidFill>
                  <a:schemeClr val="tx1"/>
                </a:solidFill>
                <a:effectLst/>
                <a:latin typeface="+mn-lt"/>
                <a:ea typeface="+mn-ea"/>
                <a:cs typeface="+mn-cs"/>
              </a:rPr>
              <a:t>“At this point, something really important becomes clear: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system isn’t just </a:t>
            </a:r>
            <a:r>
              <a:rPr lang="en-US" sz="1200" b="0" i="1" kern="1200" dirty="0">
                <a:solidFill>
                  <a:schemeClr val="tx1"/>
                </a:solidFill>
                <a:effectLst/>
                <a:latin typeface="+mn-lt"/>
                <a:ea typeface="+mn-ea"/>
                <a:cs typeface="+mn-cs"/>
              </a:rPr>
              <a:t>testable</a:t>
            </a:r>
            <a:r>
              <a:rPr lang="en-US" sz="1200" b="0" i="0" kern="1200" dirty="0">
                <a:solidFill>
                  <a:schemeClr val="tx1"/>
                </a:solidFill>
                <a:effectLst/>
                <a:latin typeface="+mn-lt"/>
                <a:ea typeface="+mn-ea"/>
                <a:cs typeface="+mn-cs"/>
              </a:rPr>
              <a:t> — it’s </a:t>
            </a:r>
            <a:r>
              <a:rPr lang="en-US" sz="1200" b="1" i="0" kern="1200" dirty="0">
                <a:solidFill>
                  <a:schemeClr val="tx1"/>
                </a:solidFill>
                <a:effectLst/>
                <a:latin typeface="+mn-lt"/>
                <a:ea typeface="+mn-ea"/>
                <a:cs typeface="+mn-cs"/>
              </a:rPr>
              <a:t>self‑proofing</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I mean by that is: the design enforces correctness automatically.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Developers don’t need to remember rules, follow patterns, or manage cleanup.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architecture </a:t>
            </a:r>
            <a:r>
              <a:rPr lang="en-US" sz="1200" b="0" i="1" kern="1200" dirty="0">
                <a:solidFill>
                  <a:schemeClr val="tx1"/>
                </a:solidFill>
                <a:effectLst/>
                <a:latin typeface="+mn-lt"/>
                <a:ea typeface="+mn-ea"/>
                <a:cs typeface="+mn-cs"/>
              </a:rPr>
              <a:t>itself</a:t>
            </a:r>
            <a:r>
              <a:rPr lang="en-US" sz="1200" b="0" i="0" kern="1200" dirty="0">
                <a:solidFill>
                  <a:schemeClr val="tx1"/>
                </a:solidFill>
                <a:effectLst/>
                <a:latin typeface="+mn-lt"/>
                <a:ea typeface="+mn-ea"/>
                <a:cs typeface="+mn-cs"/>
              </a:rPr>
              <a:t> guarantees safe behavior.”</a:t>
            </a:r>
          </a:p>
          <a:p>
            <a:r>
              <a:rPr lang="en-US" sz="1200" b="0" i="0" kern="1200" dirty="0">
                <a:solidFill>
                  <a:schemeClr val="tx1"/>
                </a:solidFill>
                <a:effectLst/>
                <a:latin typeface="+mn-lt"/>
                <a:ea typeface="+mn-ea"/>
                <a:cs typeface="+mn-cs"/>
              </a:rPr>
              <a:t>“You can’t accidentally create multiple instances.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forget to restore a mock.</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leak state between tests.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Even if you tried, the system simply wouldn’t let you.”</a:t>
            </a:r>
          </a:p>
          <a:p>
            <a:r>
              <a:rPr lang="en-US" sz="1200" b="0" i="0" kern="1200" dirty="0">
                <a:solidFill>
                  <a:schemeClr val="tx1"/>
                </a:solidFill>
                <a:effectLst/>
                <a:latin typeface="+mn-lt"/>
                <a:ea typeface="+mn-ea"/>
                <a:cs typeface="+mn-cs"/>
              </a:rPr>
              <a:t>“This gives us a huge real‑world advantage: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removes human error from global‑state interactions.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lifecycle and the active instance are always correct, because the mechanics make them correct.”</a:t>
            </a:r>
          </a:p>
          <a:p>
            <a:r>
              <a:rPr lang="en-US" sz="1200" b="0" i="0" kern="1200" dirty="0">
                <a:solidFill>
                  <a:schemeClr val="tx1"/>
                </a:solidFill>
                <a:effectLst/>
                <a:latin typeface="+mn-lt"/>
                <a:ea typeface="+mn-ea"/>
                <a:cs typeface="+mn-cs"/>
              </a:rPr>
              <a:t>“And the surprising part?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When we started using this in real projects, we discovered that this self‑proofing behavior unlocked several </a:t>
            </a:r>
            <a:r>
              <a:rPr lang="en-US" sz="1200" b="1" i="0" kern="1200" dirty="0">
                <a:solidFill>
                  <a:schemeClr val="tx1"/>
                </a:solidFill>
                <a:effectLst/>
                <a:latin typeface="+mn-lt"/>
                <a:ea typeface="+mn-ea"/>
                <a:cs typeface="+mn-cs"/>
              </a:rPr>
              <a:t>emergent properties</a:t>
            </a:r>
            <a:r>
              <a:rPr lang="en-US" sz="1200" b="0" i="0" kern="1200" dirty="0">
                <a:solidFill>
                  <a:schemeClr val="tx1"/>
                </a:solidFill>
                <a:effectLst/>
                <a:latin typeface="+mn-lt"/>
                <a:ea typeface="+mn-ea"/>
                <a:cs typeface="+mn-cs"/>
              </a:rPr>
              <a:t> we didn’t even design for explicitly — properties that made the system far more usable than expected.”</a:t>
            </a:r>
          </a:p>
          <a:p>
            <a:r>
              <a:rPr lang="en-US" sz="1200" b="0" i="0" kern="1200" dirty="0">
                <a:solidFill>
                  <a:schemeClr val="tx1"/>
                </a:solidFill>
                <a:effectLst/>
                <a:latin typeface="+mn-lt"/>
                <a:ea typeface="+mn-ea"/>
                <a:cs typeface="+mn-cs"/>
              </a:rPr>
              <a:t>“These included effortless mocking, natural nested scoping, polymorphic overrides, safe cross‑library behavior — all emerging organically from the architecture.”</a:t>
            </a:r>
          </a:p>
          <a:p>
            <a:r>
              <a:rPr lang="en-US" sz="1200" b="0" i="0" kern="1200" dirty="0">
                <a:solidFill>
                  <a:schemeClr val="tx1"/>
                </a:solidFill>
                <a:effectLst/>
                <a:latin typeface="+mn-lt"/>
                <a:ea typeface="+mn-ea"/>
                <a:cs typeface="+mn-cs"/>
              </a:rPr>
              <a:t>“So next, let’s walk through those real‑world findings and see how these emergent behaviors shaped the actual developer experience.”</a:t>
            </a:r>
          </a:p>
          <a:p>
            <a:endParaRPr lang="en-US" dirty="0"/>
          </a:p>
        </p:txBody>
      </p:sp>
      <p:sp>
        <p:nvSpPr>
          <p:cNvPr id="4" name="Slide Number Placeholder 3">
            <a:extLst>
              <a:ext uri="{FF2B5EF4-FFF2-40B4-BE49-F238E27FC236}">
                <a16:creationId xmlns:a16="http://schemas.microsoft.com/office/drawing/2014/main" id="{47CD4BD3-29C7-C131-6F69-A0C3D24470FC}"/>
              </a:ext>
            </a:extLst>
          </p:cNvPr>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346081211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7DFE2-59BB-B4BA-47AD-5F3E8FA58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16EEA-A06D-3279-E3B3-06B201850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850DD-2A02-7D13-75A4-EFD9284A87CA}"/>
              </a:ext>
            </a:extLst>
          </p:cNvPr>
          <p:cNvSpPr>
            <a:spLocks noGrp="1"/>
          </p:cNvSpPr>
          <p:nvPr>
            <p:ph type="body" idx="1"/>
          </p:nvPr>
        </p:nvSpPr>
        <p:spPr/>
        <p:txBody>
          <a:bodyPr/>
          <a:lstStyle/>
          <a:p>
            <a:endParaRPr lang="en-US" dirty="0">
              <a:effectLst/>
            </a:endParaRPr>
          </a:p>
          <a:p>
            <a:r>
              <a:rPr lang="en-US" sz="1200" b="0" i="0" kern="1200" dirty="0">
                <a:solidFill>
                  <a:schemeClr val="tx1"/>
                </a:solidFill>
                <a:effectLst/>
                <a:latin typeface="+mn-lt"/>
                <a:ea typeface="+mn-ea"/>
                <a:cs typeface="+mn-cs"/>
              </a:rPr>
              <a:t>“At this point, something really important becomes clear: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system isn’t just </a:t>
            </a:r>
            <a:r>
              <a:rPr lang="en-US" sz="1200" b="0" i="1" kern="1200" dirty="0">
                <a:solidFill>
                  <a:schemeClr val="tx1"/>
                </a:solidFill>
                <a:effectLst/>
                <a:latin typeface="+mn-lt"/>
                <a:ea typeface="+mn-ea"/>
                <a:cs typeface="+mn-cs"/>
              </a:rPr>
              <a:t>testable</a:t>
            </a:r>
            <a:r>
              <a:rPr lang="en-US" sz="1200" b="0" i="0" kern="1200" dirty="0">
                <a:solidFill>
                  <a:schemeClr val="tx1"/>
                </a:solidFill>
                <a:effectLst/>
                <a:latin typeface="+mn-lt"/>
                <a:ea typeface="+mn-ea"/>
                <a:cs typeface="+mn-cs"/>
              </a:rPr>
              <a:t> — it’s </a:t>
            </a:r>
            <a:r>
              <a:rPr lang="en-US" sz="1200" b="1" i="0" kern="1200" dirty="0">
                <a:solidFill>
                  <a:schemeClr val="tx1"/>
                </a:solidFill>
                <a:effectLst/>
                <a:latin typeface="+mn-lt"/>
                <a:ea typeface="+mn-ea"/>
                <a:cs typeface="+mn-cs"/>
              </a:rPr>
              <a:t>self‑proofing</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I mean by that is: the design enforces correctness automatically.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Developers don’t need to remember rules, follow patterns, or manage cleanup.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architecture </a:t>
            </a:r>
            <a:r>
              <a:rPr lang="en-US" sz="1200" b="0" i="1" kern="1200" dirty="0">
                <a:solidFill>
                  <a:schemeClr val="tx1"/>
                </a:solidFill>
                <a:effectLst/>
                <a:latin typeface="+mn-lt"/>
                <a:ea typeface="+mn-ea"/>
                <a:cs typeface="+mn-cs"/>
              </a:rPr>
              <a:t>itself</a:t>
            </a:r>
            <a:r>
              <a:rPr lang="en-US" sz="1200" b="0" i="0" kern="1200" dirty="0">
                <a:solidFill>
                  <a:schemeClr val="tx1"/>
                </a:solidFill>
                <a:effectLst/>
                <a:latin typeface="+mn-lt"/>
                <a:ea typeface="+mn-ea"/>
                <a:cs typeface="+mn-cs"/>
              </a:rPr>
              <a:t> guarantees safe behavior.”</a:t>
            </a:r>
          </a:p>
          <a:p>
            <a:r>
              <a:rPr lang="en-US" sz="1200" b="0" i="0" kern="1200" dirty="0">
                <a:solidFill>
                  <a:schemeClr val="tx1"/>
                </a:solidFill>
                <a:effectLst/>
                <a:latin typeface="+mn-lt"/>
                <a:ea typeface="+mn-ea"/>
                <a:cs typeface="+mn-cs"/>
              </a:rPr>
              <a:t>“You can’t accidentally create multiple instances.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forget to restore a mock.</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You can’t leak state between tests.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Even if you tried, the system simply wouldn’t let you.”</a:t>
            </a:r>
          </a:p>
          <a:p>
            <a:r>
              <a:rPr lang="en-US" sz="1200" b="0" i="0" kern="1200" dirty="0">
                <a:solidFill>
                  <a:schemeClr val="tx1"/>
                </a:solidFill>
                <a:effectLst/>
                <a:latin typeface="+mn-lt"/>
                <a:ea typeface="+mn-ea"/>
                <a:cs typeface="+mn-cs"/>
              </a:rPr>
              <a:t>“This gives us a huge real‑world advantage: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removes human error from global‑state interactions.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lifecycle and the active instance are always correct, because the mechanics make them correct.”</a:t>
            </a:r>
          </a:p>
          <a:p>
            <a:r>
              <a:rPr lang="en-US" sz="1200" b="0" i="0" kern="1200" dirty="0">
                <a:solidFill>
                  <a:schemeClr val="tx1"/>
                </a:solidFill>
                <a:effectLst/>
                <a:latin typeface="+mn-lt"/>
                <a:ea typeface="+mn-ea"/>
                <a:cs typeface="+mn-cs"/>
              </a:rPr>
              <a:t>“And the surprising part?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When we started using this in real projects, we discovered that this self‑proofing behavior unlocked several </a:t>
            </a:r>
            <a:r>
              <a:rPr lang="en-US" sz="1200" b="1" i="0" kern="1200" dirty="0">
                <a:solidFill>
                  <a:schemeClr val="tx1"/>
                </a:solidFill>
                <a:effectLst/>
                <a:latin typeface="+mn-lt"/>
                <a:ea typeface="+mn-ea"/>
                <a:cs typeface="+mn-cs"/>
              </a:rPr>
              <a:t>emergent properties</a:t>
            </a:r>
            <a:r>
              <a:rPr lang="en-US" sz="1200" b="0" i="0" kern="1200" dirty="0">
                <a:solidFill>
                  <a:schemeClr val="tx1"/>
                </a:solidFill>
                <a:effectLst/>
                <a:latin typeface="+mn-lt"/>
                <a:ea typeface="+mn-ea"/>
                <a:cs typeface="+mn-cs"/>
              </a:rPr>
              <a:t> we didn’t even design for explicitly — properties that made the system far more usable than expected.”</a:t>
            </a:r>
          </a:p>
          <a:p>
            <a:r>
              <a:rPr lang="en-US" sz="1200" b="0" i="0" kern="1200" dirty="0">
                <a:solidFill>
                  <a:schemeClr val="tx1"/>
                </a:solidFill>
                <a:effectLst/>
                <a:latin typeface="+mn-lt"/>
                <a:ea typeface="+mn-ea"/>
                <a:cs typeface="+mn-cs"/>
              </a:rPr>
              <a:t>“These included effortless mocking, natural nested scoping, polymorphic overrides, safe cross‑library behavior — all emerging organically from the architecture.”</a:t>
            </a:r>
          </a:p>
          <a:p>
            <a:r>
              <a:rPr lang="en-US" sz="1200" b="0" i="0" kern="1200" dirty="0">
                <a:solidFill>
                  <a:schemeClr val="tx1"/>
                </a:solidFill>
                <a:effectLst/>
                <a:latin typeface="+mn-lt"/>
                <a:ea typeface="+mn-ea"/>
                <a:cs typeface="+mn-cs"/>
              </a:rPr>
              <a:t>“So next, let’s walk through those real‑world findings and see how these emergent behaviors shaped the actual developer experience.”</a:t>
            </a:r>
          </a:p>
          <a:p>
            <a:endParaRPr lang="en-US" dirty="0"/>
          </a:p>
        </p:txBody>
      </p:sp>
      <p:sp>
        <p:nvSpPr>
          <p:cNvPr id="4" name="Slide Number Placeholder 3">
            <a:extLst>
              <a:ext uri="{FF2B5EF4-FFF2-40B4-BE49-F238E27FC236}">
                <a16:creationId xmlns:a16="http://schemas.microsoft.com/office/drawing/2014/main" id="{73079547-7E6C-7F09-CB24-5B6ED6B47B27}"/>
              </a:ext>
            </a:extLst>
          </p:cNvPr>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218428544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C5AAA-42E3-6E76-5F80-7632BA78A8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81E53-6D59-8705-AA39-4AF4C7FA0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417608-25AA-9125-2E0C-59F44E592A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9F400D-2B5B-F87A-7731-5D6B0FCBBE18}"/>
              </a:ext>
            </a:extLst>
          </p:cNvPr>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60507516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62D75-879D-E9AE-C26B-F985A8E11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E3CA14-7439-E69A-A038-E3383B1C1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E8E56-086D-7460-F658-7F0DC40500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B06399-0879-0B29-4AFB-9B6EF02514C0}"/>
              </a:ext>
            </a:extLst>
          </p:cNvPr>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359791731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D1AB9-6D2B-1AC7-8FAD-0F539F3721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639D0-8931-F648-B19E-273E8471DD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5928E5-8322-776D-69C9-D57F07D16D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83E17D9-F291-39F2-12CE-79106B549CB2}"/>
              </a:ext>
            </a:extLst>
          </p:cNvPr>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29924036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83618-F569-812B-CD66-7D5B2CEC0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8BDCC-74A6-560C-A9EF-7909221410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5DA87-1474-5065-2D8F-A720253578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397024-BFDC-EAE8-57B2-E63107ED035D}"/>
              </a:ext>
            </a:extLst>
          </p:cNvPr>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524509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012B40B-6A7F-9E2F-1E3D-6103B22E009E}"/>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E6268D36-7E38-AC1F-A4BB-208B73746D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1B9122F-24EC-8A9F-3311-76828A660C83}"/>
              </a:ext>
            </a:extLst>
          </p:cNvPr>
          <p:cNvSpPr/>
          <p:nvPr/>
        </p:nvSpPr>
        <p:spPr>
          <a:xfrm>
            <a:off x="0" y="0"/>
            <a:ext cx="164592" cy="5143500"/>
          </a:xfrm>
          <a:prstGeom prst="rect">
            <a:avLst/>
          </a:prstGeom>
          <a:solidFill>
            <a:srgbClr val="F59E0B"/>
          </a:solidFill>
          <a:ln w="12700">
            <a:solidFill>
              <a:srgbClr val="F59E0B"/>
            </a:solidFill>
            <a:prstDash val="solid"/>
          </a:ln>
        </p:spPr>
        <p:txBody>
          <a:bodyPr/>
          <a:lstStyle/>
          <a:p>
            <a:endParaRPr lang="en-US"/>
          </a:p>
        </p:txBody>
      </p:sp>
      <p:sp>
        <p:nvSpPr>
          <p:cNvPr id="3" name="Shape 1">
            <a:extLst>
              <a:ext uri="{FF2B5EF4-FFF2-40B4-BE49-F238E27FC236}">
                <a16:creationId xmlns:a16="http://schemas.microsoft.com/office/drawing/2014/main" id="{76105F06-51C9-2D33-7366-27313E469E8C}"/>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7D8D85EA-FF51-05B2-78F7-721418697470}"/>
              </a:ext>
            </a:extLst>
          </p:cNvPr>
          <p:cNvSpPr/>
          <p:nvPr/>
        </p:nvSpPr>
        <p:spPr>
          <a:xfrm>
            <a:off x="411480" y="423949"/>
            <a:ext cx="8321040" cy="806335"/>
          </a:xfrm>
          <a:prstGeom prst="rect">
            <a:avLst/>
          </a:prstGeom>
          <a:noFill/>
          <a:ln/>
        </p:spPr>
        <p:txBody>
          <a:bodyPr wrap="square" lIns="0" tIns="0" rIns="0" bIns="0" rtlCol="0" anchor="ctr"/>
          <a:lstStyle/>
          <a:p>
            <a:pPr marL="0" indent="0">
              <a:lnSpc>
                <a:spcPct val="120000"/>
              </a:lnSpc>
              <a:buNone/>
            </a:pPr>
            <a:r>
              <a:rPr lang="en-US" sz="3400" b="1" dirty="0">
                <a:solidFill>
                  <a:srgbClr val="FFFFFF"/>
                </a:solidFill>
                <a:latin typeface="Georgia" pitchFamily="34" charset="0"/>
                <a:ea typeface="Georgia" pitchFamily="34" charset="-122"/>
                <a:cs typeface="Georgia" pitchFamily="34" charset="-120"/>
              </a:rPr>
              <a:t>Motivation: Why this talk?</a:t>
            </a:r>
            <a:endParaRPr lang="en-US" sz="3400" dirty="0"/>
          </a:p>
        </p:txBody>
      </p:sp>
      <p:sp>
        <p:nvSpPr>
          <p:cNvPr id="6" name="Text 4">
            <a:extLst>
              <a:ext uri="{FF2B5EF4-FFF2-40B4-BE49-F238E27FC236}">
                <a16:creationId xmlns:a16="http://schemas.microsoft.com/office/drawing/2014/main" id="{896AAFFF-E206-A6A2-8E66-2F573F83F492}"/>
              </a:ext>
            </a:extLst>
          </p:cNvPr>
          <p:cNvSpPr/>
          <p:nvPr/>
        </p:nvSpPr>
        <p:spPr>
          <a:xfrm>
            <a:off x="411480" y="1571105"/>
            <a:ext cx="8321040" cy="3275215"/>
          </a:xfrm>
          <a:prstGeom prst="rect">
            <a:avLst/>
          </a:prstGeom>
          <a:noFill/>
          <a:ln/>
        </p:spPr>
        <p:txBody>
          <a:bodyPr wrap="square" rtlCol="0" anchor="t"/>
          <a:lstStyle/>
          <a:p>
            <a:pPr marL="342900" indent="-342900">
              <a:spcAft>
                <a:spcPts val="800"/>
              </a:spcAft>
              <a:buSzPct val="100000"/>
              <a:buChar char="•"/>
            </a:pPr>
            <a:r>
              <a:rPr lang="en-US" sz="1600" dirty="0">
                <a:solidFill>
                  <a:srgbClr val="E2E8F0"/>
                </a:solidFill>
                <a:latin typeface="Calibri" pitchFamily="34" charset="0"/>
                <a:ea typeface="Calibri" pitchFamily="34" charset="-122"/>
                <a:cs typeface="Calibri" pitchFamily="34" charset="-120"/>
              </a:rPr>
              <a:t>Years of experience across legacy and new projects revealed a recurring challenge: the singleton debate never truly ends</a:t>
            </a:r>
          </a:p>
          <a:p>
            <a:pPr marL="342900" indent="-342900">
              <a:spcAft>
                <a:spcPts val="800"/>
              </a:spcAft>
              <a:buSzPct val="100000"/>
              <a:buChar char="•"/>
            </a:pPr>
            <a:r>
              <a:rPr lang="en-US" sz="1600" dirty="0">
                <a:solidFill>
                  <a:srgbClr val="E2E8F0"/>
                </a:solidFill>
                <a:latin typeface="Calibri" pitchFamily="34" charset="0"/>
                <a:ea typeface="Calibri" pitchFamily="34" charset="-122"/>
                <a:cs typeface="Calibri" pitchFamily="34" charset="-120"/>
              </a:rPr>
              <a:t>Singletons have repeatedly caused problems—technical debt, wasted effort, and impacts on project outcomes</a:t>
            </a:r>
          </a:p>
          <a:p>
            <a:pPr marL="342900" indent="-342900">
              <a:spcAft>
                <a:spcPts val="800"/>
              </a:spcAft>
              <a:buSzPct val="100000"/>
              <a:buChar char="•"/>
            </a:pPr>
            <a:r>
              <a:rPr lang="en-US" sz="1600" dirty="0">
                <a:solidFill>
                  <a:srgbClr val="E2E8F0"/>
                </a:solidFill>
                <a:latin typeface="Calibri" pitchFamily="34" charset="0"/>
                <a:ea typeface="Calibri" pitchFamily="34" charset="-122"/>
                <a:cs typeface="Calibri" pitchFamily="34" charset="-120"/>
              </a:rPr>
              <a:t>Legacy codebases struggle with singletons, while new projects designed around Dependency Injection often face challenges with DI instead</a:t>
            </a:r>
          </a:p>
          <a:p>
            <a:pPr marL="342900" indent="-342900">
              <a:spcAft>
                <a:spcPts val="800"/>
              </a:spcAft>
              <a:buSzPct val="100000"/>
              <a:buChar char="•"/>
            </a:pPr>
            <a:r>
              <a:rPr lang="en-US" sz="1600" dirty="0">
                <a:solidFill>
                  <a:srgbClr val="E2E8F0"/>
                </a:solidFill>
                <a:latin typeface="Calibri" pitchFamily="34" charset="0"/>
                <a:ea typeface="Calibri" pitchFamily="34" charset="-122"/>
                <a:cs typeface="Calibri" pitchFamily="34" charset="-120"/>
              </a:rPr>
              <a:t>This talk explores a deeper, root-cause solution rather than just applying workarounds</a:t>
            </a:r>
          </a:p>
          <a:p>
            <a:pPr marL="342900" indent="-342900">
              <a:spcAft>
                <a:spcPts val="800"/>
              </a:spcAft>
              <a:buSzPct val="100000"/>
              <a:buChar char="•"/>
            </a:pPr>
            <a:r>
              <a:rPr lang="en-US" sz="1600" dirty="0">
                <a:solidFill>
                  <a:srgbClr val="E2E8F0"/>
                </a:solidFill>
                <a:latin typeface="Calibri" pitchFamily="34" charset="0"/>
                <a:ea typeface="Calibri" pitchFamily="34" charset="-122"/>
                <a:cs typeface="Calibri" pitchFamily="34" charset="-120"/>
              </a:rPr>
              <a:t>We’ll share the journey, the solution found, and real-world results from large-scale application</a:t>
            </a:r>
            <a:endParaRPr lang="en-US" sz="1600" dirty="0"/>
          </a:p>
        </p:txBody>
      </p:sp>
    </p:spTree>
    <p:extLst>
      <p:ext uri="{BB962C8B-B14F-4D97-AF65-F5344CB8AC3E}">
        <p14:creationId xmlns:p14="http://schemas.microsoft.com/office/powerpoint/2010/main" val="140243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tx2">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146304"/>
          </a:xfrm>
          <a:prstGeom prst="rect">
            <a:avLst/>
          </a:prstGeom>
          <a:solidFill>
            <a:srgbClr val="3B82F6"/>
          </a:solidFill>
          <a:ln w="12700">
            <a:solidFill>
              <a:srgbClr val="3B82F6"/>
            </a:solidFill>
            <a:prstDash val="solid"/>
          </a:ln>
        </p:spPr>
        <p:txBody>
          <a:bodyPr/>
          <a:lstStyle/>
          <a:p>
            <a:endParaRPr lang="en-US"/>
          </a:p>
        </p:txBody>
      </p:sp>
      <p:sp>
        <p:nvSpPr>
          <p:cNvPr id="3" name="Shape 1"/>
          <p:cNvSpPr/>
          <p:nvPr/>
        </p:nvSpPr>
        <p:spPr>
          <a:xfrm>
            <a:off x="0" y="4997196"/>
            <a:ext cx="9144000" cy="146304"/>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57200" y="548640"/>
            <a:ext cx="8229600" cy="347472"/>
          </a:xfrm>
          <a:prstGeom prst="rect">
            <a:avLst/>
          </a:prstGeom>
          <a:noFill/>
          <a:ln/>
        </p:spPr>
        <p:txBody>
          <a:bodyPr wrap="square" lIns="0" tIns="0" rIns="0" bIns="0" rtlCol="0" anchor="ctr"/>
          <a:lstStyle/>
          <a:p>
            <a:pPr marL="0" indent="0">
              <a:buNone/>
            </a:pPr>
            <a:r>
              <a:rPr lang="en-US" sz="1300" b="1" kern="0" spc="400">
                <a:solidFill>
                  <a:srgbClr val="F59E0B"/>
                </a:solidFill>
                <a:latin typeface="Calibri" pitchFamily="34" charset="0"/>
                <a:ea typeface="Calibri" pitchFamily="34" charset="-122"/>
                <a:cs typeface="Calibri" pitchFamily="34" charset="-120"/>
              </a:rPr>
              <a:t>SECTION 01</a:t>
            </a:r>
            <a:endParaRPr lang="en-US" sz="1300"/>
          </a:p>
        </p:txBody>
      </p:sp>
      <p:sp>
        <p:nvSpPr>
          <p:cNvPr id="5" name="Text 3"/>
          <p:cNvSpPr/>
          <p:nvPr/>
        </p:nvSpPr>
        <p:spPr>
          <a:xfrm>
            <a:off x="457200" y="1005840"/>
            <a:ext cx="8229600" cy="2011680"/>
          </a:xfrm>
          <a:prstGeom prst="rect">
            <a:avLst/>
          </a:prstGeom>
          <a:noFill/>
          <a:ln/>
        </p:spPr>
        <p:txBody>
          <a:bodyPr wrap="square" lIns="0" tIns="0" rIns="0" bIns="0" rtlCol="0" anchor="ctr"/>
          <a:lstStyle/>
          <a:p>
            <a:pPr marL="0" indent="0">
              <a:lnSpc>
                <a:spcPct val="115000"/>
              </a:lnSpc>
              <a:buNone/>
            </a:pPr>
            <a:r>
              <a:rPr lang="en-US" sz="3400" b="1" dirty="0">
                <a:solidFill>
                  <a:srgbClr val="FFFFFF"/>
                </a:solidFill>
                <a:latin typeface="Georgia" pitchFamily="34" charset="0"/>
                <a:ea typeface="Georgia" pitchFamily="34" charset="-122"/>
                <a:cs typeface="Georgia" pitchFamily="34" charset="-120"/>
              </a:rPr>
              <a:t>Introduction </a:t>
            </a:r>
            <a:r>
              <a:rPr lang="en-US" sz="1500" dirty="0">
                <a:solidFill>
                  <a:srgbClr val="94A3B8"/>
                </a:solidFill>
                <a:latin typeface="Calibri" pitchFamily="34" charset="0"/>
                <a:ea typeface="Calibri" pitchFamily="34" charset="-122"/>
                <a:cs typeface="Calibri" pitchFamily="34" charset="-120"/>
              </a:rPr>
              <a:t>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The Singleton</a:t>
            </a:r>
            <a:endParaRPr lang="en-US" sz="1900" dirty="0"/>
          </a:p>
        </p:txBody>
      </p:sp>
      <p:sp>
        <p:nvSpPr>
          <p:cNvPr id="5" name="Text 3"/>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a:solidFill>
                  <a:srgbClr val="F59E0B"/>
                </a:solidFill>
                <a:latin typeface="Calibri" pitchFamily="34" charset="0"/>
                <a:ea typeface="Calibri" pitchFamily="34" charset="-122"/>
                <a:cs typeface="Calibri" pitchFamily="34" charset="-120"/>
              </a:rPr>
              <a:t>SECTION 01 · INTRODUCTION</a:t>
            </a:r>
            <a:endParaRPr lang="en-US" sz="1000"/>
          </a:p>
        </p:txBody>
      </p:sp>
      <p:sp>
        <p:nvSpPr>
          <p:cNvPr id="6" name="Text 4"/>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Singletons carry a notorious reputation: "global state is evil, never use singletons"</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This narrative is repeated everywhere — books, blog posts, senior code reviews</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Yet everybody lists the drawbacks and never provides a reasonable alternative</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 statement goes: "Replace singletons with Dependency Injection“</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Real-world software engineering is not a textbook — legacy codebases are littered with singletons </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Replacing a single singleton in a legacy code base with something that uses DI is very expensive, and sometimes practically impossible</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When DI is used to replace singletons, We end up with code that is hell to work with (But it’s testable 😢)</a:t>
            </a:r>
            <a:br>
              <a:rPr lang="en-US" sz="1600" dirty="0">
                <a:solidFill>
                  <a:srgbClr val="1E3A5F"/>
                </a:solidFill>
                <a:latin typeface="Calibri" pitchFamily="34" charset="0"/>
                <a:ea typeface="Calibri" pitchFamily="34" charset="-122"/>
                <a:cs typeface="Calibri" pitchFamily="34" charset="-120"/>
              </a:rPr>
            </a:b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FontTx/>
              <a:buChar char="•"/>
            </a:pPr>
            <a:r>
              <a:rPr lang="en-US" sz="1600" b="1" dirty="0">
                <a:solidFill>
                  <a:srgbClr val="1E3A5F"/>
                </a:solidFill>
                <a:latin typeface="Calibri" pitchFamily="34" charset="0"/>
                <a:ea typeface="Calibri" pitchFamily="34" charset="-122"/>
                <a:cs typeface="Calibri" pitchFamily="34" charset="-120"/>
              </a:rPr>
              <a:t>Audience check: Who has legacy singletons you cannot refactor today? 🙋</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12C6A-B64C-69E1-42F5-8B2C67E2C60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82750C4-CCAC-E836-DD5A-43A21986C6CD}"/>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7E4B5C1E-3AB1-3CB7-35D4-00F216C66C88}"/>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F2D6C28A-11B7-3744-2E54-48B336D9EACE}"/>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Classic Critiques of Singleton</a:t>
            </a:r>
            <a:endParaRPr lang="en-US" sz="1900" dirty="0"/>
          </a:p>
        </p:txBody>
      </p:sp>
      <p:graphicFrame>
        <p:nvGraphicFramePr>
          <p:cNvPr id="9" name="Table 0">
            <a:extLst>
              <a:ext uri="{FF2B5EF4-FFF2-40B4-BE49-F238E27FC236}">
                <a16:creationId xmlns:a16="http://schemas.microsoft.com/office/drawing/2014/main" id="{D38BF7A0-86A9-6853-8164-61953D8D5C70}"/>
              </a:ext>
            </a:extLst>
          </p:cNvPr>
          <p:cNvGraphicFramePr>
            <a:graphicFrameLocks noGrp="1"/>
          </p:cNvGraphicFramePr>
          <p:nvPr>
            <p:extLst>
              <p:ext uri="{D42A27DB-BD31-4B8C-83A1-F6EECF244321}">
                <p14:modId xmlns:p14="http://schemas.microsoft.com/office/powerpoint/2010/main" val="894619439"/>
              </p:ext>
            </p:extLst>
          </p:nvPr>
        </p:nvGraphicFramePr>
        <p:xfrm>
          <a:off x="266008" y="671253"/>
          <a:ext cx="8611984" cy="3703320"/>
        </p:xfrm>
        <a:graphic>
          <a:graphicData uri="http://schemas.openxmlformats.org/drawingml/2006/table">
            <a:tbl>
              <a:tblPr/>
              <a:tblGrid>
                <a:gridCol w="2377441">
                  <a:extLst>
                    <a:ext uri="{9D8B030D-6E8A-4147-A177-3AD203B41FA5}">
                      <a16:colId xmlns:a16="http://schemas.microsoft.com/office/drawing/2014/main" val="20000"/>
                    </a:ext>
                  </a:extLst>
                </a:gridCol>
                <a:gridCol w="6234543">
                  <a:extLst>
                    <a:ext uri="{9D8B030D-6E8A-4147-A177-3AD203B41FA5}">
                      <a16:colId xmlns:a16="http://schemas.microsoft.com/office/drawing/2014/main" val="20001"/>
                    </a:ext>
                  </a:extLst>
                </a:gridCol>
              </a:tblGrid>
              <a:tr h="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Problem</a:t>
                      </a:r>
                      <a:endParaRPr lang="en-US" sz="13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1E3A5F"/>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Details</a:t>
                      </a:r>
                      <a:endParaRPr lang="en-US" sz="13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111827"/>
                          </a:solidFill>
                          <a:latin typeface="Calibri" pitchFamily="34" charset="0"/>
                          <a:ea typeface="Calibri" pitchFamily="34" charset="-122"/>
                          <a:cs typeface="Calibri" pitchFamily="34" charset="-120"/>
                        </a:rPr>
                        <a:t>Global state</a:t>
                      </a:r>
                      <a:endParaRPr lang="en-US" sz="13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171450" indent="-171450" algn="l">
                        <a:buFont typeface="Arial" panose="020B0604020202020204" pitchFamily="34" charset="0"/>
                        <a:buChar char="•"/>
                      </a:pPr>
                      <a:r>
                        <a:rPr lang="en-US" sz="1300" dirty="0"/>
                        <a:t>Unit tests become unreliable because the previous global state is unknown</a:t>
                      </a:r>
                    </a:p>
                    <a:p>
                      <a:pPr marL="171450" indent="-171450" algn="l">
                        <a:buFont typeface="Arial" panose="020B0604020202020204" pitchFamily="34" charset="0"/>
                        <a:buChar char="•"/>
                      </a:pPr>
                      <a:r>
                        <a:rPr lang="en-US" sz="1300" dirty="0"/>
                        <a:t>Tests may need to run in a specific order (violates unit test isolation)</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111827"/>
                          </a:solidFill>
                          <a:latin typeface="Calibri" pitchFamily="34" charset="0"/>
                          <a:ea typeface="Calibri" pitchFamily="34" charset="-122"/>
                          <a:cs typeface="Calibri" pitchFamily="34" charset="-120"/>
                        </a:rPr>
                        <a:t>Hard to mock or replace</a:t>
                      </a:r>
                      <a:endParaRPr lang="en-US" sz="13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tc>
                  <a:txBody>
                    <a:bodyPr/>
                    <a:lstStyle/>
                    <a:p>
                      <a:pPr marL="171450" indent="-171450" algn="l">
                        <a:buFont typeface="Arial" panose="020B0604020202020204" pitchFamily="34" charset="0"/>
                        <a:buChar char="•"/>
                      </a:pPr>
                      <a:r>
                        <a:rPr lang="en-US" sz="1300" dirty="0"/>
                        <a:t>Singleton instance is globally accessed</a:t>
                      </a:r>
                    </a:p>
                    <a:p>
                      <a:pPr marL="171450" indent="-171450" algn="l">
                        <a:buFont typeface="Arial" panose="020B0604020202020204" pitchFamily="34" charset="0"/>
                        <a:buChar char="•"/>
                      </a:pPr>
                      <a:r>
                        <a:rPr lang="en-US" sz="1300" dirty="0">
                          <a:latin typeface="Calibri" charset="0"/>
                          <a:ea typeface="Calibri" charset="0"/>
                          <a:cs typeface="Calibri" charset="0"/>
                        </a:rPr>
                        <a:t>Cannot easily substitute with a test double</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111827"/>
                          </a:solidFill>
                          <a:latin typeface="Calibri" pitchFamily="34" charset="0"/>
                          <a:ea typeface="Calibri" pitchFamily="34" charset="-122"/>
                          <a:cs typeface="Calibri" pitchFamily="34" charset="-120"/>
                        </a:rPr>
                        <a:t>Rigid lifecycle</a:t>
                      </a:r>
                      <a:endParaRPr lang="en-US" sz="13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171450" indent="-171450" algn="l">
                        <a:buFont typeface="Arial" panose="020B0604020202020204" pitchFamily="34" charset="0"/>
                        <a:buChar char="•"/>
                      </a:pPr>
                      <a:r>
                        <a:rPr lang="en-US" sz="1300" dirty="0">
                          <a:solidFill>
                            <a:srgbClr val="111827"/>
                          </a:solidFill>
                          <a:latin typeface="Calibri" pitchFamily="34" charset="0"/>
                          <a:ea typeface="Calibri" pitchFamily="34" charset="-122"/>
                          <a:cs typeface="Calibri" pitchFamily="34" charset="-120"/>
                        </a:rPr>
                        <a:t>Lifetime tied to static initialization/destruction</a:t>
                      </a:r>
                    </a:p>
                    <a:p>
                      <a:pPr marL="171450" indent="-171450" algn="l">
                        <a:buFont typeface="Arial" panose="020B0604020202020204" pitchFamily="34" charset="0"/>
                        <a:buChar char="•"/>
                      </a:pPr>
                      <a:r>
                        <a:rPr lang="en-US" sz="1300" dirty="0">
                          <a:solidFill>
                            <a:srgbClr val="111827"/>
                          </a:solidFill>
                          <a:latin typeface="Calibri" pitchFamily="34" charset="0"/>
                          <a:ea typeface="Calibri" pitchFamily="34" charset="-122"/>
                          <a:cs typeface="Calibri" pitchFamily="34" charset="-120"/>
                        </a:rPr>
                        <a:t>Hard to reset or control between tests</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3"/>
                  </a:ext>
                </a:extLst>
              </a:tr>
              <a:tr h="0">
                <a:tc>
                  <a:txBody>
                    <a:bodyPr/>
                    <a:lstStyle/>
                    <a:p>
                      <a:pPr marL="0" indent="0" algn="l">
                        <a:buNone/>
                      </a:pPr>
                      <a:r>
                        <a:rPr lang="en-US" sz="1300" dirty="0">
                          <a:solidFill>
                            <a:srgbClr val="111827"/>
                          </a:solidFill>
                          <a:latin typeface="Calibri" pitchFamily="34" charset="0"/>
                          <a:ea typeface="Calibri" pitchFamily="34" charset="-122"/>
                          <a:cs typeface="Calibri" pitchFamily="34" charset="-120"/>
                        </a:rPr>
                        <a:t>Hides dependencies</a:t>
                      </a:r>
                      <a:endParaRPr lang="en-US" sz="13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tc>
                  <a:txBody>
                    <a:bodyPr/>
                    <a:lstStyle/>
                    <a:p>
                      <a:pPr marL="171450" indent="-171450" algn="l">
                        <a:buFont typeface="Arial" panose="020B0604020202020204" pitchFamily="34" charset="0"/>
                        <a:buChar char="•"/>
                      </a:pPr>
                      <a:r>
                        <a:rPr lang="en-US" sz="1300" dirty="0">
                          <a:solidFill>
                            <a:srgbClr val="111827"/>
                          </a:solidFill>
                          <a:latin typeface="Calibri" pitchFamily="34" charset="0"/>
                          <a:ea typeface="Calibri" pitchFamily="34" charset="-122"/>
                          <a:cs typeface="Calibri" pitchFamily="34" charset="-120"/>
                        </a:rPr>
                        <a:t>Classes don’t declare what they depend on</a:t>
                      </a:r>
                    </a:p>
                    <a:p>
                      <a:pPr marL="171450" indent="-171450" algn="l">
                        <a:buFont typeface="Arial" panose="020B0604020202020204" pitchFamily="34" charset="0"/>
                        <a:buChar char="•"/>
                      </a:pPr>
                      <a:r>
                        <a:rPr lang="en-US" sz="1300" dirty="0">
                          <a:solidFill>
                            <a:srgbClr val="111827"/>
                          </a:solidFill>
                          <a:latin typeface="Calibri" pitchFamily="34" charset="0"/>
                          <a:ea typeface="Calibri" pitchFamily="34" charset="-122"/>
                          <a:cs typeface="Calibri" pitchFamily="34" charset="-120"/>
                        </a:rPr>
                        <a:t>Dependencies are accessed implicitly via Singleton::instance()</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l">
                        <a:buNone/>
                      </a:pPr>
                      <a:r>
                        <a:rPr lang="en-US" sz="1300" dirty="0">
                          <a:solidFill>
                            <a:srgbClr val="111827"/>
                          </a:solidFill>
                          <a:latin typeface="Calibri" pitchFamily="34" charset="0"/>
                          <a:ea typeface="Calibri" pitchFamily="34" charset="-122"/>
                          <a:cs typeface="Calibri" pitchFamily="34" charset="-120"/>
                        </a:rPr>
                        <a:t>Violation of Dependency inversion principle (DIP)</a:t>
                      </a:r>
                      <a:endParaRPr lang="en-US" sz="13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171450" indent="-171450" algn="l">
                        <a:buFont typeface="Arial" panose="020B0604020202020204" pitchFamily="34" charset="0"/>
                        <a:buChar char="•"/>
                      </a:pPr>
                      <a:r>
                        <a:rPr lang="en-US" sz="1300" dirty="0">
                          <a:latin typeface="Calibri" charset="0"/>
                          <a:ea typeface="Calibri" charset="0"/>
                          <a:cs typeface="Calibri" charset="0"/>
                        </a:rPr>
                        <a:t>Code depends directly on the implementation, not an abstraction *</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5"/>
                  </a:ext>
                </a:extLst>
              </a:tr>
              <a:tr h="0">
                <a:tc>
                  <a:txBody>
                    <a:bodyPr/>
                    <a:lstStyle/>
                    <a:p>
                      <a:pPr marL="0" indent="0" algn="l">
                        <a:buNone/>
                      </a:pPr>
                      <a:r>
                        <a:rPr lang="en-US" sz="1300" dirty="0">
                          <a:latin typeface="Calibri" charset="0"/>
                          <a:ea typeface="Calibri" charset="0"/>
                          <a:cs typeface="Calibri" charset="0"/>
                        </a:rPr>
                        <a:t>Tight coupling</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tc>
                  <a:txBody>
                    <a:bodyPr/>
                    <a:lstStyle/>
                    <a:p>
                      <a:pPr marL="171450" indent="-171450" algn="l">
                        <a:buFont typeface="Arial" panose="020B0604020202020204" pitchFamily="34" charset="0"/>
                        <a:buChar char="•"/>
                      </a:pPr>
                      <a:r>
                        <a:rPr lang="en-US" sz="1300" dirty="0">
                          <a:latin typeface="Calibri" charset="0"/>
                          <a:ea typeface="Calibri" charset="0"/>
                          <a:cs typeface="Calibri" charset="0"/>
                        </a:rPr>
                        <a:t>Classes become tightly coupled to the singleton’s concrete implementation *</a:t>
                      </a:r>
                    </a:p>
                    <a:p>
                      <a:pPr marL="171450" indent="-171450" algn="l">
                        <a:buFont typeface="Arial" panose="020B0604020202020204" pitchFamily="34" charset="0"/>
                        <a:buChar char="•"/>
                      </a:pPr>
                      <a:r>
                        <a:rPr lang="en-US" sz="1300" dirty="0"/>
                        <a:t>Difficult to replace or extend without widespread code changes</a:t>
                      </a:r>
                      <a:endParaRPr lang="en-US" sz="13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lgn="l">
                        <a:buNone/>
                      </a:pPr>
                      <a:r>
                        <a:rPr lang="en-US" sz="1300" dirty="0">
                          <a:latin typeface="Calibri" charset="0"/>
                          <a:ea typeface="Calibri" charset="0"/>
                          <a:cs typeface="Calibri" charset="0"/>
                        </a:rPr>
                        <a:t>Violation of single responsibility principle (SRP)</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171450" indent="-171450" algn="l">
                        <a:buFont typeface="Arial" panose="020B0604020202020204" pitchFamily="34" charset="0"/>
                        <a:buChar char="•"/>
                      </a:pPr>
                      <a:r>
                        <a:rPr lang="en-US" sz="1300" dirty="0"/>
                        <a:t>Singleton handles both lifecycle management and business logic *</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7"/>
                  </a:ext>
                </a:extLst>
              </a:tr>
            </a:tbl>
          </a:graphicData>
        </a:graphic>
      </p:graphicFrame>
      <p:sp>
        <p:nvSpPr>
          <p:cNvPr id="10" name="Text 4">
            <a:extLst>
              <a:ext uri="{FF2B5EF4-FFF2-40B4-BE49-F238E27FC236}">
                <a16:creationId xmlns:a16="http://schemas.microsoft.com/office/drawing/2014/main" id="{3B9ADBDE-2FA5-4A1B-76FE-D04B981E1804}"/>
              </a:ext>
            </a:extLst>
          </p:cNvPr>
          <p:cNvSpPr/>
          <p:nvPr/>
        </p:nvSpPr>
        <p:spPr>
          <a:xfrm>
            <a:off x="266008" y="4528774"/>
            <a:ext cx="8631865" cy="259357"/>
          </a:xfrm>
          <a:prstGeom prst="rect">
            <a:avLst/>
          </a:prstGeom>
          <a:noFill/>
          <a:ln/>
        </p:spPr>
        <p:txBody>
          <a:bodyPr wrap="square" rtlCol="0" anchor="t"/>
          <a:lstStyle/>
          <a:p>
            <a:r>
              <a:rPr lang="en-US" sz="1100" dirty="0">
                <a:solidFill>
                  <a:srgbClr val="1E3A5F"/>
                </a:solidFill>
              </a:rPr>
              <a:t>* There is more to this than just a basic statement </a:t>
            </a:r>
          </a:p>
        </p:txBody>
      </p:sp>
    </p:spTree>
    <p:extLst>
      <p:ext uri="{BB962C8B-B14F-4D97-AF65-F5344CB8AC3E}">
        <p14:creationId xmlns:p14="http://schemas.microsoft.com/office/powerpoint/2010/main" val="3159684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0"/>
            <a:ext cx="8321040" cy="475488"/>
          </a:xfrm>
          <a:prstGeom prst="rect">
            <a:avLst/>
          </a:prstGeom>
          <a:noFill/>
          <a:ln/>
        </p:spPr>
        <p:txBody>
          <a:bodyPr wrap="square" lIns="0" tIns="0" rIns="0" bIns="0" rtlCol="0" anchor="ctr"/>
          <a:lstStyle/>
          <a:p>
            <a:pPr marL="0" indent="0">
              <a:buNone/>
            </a:pPr>
            <a:r>
              <a:rPr lang="en-US" sz="1900" b="1">
                <a:solidFill>
                  <a:srgbClr val="FFFFFF"/>
                </a:solidFill>
                <a:latin typeface="Georgia" pitchFamily="34" charset="0"/>
                <a:ea typeface="Georgia" pitchFamily="34" charset="-122"/>
                <a:cs typeface="Georgia" pitchFamily="34" charset="-120"/>
              </a:rPr>
              <a:t>Real-World Reality</a:t>
            </a:r>
            <a:endParaRPr lang="en-US" sz="1900"/>
          </a:p>
        </p:txBody>
      </p:sp>
      <p:sp>
        <p:nvSpPr>
          <p:cNvPr id="5" name="Text 3"/>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INTRODUCTION</a:t>
            </a:r>
            <a:endParaRPr lang="en-US" sz="1000" dirty="0"/>
          </a:p>
        </p:txBody>
      </p:sp>
      <p:sp>
        <p:nvSpPr>
          <p:cNvPr id="6" name="Text 4"/>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25–30 years of production code cannot simply be rewritten to use DI</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 single refactoring causes: breaking API changes, hundreds or thousands of failing tests, stalled production pipelines, wasted millions of dollars</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With tens or maybe even hundreds of developers across teams, singletons effectively hide implementation details behind C++ headers</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Users call instance() — no lifecycle knowledge needed, no wiring, no cognitive overhead</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Reviewers don't need to audit lifetime rules, check for double-</a:t>
            </a:r>
            <a:r>
              <a:rPr lang="en-US" sz="1600" dirty="0" err="1">
                <a:solidFill>
                  <a:srgbClr val="1E3A5F"/>
                </a:solidFill>
                <a:latin typeface="Calibri" pitchFamily="34" charset="0"/>
                <a:ea typeface="Calibri" pitchFamily="34" charset="-122"/>
                <a:cs typeface="Calibri" pitchFamily="34" charset="-120"/>
              </a:rPr>
              <a:t>init</a:t>
            </a:r>
            <a:r>
              <a:rPr lang="en-US" sz="1600" dirty="0">
                <a:solidFill>
                  <a:srgbClr val="1E3A5F"/>
                </a:solidFill>
                <a:latin typeface="Calibri" pitchFamily="34" charset="0"/>
                <a:ea typeface="Calibri" pitchFamily="34" charset="-122"/>
                <a:cs typeface="Calibri" pitchFamily="34" charset="-120"/>
              </a:rPr>
              <a:t>, or trace ownership across a diff</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Junior/mid-level developers always outnumber seniors — you need a pattern that is safe by default</a:t>
            </a:r>
            <a:endParaRPr lang="en-US" sz="1600" dirty="0"/>
          </a:p>
          <a:p>
            <a:pPr marL="342900" indent="-342900">
              <a:spcAft>
                <a:spcPts val="600"/>
              </a:spcAft>
              <a:buSzPct val="100000"/>
              <a:buChar char="•"/>
            </a:pPr>
            <a:r>
              <a:rPr lang="en-US" sz="1600" b="1" dirty="0">
                <a:solidFill>
                  <a:srgbClr val="1E3A5F"/>
                </a:solidFill>
                <a:latin typeface="Calibri" pitchFamily="34" charset="0"/>
                <a:ea typeface="Calibri" pitchFamily="34" charset="-122"/>
                <a:cs typeface="Calibri" pitchFamily="34" charset="-120"/>
              </a:rPr>
              <a:t>Singletons solve real problems. The question is: can we make them safe?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chemeClr val="tx2">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228600"/>
            <a:ext cx="8229600" cy="256032"/>
          </a:xfrm>
          <a:prstGeom prst="rect">
            <a:avLst/>
          </a:prstGeom>
          <a:noFill/>
          <a:ln/>
        </p:spPr>
        <p:txBody>
          <a:bodyPr wrap="square" lIns="0" tIns="0" rIns="0" bIns="0" rtlCol="0" anchor="ctr"/>
          <a:lstStyle/>
          <a:p>
            <a:pPr marL="0" indent="0">
              <a:buNone/>
            </a:pPr>
            <a:r>
              <a:rPr lang="en-US" sz="1000" b="1" kern="0" spc="300">
                <a:solidFill>
                  <a:srgbClr val="F59E0B"/>
                </a:solidFill>
                <a:latin typeface="Calibri" pitchFamily="34" charset="0"/>
                <a:ea typeface="Calibri" pitchFamily="34" charset="-122"/>
                <a:cs typeface="Calibri" pitchFamily="34" charset="-120"/>
              </a:rPr>
              <a:t>SECTION 01 · INTRODUCTION — THESIS</a:t>
            </a:r>
            <a:endParaRPr lang="en-US" sz="1000"/>
          </a:p>
        </p:txBody>
      </p:sp>
      <p:sp>
        <p:nvSpPr>
          <p:cNvPr id="5" name="Text 3"/>
          <p:cNvSpPr/>
          <p:nvPr/>
        </p:nvSpPr>
        <p:spPr>
          <a:xfrm>
            <a:off x="411480" y="640080"/>
            <a:ext cx="8321040" cy="1645920"/>
          </a:xfrm>
          <a:prstGeom prst="rect">
            <a:avLst/>
          </a:prstGeom>
          <a:noFill/>
          <a:ln/>
        </p:spPr>
        <p:txBody>
          <a:bodyPr wrap="square" lIns="0" tIns="0" rIns="0" bIns="0" rtlCol="0" anchor="ctr"/>
          <a:lstStyle/>
          <a:p>
            <a:pPr marL="0" indent="0">
              <a:lnSpc>
                <a:spcPct val="120000"/>
              </a:lnSpc>
              <a:buNone/>
            </a:pPr>
            <a:r>
              <a:rPr lang="en-US" sz="3400" b="1">
                <a:solidFill>
                  <a:srgbClr val="FFFFFF"/>
                </a:solidFill>
                <a:latin typeface="Georgia" pitchFamily="34" charset="0"/>
                <a:ea typeface="Georgia" pitchFamily="34" charset="-122"/>
                <a:cs typeface="Georgia" pitchFamily="34" charset="-120"/>
              </a:rPr>
              <a:t>The problem isn't singletons.</a:t>
            </a:r>
            <a:endParaRPr lang="en-US" sz="3400"/>
          </a:p>
          <a:p>
            <a:pPr marL="0" indent="0">
              <a:lnSpc>
                <a:spcPct val="120000"/>
              </a:lnSpc>
              <a:buNone/>
            </a:pPr>
            <a:r>
              <a:rPr lang="en-US" sz="3400" b="1">
                <a:solidFill>
                  <a:srgbClr val="FFFFFF"/>
                </a:solidFill>
                <a:latin typeface="Georgia" pitchFamily="34" charset="0"/>
                <a:ea typeface="Georgia" pitchFamily="34" charset="-122"/>
                <a:cs typeface="Georgia" pitchFamily="34" charset="-120"/>
              </a:rPr>
              <a:t>It's untestable singletons.</a:t>
            </a:r>
            <a:endParaRPr lang="en-US" sz="3400"/>
          </a:p>
        </p:txBody>
      </p:sp>
      <p:sp>
        <p:nvSpPr>
          <p:cNvPr id="6" name="Text 4"/>
          <p:cNvSpPr/>
          <p:nvPr/>
        </p:nvSpPr>
        <p:spPr>
          <a:xfrm>
            <a:off x="411480" y="2377440"/>
            <a:ext cx="8321040" cy="2468880"/>
          </a:xfrm>
          <a:prstGeom prst="rect">
            <a:avLst/>
          </a:prstGeom>
          <a:noFill/>
          <a:ln/>
        </p:spPr>
        <p:txBody>
          <a:bodyPr wrap="square" rtlCol="0" anchor="t"/>
          <a:lstStyle/>
          <a:p>
            <a:pPr marL="342900" indent="-342900">
              <a:spcAft>
                <a:spcPts val="800"/>
              </a:spcAft>
              <a:buSzPct val="100000"/>
              <a:buChar char="•"/>
            </a:pPr>
            <a:r>
              <a:rPr lang="en-US" sz="1600" dirty="0">
                <a:solidFill>
                  <a:srgbClr val="E2E8F0"/>
                </a:solidFill>
                <a:latin typeface="Calibri" pitchFamily="34" charset="0"/>
                <a:ea typeface="Calibri" pitchFamily="34" charset="-122"/>
                <a:cs typeface="Calibri" pitchFamily="34" charset="-120"/>
              </a:rPr>
              <a:t>Singletons model real-world problems naturally (hardware, config, logging, file system…)</a:t>
            </a:r>
            <a:endParaRPr lang="en-US" sz="1600" dirty="0"/>
          </a:p>
          <a:p>
            <a:pPr marL="342900" indent="-342900">
              <a:spcAft>
                <a:spcPts val="800"/>
              </a:spcAft>
              <a:buSzPct val="100000"/>
              <a:buChar char="•"/>
            </a:pPr>
            <a:r>
              <a:rPr lang="en-US" sz="1600" dirty="0">
                <a:solidFill>
                  <a:srgbClr val="E2E8F0"/>
                </a:solidFill>
                <a:latin typeface="Calibri" pitchFamily="34" charset="0"/>
                <a:ea typeface="Calibri" pitchFamily="34" charset="-122"/>
                <a:cs typeface="Calibri" pitchFamily="34" charset="-120"/>
              </a:rPr>
              <a:t>Their drawbacks are well-known — but nobody tried to fix them; they just said 'avoid them'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0"/>
            <a:ext cx="8321040" cy="475488"/>
          </a:xfrm>
          <a:prstGeom prst="rect">
            <a:avLst/>
          </a:prstGeom>
          <a:noFill/>
          <a:ln/>
        </p:spPr>
        <p:txBody>
          <a:bodyPr wrap="square" lIns="0" tIns="0" rIns="0" bIns="0" rtlCol="0" anchor="ctr"/>
          <a:lstStyle/>
          <a:p>
            <a:pPr marL="0" indent="0">
              <a:buNone/>
            </a:pPr>
            <a:r>
              <a:rPr lang="en-US" sz="1900" b="1">
                <a:solidFill>
                  <a:srgbClr val="FFFFFF"/>
                </a:solidFill>
                <a:latin typeface="Georgia" pitchFamily="34" charset="0"/>
                <a:ea typeface="Georgia" pitchFamily="34" charset="-122"/>
                <a:cs typeface="Georgia" pitchFamily="34" charset="-120"/>
              </a:rPr>
              <a:t>What We Will Cover Today</a:t>
            </a:r>
            <a:endParaRPr lang="en-US" sz="1900"/>
          </a:p>
        </p:txBody>
      </p:sp>
      <p:sp>
        <p:nvSpPr>
          <p:cNvPr id="6" name="Text 4"/>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Real-Life DI pitfalls — how most of the time using DI instead of singletons leads to violations of clean code principles</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Quantifiable downsides of DI —boilerplate explosion, debugging nightmares, memory leaks, </a:t>
            </a:r>
            <a:r>
              <a:rPr lang="en-US" sz="1600" dirty="0" err="1">
                <a:solidFill>
                  <a:srgbClr val="1E3A5F"/>
                </a:solidFill>
                <a:latin typeface="Calibri" pitchFamily="34" charset="0"/>
                <a:ea typeface="Calibri" pitchFamily="34" charset="-122"/>
                <a:cs typeface="Calibri" pitchFamily="34" charset="-120"/>
              </a:rPr>
              <a:t>vtable</a:t>
            </a:r>
            <a:r>
              <a:rPr lang="en-US" sz="1600" dirty="0">
                <a:solidFill>
                  <a:srgbClr val="1E3A5F"/>
                </a:solidFill>
                <a:latin typeface="Calibri" pitchFamily="34" charset="0"/>
                <a:ea typeface="Calibri" pitchFamily="34" charset="-122"/>
                <a:cs typeface="Calibri" pitchFamily="34" charset="-120"/>
              </a:rPr>
              <a:t> overhead</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Questioning the narrative — are the 1994 </a:t>
            </a:r>
            <a:r>
              <a:rPr lang="en-US" sz="1600" dirty="0" err="1">
                <a:solidFill>
                  <a:srgbClr val="1E3A5F"/>
                </a:solidFill>
                <a:latin typeface="Calibri" pitchFamily="34" charset="0"/>
                <a:ea typeface="Calibri" pitchFamily="34" charset="-122"/>
                <a:cs typeface="Calibri" pitchFamily="34" charset="-120"/>
              </a:rPr>
              <a:t>GoF</a:t>
            </a:r>
            <a:r>
              <a:rPr lang="en-US" sz="1600" dirty="0">
                <a:solidFill>
                  <a:srgbClr val="1E3A5F"/>
                </a:solidFill>
                <a:latin typeface="Calibri" pitchFamily="34" charset="0"/>
                <a:ea typeface="Calibri" pitchFamily="34" charset="-122"/>
                <a:cs typeface="Calibri" pitchFamily="34" charset="-120"/>
              </a:rPr>
              <a:t> critiques still valid in 2026?</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Our solution — </a:t>
            </a:r>
            <a:r>
              <a:rPr lang="en-US" sz="1600" dirty="0" err="1">
                <a:solidFill>
                  <a:srgbClr val="1E3A5F"/>
                </a:solidFill>
                <a:latin typeface="Calibri" pitchFamily="34" charset="0"/>
                <a:ea typeface="Calibri" pitchFamily="34" charset="-122"/>
                <a:cs typeface="Calibri" pitchFamily="34" charset="-120"/>
              </a:rPr>
              <a:t>SingletonBase</a:t>
            </a:r>
            <a:r>
              <a:rPr lang="en-US" sz="1600" dirty="0">
                <a:solidFill>
                  <a:srgbClr val="1E3A5F"/>
                </a:solidFill>
                <a:latin typeface="Calibri" pitchFamily="34" charset="0"/>
                <a:ea typeface="Calibri" pitchFamily="34" charset="-122"/>
                <a:cs typeface="Calibri" pitchFamily="34" charset="-120"/>
              </a:rPr>
              <a:t>&lt;T&gt; + </a:t>
            </a:r>
            <a:r>
              <a:rPr lang="en-US" sz="1600" dirty="0" err="1">
                <a:solidFill>
                  <a:srgbClr val="1E3A5F"/>
                </a:solidFill>
                <a:latin typeface="Calibri" pitchFamily="34" charset="0"/>
                <a:ea typeface="Calibri" pitchFamily="34" charset="-122"/>
                <a:cs typeface="Calibri" pitchFamily="34" charset="-120"/>
              </a:rPr>
              <a:t>ScopedSingletonState</a:t>
            </a:r>
            <a:r>
              <a:rPr lang="en-US" sz="1600" dirty="0">
                <a:solidFill>
                  <a:srgbClr val="1E3A5F"/>
                </a:solidFill>
                <a:latin typeface="Calibri" pitchFamily="34" charset="0"/>
                <a:ea typeface="Calibri" pitchFamily="34" charset="-122"/>
                <a:cs typeface="Calibri" pitchFamily="34" charset="-120"/>
              </a:rPr>
              <a:t>&lt;T&gt;: elegant, zero-overhead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chemeClr val="tx2">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146304"/>
          </a:xfrm>
          <a:prstGeom prst="rect">
            <a:avLst/>
          </a:prstGeom>
          <a:solidFill>
            <a:srgbClr val="3B82F6"/>
          </a:solidFill>
          <a:ln w="12700">
            <a:solidFill>
              <a:srgbClr val="3B82F6"/>
            </a:solidFill>
            <a:prstDash val="solid"/>
          </a:ln>
        </p:spPr>
        <p:txBody>
          <a:bodyPr/>
          <a:lstStyle/>
          <a:p>
            <a:endParaRPr lang="en-US"/>
          </a:p>
        </p:txBody>
      </p:sp>
      <p:sp>
        <p:nvSpPr>
          <p:cNvPr id="3" name="Shape 1"/>
          <p:cNvSpPr/>
          <p:nvPr/>
        </p:nvSpPr>
        <p:spPr>
          <a:xfrm>
            <a:off x="0" y="4997196"/>
            <a:ext cx="9144000" cy="146304"/>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57200" y="548640"/>
            <a:ext cx="8229600" cy="347472"/>
          </a:xfrm>
          <a:prstGeom prst="rect">
            <a:avLst/>
          </a:prstGeom>
          <a:noFill/>
          <a:ln/>
        </p:spPr>
        <p:txBody>
          <a:bodyPr wrap="square" lIns="0" tIns="0" rIns="0" bIns="0" rtlCol="0" anchor="ctr"/>
          <a:lstStyle/>
          <a:p>
            <a:pPr marL="0" indent="0">
              <a:buNone/>
            </a:pPr>
            <a:r>
              <a:rPr lang="en-US" sz="1300" b="1" kern="0" spc="400">
                <a:solidFill>
                  <a:srgbClr val="F59E0B"/>
                </a:solidFill>
                <a:latin typeface="Calibri" pitchFamily="34" charset="0"/>
                <a:ea typeface="Calibri" pitchFamily="34" charset="-122"/>
                <a:cs typeface="Calibri" pitchFamily="34" charset="-120"/>
              </a:rPr>
              <a:t>SECTION 02</a:t>
            </a:r>
            <a:endParaRPr lang="en-US" sz="1300"/>
          </a:p>
        </p:txBody>
      </p:sp>
      <p:sp>
        <p:nvSpPr>
          <p:cNvPr id="5" name="Text 3"/>
          <p:cNvSpPr/>
          <p:nvPr/>
        </p:nvSpPr>
        <p:spPr>
          <a:xfrm>
            <a:off x="457200" y="1005840"/>
            <a:ext cx="8229600" cy="2011680"/>
          </a:xfrm>
          <a:prstGeom prst="rect">
            <a:avLst/>
          </a:prstGeom>
          <a:noFill/>
          <a:ln/>
        </p:spPr>
        <p:txBody>
          <a:bodyPr wrap="square" lIns="0" tIns="0" rIns="0" bIns="0" rtlCol="0" anchor="ctr"/>
          <a:lstStyle/>
          <a:p>
            <a:pPr marL="0" indent="0">
              <a:lnSpc>
                <a:spcPct val="115000"/>
              </a:lnSpc>
              <a:buNone/>
            </a:pPr>
            <a:r>
              <a:rPr lang="en-US" sz="3400" b="1" dirty="0">
                <a:solidFill>
                  <a:srgbClr val="FFFFFF"/>
                </a:solidFill>
                <a:latin typeface="Georgia" pitchFamily="34" charset="0"/>
                <a:ea typeface="Georgia" pitchFamily="34" charset="-122"/>
                <a:cs typeface="Georgia" pitchFamily="34" charset="-120"/>
              </a:rPr>
              <a:t>Real-World Use Case:</a:t>
            </a:r>
            <a:endParaRPr lang="en-US" sz="3400" dirty="0"/>
          </a:p>
          <a:p>
            <a:pPr marL="0" indent="0">
              <a:lnSpc>
                <a:spcPct val="115000"/>
              </a:lnSpc>
              <a:buNone/>
            </a:pPr>
            <a:r>
              <a:rPr lang="en-US" sz="3400" b="1" dirty="0">
                <a:solidFill>
                  <a:srgbClr val="FFFFFF"/>
                </a:solidFill>
                <a:latin typeface="Georgia" pitchFamily="34" charset="0"/>
                <a:ea typeface="Georgia" pitchFamily="34" charset="-122"/>
                <a:cs typeface="Georgia" pitchFamily="34" charset="-120"/>
              </a:rPr>
              <a:t>Singletons vs Dependency Injection </a:t>
            </a:r>
            <a:r>
              <a:rPr lang="en-US" sz="1500" dirty="0">
                <a:solidFill>
                  <a:srgbClr val="94A3B8"/>
                </a:solidFill>
                <a:latin typeface="Calibri" pitchFamily="34" charset="0"/>
                <a:ea typeface="Calibri" pitchFamily="34" charset="-122"/>
                <a:cs typeface="Calibri" pitchFamily="34" charset="-120"/>
              </a:rPr>
              <a:t>25</a:t>
            </a:r>
          </a:p>
        </p:txBody>
      </p:sp>
      <p:sp>
        <p:nvSpPr>
          <p:cNvPr id="6" name="Text 4"/>
          <p:cNvSpPr/>
          <p:nvPr/>
        </p:nvSpPr>
        <p:spPr>
          <a:xfrm>
            <a:off x="457200" y="3154680"/>
            <a:ext cx="7772400" cy="59436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Audience check: 'Who has seen 10+ parameter constructor before?'</a:t>
            </a:r>
            <a:endParaRPr lang="en-US" sz="1500" dirty="0"/>
          </a:p>
        </p:txBody>
      </p:sp>
      <p:sp>
        <p:nvSpPr>
          <p:cNvPr id="7" name="Text 4">
            <a:extLst>
              <a:ext uri="{FF2B5EF4-FFF2-40B4-BE49-F238E27FC236}">
                <a16:creationId xmlns:a16="http://schemas.microsoft.com/office/drawing/2014/main" id="{14D52E41-F1FB-1093-126B-F2EADD2D9F22}"/>
              </a:ext>
            </a:extLst>
          </p:cNvPr>
          <p:cNvSpPr/>
          <p:nvPr/>
        </p:nvSpPr>
        <p:spPr>
          <a:xfrm>
            <a:off x="457200" y="4455114"/>
            <a:ext cx="8229600" cy="27949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 All examples are collected over years from real production code bases. With modifications to details for confidentiality compliance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C9B26-B020-D1BD-F247-EB1EF7C62754}"/>
            </a:ext>
          </a:extLst>
        </p:cNvPr>
        <p:cNvGrpSpPr/>
        <p:nvPr/>
      </p:nvGrpSpPr>
      <p:grpSpPr>
        <a:xfrm>
          <a:off x="0" y="0"/>
          <a:ext cx="0" cy="0"/>
          <a:chOff x="0" y="0"/>
          <a:chExt cx="0" cy="0"/>
        </a:xfrm>
      </p:grpSpPr>
      <p:sp>
        <p:nvSpPr>
          <p:cNvPr id="19" name="Text 4">
            <a:extLst>
              <a:ext uri="{FF2B5EF4-FFF2-40B4-BE49-F238E27FC236}">
                <a16:creationId xmlns:a16="http://schemas.microsoft.com/office/drawing/2014/main" id="{E1D54FAC-4E45-C7EE-27EC-CC75E6FCB7F3}"/>
              </a:ext>
            </a:extLst>
          </p:cNvPr>
          <p:cNvSpPr/>
          <p:nvPr/>
        </p:nvSpPr>
        <p:spPr>
          <a:xfrm>
            <a:off x="411480" y="4100898"/>
            <a:ext cx="8321040" cy="709409"/>
          </a:xfrm>
          <a:prstGeom prst="rect">
            <a:avLst/>
          </a:prstGeom>
          <a:solidFill>
            <a:schemeClr val="accent4">
              <a:lumMod val="40000"/>
              <a:lumOff val="60000"/>
            </a:schemeClr>
          </a:solidFill>
          <a:ln/>
        </p:spPr>
        <p:txBody>
          <a:bodyPr wrap="square" rtlCol="0" anchor="t"/>
          <a:lstStyle/>
          <a:p>
            <a:r>
              <a:rPr lang="en-US" sz="1200" b="1" dirty="0">
                <a:solidFill>
                  <a:srgbClr val="1E3A5F"/>
                </a:solidFill>
              </a:rPr>
              <a:t>Rule of thumb:</a:t>
            </a:r>
            <a:br>
              <a:rPr lang="en-US" sz="1200" dirty="0">
                <a:solidFill>
                  <a:srgbClr val="1E3A5F"/>
                </a:solidFill>
              </a:rPr>
            </a:br>
            <a:r>
              <a:rPr lang="en-US" sz="1200" dirty="0">
                <a:solidFill>
                  <a:srgbClr val="1E3A5F"/>
                </a:solidFill>
              </a:rPr>
              <a:t>If multiple instances would break correctness (not just be inconvenient), then this problem is a natural fit to be represented as a Singleton.</a:t>
            </a:r>
          </a:p>
        </p:txBody>
      </p:sp>
      <p:sp>
        <p:nvSpPr>
          <p:cNvPr id="2" name="Shape 0">
            <a:extLst>
              <a:ext uri="{FF2B5EF4-FFF2-40B4-BE49-F238E27FC236}">
                <a16:creationId xmlns:a16="http://schemas.microsoft.com/office/drawing/2014/main" id="{A17F55CF-0AA0-5F51-3F06-03A6757E7C09}"/>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A06C713A-EBCD-1332-104F-052909400545}"/>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6A7E0B48-9C21-C1FB-D3E3-F2810FE7BF84}"/>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a:solidFill>
                  <a:srgbClr val="FFFFFF"/>
                </a:solidFill>
                <a:latin typeface="Georgia" pitchFamily="34" charset="0"/>
                <a:ea typeface="Georgia" pitchFamily="34" charset="-122"/>
                <a:cs typeface="Georgia" pitchFamily="34" charset="-120"/>
              </a:rPr>
              <a:t>What singletons are good for</a:t>
            </a:r>
            <a:endParaRPr lang="en-US" sz="1900" strike="sngStrike"/>
          </a:p>
        </p:txBody>
      </p:sp>
      <p:sp>
        <p:nvSpPr>
          <p:cNvPr id="18" name="Text 4">
            <a:extLst>
              <a:ext uri="{FF2B5EF4-FFF2-40B4-BE49-F238E27FC236}">
                <a16:creationId xmlns:a16="http://schemas.microsoft.com/office/drawing/2014/main" id="{2FE46DE3-FAA0-49FC-EAAA-B77DE65BBD8E}"/>
              </a:ext>
            </a:extLst>
          </p:cNvPr>
          <p:cNvSpPr/>
          <p:nvPr/>
        </p:nvSpPr>
        <p:spPr>
          <a:xfrm>
            <a:off x="283534" y="687897"/>
            <a:ext cx="8631865" cy="3268275"/>
          </a:xfrm>
          <a:prstGeom prst="rect">
            <a:avLst/>
          </a:prstGeom>
          <a:noFill/>
          <a:ln/>
        </p:spPr>
        <p:txBody>
          <a:bodyPr wrap="square" rtlCol="0" anchor="t"/>
          <a:lstStyle/>
          <a:p>
            <a:r>
              <a:rPr lang="en-US" sz="1600" b="1" dirty="0">
                <a:solidFill>
                  <a:srgbClr val="1E3A5F"/>
                </a:solidFill>
              </a:rPr>
              <a:t>Some problems are well suited to be represented as Singletons.</a:t>
            </a:r>
            <a:br>
              <a:rPr lang="en-US" sz="1600" dirty="0">
                <a:solidFill>
                  <a:srgbClr val="1E3A5F"/>
                </a:solidFill>
              </a:rPr>
            </a:br>
            <a:r>
              <a:rPr lang="en-US" sz="1600" dirty="0">
                <a:solidFill>
                  <a:srgbClr val="1E3A5F"/>
                </a:solidFill>
              </a:rPr>
              <a:t>Anything that is supposed to live for the entire lifetime of the application and represent a single, globally unique resource is a natural candidate.</a:t>
            </a:r>
          </a:p>
          <a:p>
            <a:endParaRPr lang="en-US" sz="1600" dirty="0">
              <a:solidFill>
                <a:srgbClr val="1E3A5F"/>
              </a:solidFill>
            </a:endParaRPr>
          </a:p>
          <a:p>
            <a:pPr marL="285750" indent="-285750">
              <a:buFont typeface="Arial" panose="020B0604020202020204" pitchFamily="34" charset="0"/>
              <a:buChar char="•"/>
            </a:pPr>
            <a:r>
              <a:rPr lang="en-US" sz="1600" b="1" dirty="0">
                <a:solidFill>
                  <a:srgbClr val="1E3A5F"/>
                </a:solidFill>
              </a:rPr>
              <a:t>Hardware representation in an HMI layer of a device</a:t>
            </a:r>
            <a:br>
              <a:rPr lang="en-US" sz="1600" dirty="0">
                <a:solidFill>
                  <a:srgbClr val="1E3A5F"/>
                </a:solidFill>
              </a:rPr>
            </a:br>
            <a:r>
              <a:rPr lang="en-US" sz="1600" dirty="0">
                <a:solidFill>
                  <a:srgbClr val="1E3A5F"/>
                </a:solidFill>
              </a:rPr>
              <a:t>One software object represents one physical device (e.g., medical device hardware).</a:t>
            </a:r>
            <a:br>
              <a:rPr lang="en-US" sz="1600" dirty="0">
                <a:solidFill>
                  <a:srgbClr val="1E3A5F"/>
                </a:solidFill>
              </a:rPr>
            </a:br>
            <a:r>
              <a:rPr lang="en-US" sz="1600" dirty="0">
                <a:solidFill>
                  <a:srgbClr val="1E3A5F"/>
                </a:solidFill>
              </a:rPr>
              <a:t>There is only one device → therefore only one controller instance.</a:t>
            </a:r>
          </a:p>
          <a:p>
            <a:pPr marL="285750" indent="-285750">
              <a:buFont typeface="Arial" panose="020B0604020202020204" pitchFamily="34" charset="0"/>
              <a:buChar char="•"/>
            </a:pPr>
            <a:r>
              <a:rPr lang="en-US" sz="1600" b="1" dirty="0">
                <a:solidFill>
                  <a:srgbClr val="1E3A5F"/>
                </a:solidFill>
              </a:rPr>
              <a:t>Plugin Manager</a:t>
            </a:r>
            <a:br>
              <a:rPr lang="en-US" sz="1600" dirty="0">
                <a:solidFill>
                  <a:srgbClr val="1E3A5F"/>
                </a:solidFill>
              </a:rPr>
            </a:br>
            <a:r>
              <a:rPr lang="en-US" sz="1600" dirty="0">
                <a:solidFill>
                  <a:srgbClr val="1E3A5F"/>
                </a:solidFill>
              </a:rPr>
              <a:t>One central authority managing all loaded plugins.</a:t>
            </a:r>
          </a:p>
          <a:p>
            <a:pPr marL="285750" indent="-285750">
              <a:buFont typeface="Arial" panose="020B0604020202020204" pitchFamily="34" charset="0"/>
              <a:buChar char="•"/>
            </a:pPr>
            <a:r>
              <a:rPr lang="en-US" sz="1600" b="1" dirty="0">
                <a:solidFill>
                  <a:srgbClr val="1E3A5F"/>
                </a:solidFill>
              </a:rPr>
              <a:t>License Manager</a:t>
            </a:r>
            <a:br>
              <a:rPr lang="en-US" sz="1600" dirty="0">
                <a:solidFill>
                  <a:srgbClr val="1E3A5F"/>
                </a:solidFill>
              </a:rPr>
            </a:br>
            <a:r>
              <a:rPr lang="en-US" sz="1600" dirty="0">
                <a:solidFill>
                  <a:srgbClr val="1E3A5F"/>
                </a:solidFill>
              </a:rPr>
              <a:t>One global authority tracking application licensing state.</a:t>
            </a:r>
          </a:p>
          <a:p>
            <a:pPr marL="285750" indent="-285750">
              <a:buFont typeface="Arial" panose="020B0604020202020204" pitchFamily="34" charset="0"/>
              <a:buChar char="•"/>
            </a:pPr>
            <a:r>
              <a:rPr lang="en-US" sz="1600" b="1" dirty="0">
                <a:solidFill>
                  <a:srgbClr val="1E3A5F"/>
                </a:solidFill>
              </a:rPr>
              <a:t>Low-level hardware communication channel</a:t>
            </a:r>
            <a:br>
              <a:rPr lang="en-US" sz="1600" dirty="0">
                <a:solidFill>
                  <a:srgbClr val="1E3A5F"/>
                </a:solidFill>
              </a:rPr>
            </a:br>
            <a:r>
              <a:rPr lang="en-US" sz="1600" dirty="0">
                <a:solidFill>
                  <a:srgbClr val="1E3A5F"/>
                </a:solidFill>
              </a:rPr>
              <a:t>One serial/Ethernet connection to a specific device.</a:t>
            </a:r>
          </a:p>
          <a:p>
            <a:endParaRPr lang="en-US" sz="1600" dirty="0">
              <a:solidFill>
                <a:srgbClr val="1E3A5F"/>
              </a:solidFill>
            </a:endParaRPr>
          </a:p>
        </p:txBody>
      </p:sp>
    </p:spTree>
    <p:extLst>
      <p:ext uri="{BB962C8B-B14F-4D97-AF65-F5344CB8AC3E}">
        <p14:creationId xmlns:p14="http://schemas.microsoft.com/office/powerpoint/2010/main" val="1917705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7" name="Text 4">
            <a:extLst>
              <a:ext uri="{FF2B5EF4-FFF2-40B4-BE49-F238E27FC236}">
                <a16:creationId xmlns:a16="http://schemas.microsoft.com/office/drawing/2014/main" id="{1BC8CEF1-578D-1D4A-EAFB-7BAD26CAEAB9}"/>
              </a:ext>
            </a:extLst>
          </p:cNvPr>
          <p:cNvSpPr/>
          <p:nvPr/>
        </p:nvSpPr>
        <p:spPr>
          <a:xfrm>
            <a:off x="256068" y="650725"/>
            <a:ext cx="4808623" cy="4168613"/>
          </a:xfrm>
          <a:prstGeom prst="rect">
            <a:avLst/>
          </a:prstGeom>
          <a:noFill/>
          <a:ln/>
        </p:spPr>
        <p:txBody>
          <a:bodyPr wrap="square" rtlCol="0" anchor="t"/>
          <a:lstStyle/>
          <a:p>
            <a:pPr marL="285750" indent="-285750">
              <a:buFont typeface="Arial" panose="020B0604020202020204" pitchFamily="34" charset="0"/>
              <a:buChar char="•"/>
            </a:pPr>
            <a:r>
              <a:rPr lang="en-US" sz="1600" dirty="0">
                <a:solidFill>
                  <a:srgbClr val="1E3A5F"/>
                </a:solidFill>
              </a:rPr>
              <a:t>When working on a hardware device, we have different subsystems each of which is isolated from the others and has its own compute module</a:t>
            </a:r>
          </a:p>
          <a:p>
            <a:pPr marL="285750" indent="-285750">
              <a:buFont typeface="Arial" panose="020B0604020202020204" pitchFamily="34" charset="0"/>
              <a:buChar char="•"/>
            </a:pPr>
            <a:r>
              <a:rPr lang="en-US" sz="1600" dirty="0">
                <a:solidFill>
                  <a:srgbClr val="1E3A5F"/>
                </a:solidFill>
              </a:rPr>
              <a:t>Communication between subsystems is done using Protocols like: CAN, I2C, SPI, UART, etc.</a:t>
            </a:r>
          </a:p>
          <a:p>
            <a:pPr marL="285750" indent="-285750">
              <a:buFont typeface="Arial" panose="020B0604020202020204" pitchFamily="34" charset="0"/>
              <a:buChar char="•"/>
            </a:pPr>
            <a:r>
              <a:rPr lang="en-US" sz="1600" dirty="0">
                <a:solidFill>
                  <a:srgbClr val="1E3A5F"/>
                </a:solidFill>
              </a:rPr>
              <a:t>Since talking over raw protocols like these would be very primitive, each module defines its own Hardware Abstraction Layer (HAL) that represents each module as a logical entity and hides internal communication details from business logic</a:t>
            </a:r>
            <a:br>
              <a:rPr lang="en-US" sz="1600" dirty="0">
                <a:solidFill>
                  <a:srgbClr val="1E3A5F"/>
                </a:solidFill>
              </a:rPr>
            </a:br>
            <a:endParaRPr lang="en-US" sz="1600" dirty="0">
              <a:solidFill>
                <a:srgbClr val="1E3A5F"/>
              </a:solidFill>
            </a:endParaRPr>
          </a:p>
          <a:p>
            <a:pPr marL="285750" indent="-285750">
              <a:buFont typeface="Arial" panose="020B0604020202020204" pitchFamily="34" charset="0"/>
              <a:buChar char="•"/>
            </a:pPr>
            <a:r>
              <a:rPr lang="en-US" sz="1600" dirty="0">
                <a:solidFill>
                  <a:srgbClr val="1E3A5F"/>
                </a:solidFill>
              </a:rPr>
              <a:t>For the rest of the presentation, we will use the </a:t>
            </a:r>
            <a:r>
              <a:rPr lang="en-US" sz="1600" dirty="0" err="1">
                <a:solidFill>
                  <a:srgbClr val="4EC9B0"/>
                </a:solidFill>
                <a:latin typeface="Consolas" panose="020B0609020204030204" pitchFamily="49" charset="0"/>
              </a:rPr>
              <a:t>XRayMachine</a:t>
            </a:r>
            <a:r>
              <a:rPr lang="en-US" sz="1600" dirty="0">
                <a:solidFill>
                  <a:srgbClr val="1E3A5F"/>
                </a:solidFill>
              </a:rPr>
              <a:t> class from an X-ray medical device HMI subsystem as our main example.</a:t>
            </a:r>
            <a:br>
              <a:rPr lang="en-US" sz="1600" dirty="0">
                <a:solidFill>
                  <a:srgbClr val="1E3A5F"/>
                </a:solidFill>
              </a:rPr>
            </a:br>
            <a:r>
              <a:rPr lang="en-US" sz="1600" dirty="0">
                <a:solidFill>
                  <a:srgbClr val="1E3A5F"/>
                </a:solidFill>
              </a:rPr>
              <a:t>We will see how would it look if it was implemented as a singleton and using DI</a:t>
            </a:r>
          </a:p>
        </p:txBody>
      </p:sp>
      <p:pic>
        <p:nvPicPr>
          <p:cNvPr id="10" name="Picture 9">
            <a:extLst>
              <a:ext uri="{FF2B5EF4-FFF2-40B4-BE49-F238E27FC236}">
                <a16:creationId xmlns:a16="http://schemas.microsoft.com/office/drawing/2014/main" id="{4558093A-CD57-2676-51BD-800E8D1F9BDE}"/>
              </a:ext>
            </a:extLst>
          </p:cNvPr>
          <p:cNvPicPr>
            <a:picLocks noChangeAspect="1"/>
          </p:cNvPicPr>
          <p:nvPr/>
        </p:nvPicPr>
        <p:blipFill>
          <a:blip r:embed="rId3"/>
          <a:stretch>
            <a:fillRect/>
          </a:stretch>
        </p:blipFill>
        <p:spPr>
          <a:xfrm flipH="1">
            <a:off x="5064691" y="728410"/>
            <a:ext cx="3823241" cy="3823241"/>
          </a:xfrm>
          <a:prstGeom prst="rect">
            <a:avLst/>
          </a:prstGeom>
        </p:spPr>
      </p:pic>
      <p:sp>
        <p:nvSpPr>
          <p:cNvPr id="12" name="TextBox 11">
            <a:extLst>
              <a:ext uri="{FF2B5EF4-FFF2-40B4-BE49-F238E27FC236}">
                <a16:creationId xmlns:a16="http://schemas.microsoft.com/office/drawing/2014/main" id="{613FA595-1C93-7579-79F2-0840706310F3}"/>
              </a:ext>
            </a:extLst>
          </p:cNvPr>
          <p:cNvSpPr txBox="1"/>
          <p:nvPr/>
        </p:nvSpPr>
        <p:spPr>
          <a:xfrm>
            <a:off x="4969183" y="4551651"/>
            <a:ext cx="4014255" cy="215444"/>
          </a:xfrm>
          <a:prstGeom prst="rect">
            <a:avLst/>
          </a:prstGeom>
          <a:noFill/>
        </p:spPr>
        <p:txBody>
          <a:bodyPr wrap="square">
            <a:spAutoFit/>
          </a:bodyPr>
          <a:lstStyle/>
          <a:p>
            <a:r>
              <a:rPr lang="en-US" sz="800" dirty="0"/>
              <a:t>https://pngtree.com/freepng/digital-x-ray-machine-on-plain-background_19077316.html</a:t>
            </a:r>
          </a:p>
        </p:txBody>
      </p:sp>
      <p:sp>
        <p:nvSpPr>
          <p:cNvPr id="13" name="Text 2">
            <a:extLst>
              <a:ext uri="{FF2B5EF4-FFF2-40B4-BE49-F238E27FC236}">
                <a16:creationId xmlns:a16="http://schemas.microsoft.com/office/drawing/2014/main" id="{B082AE7B-4473-6D37-2603-908BAF7D4C5F}"/>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Real-world Case Study</a:t>
            </a:r>
            <a:endParaRPr lang="en-US" sz="1900" strike="sngStrike"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98B86A6-73DB-4128-BC77-9892789C933C}"/>
              </a:ext>
            </a:extLst>
          </p:cNvPr>
          <p:cNvSpPr txBox="1"/>
          <p:nvPr/>
        </p:nvSpPr>
        <p:spPr>
          <a:xfrm>
            <a:off x="459486" y="450055"/>
            <a:ext cx="4526280" cy="114744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kern="1200" dirty="0">
                <a:solidFill>
                  <a:schemeClr val="tx1"/>
                </a:solidFill>
                <a:latin typeface="+mj-lt"/>
                <a:ea typeface="+mj-ea"/>
                <a:cs typeface="+mj-cs"/>
              </a:rPr>
              <a:t>XRayMachine Class Overview</a:t>
            </a:r>
          </a:p>
        </p:txBody>
      </p:sp>
      <p:sp>
        <p:nvSpPr>
          <p:cNvPr id="4" name="TextBox 3">
            <a:extLst>
              <a:ext uri="{FF2B5EF4-FFF2-40B4-BE49-F238E27FC236}">
                <a16:creationId xmlns:a16="http://schemas.microsoft.com/office/drawing/2014/main" id="{13AC3250-EF24-48C8-8F3F-A0AC527830D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5" y="1659636"/>
            <a:ext cx="4526281" cy="3072384"/>
          </a:xfrm>
          <a:prstGeom prst="rect">
            <a:avLst/>
          </a:prstGeom>
        </p:spPr>
        <p:txBody>
          <a:bodyPr>
            <a:normAutofit/>
          </a:bodyPr>
          <a:lstStyle/>
          <a:p>
            <a:pPr marL="285750" lvl="1" indent="-285750">
              <a:spcAft>
                <a:spcPts val="600"/>
              </a:spcAft>
              <a:buFont typeface="Arial" panose="020B0604020202020204" pitchFamily="34" charset="0"/>
              <a:buChar char="•"/>
            </a:pPr>
            <a:r>
              <a:rPr lang="en-US" sz="1400" dirty="0"/>
              <a:t>Lives inside the Human Machine Interface (HMI) subsystem</a:t>
            </a:r>
          </a:p>
          <a:p>
            <a:pPr marL="285750" lvl="1" indent="-285750">
              <a:spcAft>
                <a:spcPts val="600"/>
              </a:spcAft>
              <a:buFont typeface="Arial" panose="020B0604020202020204" pitchFamily="34" charset="0"/>
              <a:buChar char="•"/>
            </a:pPr>
            <a:r>
              <a:rPr lang="en-US" sz="1400" dirty="0"/>
              <a:t>Hides all communication details from the HMI business logic (Communication between subsystems is done over CAN protocol)</a:t>
            </a:r>
          </a:p>
          <a:p>
            <a:pPr marL="285750" lvl="1" indent="-285750">
              <a:spcAft>
                <a:spcPts val="600"/>
              </a:spcAft>
              <a:buFont typeface="Arial" panose="020B0604020202020204" pitchFamily="34" charset="0"/>
              <a:buChar char="•"/>
            </a:pPr>
            <a:r>
              <a:rPr lang="en-US" sz="1400" dirty="0"/>
              <a:t>Represents a live-view into the state of the machine</a:t>
            </a:r>
          </a:p>
          <a:p>
            <a:pPr marL="285750" lvl="1" indent="-285750">
              <a:spcAft>
                <a:spcPts val="600"/>
              </a:spcAft>
              <a:buFont typeface="Arial" panose="020B0604020202020204" pitchFamily="34" charset="0"/>
              <a:buChar char="•"/>
            </a:pPr>
            <a:r>
              <a:rPr lang="en-US" sz="1400" dirty="0"/>
              <a:t>Gives developers raw control over the machine functionalities (Start / stop exposure, etc.)</a:t>
            </a:r>
          </a:p>
        </p:txBody>
      </p:sp>
      <p:pic>
        <p:nvPicPr>
          <p:cNvPr id="2" name="Picture 1" descr="3D illustration of X-ray System">
            <a:extLst>
              <a:ext uri="{FF2B5EF4-FFF2-40B4-BE49-F238E27FC236}">
                <a16:creationId xmlns:a16="http://schemas.microsoft.com/office/drawing/2014/main" id="{19182C9E-409B-4756-9D6B-EA759DFF20D1}"/>
              </a:ext>
            </a:extLst>
          </p:cNvPr>
          <p:cNvPicPr>
            <a:picLocks noChangeAspect="1"/>
          </p:cNvPicPr>
          <p:nvPr/>
        </p:nvPicPr>
        <p:blipFill>
          <a:blip r:embed="rId3"/>
          <a:srcRect l="23307" r="36943"/>
          <a:stretch>
            <a:fillRect/>
          </a:stretch>
        </p:blipFill>
        <p:spPr>
          <a:xfrm>
            <a:off x="5509260" y="10"/>
            <a:ext cx="3634740" cy="5143490"/>
          </a:xfrm>
          <a:prstGeom prst="rect">
            <a:avLst/>
          </a:prstGeom>
        </p:spPr>
      </p:pic>
      <p:sp>
        <p:nvSpPr>
          <p:cNvPr id="5" name="Shape 0">
            <a:extLst>
              <a:ext uri="{FF2B5EF4-FFF2-40B4-BE49-F238E27FC236}">
                <a16:creationId xmlns:a16="http://schemas.microsoft.com/office/drawing/2014/main" id="{EF7EF7BC-EFFE-0C4C-9796-64BBB83E613D}"/>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6" name="Text 2">
            <a:extLst>
              <a:ext uri="{FF2B5EF4-FFF2-40B4-BE49-F238E27FC236}">
                <a16:creationId xmlns:a16="http://schemas.microsoft.com/office/drawing/2014/main" id="{CDF13B48-883C-0133-772C-342AE4B3A70B}"/>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Real-world Case Study</a:t>
            </a:r>
            <a:endParaRPr lang="en-US" sz="1900" strike="sngStrike" dirty="0"/>
          </a:p>
        </p:txBody>
      </p:sp>
      <p:sp>
        <p:nvSpPr>
          <p:cNvPr id="8" name="Shape 1">
            <a:extLst>
              <a:ext uri="{FF2B5EF4-FFF2-40B4-BE49-F238E27FC236}">
                <a16:creationId xmlns:a16="http://schemas.microsoft.com/office/drawing/2014/main" id="{40AD7DBB-424E-9A28-CB6E-1390479D627C}"/>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Tree>
    <p:extLst>
      <p:ext uri="{BB962C8B-B14F-4D97-AF65-F5344CB8AC3E}">
        <p14:creationId xmlns:p14="http://schemas.microsoft.com/office/powerpoint/2010/main" val="451206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865C3-003B-375A-82A5-2DDB73FBAC5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5296D38-A936-9396-0936-6ADC18C7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hape 0">
            <a:extLst>
              <a:ext uri="{FF2B5EF4-FFF2-40B4-BE49-F238E27FC236}">
                <a16:creationId xmlns:a16="http://schemas.microsoft.com/office/drawing/2014/main" id="{56F303C7-823C-A61C-DADE-8C436A367642}"/>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6" name="Text 2">
            <a:extLst>
              <a:ext uri="{FF2B5EF4-FFF2-40B4-BE49-F238E27FC236}">
                <a16:creationId xmlns:a16="http://schemas.microsoft.com/office/drawing/2014/main" id="{3939A9C5-AA9B-8268-0787-7BB7059D7632}"/>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Real-world Case Study</a:t>
            </a:r>
            <a:endParaRPr lang="en-US" sz="1900" strike="sngStrike" dirty="0"/>
          </a:p>
        </p:txBody>
      </p:sp>
      <p:sp>
        <p:nvSpPr>
          <p:cNvPr id="7" name="Text 3">
            <a:extLst>
              <a:ext uri="{FF2B5EF4-FFF2-40B4-BE49-F238E27FC236}">
                <a16:creationId xmlns:a16="http://schemas.microsoft.com/office/drawing/2014/main" id="{43C94963-03C1-893E-00A3-67E5D216D602}"/>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High-level API functionality</a:t>
            </a:r>
            <a:endParaRPr lang="en-US" sz="1000" dirty="0"/>
          </a:p>
        </p:txBody>
      </p:sp>
      <p:sp>
        <p:nvSpPr>
          <p:cNvPr id="8" name="Text 6">
            <a:extLst>
              <a:ext uri="{FF2B5EF4-FFF2-40B4-BE49-F238E27FC236}">
                <a16:creationId xmlns:a16="http://schemas.microsoft.com/office/drawing/2014/main" id="{969CE0A5-617E-8765-F469-AD6B98311DF4}"/>
              </a:ext>
            </a:extLst>
          </p:cNvPr>
          <p:cNvSpPr/>
          <p:nvPr/>
        </p:nvSpPr>
        <p:spPr>
          <a:xfrm>
            <a:off x="292608" y="886968"/>
            <a:ext cx="4654146"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actions</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properties</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submodules</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PowerController</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DCDCAA"/>
                </a:solidFill>
                <a:effectLst/>
                <a:latin typeface="Consolas" panose="020B0609020204030204" pitchFamily="49" charset="0"/>
              </a:rPr>
              <a:t>power</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CollimatorControl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err="1">
                <a:solidFill>
                  <a:srgbClr val="DCDCAA"/>
                </a:solidFill>
                <a:effectLst/>
                <a:latin typeface="Consolas" panose="020B0609020204030204" pitchFamily="49" charset="0"/>
              </a:rPr>
              <a:t>collimatorControl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AECModule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err="1">
                <a:solidFill>
                  <a:srgbClr val="DCDCAA"/>
                </a:solidFill>
                <a:effectLst/>
                <a:latin typeface="Consolas" panose="020B0609020204030204" pitchFamily="49" charset="0"/>
              </a:rPr>
              <a:t>aec</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DetectorCooling</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DCDCAA"/>
                </a:solidFill>
                <a:effectLst/>
                <a:latin typeface="Consolas" panose="020B0609020204030204" pitchFamily="49" charset="0"/>
              </a:rPr>
              <a:t>cooling</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GridMotion</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DCDCAA"/>
                </a:solidFill>
                <a:effectLst/>
                <a:latin typeface="Consolas" panose="020B0609020204030204" pitchFamily="49" charset="0"/>
              </a:rPr>
              <a:t>grid</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FilterWheel</a:t>
            </a:r>
            <a:r>
              <a:rPr lang="en-US" sz="1000" b="0" dirty="0">
                <a:solidFill>
                  <a:srgbClr val="4EC9B0"/>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err="1">
                <a:solidFill>
                  <a:srgbClr val="DCDCAA"/>
                </a:solidFill>
                <a:effectLst/>
                <a:latin typeface="Consolas" panose="020B0609020204030204" pitchFamily="49" charset="0"/>
              </a:rPr>
              <a:t>filterWheel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RemoteMonitoring</a:t>
            </a:r>
            <a:r>
              <a:rPr lang="en-US" sz="1000" b="0" dirty="0">
                <a:solidFill>
                  <a:srgbClr val="4EC9B0"/>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err="1">
                <a:solidFill>
                  <a:srgbClr val="DCDCAA"/>
                </a:solidFill>
                <a:effectLst/>
                <a:latin typeface="Consolas" panose="020B0609020204030204" pitchFamily="49" charset="0"/>
              </a:rPr>
              <a:t>remoteMonitor</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
        <p:nvSpPr>
          <p:cNvPr id="11" name="Text 4">
            <a:extLst>
              <a:ext uri="{FF2B5EF4-FFF2-40B4-BE49-F238E27FC236}">
                <a16:creationId xmlns:a16="http://schemas.microsoft.com/office/drawing/2014/main" id="{576DE75E-7D89-587D-648C-C0902F5E4971}"/>
              </a:ext>
            </a:extLst>
          </p:cNvPr>
          <p:cNvSpPr/>
          <p:nvPr/>
        </p:nvSpPr>
        <p:spPr>
          <a:xfrm>
            <a:off x="5126636" y="850392"/>
            <a:ext cx="3889948" cy="4037076"/>
          </a:xfrm>
          <a:prstGeom prst="rect">
            <a:avLst/>
          </a:prstGeom>
          <a:noFill/>
          <a:ln/>
        </p:spPr>
        <p:txBody>
          <a:bodyPr wrap="square" rtlCol="0" anchor="t"/>
          <a:lstStyle/>
          <a:p>
            <a:pPr marL="342900" indent="-342900">
              <a:spcAft>
                <a:spcPts val="600"/>
              </a:spcAft>
              <a:buSzPct val="100000"/>
              <a:buChar char="•"/>
            </a:pPr>
            <a:r>
              <a:rPr lang="en-US" sz="1600" b="1" dirty="0">
                <a:solidFill>
                  <a:srgbClr val="1E3A5F"/>
                </a:solidFill>
                <a:latin typeface="Calibri" pitchFamily="34" charset="0"/>
                <a:ea typeface="Calibri" pitchFamily="34" charset="-122"/>
                <a:cs typeface="Calibri" pitchFamily="34" charset="-120"/>
              </a:rPr>
              <a:t>Actions</a:t>
            </a:r>
            <a:br>
              <a:rPr lang="en-US" sz="1600"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Operations that the machine can do</a:t>
            </a:r>
          </a:p>
          <a:p>
            <a:pPr marL="342900" indent="-342900">
              <a:spcAft>
                <a:spcPts val="600"/>
              </a:spcAft>
              <a:buSzPct val="100000"/>
              <a:buChar char="•"/>
            </a:pPr>
            <a:r>
              <a:rPr lang="en-US" sz="1600" b="1" dirty="0">
                <a:solidFill>
                  <a:srgbClr val="1E3A5F"/>
                </a:solidFill>
                <a:latin typeface="Calibri" pitchFamily="34" charset="0"/>
                <a:ea typeface="Calibri" pitchFamily="34" charset="-122"/>
                <a:cs typeface="Calibri" pitchFamily="34" charset="-120"/>
              </a:rPr>
              <a:t>Properties</a:t>
            </a:r>
            <a:br>
              <a:rPr lang="en-US" sz="1600"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Values that describe the current state of the machine</a:t>
            </a:r>
          </a:p>
          <a:p>
            <a:pPr marL="342900" indent="-342900">
              <a:spcAft>
                <a:spcPts val="600"/>
              </a:spcAft>
              <a:buSzPct val="100000"/>
              <a:buChar char="•"/>
            </a:pPr>
            <a:r>
              <a:rPr lang="en-US" sz="1600" b="1" dirty="0">
                <a:solidFill>
                  <a:srgbClr val="1E3A5F"/>
                </a:solidFill>
                <a:latin typeface="Calibri" pitchFamily="34" charset="0"/>
                <a:ea typeface="Calibri" pitchFamily="34" charset="-122"/>
                <a:cs typeface="Calibri" pitchFamily="34" charset="-120"/>
              </a:rPr>
              <a:t>Submodules</a:t>
            </a:r>
            <a:br>
              <a:rPr lang="en-US" sz="1600"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Logical representations of the different submodules of the machine</a:t>
            </a:r>
          </a:p>
          <a:p>
            <a:pPr marL="342900" indent="-342900">
              <a:spcAft>
                <a:spcPts val="600"/>
              </a:spcAft>
              <a:buSzPct val="100000"/>
              <a:buChar char="•"/>
            </a:pPr>
            <a:endParaRPr lang="en-US" sz="1600" dirty="0"/>
          </a:p>
        </p:txBody>
      </p:sp>
      <p:sp>
        <p:nvSpPr>
          <p:cNvPr id="12" name="Shape 1">
            <a:extLst>
              <a:ext uri="{FF2B5EF4-FFF2-40B4-BE49-F238E27FC236}">
                <a16:creationId xmlns:a16="http://schemas.microsoft.com/office/drawing/2014/main" id="{A07128FF-35DD-A022-F04A-0CF3EE73CF86}"/>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Tree>
    <p:extLst>
      <p:ext uri="{BB962C8B-B14F-4D97-AF65-F5344CB8AC3E}">
        <p14:creationId xmlns:p14="http://schemas.microsoft.com/office/powerpoint/2010/main" val="3703484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E2E2F-20BB-08C1-9EA0-022145035962}"/>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11F58CFF-A54C-46A6-4BD3-197EEA433F95}"/>
              </a:ext>
            </a:extLst>
          </p:cNvPr>
          <p:cNvSpPr/>
          <p:nvPr/>
        </p:nvSpPr>
        <p:spPr>
          <a:xfrm>
            <a:off x="292608" y="886968"/>
            <a:ext cx="4023360"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4EC9B0"/>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usage from anywhere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C854038A-8997-2B0F-95E6-85C22F5B7430}"/>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18C480C0-D997-2AE9-8435-EA02C842C62B}"/>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8" name="Text 4">
            <a:extLst>
              <a:ext uri="{FF2B5EF4-FFF2-40B4-BE49-F238E27FC236}">
                <a16:creationId xmlns:a16="http://schemas.microsoft.com/office/drawing/2014/main" id="{C26D9991-D6E4-DB60-6A50-21186EF10490}"/>
              </a:ext>
            </a:extLst>
          </p:cNvPr>
          <p:cNvSpPr/>
          <p:nvPr/>
        </p:nvSpPr>
        <p:spPr>
          <a:xfrm>
            <a:off x="4754882" y="850392"/>
            <a:ext cx="4160518"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As simple as possible (Just a single extra function on top of the high level API)</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Describes reality as it is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Fewer code to maintain</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Anybody working in the project knows automatically that this is representing the underlying hardware</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Having several instances accessing underlying hardware is impossible by design</a:t>
            </a:r>
          </a:p>
          <a:p>
            <a:pPr>
              <a:spcAft>
                <a:spcPts val="600"/>
              </a:spcAft>
              <a:buSzPct val="100000"/>
            </a:pP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Char char="•"/>
            </a:pPr>
            <a:endParaRPr lang="en-US" sz="1600" dirty="0"/>
          </a:p>
        </p:txBody>
      </p:sp>
      <p:sp>
        <p:nvSpPr>
          <p:cNvPr id="5" name="Text 3">
            <a:extLst>
              <a:ext uri="{FF2B5EF4-FFF2-40B4-BE49-F238E27FC236}">
                <a16:creationId xmlns:a16="http://schemas.microsoft.com/office/drawing/2014/main" id="{209D9AA5-0DAD-82A9-36BF-76B23A3755EB}"/>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a:solidFill>
                  <a:srgbClr val="F59E0B"/>
                </a:solidFill>
                <a:latin typeface="Calibri" pitchFamily="34" charset="0"/>
                <a:ea typeface="Calibri" pitchFamily="34" charset="-122"/>
                <a:cs typeface="Calibri" pitchFamily="34" charset="-120"/>
              </a:rPr>
              <a:t>Singleton representation of a hardware device</a:t>
            </a:r>
            <a:endParaRPr lang="en-US" sz="1000"/>
          </a:p>
        </p:txBody>
      </p:sp>
      <p:sp>
        <p:nvSpPr>
          <p:cNvPr id="6" name="Text 2">
            <a:extLst>
              <a:ext uri="{FF2B5EF4-FFF2-40B4-BE49-F238E27FC236}">
                <a16:creationId xmlns:a16="http://schemas.microsoft.com/office/drawing/2014/main" id="{6E36B43F-1A29-B1E9-0E08-ECE9744D410A}"/>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Real-world Case Study</a:t>
            </a:r>
            <a:endParaRPr lang="en-US" sz="1900" strike="sngStrike" dirty="0"/>
          </a:p>
        </p:txBody>
      </p:sp>
    </p:spTree>
    <p:extLst>
      <p:ext uri="{BB962C8B-B14F-4D97-AF65-F5344CB8AC3E}">
        <p14:creationId xmlns:p14="http://schemas.microsoft.com/office/powerpoint/2010/main" val="744384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042A5-EFCC-89CE-B147-CAFBE0B43693}"/>
            </a:ext>
          </a:extLst>
        </p:cNvPr>
        <p:cNvGrpSpPr/>
        <p:nvPr/>
      </p:nvGrpSpPr>
      <p:grpSpPr>
        <a:xfrm>
          <a:off x="0" y="0"/>
          <a:ext cx="0" cy="0"/>
          <a:chOff x="0" y="0"/>
          <a:chExt cx="0" cy="0"/>
        </a:xfrm>
      </p:grpSpPr>
      <p:sp>
        <p:nvSpPr>
          <p:cNvPr id="20" name="Text 6">
            <a:extLst>
              <a:ext uri="{FF2B5EF4-FFF2-40B4-BE49-F238E27FC236}">
                <a16:creationId xmlns:a16="http://schemas.microsoft.com/office/drawing/2014/main" id="{B1DB0F1A-0A4A-96F8-9E7C-6AF62502767F}"/>
              </a:ext>
            </a:extLst>
          </p:cNvPr>
          <p:cNvSpPr/>
          <p:nvPr/>
        </p:nvSpPr>
        <p:spPr>
          <a:xfrm>
            <a:off x="4745736" y="901125"/>
            <a:ext cx="4160520" cy="2166678"/>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6A9955"/>
                </a:solidFill>
                <a:effectLst/>
                <a:latin typeface="Consolas" panose="020B0609020204030204" pitchFamily="49" charset="0"/>
              </a:rPr>
              <a:t>// instantiation is now explicit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main</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machine</a:t>
            </a:r>
            <a:r>
              <a:rPr lang="en-US" sz="1000" dirty="0">
                <a:solidFill>
                  <a:srgbClr val="D4D4D4"/>
                </a:solidFill>
                <a:latin typeface="Consolas" panose="020B0609020204030204" pitchFamily="49" charset="0"/>
              </a:rPr>
              <a:t>(</a:t>
            </a:r>
            <a:r>
              <a:rPr lang="en-US" sz="1000" dirty="0">
                <a:solidFill>
                  <a:srgbClr val="6A9955"/>
                </a:solidFill>
                <a:latin typeface="Consolas" panose="020B0609020204030204" pitchFamily="49" charset="0"/>
              </a:rPr>
              <a:t>/*Inject Dependencies Here*/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6A9955"/>
                </a:solidFill>
                <a:effectLst/>
                <a:latin typeface="Consolas" panose="020B0609020204030204" pitchFamily="49" charset="0"/>
              </a:rPr>
              <a:t>    // now we need to pass the machine instance to whoever needs it, e.g.:</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(machine);</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p:txBody>
      </p:sp>
      <p:sp>
        <p:nvSpPr>
          <p:cNvPr id="19" name="Text 6">
            <a:extLst>
              <a:ext uri="{FF2B5EF4-FFF2-40B4-BE49-F238E27FC236}">
                <a16:creationId xmlns:a16="http://schemas.microsoft.com/office/drawing/2014/main" id="{8413E101-782A-5105-2237-89B0ACBC1ED2}"/>
              </a:ext>
            </a:extLst>
          </p:cNvPr>
          <p:cNvSpPr/>
          <p:nvPr/>
        </p:nvSpPr>
        <p:spPr>
          <a:xfrm>
            <a:off x="4745736" y="3378699"/>
            <a:ext cx="4160520" cy="145127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6A9955"/>
                </a:solidFill>
                <a:effectLst/>
                <a:latin typeface="Consolas" panose="020B0609020204030204" pitchFamily="49" charset="0"/>
              </a:rPr>
              <a:t>// example usage somewhere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IXRayMachine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machine</a:t>
            </a:r>
            <a:r>
              <a:rPr lang="en-US" sz="1000" b="0" dirty="0" err="1">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machine</a:t>
            </a:r>
            <a:r>
              <a:rPr lang="en-US" sz="1000" b="0" dirty="0" err="1">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931AFDE1-06B8-E758-2320-842F58B115A7}"/>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12983005-4D78-117A-8568-CD47288CA78A}"/>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FCDA1D23-0F3D-E01B-F49B-A62A85862C8A}"/>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a:solidFill>
                  <a:srgbClr val="F59E0B"/>
                </a:solidFill>
                <a:latin typeface="Calibri" pitchFamily="34" charset="0"/>
                <a:ea typeface="Calibri" pitchFamily="34" charset="-122"/>
                <a:cs typeface="Calibri" pitchFamily="34" charset="-120"/>
              </a:rPr>
              <a:t>Dependency Injection representation of a hardware device</a:t>
            </a:r>
            <a:endParaRPr lang="en-US" sz="1000"/>
          </a:p>
        </p:txBody>
      </p:sp>
      <p:sp>
        <p:nvSpPr>
          <p:cNvPr id="18" name="Text 6">
            <a:extLst>
              <a:ext uri="{FF2B5EF4-FFF2-40B4-BE49-F238E27FC236}">
                <a16:creationId xmlns:a16="http://schemas.microsoft.com/office/drawing/2014/main" id="{07ECB26C-0C8A-0C62-4D2D-652DB3BD5E59}"/>
              </a:ext>
            </a:extLst>
          </p:cNvPr>
          <p:cNvSpPr/>
          <p:nvPr/>
        </p:nvSpPr>
        <p:spPr>
          <a:xfrm>
            <a:off x="292608" y="886968"/>
            <a:ext cx="4023360"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default</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dirty="0">
              <a:solidFill>
                <a:srgbClr val="D4D4D4"/>
              </a:solidFill>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dirty="0">
              <a:solidFill>
                <a:srgbClr val="569CD6"/>
              </a:solidFill>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r>
              <a:rPr lang="en-US" sz="1000" dirty="0">
                <a:solidFill>
                  <a:srgbClr val="6A9955"/>
                </a:solidFill>
                <a:latin typeface="Consolas" panose="020B0609020204030204" pitchFamily="49" charset="0"/>
              </a:rPr>
              <a:t>/*List all dependencies here*/</a:t>
            </a:r>
            <a:r>
              <a:rPr lang="en-US" sz="1000" dirty="0">
                <a:solidFill>
                  <a:srgbClr val="D4D4D4"/>
                </a:solidFill>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pPr>
            <a:r>
              <a:rPr lang="en-US" sz="1000" dirty="0">
                <a:solidFill>
                  <a:srgbClr val="D4D4D4"/>
                </a:solidFill>
                <a:latin typeface="Consolas" panose="020B0609020204030204" pitchFamily="49" charset="0"/>
              </a:rPr>
              <a:t>    </a:t>
            </a:r>
            <a:r>
              <a:rPr lang="en-US" sz="1000" dirty="0">
                <a:solidFill>
                  <a:srgbClr val="6A9955"/>
                </a:solidFill>
                <a:latin typeface="Consolas" panose="020B0609020204030204" pitchFamily="49" charset="0"/>
              </a:rPr>
              <a:t>//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
        <p:nvSpPr>
          <p:cNvPr id="6" name="Text 2">
            <a:extLst>
              <a:ext uri="{FF2B5EF4-FFF2-40B4-BE49-F238E27FC236}">
                <a16:creationId xmlns:a16="http://schemas.microsoft.com/office/drawing/2014/main" id="{4533CCB8-F1AE-52F1-36E0-55A9310F21CD}"/>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Real-world Case Study</a:t>
            </a:r>
            <a:endParaRPr lang="en-US" sz="1900" strike="sngStrike" dirty="0"/>
          </a:p>
        </p:txBody>
      </p:sp>
    </p:spTree>
    <p:extLst>
      <p:ext uri="{BB962C8B-B14F-4D97-AF65-F5344CB8AC3E}">
        <p14:creationId xmlns:p14="http://schemas.microsoft.com/office/powerpoint/2010/main" val="2368989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7C6AE-4EA7-9699-1F0F-4D002556389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669CBAD-C63F-5E37-21B4-F3327CC4C857}"/>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340A3A31-8913-902D-EADD-3455F68599B2}"/>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9" name="Text 4">
            <a:extLst>
              <a:ext uri="{FF2B5EF4-FFF2-40B4-BE49-F238E27FC236}">
                <a16:creationId xmlns:a16="http://schemas.microsoft.com/office/drawing/2014/main" id="{58D2F87B-6A5B-F899-1412-B74A49BCD3F5}"/>
              </a:ext>
            </a:extLst>
          </p:cNvPr>
          <p:cNvSpPr/>
          <p:nvPr/>
        </p:nvSpPr>
        <p:spPr>
          <a:xfrm>
            <a:off x="4754882" y="804672"/>
            <a:ext cx="4160518"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Complex</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More code to maintain</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Anybody familiar with OOP will assume that it is allowed to have multiple implementations of the </a:t>
            </a:r>
            <a:r>
              <a:rPr lang="en-US" sz="1600" dirty="0" err="1">
                <a:solidFill>
                  <a:srgbClr val="4EC9B0"/>
                </a:solidFill>
                <a:latin typeface="Consolas" panose="020B0609020204030204" pitchFamily="49" charset="0"/>
              </a:rPr>
              <a:t>IXRayMachine</a:t>
            </a:r>
            <a:r>
              <a:rPr lang="en-US" sz="1600" dirty="0">
                <a:solidFill>
                  <a:srgbClr val="1E3A5F"/>
                </a:solidFill>
                <a:latin typeface="Calibri" pitchFamily="34" charset="0"/>
                <a:ea typeface="Calibri" pitchFamily="34" charset="-122"/>
                <a:cs typeface="Calibri" pitchFamily="34" charset="-120"/>
              </a:rPr>
              <a:t> interface</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Basically, Doesn’t describe reality</a:t>
            </a:r>
          </a:p>
          <a:p>
            <a:pPr marL="342900" indent="-342900">
              <a:spcAft>
                <a:spcPts val="600"/>
              </a:spcAft>
              <a:buSzPct val="100000"/>
              <a:buChar char="•"/>
            </a:pPr>
            <a:endParaRPr lang="en-US" sz="1600" dirty="0">
              <a:solidFill>
                <a:srgbClr val="1E3A5F"/>
              </a:solidFill>
              <a:latin typeface="Calibri" pitchFamily="34" charset="0"/>
              <a:ea typeface="Calibri" pitchFamily="34" charset="-122"/>
              <a:cs typeface="Calibri" pitchFamily="34" charset="-120"/>
            </a:endParaRPr>
          </a:p>
        </p:txBody>
      </p:sp>
      <p:sp>
        <p:nvSpPr>
          <p:cNvPr id="12" name="Text 3">
            <a:extLst>
              <a:ext uri="{FF2B5EF4-FFF2-40B4-BE49-F238E27FC236}">
                <a16:creationId xmlns:a16="http://schemas.microsoft.com/office/drawing/2014/main" id="{EC991055-7AA0-6399-190A-5CC008B2B698}"/>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a:solidFill>
                  <a:srgbClr val="F59E0B"/>
                </a:solidFill>
                <a:latin typeface="Calibri" pitchFamily="34" charset="0"/>
                <a:ea typeface="Calibri" pitchFamily="34" charset="-122"/>
                <a:cs typeface="Calibri" pitchFamily="34" charset="-120"/>
              </a:rPr>
              <a:t>Dependency Injection representation of a hardware device</a:t>
            </a:r>
            <a:endParaRPr lang="en-US" sz="1000"/>
          </a:p>
        </p:txBody>
      </p:sp>
      <p:sp>
        <p:nvSpPr>
          <p:cNvPr id="6" name="Text 2">
            <a:extLst>
              <a:ext uri="{FF2B5EF4-FFF2-40B4-BE49-F238E27FC236}">
                <a16:creationId xmlns:a16="http://schemas.microsoft.com/office/drawing/2014/main" id="{C9E82433-E509-061F-90CE-FFB10A706CC2}"/>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Real-world Case Study</a:t>
            </a:r>
            <a:endParaRPr lang="en-US" sz="1900" strike="sngStrike" dirty="0"/>
          </a:p>
        </p:txBody>
      </p:sp>
      <p:sp>
        <p:nvSpPr>
          <p:cNvPr id="7" name="Text 6">
            <a:extLst>
              <a:ext uri="{FF2B5EF4-FFF2-40B4-BE49-F238E27FC236}">
                <a16:creationId xmlns:a16="http://schemas.microsoft.com/office/drawing/2014/main" id="{3CE95BB1-3935-7196-6C59-6B6D19F7B420}"/>
              </a:ext>
            </a:extLst>
          </p:cNvPr>
          <p:cNvSpPr/>
          <p:nvPr/>
        </p:nvSpPr>
        <p:spPr>
          <a:xfrm>
            <a:off x="292608" y="886968"/>
            <a:ext cx="4023360"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default</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dirty="0">
              <a:solidFill>
                <a:srgbClr val="D4D4D4"/>
              </a:solidFill>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dirty="0">
              <a:solidFill>
                <a:srgbClr val="569CD6"/>
              </a:solidFill>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r>
              <a:rPr lang="en-US" sz="1000" dirty="0">
                <a:solidFill>
                  <a:srgbClr val="6A9955"/>
                </a:solidFill>
                <a:latin typeface="Consolas" panose="020B0609020204030204" pitchFamily="49" charset="0"/>
              </a:rPr>
              <a:t>/*List all dependencies here*/</a:t>
            </a:r>
            <a:r>
              <a:rPr lang="en-US" sz="1000" dirty="0">
                <a:solidFill>
                  <a:srgbClr val="D4D4D4"/>
                </a:solidFill>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pPr>
            <a:r>
              <a:rPr lang="en-US" sz="1000" dirty="0">
                <a:solidFill>
                  <a:srgbClr val="D4D4D4"/>
                </a:solidFill>
                <a:latin typeface="Consolas" panose="020B0609020204030204" pitchFamily="49" charset="0"/>
              </a:rPr>
              <a:t>    </a:t>
            </a:r>
            <a:r>
              <a:rPr lang="en-US" sz="1000" dirty="0">
                <a:solidFill>
                  <a:srgbClr val="6A9955"/>
                </a:solidFill>
                <a:latin typeface="Consolas" panose="020B0609020204030204" pitchFamily="49" charset="0"/>
              </a:rPr>
              <a:t>//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4098735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2AA49-ED7C-8817-5398-095530A4609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07E8E8-CC3A-373E-066A-C32321AEC3C9}"/>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9B557DA4-90AE-C1D6-F981-1D7AA82243C4}"/>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9" name="Text 4">
            <a:extLst>
              <a:ext uri="{FF2B5EF4-FFF2-40B4-BE49-F238E27FC236}">
                <a16:creationId xmlns:a16="http://schemas.microsoft.com/office/drawing/2014/main" id="{12E984C6-23CC-DA1E-E399-9C87B708C33A}"/>
              </a:ext>
            </a:extLst>
          </p:cNvPr>
          <p:cNvSpPr/>
          <p:nvPr/>
        </p:nvSpPr>
        <p:spPr>
          <a:xfrm>
            <a:off x="115770" y="805595"/>
            <a:ext cx="4160518"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Initialization must be done manually</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need to pass every single dependency for the machine in the constructor call manually</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No guarantees against the instantiation of other instances of the underlying hardware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Although hardware is always there, we cannot access it until our hardware abstraction is created</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Need to pass in a reference to the instance of the </a:t>
            </a:r>
            <a:r>
              <a:rPr lang="en-US" sz="1600" dirty="0" err="1">
                <a:solidFill>
                  <a:srgbClr val="4EC9B0"/>
                </a:solidFill>
                <a:latin typeface="Consolas" panose="020B0609020204030204" pitchFamily="49" charset="0"/>
              </a:rPr>
              <a:t>IXRayMachine</a:t>
            </a:r>
            <a:r>
              <a:rPr lang="en-US" sz="1600" dirty="0">
                <a:solidFill>
                  <a:srgbClr val="1E3A5F"/>
                </a:solidFill>
                <a:latin typeface="Calibri" pitchFamily="34" charset="0"/>
                <a:ea typeface="Calibri" pitchFamily="34" charset="-122"/>
                <a:cs typeface="Calibri" pitchFamily="34" charset="-120"/>
              </a:rPr>
              <a:t> to every single part of the application code that needs it</a:t>
            </a:r>
          </a:p>
        </p:txBody>
      </p:sp>
      <p:sp>
        <p:nvSpPr>
          <p:cNvPr id="10" name="Text 3">
            <a:extLst>
              <a:ext uri="{FF2B5EF4-FFF2-40B4-BE49-F238E27FC236}">
                <a16:creationId xmlns:a16="http://schemas.microsoft.com/office/drawing/2014/main" id="{489A9D86-CC20-D00E-4530-4F18F55B7112}"/>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a:solidFill>
                  <a:srgbClr val="F59E0B"/>
                </a:solidFill>
                <a:latin typeface="Calibri" pitchFamily="34" charset="0"/>
                <a:ea typeface="Calibri" pitchFamily="34" charset="-122"/>
                <a:cs typeface="Calibri" pitchFamily="34" charset="-120"/>
              </a:rPr>
              <a:t>Dependency Injection representation of a hardware device</a:t>
            </a:r>
            <a:endParaRPr lang="en-US" sz="1000"/>
          </a:p>
        </p:txBody>
      </p:sp>
      <p:sp>
        <p:nvSpPr>
          <p:cNvPr id="7" name="Text 2">
            <a:extLst>
              <a:ext uri="{FF2B5EF4-FFF2-40B4-BE49-F238E27FC236}">
                <a16:creationId xmlns:a16="http://schemas.microsoft.com/office/drawing/2014/main" id="{C247971E-F913-1703-52AE-244C4D15878D}"/>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Real-world Case Study</a:t>
            </a:r>
            <a:endParaRPr lang="en-US" sz="1900" strike="sngStrike" dirty="0"/>
          </a:p>
        </p:txBody>
      </p:sp>
      <p:sp>
        <p:nvSpPr>
          <p:cNvPr id="8" name="Text 6">
            <a:extLst>
              <a:ext uri="{FF2B5EF4-FFF2-40B4-BE49-F238E27FC236}">
                <a16:creationId xmlns:a16="http://schemas.microsoft.com/office/drawing/2014/main" id="{701376E3-1DAC-0CE7-685B-45AF29C3F89B}"/>
              </a:ext>
            </a:extLst>
          </p:cNvPr>
          <p:cNvSpPr/>
          <p:nvPr/>
        </p:nvSpPr>
        <p:spPr>
          <a:xfrm>
            <a:off x="4745736" y="901125"/>
            <a:ext cx="4160520" cy="2166678"/>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6A9955"/>
                </a:solidFill>
                <a:effectLst/>
                <a:latin typeface="Consolas" panose="020B0609020204030204" pitchFamily="49" charset="0"/>
              </a:rPr>
              <a:t>// instantiation is now explicit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main</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machine</a:t>
            </a:r>
            <a:r>
              <a:rPr lang="en-US" sz="1000" dirty="0">
                <a:solidFill>
                  <a:srgbClr val="D4D4D4"/>
                </a:solidFill>
                <a:latin typeface="Consolas" panose="020B0609020204030204" pitchFamily="49" charset="0"/>
              </a:rPr>
              <a:t>(</a:t>
            </a:r>
            <a:r>
              <a:rPr lang="en-US" sz="1000" dirty="0">
                <a:solidFill>
                  <a:srgbClr val="6A9955"/>
                </a:solidFill>
                <a:latin typeface="Consolas" panose="020B0609020204030204" pitchFamily="49" charset="0"/>
              </a:rPr>
              <a:t>/*Inject Dependencies Here*/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6A9955"/>
                </a:solidFill>
                <a:effectLst/>
                <a:latin typeface="Consolas" panose="020B0609020204030204" pitchFamily="49" charset="0"/>
              </a:rPr>
              <a:t>    // now we need to pass the machine instance to whoever needs it, e.g.:</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(machine);</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p:txBody>
      </p:sp>
      <p:sp>
        <p:nvSpPr>
          <p:cNvPr id="13" name="Text 6">
            <a:extLst>
              <a:ext uri="{FF2B5EF4-FFF2-40B4-BE49-F238E27FC236}">
                <a16:creationId xmlns:a16="http://schemas.microsoft.com/office/drawing/2014/main" id="{89B104CA-BE84-9204-6E28-4F273672B40A}"/>
              </a:ext>
            </a:extLst>
          </p:cNvPr>
          <p:cNvSpPr/>
          <p:nvPr/>
        </p:nvSpPr>
        <p:spPr>
          <a:xfrm>
            <a:off x="4745736" y="3378699"/>
            <a:ext cx="4160520" cy="145127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6A9955"/>
                </a:solidFill>
                <a:effectLst/>
                <a:latin typeface="Consolas" panose="020B0609020204030204" pitchFamily="49" charset="0"/>
              </a:rPr>
              <a:t>// example usage somewhere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IXRayMachine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machine</a:t>
            </a:r>
            <a:r>
              <a:rPr lang="en-US" sz="1000" b="0" dirty="0" err="1">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machine</a:t>
            </a:r>
            <a:r>
              <a:rPr lang="en-US" sz="1000" b="0" dirty="0" err="1">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985488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CAAAF4D-447A-4794-857A-95F0D6FBFAC1}"/>
              </a:ext>
            </a:extLst>
          </p:cNvPr>
          <p:cNvSpPr txBox="1"/>
          <p:nvPr/>
        </p:nvSpPr>
        <p:spPr>
          <a:xfrm>
            <a:off x="511952" y="3316403"/>
            <a:ext cx="3586202" cy="1465459"/>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kern="1200" dirty="0">
                <a:solidFill>
                  <a:schemeClr val="tx1"/>
                </a:solidFill>
                <a:latin typeface="+mj-lt"/>
                <a:ea typeface="+mj-ea"/>
                <a:cs typeface="+mj-cs"/>
              </a:rPr>
              <a:t>DI Pitfalls in </a:t>
            </a:r>
            <a:r>
              <a:rPr lang="en-US" sz="3600" b="1" kern="1200" dirty="0" err="1">
                <a:solidFill>
                  <a:schemeClr val="tx1"/>
                </a:solidFill>
                <a:latin typeface="+mj-lt"/>
                <a:ea typeface="+mj-ea"/>
                <a:cs typeface="+mj-cs"/>
              </a:rPr>
              <a:t>XRayMachine</a:t>
            </a:r>
            <a:endParaRPr lang="en-US" sz="3600" b="1" kern="1200" dirty="0">
              <a:solidFill>
                <a:schemeClr val="tx1"/>
              </a:solidFill>
              <a:latin typeface="+mj-lt"/>
              <a:ea typeface="+mj-ea"/>
              <a:cs typeface="+mj-cs"/>
            </a:endParaRPr>
          </a:p>
        </p:txBody>
      </p:sp>
      <p:pic>
        <p:nvPicPr>
          <p:cNvPr id="2" name="Picture 1" descr="Multi colored cables or silicon tubes with mask alpha channel">
            <a:extLst>
              <a:ext uri="{FF2B5EF4-FFF2-40B4-BE49-F238E27FC236}">
                <a16:creationId xmlns:a16="http://schemas.microsoft.com/office/drawing/2014/main" id="{C877739D-3946-413A-BEA1-BF272501B3AD}"/>
              </a:ext>
            </a:extLst>
          </p:cNvPr>
          <p:cNvPicPr>
            <a:picLocks noChangeAspect="1"/>
          </p:cNvPicPr>
          <p:nvPr/>
        </p:nvPicPr>
        <p:blipFill>
          <a:blip r:embed="rId3"/>
          <a:srcRect t="2265" r="-2" b="15377"/>
          <a:stretch>
            <a:fillRect/>
          </a:stretch>
        </p:blipFill>
        <p:spPr>
          <a:xfrm>
            <a:off x="587677" y="818286"/>
            <a:ext cx="3510478" cy="2312894"/>
          </a:xfrm>
          <a:prstGeom prst="rect">
            <a:avLst/>
          </a:prstGeom>
        </p:spPr>
      </p:pic>
      <p:sp>
        <p:nvSpPr>
          <p:cNvPr id="4" name="TextBox 3">
            <a:extLst>
              <a:ext uri="{FF2B5EF4-FFF2-40B4-BE49-F238E27FC236}">
                <a16:creationId xmlns:a16="http://schemas.microsoft.com/office/drawing/2014/main" id="{D744ABCF-02A1-481E-AD94-5F44B2D440E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5377" y="718777"/>
            <a:ext cx="4298799" cy="4063085"/>
          </a:xfrm>
          <a:prstGeom prst="rect">
            <a:avLst/>
          </a:prstGeom>
        </p:spPr>
        <p:txBody>
          <a:bodyPr>
            <a:normAutofit/>
          </a:bodyPr>
          <a:lstStyle/>
          <a:p>
            <a:pPr>
              <a:lnSpc>
                <a:spcPct val="90000"/>
              </a:lnSpc>
              <a:spcAft>
                <a:spcPts val="600"/>
              </a:spcAft>
            </a:pPr>
            <a:r>
              <a:rPr lang="en-US" sz="1600" b="1" dirty="0">
                <a:solidFill>
                  <a:srgbClr val="000000"/>
                </a:solidFill>
                <a:latin typeface="Calibri" panose="020F0502020204030204" pitchFamily="34" charset="0"/>
              </a:rPr>
              <a:t>Violation of the DRY (Don't Repeat Yourself) principle</a:t>
            </a:r>
            <a:endParaRPr lang="en-US" sz="1600" dirty="0">
              <a:solidFill>
                <a:srgbClr val="000000"/>
              </a:solidFill>
              <a:latin typeface="Calibri" panose="020F0502020204030204" pitchFamily="34" charset="0"/>
            </a:endParaRPr>
          </a:p>
          <a:p>
            <a:pPr>
              <a:lnSpc>
                <a:spcPct val="90000"/>
              </a:lnSpc>
              <a:spcAft>
                <a:spcPts val="600"/>
              </a:spcAft>
            </a:pPr>
            <a:r>
              <a:rPr lang="en-US" sz="1600" dirty="0">
                <a:solidFill>
                  <a:srgbClr val="000000"/>
                </a:solidFill>
                <a:latin typeface="Calibri" panose="020F0502020204030204" pitchFamily="34" charset="0"/>
              </a:rPr>
              <a:t>As DI promotes explicit dependency management, it introduces additional boilerplate code with each function call</a:t>
            </a:r>
          </a:p>
          <a:p>
            <a:pPr>
              <a:lnSpc>
                <a:spcPct val="90000"/>
              </a:lnSpc>
              <a:spcAft>
                <a:spcPts val="600"/>
              </a:spcAft>
            </a:pPr>
            <a:endParaRPr lang="en-US" sz="1600" dirty="0">
              <a:solidFill>
                <a:srgbClr val="000000"/>
              </a:solidFill>
              <a:latin typeface="Calibri" panose="020F0502020204030204" pitchFamily="34" charset="0"/>
            </a:endParaRPr>
          </a:p>
          <a:p>
            <a:pPr>
              <a:lnSpc>
                <a:spcPct val="90000"/>
              </a:lnSpc>
              <a:spcAft>
                <a:spcPts val="600"/>
              </a:spcAft>
            </a:pPr>
            <a:r>
              <a:rPr lang="en-US" sz="1600" b="1" dirty="0">
                <a:solidFill>
                  <a:srgbClr val="000000"/>
                </a:solidFill>
                <a:latin typeface="Calibri" panose="020F0502020204030204" pitchFamily="34" charset="0"/>
              </a:rPr>
              <a:t>Breaching the Principle of "Pay Only for What You Use"</a:t>
            </a:r>
            <a:endParaRPr lang="en-US" sz="1600" dirty="0">
              <a:solidFill>
                <a:srgbClr val="000000"/>
              </a:solidFill>
              <a:latin typeface="Calibri" panose="020F0502020204030204" pitchFamily="34" charset="0"/>
            </a:endParaRPr>
          </a:p>
          <a:p>
            <a:pPr>
              <a:lnSpc>
                <a:spcPct val="90000"/>
              </a:lnSpc>
              <a:spcAft>
                <a:spcPts val="600"/>
              </a:spcAft>
            </a:pPr>
            <a:r>
              <a:rPr lang="en-US" sz="1600" dirty="0">
                <a:solidFill>
                  <a:srgbClr val="000000"/>
                </a:solidFill>
                <a:latin typeface="Calibri" panose="020F0502020204030204" pitchFamily="34" charset="0"/>
              </a:rPr>
              <a:t>We had to use virtual classes for everything that needs to be injected, Everybody pays for v-table performance and memory overhead</a:t>
            </a:r>
          </a:p>
          <a:p>
            <a:pPr marL="0" indent="0" algn="l" rtl="0" eaLnBrk="1" latinLnBrk="0" hangingPunct="1">
              <a:lnSpc>
                <a:spcPct val="90000"/>
              </a:lnSpc>
              <a:spcAft>
                <a:spcPts val="600"/>
              </a:spcAft>
              <a:buNone/>
            </a:pPr>
            <a:endParaRPr lang="en-US" sz="1600" b="1" dirty="0">
              <a:solidFill>
                <a:srgbClr val="000000"/>
              </a:solidFill>
              <a:effectLst/>
              <a:latin typeface="Calibri" panose="020F0502020204030204" pitchFamily="34" charset="0"/>
            </a:endParaRPr>
          </a:p>
          <a:p>
            <a:pPr marL="0" indent="0" algn="l" rtl="0" eaLnBrk="1" latinLnBrk="0" hangingPunct="1">
              <a:lnSpc>
                <a:spcPct val="90000"/>
              </a:lnSpc>
              <a:spcAft>
                <a:spcPts val="600"/>
              </a:spcAft>
              <a:buNone/>
            </a:pPr>
            <a:r>
              <a:rPr lang="en-US" sz="1600" b="1" dirty="0">
                <a:solidFill>
                  <a:srgbClr val="000000"/>
                </a:solidFill>
                <a:effectLst/>
                <a:latin typeface="Calibri" panose="020F0502020204030204" pitchFamily="34" charset="0"/>
              </a:rPr>
              <a:t>Encapsulation Compromised</a:t>
            </a:r>
            <a:endParaRPr lang="en-US" sz="1600" dirty="0">
              <a:solidFill>
                <a:srgbClr val="000000"/>
              </a:solidFill>
              <a:effectLst/>
              <a:latin typeface="Calibri" panose="020F0502020204030204" pitchFamily="34" charset="0"/>
            </a:endParaRPr>
          </a:p>
          <a:p>
            <a:pPr>
              <a:lnSpc>
                <a:spcPct val="90000"/>
              </a:lnSpc>
              <a:spcAft>
                <a:spcPts val="600"/>
              </a:spcAft>
            </a:pPr>
            <a:r>
              <a:rPr lang="en-US" sz="1600" dirty="0">
                <a:solidFill>
                  <a:srgbClr val="000000"/>
                </a:solidFill>
                <a:effectLst/>
                <a:latin typeface="Calibri" panose="020F0502020204030204" pitchFamily="34" charset="0"/>
              </a:rPr>
              <a:t>Dependency Injection </a:t>
            </a:r>
            <a:r>
              <a:rPr lang="en-US" sz="1600" dirty="0">
                <a:solidFill>
                  <a:srgbClr val="000000"/>
                </a:solidFill>
                <a:latin typeface="Calibri" panose="020F0502020204030204" pitchFamily="34" charset="0"/>
              </a:rPr>
              <a:t>weakens encapsulation by </a:t>
            </a:r>
            <a:r>
              <a:rPr lang="en-US" sz="1600" dirty="0">
                <a:solidFill>
                  <a:srgbClr val="000000"/>
                </a:solidFill>
                <a:effectLst/>
                <a:latin typeface="Calibri" panose="020F0502020204030204" pitchFamily="34" charset="0"/>
              </a:rPr>
              <a:t>reveal</a:t>
            </a:r>
            <a:r>
              <a:rPr lang="en-US" sz="1600" dirty="0">
                <a:solidFill>
                  <a:srgbClr val="000000"/>
                </a:solidFill>
                <a:latin typeface="Calibri" panose="020F0502020204030204" pitchFamily="34" charset="0"/>
              </a:rPr>
              <a:t>ing</a:t>
            </a:r>
            <a:r>
              <a:rPr lang="en-US" sz="1600" dirty="0">
                <a:solidFill>
                  <a:srgbClr val="000000"/>
                </a:solidFill>
                <a:effectLst/>
                <a:latin typeface="Calibri" panose="020F0502020204030204" pitchFamily="34" charset="0"/>
              </a:rPr>
              <a:t> internal dependencies.</a:t>
            </a:r>
          </a:p>
        </p:txBody>
      </p:sp>
      <p:sp>
        <p:nvSpPr>
          <p:cNvPr id="5" name="Shape 0">
            <a:extLst>
              <a:ext uri="{FF2B5EF4-FFF2-40B4-BE49-F238E27FC236}">
                <a16:creationId xmlns:a16="http://schemas.microsoft.com/office/drawing/2014/main" id="{8281AF37-F3B9-F33C-2CDB-7D6D4BB39CB2}"/>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dirty="0"/>
          </a:p>
        </p:txBody>
      </p:sp>
      <p:sp>
        <p:nvSpPr>
          <p:cNvPr id="6" name="Shape 1">
            <a:extLst>
              <a:ext uri="{FF2B5EF4-FFF2-40B4-BE49-F238E27FC236}">
                <a16:creationId xmlns:a16="http://schemas.microsoft.com/office/drawing/2014/main" id="{4F8DB238-674C-0725-86F2-9E4377DB527D}"/>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7" name="Text 2">
            <a:extLst>
              <a:ext uri="{FF2B5EF4-FFF2-40B4-BE49-F238E27FC236}">
                <a16:creationId xmlns:a16="http://schemas.microsoft.com/office/drawing/2014/main" id="{1B05D945-6EBE-9477-B38F-F521A00002EE}"/>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Real-world Case Study</a:t>
            </a:r>
            <a:endParaRPr lang="en-US" sz="1900" strike="sngStrike" dirty="0"/>
          </a:p>
        </p:txBody>
      </p:sp>
    </p:spTree>
    <p:extLst>
      <p:ext uri="{BB962C8B-B14F-4D97-AF65-F5344CB8AC3E}">
        <p14:creationId xmlns:p14="http://schemas.microsoft.com/office/powerpoint/2010/main" val="2016094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#1 — DRY Violation: Boilerplate Explosion</a:t>
            </a:r>
            <a:endParaRPr lang="en-US" sz="1900" dirty="0"/>
          </a:p>
        </p:txBody>
      </p:sp>
      <p:sp>
        <p:nvSpPr>
          <p:cNvPr id="13" name="Text 4">
            <a:extLst>
              <a:ext uri="{FF2B5EF4-FFF2-40B4-BE49-F238E27FC236}">
                <a16:creationId xmlns:a16="http://schemas.microsoft.com/office/drawing/2014/main" id="{7C82DDC4-E666-091F-4ED7-69E277B96B08}"/>
              </a:ext>
            </a:extLst>
          </p:cNvPr>
          <p:cNvSpPr/>
          <p:nvPr/>
        </p:nvSpPr>
        <p:spPr>
          <a:xfrm>
            <a:off x="4954249" y="841248"/>
            <a:ext cx="394961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Imagine being tasked with maintaining this code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 constructor and private member variables become a dumpster; every new dependency gets added as a new parameter or a setter function</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The call-site of such constructor in the code becomes a huge pile of redirections and entangled dependencies </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Refactoring your own class becomes impossible as you must trace exactly what is being used by whom</a:t>
            </a:r>
          </a:p>
        </p:txBody>
      </p:sp>
      <p:sp>
        <p:nvSpPr>
          <p:cNvPr id="14" name="Text 6">
            <a:extLst>
              <a:ext uri="{FF2B5EF4-FFF2-40B4-BE49-F238E27FC236}">
                <a16:creationId xmlns:a16="http://schemas.microsoft.com/office/drawing/2014/main" id="{0CAF0B45-43E6-DFFD-A15A-ECAF2F9D035F}"/>
              </a:ext>
            </a:extLst>
          </p:cNvPr>
          <p:cNvSpPr/>
          <p:nvPr/>
        </p:nvSpPr>
        <p:spPr>
          <a:xfrm>
            <a:off x="292607" y="841248"/>
            <a:ext cx="4459275" cy="4000499"/>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comm</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IPowerController</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power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ISafetyInterlock</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safety</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4EC9B0"/>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ICollimatorControl</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collimator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IAECModule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aec</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IDetectorCooling</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cooling</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IGridMotion</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grid</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4EC9B0"/>
                </a:solidFill>
                <a:effectLst/>
                <a:latin typeface="Consolas" panose="020B0609020204030204" pitchFamily="49" charset="0"/>
              </a:rPr>
              <a:t>IFilterWheel</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filter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IRemoteMonitoring</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remote</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4EC9B0"/>
                </a:solidFill>
                <a:effectLst/>
                <a:latin typeface="Consolas" panose="020B0609020204030204" pitchFamily="49" charset="0"/>
              </a:rPr>
              <a:t>ILogger</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logger</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 </a:t>
            </a:r>
            <a:r>
              <a:rPr lang="en-US" sz="1000" b="0" dirty="0" err="1">
                <a:solidFill>
                  <a:srgbClr val="DCDCAA"/>
                </a:solidFill>
                <a:effectLst/>
                <a:latin typeface="Consolas" panose="020B0609020204030204" pitchFamily="49" charset="0"/>
              </a:rPr>
              <a:t>m_comm</a:t>
            </a:r>
            <a:r>
              <a:rPr lang="en-US" sz="1000" b="0" dirty="0">
                <a:solidFill>
                  <a:srgbClr val="D4D4D4"/>
                </a:solidFill>
                <a:effectLst/>
                <a:latin typeface="Consolas" panose="020B0609020204030204" pitchFamily="49" charset="0"/>
              </a:rPr>
              <a:t>(comm),</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m_power</a:t>
            </a:r>
            <a:r>
              <a:rPr lang="en-US" sz="1000" b="0" dirty="0">
                <a:solidFill>
                  <a:srgbClr val="D4D4D4"/>
                </a:solidFill>
                <a:effectLst/>
                <a:latin typeface="Consolas" panose="020B0609020204030204" pitchFamily="49" charset="0"/>
              </a:rPr>
              <a:t>(power), </a:t>
            </a:r>
            <a:r>
              <a:rPr lang="en-US" sz="1000" b="0" dirty="0" err="1">
                <a:solidFill>
                  <a:srgbClr val="DCDCAA"/>
                </a:solidFill>
                <a:effectLst/>
                <a:latin typeface="Consolas" panose="020B0609020204030204" pitchFamily="49" charset="0"/>
              </a:rPr>
              <a:t>m_safety</a:t>
            </a:r>
            <a:r>
              <a:rPr lang="en-US" sz="1000" b="0" dirty="0">
                <a:solidFill>
                  <a:srgbClr val="D4D4D4"/>
                </a:solidFill>
                <a:effectLst/>
                <a:latin typeface="Consolas" panose="020B0609020204030204" pitchFamily="49" charset="0"/>
              </a:rPr>
              <a:t>(safety),</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m_collimator</a:t>
            </a:r>
            <a:r>
              <a:rPr lang="en-US" sz="1000" b="0" dirty="0">
                <a:solidFill>
                  <a:srgbClr val="D4D4D4"/>
                </a:solidFill>
                <a:effectLst/>
                <a:latin typeface="Consolas" panose="020B0609020204030204" pitchFamily="49" charset="0"/>
              </a:rPr>
              <a:t>(collimator), </a:t>
            </a:r>
            <a:r>
              <a:rPr lang="en-US" sz="1000" b="0" dirty="0" err="1">
                <a:solidFill>
                  <a:srgbClr val="DCDCAA"/>
                </a:solidFill>
                <a:effectLst/>
                <a:latin typeface="Consolas" panose="020B0609020204030204" pitchFamily="49" charset="0"/>
              </a:rPr>
              <a:t>m_aec</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aec</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m_cooling</a:t>
            </a:r>
            <a:r>
              <a:rPr lang="en-US" sz="1000" b="0" dirty="0">
                <a:solidFill>
                  <a:srgbClr val="D4D4D4"/>
                </a:solidFill>
                <a:effectLst/>
                <a:latin typeface="Consolas" panose="020B0609020204030204" pitchFamily="49" charset="0"/>
              </a:rPr>
              <a:t>(cooling), </a:t>
            </a:r>
            <a:r>
              <a:rPr lang="en-US" sz="1000" b="0" dirty="0" err="1">
                <a:solidFill>
                  <a:srgbClr val="DCDCAA"/>
                </a:solidFill>
                <a:effectLst/>
                <a:latin typeface="Consolas" panose="020B0609020204030204" pitchFamily="49" charset="0"/>
              </a:rPr>
              <a:t>m_grid</a:t>
            </a:r>
            <a:r>
              <a:rPr lang="en-US" sz="1000" b="0" dirty="0">
                <a:solidFill>
                  <a:srgbClr val="D4D4D4"/>
                </a:solidFill>
                <a:effectLst/>
                <a:latin typeface="Consolas" panose="020B0609020204030204" pitchFamily="49" charset="0"/>
              </a:rPr>
              <a:t>(grid),</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m_filter</a:t>
            </a:r>
            <a:r>
              <a:rPr lang="en-US" sz="1000" b="0" dirty="0">
                <a:solidFill>
                  <a:srgbClr val="D4D4D4"/>
                </a:solidFill>
                <a:effectLst/>
                <a:latin typeface="Consolas" panose="020B0609020204030204" pitchFamily="49" charset="0"/>
              </a:rPr>
              <a:t>(filter), </a:t>
            </a:r>
            <a:r>
              <a:rPr lang="en-US" sz="1000" b="0" dirty="0" err="1">
                <a:solidFill>
                  <a:srgbClr val="DCDCAA"/>
                </a:solidFill>
                <a:effectLst/>
                <a:latin typeface="Consolas" panose="020B0609020204030204" pitchFamily="49" charset="0"/>
              </a:rPr>
              <a:t>m_remote</a:t>
            </a:r>
            <a:r>
              <a:rPr lang="en-US" sz="1000" b="0" dirty="0">
                <a:solidFill>
                  <a:srgbClr val="D4D4D4"/>
                </a:solidFill>
                <a:effectLst/>
                <a:latin typeface="Consolas" panose="020B0609020204030204" pitchFamily="49" charset="0"/>
              </a:rPr>
              <a:t>(remote),</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m_logger</a:t>
            </a:r>
            <a:r>
              <a:rPr lang="en-US" sz="1000" b="0" dirty="0">
                <a:solidFill>
                  <a:srgbClr val="D4D4D4"/>
                </a:solidFill>
                <a:effectLst/>
                <a:latin typeface="Consolas" panose="020B0609020204030204" pitchFamily="49" charset="0"/>
              </a:rPr>
              <a:t>(logger)</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15" name="Text 3">
            <a:extLst>
              <a:ext uri="{FF2B5EF4-FFF2-40B4-BE49-F238E27FC236}">
                <a16:creationId xmlns:a16="http://schemas.microsoft.com/office/drawing/2014/main" id="{9FB2C9B7-3DB1-DED3-CCA4-96802275D45B}"/>
              </a:ext>
            </a:extLst>
          </p:cNvPr>
          <p:cNvSpPr/>
          <p:nvPr/>
        </p:nvSpPr>
        <p:spPr>
          <a:xfrm>
            <a:off x="411480" y="530352"/>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B3ADE-781D-C482-9A51-2D5B4C59B0B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4F0FCD4-EAB0-200D-C0EA-D0D4351B18AB}"/>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B3DAFE40-EA41-F40B-6451-981A868881BA}"/>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3E27F3AE-602C-DE33-E175-75AB262BA61A}"/>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#1 — DRY Violation: Boilerplate Explosion</a:t>
            </a:r>
            <a:endParaRPr lang="en-US" sz="1900" dirty="0"/>
          </a:p>
        </p:txBody>
      </p:sp>
      <p:sp>
        <p:nvSpPr>
          <p:cNvPr id="14" name="Text 6">
            <a:extLst>
              <a:ext uri="{FF2B5EF4-FFF2-40B4-BE49-F238E27FC236}">
                <a16:creationId xmlns:a16="http://schemas.microsoft.com/office/drawing/2014/main" id="{104DF2BA-403F-FE55-2D4A-FFE231B88A99}"/>
              </a:ext>
            </a:extLst>
          </p:cNvPr>
          <p:cNvSpPr/>
          <p:nvPr/>
        </p:nvSpPr>
        <p:spPr>
          <a:xfrm>
            <a:off x="292607" y="841248"/>
            <a:ext cx="4459275" cy="4000499"/>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comm</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IPowerController</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power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ISafetyInterlock</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safety</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4EC9B0"/>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ICollimatorControl</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collimator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IAECModule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aec</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IDetectorCooling</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cooling</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IGridMotion</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grid</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4EC9B0"/>
                </a:solidFill>
                <a:effectLst/>
                <a:latin typeface="Consolas" panose="020B0609020204030204" pitchFamily="49" charset="0"/>
              </a:rPr>
              <a:t>IFilterWheel</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filter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IRemoteMonitoring</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remote</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4EC9B0"/>
                </a:solidFill>
                <a:effectLst/>
                <a:latin typeface="Consolas" panose="020B0609020204030204" pitchFamily="49" charset="0"/>
              </a:rPr>
              <a:t>ILogger</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logger</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 </a:t>
            </a:r>
            <a:r>
              <a:rPr lang="en-US" sz="1000" b="0" dirty="0" err="1">
                <a:solidFill>
                  <a:srgbClr val="DCDCAA"/>
                </a:solidFill>
                <a:effectLst/>
                <a:latin typeface="Consolas" panose="020B0609020204030204" pitchFamily="49" charset="0"/>
              </a:rPr>
              <a:t>m_comm</a:t>
            </a:r>
            <a:r>
              <a:rPr lang="en-US" sz="1000" b="0" dirty="0">
                <a:solidFill>
                  <a:srgbClr val="D4D4D4"/>
                </a:solidFill>
                <a:effectLst/>
                <a:latin typeface="Consolas" panose="020B0609020204030204" pitchFamily="49" charset="0"/>
              </a:rPr>
              <a:t>(comm),</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m_power</a:t>
            </a:r>
            <a:r>
              <a:rPr lang="en-US" sz="1000" b="0" dirty="0">
                <a:solidFill>
                  <a:srgbClr val="D4D4D4"/>
                </a:solidFill>
                <a:effectLst/>
                <a:latin typeface="Consolas" panose="020B0609020204030204" pitchFamily="49" charset="0"/>
              </a:rPr>
              <a:t>(power), </a:t>
            </a:r>
            <a:r>
              <a:rPr lang="en-US" sz="1000" b="0" dirty="0" err="1">
                <a:solidFill>
                  <a:srgbClr val="DCDCAA"/>
                </a:solidFill>
                <a:effectLst/>
                <a:latin typeface="Consolas" panose="020B0609020204030204" pitchFamily="49" charset="0"/>
              </a:rPr>
              <a:t>m_safety</a:t>
            </a:r>
            <a:r>
              <a:rPr lang="en-US" sz="1000" b="0" dirty="0">
                <a:solidFill>
                  <a:srgbClr val="D4D4D4"/>
                </a:solidFill>
                <a:effectLst/>
                <a:latin typeface="Consolas" panose="020B0609020204030204" pitchFamily="49" charset="0"/>
              </a:rPr>
              <a:t>(safety),</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m_collimator</a:t>
            </a:r>
            <a:r>
              <a:rPr lang="en-US" sz="1000" b="0" dirty="0">
                <a:solidFill>
                  <a:srgbClr val="D4D4D4"/>
                </a:solidFill>
                <a:effectLst/>
                <a:latin typeface="Consolas" panose="020B0609020204030204" pitchFamily="49" charset="0"/>
              </a:rPr>
              <a:t>(collimator), </a:t>
            </a:r>
            <a:r>
              <a:rPr lang="en-US" sz="1000" b="0" dirty="0" err="1">
                <a:solidFill>
                  <a:srgbClr val="DCDCAA"/>
                </a:solidFill>
                <a:effectLst/>
                <a:latin typeface="Consolas" panose="020B0609020204030204" pitchFamily="49" charset="0"/>
              </a:rPr>
              <a:t>m_aec</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aec</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m_cooling</a:t>
            </a:r>
            <a:r>
              <a:rPr lang="en-US" sz="1000" b="0" dirty="0">
                <a:solidFill>
                  <a:srgbClr val="D4D4D4"/>
                </a:solidFill>
                <a:effectLst/>
                <a:latin typeface="Consolas" panose="020B0609020204030204" pitchFamily="49" charset="0"/>
              </a:rPr>
              <a:t>(cooling), </a:t>
            </a:r>
            <a:r>
              <a:rPr lang="en-US" sz="1000" b="0" dirty="0" err="1">
                <a:solidFill>
                  <a:srgbClr val="DCDCAA"/>
                </a:solidFill>
                <a:effectLst/>
                <a:latin typeface="Consolas" panose="020B0609020204030204" pitchFamily="49" charset="0"/>
              </a:rPr>
              <a:t>m_grid</a:t>
            </a:r>
            <a:r>
              <a:rPr lang="en-US" sz="1000" b="0" dirty="0">
                <a:solidFill>
                  <a:srgbClr val="D4D4D4"/>
                </a:solidFill>
                <a:effectLst/>
                <a:latin typeface="Consolas" panose="020B0609020204030204" pitchFamily="49" charset="0"/>
              </a:rPr>
              <a:t>(grid),</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m_filter</a:t>
            </a:r>
            <a:r>
              <a:rPr lang="en-US" sz="1000" b="0" dirty="0">
                <a:solidFill>
                  <a:srgbClr val="D4D4D4"/>
                </a:solidFill>
                <a:effectLst/>
                <a:latin typeface="Consolas" panose="020B0609020204030204" pitchFamily="49" charset="0"/>
              </a:rPr>
              <a:t>(filter), </a:t>
            </a:r>
            <a:r>
              <a:rPr lang="en-US" sz="1000" b="0" dirty="0" err="1">
                <a:solidFill>
                  <a:srgbClr val="DCDCAA"/>
                </a:solidFill>
                <a:effectLst/>
                <a:latin typeface="Consolas" panose="020B0609020204030204" pitchFamily="49" charset="0"/>
              </a:rPr>
              <a:t>m_remote</a:t>
            </a:r>
            <a:r>
              <a:rPr lang="en-US" sz="1000" b="0" dirty="0">
                <a:solidFill>
                  <a:srgbClr val="D4D4D4"/>
                </a:solidFill>
                <a:effectLst/>
                <a:latin typeface="Consolas" panose="020B0609020204030204" pitchFamily="49" charset="0"/>
              </a:rPr>
              <a:t>(remote),</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m_logger</a:t>
            </a:r>
            <a:r>
              <a:rPr lang="en-US" sz="1000" b="0" dirty="0">
                <a:solidFill>
                  <a:srgbClr val="D4D4D4"/>
                </a:solidFill>
                <a:effectLst/>
                <a:latin typeface="Consolas" panose="020B0609020204030204" pitchFamily="49" charset="0"/>
              </a:rPr>
              <a:t>(logger)</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15" name="Text 3">
            <a:extLst>
              <a:ext uri="{FF2B5EF4-FFF2-40B4-BE49-F238E27FC236}">
                <a16:creationId xmlns:a16="http://schemas.microsoft.com/office/drawing/2014/main" id="{48880CCA-7A02-5E84-EC43-5343FE54750D}"/>
              </a:ext>
            </a:extLst>
          </p:cNvPr>
          <p:cNvSpPr/>
          <p:nvPr/>
        </p:nvSpPr>
        <p:spPr>
          <a:xfrm>
            <a:off x="411480" y="530352"/>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5" name="Text 3">
            <a:extLst>
              <a:ext uri="{FF2B5EF4-FFF2-40B4-BE49-F238E27FC236}">
                <a16:creationId xmlns:a16="http://schemas.microsoft.com/office/drawing/2014/main" id="{6E29B447-235C-49EC-E47F-F49FD5C69762}"/>
              </a:ext>
            </a:extLst>
          </p:cNvPr>
          <p:cNvSpPr/>
          <p:nvPr/>
        </p:nvSpPr>
        <p:spPr>
          <a:xfrm>
            <a:off x="5104151" y="530352"/>
            <a:ext cx="341101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Singleton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6" name="Text 6">
            <a:extLst>
              <a:ext uri="{FF2B5EF4-FFF2-40B4-BE49-F238E27FC236}">
                <a16:creationId xmlns:a16="http://schemas.microsoft.com/office/drawing/2014/main" id="{1742D786-99EC-005C-A773-D7CC788F51C8}"/>
              </a:ext>
            </a:extLst>
          </p:cNvPr>
          <p:cNvSpPr/>
          <p:nvPr/>
        </p:nvSpPr>
        <p:spPr>
          <a:xfrm>
            <a:off x="4946754" y="841248"/>
            <a:ext cx="3950657"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private: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No need to pass anything here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6A9955"/>
                </a:solidFill>
                <a:effectLst/>
                <a:latin typeface="Consolas" panose="020B0609020204030204" pitchFamily="49" charset="0"/>
              </a:rPr>
              <a:t>    // No need to initialize anything here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No need to keep references to dependencies</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712851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7ECF8-6E85-73DB-BABB-C9B0D2DB230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97C9BC-6B8E-CE05-D402-26BC8B99C766}"/>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EDE9F213-BEF7-1A1E-AF9A-50FA492AA2B4}"/>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4324EAB8-ECDB-7102-DD40-5A464738B26A}"/>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API Calls</a:t>
            </a:r>
            <a:endParaRPr lang="en-US" sz="1000" dirty="0"/>
          </a:p>
        </p:txBody>
      </p:sp>
      <p:sp>
        <p:nvSpPr>
          <p:cNvPr id="7" name="Text 4">
            <a:extLst>
              <a:ext uri="{FF2B5EF4-FFF2-40B4-BE49-F238E27FC236}">
                <a16:creationId xmlns:a16="http://schemas.microsoft.com/office/drawing/2014/main" id="{7333A0B5-618F-4AC8-0875-FB0F989FD577}"/>
              </a:ext>
            </a:extLst>
          </p:cNvPr>
          <p:cNvSpPr/>
          <p:nvPr/>
        </p:nvSpPr>
        <p:spPr>
          <a:xfrm>
            <a:off x="5012407" y="841248"/>
            <a:ext cx="3891452" cy="2815265"/>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DI multiplies the ways to reach the same object. some paths are short; some go through multiple layers of indirection. especially with a fundamental dependency like a logger where everybody uses it.</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You can easily find yourself writing code like this depending on the objects that you have access to at your current scope and which of their dependencies do they re-expose through their public API</a:t>
            </a:r>
          </a:p>
          <a:p>
            <a:pPr marL="342900" indent="-342900">
              <a:spcAft>
                <a:spcPts val="600"/>
              </a:spcAft>
              <a:buSzPct val="100000"/>
              <a:buChar char="•"/>
            </a:pPr>
            <a:endParaRPr lang="en-US" sz="1600" dirty="0">
              <a:solidFill>
                <a:srgbClr val="1E3A5F"/>
              </a:solidFill>
              <a:latin typeface="Calibri" pitchFamily="34" charset="0"/>
              <a:ea typeface="Calibri" pitchFamily="34" charset="-122"/>
              <a:cs typeface="Calibri" pitchFamily="34" charset="-120"/>
            </a:endParaRPr>
          </a:p>
        </p:txBody>
      </p:sp>
      <p:grpSp>
        <p:nvGrpSpPr>
          <p:cNvPr id="66" name="Group 65">
            <a:extLst>
              <a:ext uri="{FF2B5EF4-FFF2-40B4-BE49-F238E27FC236}">
                <a16:creationId xmlns:a16="http://schemas.microsoft.com/office/drawing/2014/main" id="{2B25EFF2-5889-35A4-D513-CD41781B6768}"/>
              </a:ext>
            </a:extLst>
          </p:cNvPr>
          <p:cNvGrpSpPr/>
          <p:nvPr/>
        </p:nvGrpSpPr>
        <p:grpSpPr>
          <a:xfrm>
            <a:off x="524656" y="1076171"/>
            <a:ext cx="4324208" cy="2580342"/>
            <a:chOff x="411480" y="1246743"/>
            <a:chExt cx="4580698" cy="3384693"/>
          </a:xfrm>
        </p:grpSpPr>
        <p:sp>
          <p:nvSpPr>
            <p:cNvPr id="8" name="Rectangle 7">
              <a:extLst>
                <a:ext uri="{FF2B5EF4-FFF2-40B4-BE49-F238E27FC236}">
                  <a16:creationId xmlns:a16="http://schemas.microsoft.com/office/drawing/2014/main" id="{57BCF913-76E0-7A7F-594F-3E6C79EF329C}"/>
                </a:ext>
              </a:extLst>
            </p:cNvPr>
            <p:cNvSpPr/>
            <p:nvPr/>
          </p:nvSpPr>
          <p:spPr>
            <a:xfrm>
              <a:off x="411480" y="2038623"/>
              <a:ext cx="1937580"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PowerController</a:t>
              </a:r>
              <a:endParaRPr lang="en-US" sz="1600" dirty="0"/>
            </a:p>
          </p:txBody>
        </p:sp>
        <p:sp>
          <p:nvSpPr>
            <p:cNvPr id="9" name="Rectangle 8">
              <a:extLst>
                <a:ext uri="{FF2B5EF4-FFF2-40B4-BE49-F238E27FC236}">
                  <a16:creationId xmlns:a16="http://schemas.microsoft.com/office/drawing/2014/main" id="{44A4A721-B33E-11B6-61AC-5550B2A60991}"/>
                </a:ext>
              </a:extLst>
            </p:cNvPr>
            <p:cNvSpPr/>
            <p:nvPr/>
          </p:nvSpPr>
          <p:spPr>
            <a:xfrm>
              <a:off x="1276898" y="3133566"/>
              <a:ext cx="2377217"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CommunicationInterface</a:t>
              </a:r>
              <a:endParaRPr lang="en-US" sz="1600" dirty="0"/>
            </a:p>
          </p:txBody>
        </p:sp>
        <p:sp>
          <p:nvSpPr>
            <p:cNvPr id="10" name="Rectangle 9">
              <a:extLst>
                <a:ext uri="{FF2B5EF4-FFF2-40B4-BE49-F238E27FC236}">
                  <a16:creationId xmlns:a16="http://schemas.microsoft.com/office/drawing/2014/main" id="{49BDA1D6-4D79-8927-3C5F-BFE2BB0B80EB}"/>
                </a:ext>
              </a:extLst>
            </p:cNvPr>
            <p:cNvSpPr/>
            <p:nvPr/>
          </p:nvSpPr>
          <p:spPr>
            <a:xfrm>
              <a:off x="2534148" y="2038623"/>
              <a:ext cx="1971153"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RemoteMonitoing</a:t>
              </a:r>
              <a:endParaRPr lang="en-US" sz="1600" dirty="0"/>
            </a:p>
          </p:txBody>
        </p:sp>
        <p:sp>
          <p:nvSpPr>
            <p:cNvPr id="11" name="Rectangle 10">
              <a:extLst>
                <a:ext uri="{FF2B5EF4-FFF2-40B4-BE49-F238E27FC236}">
                  <a16:creationId xmlns:a16="http://schemas.microsoft.com/office/drawing/2014/main" id="{E50983E0-9806-C89D-9F0F-C81D0D558B2E}"/>
                </a:ext>
              </a:extLst>
            </p:cNvPr>
            <p:cNvSpPr/>
            <p:nvPr/>
          </p:nvSpPr>
          <p:spPr>
            <a:xfrm>
              <a:off x="411480" y="4155948"/>
              <a:ext cx="410805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Logger</a:t>
              </a:r>
            </a:p>
          </p:txBody>
        </p:sp>
        <p:cxnSp>
          <p:nvCxnSpPr>
            <p:cNvPr id="13" name="Straight Arrow Connector 12">
              <a:extLst>
                <a:ext uri="{FF2B5EF4-FFF2-40B4-BE49-F238E27FC236}">
                  <a16:creationId xmlns:a16="http://schemas.microsoft.com/office/drawing/2014/main" id="{886CA6AA-B2F0-C249-4003-6E6F5DEE2129}"/>
                </a:ext>
              </a:extLst>
            </p:cNvPr>
            <p:cNvCxnSpPr>
              <a:cxnSpLocks/>
              <a:stCxn id="8" idx="2"/>
            </p:cNvCxnSpPr>
            <p:nvPr/>
          </p:nvCxnSpPr>
          <p:spPr>
            <a:xfrm>
              <a:off x="1380270" y="2514111"/>
              <a:ext cx="468734" cy="61945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8097DE8F-552B-B941-614A-EE9F42896247}"/>
                </a:ext>
              </a:extLst>
            </p:cNvPr>
            <p:cNvCxnSpPr>
              <a:cxnSpLocks/>
              <a:stCxn id="10" idx="2"/>
            </p:cNvCxnSpPr>
            <p:nvPr/>
          </p:nvCxnSpPr>
          <p:spPr>
            <a:xfrm flipH="1">
              <a:off x="3053159" y="2514111"/>
              <a:ext cx="466566" cy="61945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37B18A12-D18D-F51B-97DB-B51EA68B878A}"/>
                </a:ext>
              </a:extLst>
            </p:cNvPr>
            <p:cNvCxnSpPr>
              <a:cxnSpLocks/>
              <a:stCxn id="9" idx="2"/>
              <a:endCxn id="11" idx="0"/>
            </p:cNvCxnSpPr>
            <p:nvPr/>
          </p:nvCxnSpPr>
          <p:spPr>
            <a:xfrm>
              <a:off x="2465507" y="3609054"/>
              <a:ext cx="0" cy="54689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102CDC68-BDE6-69E0-556B-585868F737B7}"/>
                </a:ext>
              </a:extLst>
            </p:cNvPr>
            <p:cNvCxnSpPr>
              <a:cxnSpLocks/>
            </p:cNvCxnSpPr>
            <p:nvPr/>
          </p:nvCxnSpPr>
          <p:spPr>
            <a:xfrm>
              <a:off x="705881" y="2514111"/>
              <a:ext cx="0" cy="164183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0F19AD46-48ED-4321-336C-BA2D49293071}"/>
                </a:ext>
              </a:extLst>
            </p:cNvPr>
            <p:cNvCxnSpPr>
              <a:cxnSpLocks/>
            </p:cNvCxnSpPr>
            <p:nvPr/>
          </p:nvCxnSpPr>
          <p:spPr>
            <a:xfrm>
              <a:off x="4142221" y="2514111"/>
              <a:ext cx="0" cy="164496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53" name="Rectangle 52">
              <a:extLst>
                <a:ext uri="{FF2B5EF4-FFF2-40B4-BE49-F238E27FC236}">
                  <a16:creationId xmlns:a16="http://schemas.microsoft.com/office/drawing/2014/main" id="{DC02F9E4-936B-2A3D-35FA-945F2294717B}"/>
                </a:ext>
              </a:extLst>
            </p:cNvPr>
            <p:cNvSpPr/>
            <p:nvPr/>
          </p:nvSpPr>
          <p:spPr>
            <a:xfrm>
              <a:off x="411480" y="1246743"/>
              <a:ext cx="4093821"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XRayMachine</a:t>
              </a:r>
              <a:endParaRPr lang="en-US" sz="1600" dirty="0"/>
            </a:p>
          </p:txBody>
        </p:sp>
        <p:cxnSp>
          <p:nvCxnSpPr>
            <p:cNvPr id="54" name="Straight Arrow Connector 53">
              <a:extLst>
                <a:ext uri="{FF2B5EF4-FFF2-40B4-BE49-F238E27FC236}">
                  <a16:creationId xmlns:a16="http://schemas.microsoft.com/office/drawing/2014/main" id="{1C2D0B79-2583-B1CF-E9DB-D304032AB7FD}"/>
                </a:ext>
              </a:extLst>
            </p:cNvPr>
            <p:cNvCxnSpPr>
              <a:cxnSpLocks/>
              <a:stCxn id="53" idx="2"/>
              <a:endCxn id="9" idx="0"/>
            </p:cNvCxnSpPr>
            <p:nvPr/>
          </p:nvCxnSpPr>
          <p:spPr>
            <a:xfrm>
              <a:off x="2458391" y="1722231"/>
              <a:ext cx="7116" cy="141133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63500E5B-007C-7FFF-2C52-17372C82BFA9}"/>
                </a:ext>
              </a:extLst>
            </p:cNvPr>
            <p:cNvCxnSpPr>
              <a:cxnSpLocks/>
              <a:endCxn id="10" idx="0"/>
            </p:cNvCxnSpPr>
            <p:nvPr/>
          </p:nvCxnSpPr>
          <p:spPr>
            <a:xfrm>
              <a:off x="3519725" y="1722231"/>
              <a:ext cx="0" cy="316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F0C03602-B0E1-B15B-0957-3621D3C71D76}"/>
                </a:ext>
              </a:extLst>
            </p:cNvPr>
            <p:cNvCxnSpPr>
              <a:cxnSpLocks/>
              <a:endCxn id="8" idx="0"/>
            </p:cNvCxnSpPr>
            <p:nvPr/>
          </p:nvCxnSpPr>
          <p:spPr>
            <a:xfrm>
              <a:off x="1380270" y="1714791"/>
              <a:ext cx="0" cy="32383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65" name="Freeform: Shape 64">
              <a:extLst>
                <a:ext uri="{FF2B5EF4-FFF2-40B4-BE49-F238E27FC236}">
                  <a16:creationId xmlns:a16="http://schemas.microsoft.com/office/drawing/2014/main" id="{C573D605-1E0A-56D3-4592-020966348A40}"/>
                </a:ext>
              </a:extLst>
            </p:cNvPr>
            <p:cNvSpPr/>
            <p:nvPr/>
          </p:nvSpPr>
          <p:spPr>
            <a:xfrm>
              <a:off x="4497437" y="1491539"/>
              <a:ext cx="494741" cy="2900597"/>
            </a:xfrm>
            <a:custGeom>
              <a:avLst/>
              <a:gdLst>
                <a:gd name="csX0" fmla="*/ 0 w 644593"/>
                <a:gd name="csY0" fmla="*/ 0 h 2900597"/>
                <a:gd name="csX1" fmla="*/ 644577 w 644593"/>
                <a:gd name="csY1" fmla="*/ 1439056 h 2900597"/>
                <a:gd name="csX2" fmla="*/ 22486 w 644593"/>
                <a:gd name="csY2" fmla="*/ 2900597 h 2900597"/>
                <a:gd name="csX0" fmla="*/ 0 w 644595"/>
                <a:gd name="csY0" fmla="*/ 0 h 2900597"/>
                <a:gd name="csX1" fmla="*/ 644577 w 644595"/>
                <a:gd name="csY1" fmla="*/ 1439056 h 2900597"/>
                <a:gd name="csX2" fmla="*/ 22486 w 644595"/>
                <a:gd name="csY2" fmla="*/ 2900597 h 2900597"/>
                <a:gd name="csX0" fmla="*/ 0 w 644595"/>
                <a:gd name="csY0" fmla="*/ 0 h 2900597"/>
                <a:gd name="csX1" fmla="*/ 644577 w 644595"/>
                <a:gd name="csY1" fmla="*/ 1439056 h 2900597"/>
                <a:gd name="csX2" fmla="*/ 22486 w 644595"/>
                <a:gd name="csY2" fmla="*/ 2900597 h 2900597"/>
                <a:gd name="csX0" fmla="*/ 0 w 644595"/>
                <a:gd name="csY0" fmla="*/ 0 h 2900597"/>
                <a:gd name="csX1" fmla="*/ 644577 w 644595"/>
                <a:gd name="csY1" fmla="*/ 1439056 h 2900597"/>
                <a:gd name="csX2" fmla="*/ 22486 w 644595"/>
                <a:gd name="csY2" fmla="*/ 2900597 h 2900597"/>
                <a:gd name="csX0" fmla="*/ 0 w 644611"/>
                <a:gd name="csY0" fmla="*/ 0 h 2900597"/>
                <a:gd name="csX1" fmla="*/ 644577 w 644611"/>
                <a:gd name="csY1" fmla="*/ 1439056 h 2900597"/>
                <a:gd name="csX2" fmla="*/ 22486 w 644611"/>
                <a:gd name="csY2" fmla="*/ 2900597 h 2900597"/>
                <a:gd name="csX0" fmla="*/ 0 w 644611"/>
                <a:gd name="csY0" fmla="*/ 0 h 2900597"/>
                <a:gd name="csX1" fmla="*/ 644577 w 644611"/>
                <a:gd name="csY1" fmla="*/ 1439056 h 2900597"/>
                <a:gd name="csX2" fmla="*/ 22486 w 644611"/>
                <a:gd name="csY2" fmla="*/ 2900597 h 2900597"/>
                <a:gd name="csX0" fmla="*/ 0 w 644611"/>
                <a:gd name="csY0" fmla="*/ 0 h 2900597"/>
                <a:gd name="csX1" fmla="*/ 644577 w 644611"/>
                <a:gd name="csY1" fmla="*/ 1439056 h 2900597"/>
                <a:gd name="csX2" fmla="*/ 22486 w 644611"/>
                <a:gd name="csY2" fmla="*/ 2900597 h 2900597"/>
                <a:gd name="csX0" fmla="*/ 0 w 644870"/>
                <a:gd name="csY0" fmla="*/ 0 h 2900597"/>
                <a:gd name="csX1" fmla="*/ 644577 w 644870"/>
                <a:gd name="csY1" fmla="*/ 1439056 h 2900597"/>
                <a:gd name="csX2" fmla="*/ 22486 w 644870"/>
                <a:gd name="csY2" fmla="*/ 2900597 h 2900597"/>
                <a:gd name="csX0" fmla="*/ 0 w 644611"/>
                <a:gd name="csY0" fmla="*/ 0 h 2900597"/>
                <a:gd name="csX1" fmla="*/ 644577 w 644611"/>
                <a:gd name="csY1" fmla="*/ 1439056 h 2900597"/>
                <a:gd name="csX2" fmla="*/ 22486 w 644611"/>
                <a:gd name="csY2" fmla="*/ 2900597 h 2900597"/>
                <a:gd name="csX0" fmla="*/ 0 w 494741"/>
                <a:gd name="csY0" fmla="*/ 0 h 2900597"/>
                <a:gd name="csX1" fmla="*/ 494676 w 494741"/>
                <a:gd name="csY1" fmla="*/ 1461542 h 2900597"/>
                <a:gd name="csX2" fmla="*/ 22486 w 494741"/>
                <a:gd name="csY2" fmla="*/ 2900597 h 2900597"/>
              </a:gdLst>
              <a:ahLst/>
              <a:cxnLst>
                <a:cxn ang="0">
                  <a:pos x="csX0" y="csY0"/>
                </a:cxn>
                <a:cxn ang="0">
                  <a:pos x="csX1" y="csY1"/>
                </a:cxn>
                <a:cxn ang="0">
                  <a:pos x="csX2" y="csY2"/>
                </a:cxn>
              </a:cxnLst>
              <a:rect l="l" t="t" r="r" b="b"/>
              <a:pathLst>
                <a:path w="494741" h="2900597">
                  <a:moveTo>
                    <a:pt x="0" y="0"/>
                  </a:moveTo>
                  <a:cubicBezTo>
                    <a:pt x="365384" y="342899"/>
                    <a:pt x="490928" y="843197"/>
                    <a:pt x="494676" y="1461542"/>
                  </a:cubicBezTo>
                  <a:cubicBezTo>
                    <a:pt x="498424" y="2079887"/>
                    <a:pt x="342276" y="2602043"/>
                    <a:pt x="22486" y="2900597"/>
                  </a:cubicBez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sp>
        <p:nvSpPr>
          <p:cNvPr id="67" name="Text 6">
            <a:extLst>
              <a:ext uri="{FF2B5EF4-FFF2-40B4-BE49-F238E27FC236}">
                <a16:creationId xmlns:a16="http://schemas.microsoft.com/office/drawing/2014/main" id="{D1E611AE-BF19-0AAD-5088-D693CDF3BC53}"/>
              </a:ext>
            </a:extLst>
          </p:cNvPr>
          <p:cNvSpPr/>
          <p:nvPr/>
        </p:nvSpPr>
        <p:spPr>
          <a:xfrm>
            <a:off x="292607" y="3953033"/>
            <a:ext cx="8611252" cy="891812"/>
          </a:xfrm>
          <a:prstGeom prst="rect">
            <a:avLst/>
          </a:prstGeom>
          <a:solidFill>
            <a:srgbClr val="0D1117"/>
          </a:solidFill>
          <a:ln/>
        </p:spPr>
        <p:txBody>
          <a:bodyPr wrap="square" lIns="182880" tIns="91440" rIns="182880" bIns="91440" rtlCol="0" anchor="t"/>
          <a:lstStyle/>
          <a:p>
            <a:pPr>
              <a:lnSpc>
                <a:spcPts val="1425"/>
              </a:lnSpc>
            </a:pPr>
            <a:r>
              <a:rPr lang="en-US" sz="1000" b="0" dirty="0" err="1">
                <a:solidFill>
                  <a:srgbClr val="9CDCFE"/>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remoteMonitoring</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communicationInterface</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logger</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a:t>
            </a:r>
            <a:r>
              <a:rPr lang="en-US" sz="1000" b="0" dirty="0">
                <a:solidFill>
                  <a:srgbClr val="D4D4D4"/>
                </a:solidFill>
                <a:effectLst/>
                <a:latin typeface="Consolas" panose="020B0609020204030204" pitchFamily="49" charset="0"/>
              </a:rPr>
              <a:t>(</a:t>
            </a:r>
            <a:r>
              <a:rPr lang="en-US" sz="1000" b="0" dirty="0">
                <a:solidFill>
                  <a:srgbClr val="CE9178"/>
                </a:solidFill>
                <a:effectLst/>
                <a:latin typeface="Consolas" panose="020B0609020204030204" pitchFamily="49" charset="0"/>
              </a:rPr>
              <a:t>"Exposure started"</a:t>
            </a: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r>
              <a:rPr lang="en-US" sz="1000" dirty="0" err="1">
                <a:solidFill>
                  <a:srgbClr val="9CDCFE"/>
                </a:solidFill>
                <a:latin typeface="Consolas" panose="020B0609020204030204" pitchFamily="49" charset="0"/>
              </a:rPr>
              <a:t>xrayMachine</a:t>
            </a:r>
            <a:r>
              <a:rPr lang="en-US" sz="1000" dirty="0">
                <a:solidFill>
                  <a:srgbClr val="D4D4D4"/>
                </a:solidFill>
                <a:latin typeface="Consolas" panose="020B0609020204030204" pitchFamily="49" charset="0"/>
              </a:rPr>
              <a:t>-&gt;</a:t>
            </a:r>
            <a:r>
              <a:rPr lang="en-US" sz="1000" dirty="0" err="1">
                <a:solidFill>
                  <a:srgbClr val="DCDCAA"/>
                </a:solidFill>
                <a:latin typeface="Consolas" panose="020B0609020204030204" pitchFamily="49" charset="0"/>
              </a:rPr>
              <a:t>communicationInterface</a:t>
            </a:r>
            <a:r>
              <a:rPr lang="en-US" sz="1000" dirty="0">
                <a:solidFill>
                  <a:srgbClr val="D4D4D4"/>
                </a:solidFill>
                <a:latin typeface="Consolas" panose="020B0609020204030204" pitchFamily="49" charset="0"/>
              </a:rPr>
              <a:t>()-&gt;</a:t>
            </a:r>
            <a:r>
              <a:rPr lang="en-US" sz="1000" dirty="0">
                <a:solidFill>
                  <a:srgbClr val="DCDCAA"/>
                </a:solidFill>
                <a:latin typeface="Consolas" panose="020B0609020204030204" pitchFamily="49" charset="0"/>
              </a:rPr>
              <a:t>logger</a:t>
            </a:r>
            <a:r>
              <a:rPr lang="en-US" sz="1000" dirty="0">
                <a:solidFill>
                  <a:srgbClr val="D4D4D4"/>
                </a:solidFill>
                <a:latin typeface="Consolas" panose="020B0609020204030204" pitchFamily="49" charset="0"/>
              </a:rPr>
              <a:t>()-&gt;</a:t>
            </a:r>
            <a:r>
              <a:rPr lang="en-US" sz="1000" dirty="0">
                <a:solidFill>
                  <a:srgbClr val="DCDCAA"/>
                </a:solidFill>
                <a:latin typeface="Consolas" panose="020B0609020204030204" pitchFamily="49" charset="0"/>
              </a:rPr>
              <a:t>log</a:t>
            </a:r>
            <a:r>
              <a:rPr lang="en-US" sz="1000" dirty="0">
                <a:solidFill>
                  <a:srgbClr val="D4D4D4"/>
                </a:solidFill>
                <a:latin typeface="Consolas" panose="020B0609020204030204" pitchFamily="49" charset="0"/>
              </a:rPr>
              <a:t>(</a:t>
            </a:r>
            <a:r>
              <a:rPr lang="en-US" sz="1000" dirty="0">
                <a:solidFill>
                  <a:srgbClr val="CE9178"/>
                </a:solidFill>
                <a:latin typeface="Consolas" panose="020B0609020204030204" pitchFamily="49" charset="0"/>
              </a:rPr>
              <a:t>"Exposure started"</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err="1">
                <a:solidFill>
                  <a:srgbClr val="9CDCFE"/>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remoteMonitoring</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logger</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a:t>
            </a:r>
            <a:r>
              <a:rPr lang="en-US" sz="1000" b="0" dirty="0">
                <a:solidFill>
                  <a:srgbClr val="D4D4D4"/>
                </a:solidFill>
                <a:effectLst/>
                <a:latin typeface="Consolas" panose="020B0609020204030204" pitchFamily="49" charset="0"/>
              </a:rPr>
              <a:t>(</a:t>
            </a:r>
            <a:r>
              <a:rPr lang="en-US" sz="1000" b="0" dirty="0">
                <a:solidFill>
                  <a:srgbClr val="CE9178"/>
                </a:solidFill>
                <a:effectLst/>
                <a:latin typeface="Consolas" panose="020B0609020204030204" pitchFamily="49" charset="0"/>
              </a:rPr>
              <a:t>"Exposure started"</a:t>
            </a:r>
            <a:r>
              <a:rPr lang="en-US" sz="1000" b="0" dirty="0">
                <a:solidFill>
                  <a:srgbClr val="D4D4D4"/>
                </a:solidFill>
                <a:effectLst/>
                <a:latin typeface="Consolas" panose="020B0609020204030204" pitchFamily="49" charset="0"/>
              </a:rPr>
              <a:t>);</a:t>
            </a:r>
          </a:p>
          <a:p>
            <a:pPr>
              <a:lnSpc>
                <a:spcPts val="1425"/>
              </a:lnSpc>
              <a:buNone/>
            </a:pPr>
            <a:r>
              <a:rPr lang="en-US" sz="1000" b="0" dirty="0" err="1">
                <a:solidFill>
                  <a:srgbClr val="9CDCFE"/>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logger</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a:t>
            </a:r>
            <a:r>
              <a:rPr lang="en-US" sz="1000" b="0" dirty="0">
                <a:solidFill>
                  <a:srgbClr val="D4D4D4"/>
                </a:solidFill>
                <a:effectLst/>
                <a:latin typeface="Consolas" panose="020B0609020204030204" pitchFamily="49" charset="0"/>
              </a:rPr>
              <a:t>(</a:t>
            </a:r>
            <a:r>
              <a:rPr lang="en-US" sz="1000" b="0" dirty="0">
                <a:solidFill>
                  <a:srgbClr val="CE9178"/>
                </a:solidFill>
                <a:effectLst/>
                <a:latin typeface="Consolas" panose="020B0609020204030204" pitchFamily="49" charset="0"/>
              </a:rPr>
              <a:t>"Exposure started"</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
        <p:nvSpPr>
          <p:cNvPr id="68" name="Text 2">
            <a:extLst>
              <a:ext uri="{FF2B5EF4-FFF2-40B4-BE49-F238E27FC236}">
                <a16:creationId xmlns:a16="http://schemas.microsoft.com/office/drawing/2014/main" id="{8D06D73F-F3E3-DCA1-953A-D9E680E1F096}"/>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#1 — DRY Violation: Boilerplate Explosion</a:t>
            </a:r>
            <a:endParaRPr lang="en-US" sz="1900" dirty="0"/>
          </a:p>
        </p:txBody>
      </p:sp>
    </p:spTree>
    <p:extLst>
      <p:ext uri="{BB962C8B-B14F-4D97-AF65-F5344CB8AC3E}">
        <p14:creationId xmlns:p14="http://schemas.microsoft.com/office/powerpoint/2010/main" val="4260684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F81C6-61E4-74AF-6995-E476E2B8891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8CA8B7-66E0-DEDD-C2A3-80E34CB96E4A}"/>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3437828F-8375-DC83-BA97-2294755AA837}"/>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9DD85F3E-E6D5-C8CE-5C68-A87346F0D160}"/>
              </a:ext>
            </a:extLst>
          </p:cNvPr>
          <p:cNvSpPr/>
          <p:nvPr/>
        </p:nvSpPr>
        <p:spPr>
          <a:xfrm>
            <a:off x="411480" y="530352"/>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API Calls</a:t>
            </a:r>
            <a:endParaRPr lang="en-US" sz="1000" dirty="0"/>
          </a:p>
        </p:txBody>
      </p:sp>
      <p:sp>
        <p:nvSpPr>
          <p:cNvPr id="68" name="Text 2">
            <a:extLst>
              <a:ext uri="{FF2B5EF4-FFF2-40B4-BE49-F238E27FC236}">
                <a16:creationId xmlns:a16="http://schemas.microsoft.com/office/drawing/2014/main" id="{92742A6A-5B6C-9365-0764-125C4C4DDBD1}"/>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#1 — DRY Violation: Boilerplate Explosion</a:t>
            </a:r>
            <a:endParaRPr lang="en-US" sz="1900" dirty="0"/>
          </a:p>
        </p:txBody>
      </p:sp>
      <p:sp>
        <p:nvSpPr>
          <p:cNvPr id="4" name="Text 6">
            <a:extLst>
              <a:ext uri="{FF2B5EF4-FFF2-40B4-BE49-F238E27FC236}">
                <a16:creationId xmlns:a16="http://schemas.microsoft.com/office/drawing/2014/main" id="{713ABB07-4BD2-D496-987C-879B8CA8FF6A}"/>
              </a:ext>
            </a:extLst>
          </p:cNvPr>
          <p:cNvSpPr/>
          <p:nvPr/>
        </p:nvSpPr>
        <p:spPr>
          <a:xfrm>
            <a:off x="292608" y="886968"/>
            <a:ext cx="4654146" cy="3369564"/>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6A9955"/>
                </a:solidFill>
                <a:effectLst/>
                <a:latin typeface="Consolas" panose="020B0609020204030204" pitchFamily="49" charset="0"/>
              </a:rPr>
              <a:t>// Path1: if </a:t>
            </a:r>
            <a:r>
              <a:rPr lang="en-US" sz="1000" b="0" dirty="0" err="1">
                <a:solidFill>
                  <a:srgbClr val="6A9955"/>
                </a:solidFill>
                <a:effectLst/>
                <a:latin typeface="Consolas" panose="020B0609020204030204" pitchFamily="49" charset="0"/>
              </a:rPr>
              <a:t>XRayMachine</a:t>
            </a:r>
            <a:r>
              <a:rPr lang="en-US" sz="1000" b="0" dirty="0">
                <a:solidFill>
                  <a:srgbClr val="6A9955"/>
                </a:solidFill>
                <a:effectLst/>
                <a:latin typeface="Consolas" panose="020B0609020204030204" pitchFamily="49" charset="0"/>
              </a:rPr>
              <a:t> and </a:t>
            </a:r>
            <a:r>
              <a:rPr lang="en-US" sz="1000" b="0" dirty="0" err="1">
                <a:solidFill>
                  <a:srgbClr val="6A9955"/>
                </a:solidFill>
                <a:effectLst/>
                <a:latin typeface="Consolas" panose="020B0609020204030204" pitchFamily="49" charset="0"/>
              </a:rPr>
              <a:t>CommunicationInterface</a:t>
            </a:r>
            <a:r>
              <a:rPr lang="en-US" sz="1000" b="0" dirty="0">
                <a:solidFill>
                  <a:srgbClr val="6A9955"/>
                </a:solidFill>
                <a:effectLst/>
                <a:latin typeface="Consolas" panose="020B0609020204030204" pitchFamily="49" charset="0"/>
              </a:rPr>
              <a:t> don’t </a:t>
            </a:r>
            <a:br>
              <a:rPr lang="en-US" sz="1000" b="0" dirty="0">
                <a:solidFill>
                  <a:srgbClr val="6A9955"/>
                </a:solidFill>
                <a:effectLst/>
                <a:latin typeface="Consolas" panose="020B0609020204030204" pitchFamily="49" charset="0"/>
              </a:rPr>
            </a:br>
            <a:r>
              <a:rPr lang="en-US" sz="1000" b="0" dirty="0">
                <a:solidFill>
                  <a:srgbClr val="6A9955"/>
                </a:solidFill>
                <a:effectLst/>
                <a:latin typeface="Consolas" panose="020B0609020204030204" pitchFamily="49" charset="0"/>
              </a:rPr>
              <a:t>//        expose the logger directly</a:t>
            </a:r>
            <a:endParaRPr lang="en-US" sz="1000" b="0" dirty="0">
              <a:solidFill>
                <a:srgbClr val="D4D4D4"/>
              </a:solidFill>
              <a:effectLst/>
              <a:latin typeface="Consolas" panose="020B0609020204030204" pitchFamily="49" charset="0"/>
            </a:endParaRPr>
          </a:p>
          <a:p>
            <a:pPr>
              <a:lnSpc>
                <a:spcPts val="1425"/>
              </a:lnSpc>
              <a:buNone/>
            </a:pPr>
            <a:r>
              <a:rPr lang="en-US" sz="1000" b="0" dirty="0" err="1">
                <a:solidFill>
                  <a:srgbClr val="9CDCFE"/>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remoteMonitoring</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communicationInterface</a:t>
            </a: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logger</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a:t>
            </a:r>
            <a:r>
              <a:rPr lang="en-US" sz="1000" b="0" dirty="0">
                <a:solidFill>
                  <a:srgbClr val="D4D4D4"/>
                </a:solidFill>
                <a:effectLst/>
                <a:latin typeface="Consolas" panose="020B0609020204030204" pitchFamily="49" charset="0"/>
              </a:rPr>
              <a:t>(</a:t>
            </a:r>
            <a:r>
              <a:rPr lang="en-US" sz="1000" b="0" dirty="0">
                <a:solidFill>
                  <a:srgbClr val="CE9178"/>
                </a:solidFill>
                <a:effectLst/>
                <a:latin typeface="Consolas" panose="020B0609020204030204" pitchFamily="49" charset="0"/>
              </a:rPr>
              <a:t>"Exposure started"</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Path2: </a:t>
            </a:r>
            <a:r>
              <a:rPr lang="en-US" sz="1000" dirty="0">
                <a:solidFill>
                  <a:srgbClr val="6A9955"/>
                </a:solidFill>
                <a:latin typeface="Consolas" panose="020B0609020204030204" pitchFamily="49" charset="0"/>
              </a:rPr>
              <a:t>if </a:t>
            </a:r>
            <a:r>
              <a:rPr lang="en-US" sz="1000" dirty="0" err="1">
                <a:solidFill>
                  <a:srgbClr val="6A9955"/>
                </a:solidFill>
                <a:latin typeface="Consolas" panose="020B0609020204030204" pitchFamily="49" charset="0"/>
              </a:rPr>
              <a:t>XRayMachine</a:t>
            </a:r>
            <a:r>
              <a:rPr lang="en-US" sz="1000" dirty="0">
                <a:solidFill>
                  <a:srgbClr val="6A9955"/>
                </a:solidFill>
                <a:latin typeface="Consolas" panose="020B0609020204030204" pitchFamily="49" charset="0"/>
              </a:rPr>
              <a:t> </a:t>
            </a:r>
            <a:r>
              <a:rPr lang="en-US" sz="1000" b="0" dirty="0">
                <a:solidFill>
                  <a:srgbClr val="6A9955"/>
                </a:solidFill>
                <a:effectLst/>
                <a:latin typeface="Consolas" panose="020B0609020204030204" pitchFamily="49" charset="0"/>
              </a:rPr>
              <a:t>doesn’t expose the logger</a:t>
            </a:r>
            <a:br>
              <a:rPr lang="en-US" sz="1000" b="0" dirty="0">
                <a:solidFill>
                  <a:srgbClr val="6A9955"/>
                </a:solidFill>
                <a:effectLst/>
                <a:latin typeface="Consolas" panose="020B0609020204030204" pitchFamily="49" charset="0"/>
              </a:rPr>
            </a:br>
            <a:r>
              <a:rPr lang="en-US" sz="1000" b="0" dirty="0" err="1">
                <a:solidFill>
                  <a:srgbClr val="9CDCFE"/>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remoteMonitoring</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logger</a:t>
            </a: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a:t>
            </a:r>
            <a:r>
              <a:rPr lang="en-US" sz="1000" b="0" dirty="0">
                <a:solidFill>
                  <a:srgbClr val="D4D4D4"/>
                </a:solidFill>
                <a:effectLst/>
                <a:latin typeface="Consolas" panose="020B0609020204030204" pitchFamily="49" charset="0"/>
              </a:rPr>
              <a:t>(</a:t>
            </a:r>
            <a:r>
              <a:rPr lang="en-US" sz="1000" b="0" dirty="0">
                <a:solidFill>
                  <a:srgbClr val="CE9178"/>
                </a:solidFill>
                <a:effectLst/>
                <a:latin typeface="Consolas" panose="020B0609020204030204" pitchFamily="49" charset="0"/>
              </a:rPr>
              <a:t>"Exposure started"</a:t>
            </a:r>
            <a:r>
              <a:rPr lang="en-US" sz="1000" b="0" dirty="0">
                <a:solidFill>
                  <a:srgbClr val="D4D4D4"/>
                </a:solidFill>
                <a:effectLst/>
                <a:latin typeface="Consolas" panose="020B0609020204030204" pitchFamily="49" charset="0"/>
              </a:rPr>
              <a:t>);</a:t>
            </a:r>
          </a:p>
          <a:p>
            <a:pPr>
              <a:lnSpc>
                <a:spcPts val="1425"/>
              </a:lnSpc>
              <a:buNone/>
            </a:pPr>
            <a:br>
              <a:rPr lang="en-US" sz="1000" dirty="0">
                <a:solidFill>
                  <a:srgbClr val="D4D4D4"/>
                </a:solidFill>
                <a:latin typeface="Consolas" panose="020B0609020204030204" pitchFamily="49" charset="0"/>
              </a:rPr>
            </a:br>
            <a:r>
              <a:rPr lang="en-US" sz="1000" dirty="0">
                <a:solidFill>
                  <a:srgbClr val="6A9955"/>
                </a:solidFill>
                <a:latin typeface="Consolas" panose="020B0609020204030204" pitchFamily="49" charset="0"/>
              </a:rPr>
              <a:t>// Path3: because why not..</a:t>
            </a:r>
            <a:endParaRPr lang="en-US" sz="1000" dirty="0">
              <a:solidFill>
                <a:srgbClr val="D4D4D4"/>
              </a:solidFill>
              <a:latin typeface="Consolas" panose="020B0609020204030204" pitchFamily="49" charset="0"/>
            </a:endParaRPr>
          </a:p>
          <a:p>
            <a:pPr>
              <a:lnSpc>
                <a:spcPts val="1425"/>
              </a:lnSpc>
            </a:pPr>
            <a:r>
              <a:rPr lang="en-US" sz="1000" dirty="0" err="1">
                <a:solidFill>
                  <a:srgbClr val="9CDCFE"/>
                </a:solidFill>
                <a:latin typeface="Consolas" panose="020B0609020204030204" pitchFamily="49" charset="0"/>
              </a:rPr>
              <a:t>xrayMachine</a:t>
            </a:r>
            <a:r>
              <a:rPr lang="en-US" sz="1000" dirty="0">
                <a:solidFill>
                  <a:srgbClr val="D4D4D4"/>
                </a:solidFill>
                <a:latin typeface="Consolas" panose="020B0609020204030204" pitchFamily="49" charset="0"/>
              </a:rPr>
              <a:t>-&gt;</a:t>
            </a:r>
            <a:r>
              <a:rPr lang="en-US" sz="1000" dirty="0" err="1">
                <a:solidFill>
                  <a:srgbClr val="DCDCAA"/>
                </a:solidFill>
                <a:latin typeface="Consolas" panose="020B0609020204030204" pitchFamily="49" charset="0"/>
              </a:rPr>
              <a:t>communicationInterface</a:t>
            </a:r>
            <a:r>
              <a:rPr lang="en-US" sz="1000" dirty="0">
                <a:solidFill>
                  <a:srgbClr val="D4D4D4"/>
                </a:solidFill>
                <a:latin typeface="Consolas" panose="020B0609020204030204" pitchFamily="49" charset="0"/>
              </a:rPr>
              <a:t>()-&gt;</a:t>
            </a:r>
            <a:r>
              <a:rPr lang="en-US" sz="1000" dirty="0">
                <a:solidFill>
                  <a:srgbClr val="DCDCAA"/>
                </a:solidFill>
                <a:latin typeface="Consolas" panose="020B0609020204030204" pitchFamily="49" charset="0"/>
              </a:rPr>
              <a:t>logger</a:t>
            </a:r>
            <a:r>
              <a:rPr lang="en-US" sz="1000" dirty="0">
                <a:solidFill>
                  <a:srgbClr val="D4D4D4"/>
                </a:solidFill>
                <a:latin typeface="Consolas" panose="020B0609020204030204" pitchFamily="49" charset="0"/>
              </a:rPr>
              <a:t>()</a:t>
            </a:r>
            <a:br>
              <a:rPr lang="en-US" sz="1000" dirty="0">
                <a:solidFill>
                  <a:srgbClr val="D4D4D4"/>
                </a:solidFill>
                <a:latin typeface="Consolas" panose="020B0609020204030204" pitchFamily="49" charset="0"/>
              </a:rPr>
            </a:br>
            <a:r>
              <a:rPr lang="en-US" sz="1000" dirty="0">
                <a:solidFill>
                  <a:srgbClr val="D4D4D4"/>
                </a:solidFill>
                <a:latin typeface="Consolas" panose="020B0609020204030204" pitchFamily="49" charset="0"/>
              </a:rPr>
              <a:t>-&gt;</a:t>
            </a:r>
            <a:r>
              <a:rPr lang="en-US" sz="1000" dirty="0">
                <a:solidFill>
                  <a:srgbClr val="DCDCAA"/>
                </a:solidFill>
                <a:latin typeface="Consolas" panose="020B0609020204030204" pitchFamily="49" charset="0"/>
              </a:rPr>
              <a:t>log</a:t>
            </a:r>
            <a:r>
              <a:rPr lang="en-US" sz="1000" dirty="0">
                <a:solidFill>
                  <a:srgbClr val="D4D4D4"/>
                </a:solidFill>
                <a:latin typeface="Consolas" panose="020B0609020204030204" pitchFamily="49" charset="0"/>
              </a:rPr>
              <a:t>(</a:t>
            </a:r>
            <a:r>
              <a:rPr lang="en-US" sz="1000" dirty="0">
                <a:solidFill>
                  <a:srgbClr val="CE9178"/>
                </a:solidFill>
                <a:latin typeface="Consolas" panose="020B0609020204030204" pitchFamily="49" charset="0"/>
              </a:rPr>
              <a:t>"Exposure started"</a:t>
            </a:r>
            <a:r>
              <a:rPr lang="en-US" sz="1000" dirty="0">
                <a:solidFill>
                  <a:srgbClr val="D4D4D4"/>
                </a:solidFill>
                <a:latin typeface="Consolas" panose="020B0609020204030204" pitchFamily="49" charset="0"/>
              </a:rPr>
              <a:t>);</a:t>
            </a:r>
            <a:endParaRPr lang="en-US" dirty="0"/>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Path4: if </a:t>
            </a:r>
            <a:r>
              <a:rPr lang="en-US" sz="1000" b="0" dirty="0" err="1">
                <a:solidFill>
                  <a:srgbClr val="6A9955"/>
                </a:solidFill>
                <a:effectLst/>
                <a:latin typeface="Consolas" panose="020B0609020204030204" pitchFamily="49" charset="0"/>
              </a:rPr>
              <a:t>XRayMachine</a:t>
            </a:r>
            <a:r>
              <a:rPr lang="en-US" sz="1000" b="0" dirty="0">
                <a:solidFill>
                  <a:srgbClr val="6A9955"/>
                </a:solidFill>
                <a:effectLst/>
                <a:latin typeface="Consolas" panose="020B0609020204030204" pitchFamily="49" charset="0"/>
              </a:rPr>
              <a:t> exposes the logger</a:t>
            </a:r>
            <a:endParaRPr lang="en-US" sz="1000" b="0" dirty="0">
              <a:solidFill>
                <a:srgbClr val="D4D4D4"/>
              </a:solidFill>
              <a:effectLst/>
              <a:latin typeface="Consolas" panose="020B0609020204030204" pitchFamily="49" charset="0"/>
            </a:endParaRPr>
          </a:p>
          <a:p>
            <a:pPr>
              <a:lnSpc>
                <a:spcPts val="1425"/>
              </a:lnSpc>
              <a:buNone/>
            </a:pPr>
            <a:r>
              <a:rPr lang="en-US" sz="1000" b="0" dirty="0" err="1">
                <a:solidFill>
                  <a:srgbClr val="9CDCFE"/>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logger</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log</a:t>
            </a:r>
            <a:r>
              <a:rPr lang="en-US" sz="1000" b="0" dirty="0">
                <a:solidFill>
                  <a:srgbClr val="D4D4D4"/>
                </a:solidFill>
                <a:effectLst/>
                <a:latin typeface="Consolas" panose="020B0609020204030204" pitchFamily="49" charset="0"/>
              </a:rPr>
              <a:t>(</a:t>
            </a:r>
            <a:r>
              <a:rPr lang="en-US" sz="1000" b="0" dirty="0">
                <a:solidFill>
                  <a:srgbClr val="CE9178"/>
                </a:solidFill>
                <a:effectLst/>
                <a:latin typeface="Consolas" panose="020B0609020204030204" pitchFamily="49" charset="0"/>
              </a:rPr>
              <a:t>"Exposure started"</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If none of these expose logger in their public API,</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You are on your own</a:t>
            </a:r>
            <a:endParaRPr lang="en-US" sz="1000" b="0" dirty="0">
              <a:solidFill>
                <a:srgbClr val="D4D4D4"/>
              </a:solidFill>
              <a:effectLst/>
              <a:latin typeface="Consolas" panose="020B0609020204030204" pitchFamily="49" charset="0"/>
            </a:endParaRPr>
          </a:p>
          <a:p>
            <a:pPr>
              <a:lnSpc>
                <a:spcPts val="1425"/>
              </a:lnSpc>
              <a:buNone/>
            </a:pP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p:txBody>
      </p:sp>
      <p:sp>
        <p:nvSpPr>
          <p:cNvPr id="6" name="Text 3">
            <a:extLst>
              <a:ext uri="{FF2B5EF4-FFF2-40B4-BE49-F238E27FC236}">
                <a16:creationId xmlns:a16="http://schemas.microsoft.com/office/drawing/2014/main" id="{ED83CBEB-03A8-5F92-0DD8-AA000C47CB91}"/>
              </a:ext>
            </a:extLst>
          </p:cNvPr>
          <p:cNvSpPr/>
          <p:nvPr/>
        </p:nvSpPr>
        <p:spPr>
          <a:xfrm>
            <a:off x="5325256" y="530352"/>
            <a:ext cx="341101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Singleton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12" name="Text 6">
            <a:extLst>
              <a:ext uri="{FF2B5EF4-FFF2-40B4-BE49-F238E27FC236}">
                <a16:creationId xmlns:a16="http://schemas.microsoft.com/office/drawing/2014/main" id="{3B6D6038-2B8C-5CF8-4CC5-2E6B4CF3465E}"/>
              </a:ext>
            </a:extLst>
          </p:cNvPr>
          <p:cNvSpPr/>
          <p:nvPr/>
        </p:nvSpPr>
        <p:spPr>
          <a:xfrm>
            <a:off x="5164111" y="886968"/>
            <a:ext cx="3733300" cy="3369564"/>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6A9955"/>
                </a:solidFill>
                <a:effectLst/>
                <a:latin typeface="Consolas" panose="020B0609020204030204" pitchFamily="49" charset="0"/>
              </a:rPr>
              <a:t>// Only one path to access logger from anywhere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4EC9B0"/>
                </a:solidFill>
                <a:effectLst/>
                <a:latin typeface="Consolas" panose="020B0609020204030204" pitchFamily="49" charset="0"/>
              </a:rPr>
              <a:t>Logger</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log</a:t>
            </a:r>
            <a:r>
              <a:rPr lang="en-US" sz="1000" b="0" dirty="0">
                <a:solidFill>
                  <a:srgbClr val="D4D4D4"/>
                </a:solidFill>
                <a:effectLst/>
                <a:latin typeface="Consolas" panose="020B0609020204030204" pitchFamily="49" charset="0"/>
              </a:rPr>
              <a:t>(</a:t>
            </a:r>
            <a:r>
              <a:rPr lang="en-US" sz="1000" b="0" dirty="0">
                <a:solidFill>
                  <a:srgbClr val="CE9178"/>
                </a:solidFill>
                <a:effectLst/>
                <a:latin typeface="Consolas" panose="020B0609020204030204" pitchFamily="49" charset="0"/>
              </a:rPr>
              <a:t>"Exposure started"</a:t>
            </a:r>
            <a:r>
              <a:rPr lang="en-US" sz="1000" b="0" dirty="0">
                <a:solidFill>
                  <a:srgbClr val="D4D4D4"/>
                </a:solidFill>
                <a:effectLst/>
                <a:latin typeface="Consolas" panose="020B0609020204030204" pitchFamily="49" charset="0"/>
              </a:rPr>
              <a:t>);</a:t>
            </a:r>
          </a:p>
        </p:txBody>
      </p:sp>
      <p:sp>
        <p:nvSpPr>
          <p:cNvPr id="14" name="Text 4">
            <a:extLst>
              <a:ext uri="{FF2B5EF4-FFF2-40B4-BE49-F238E27FC236}">
                <a16:creationId xmlns:a16="http://schemas.microsoft.com/office/drawing/2014/main" id="{70A2AF7C-D9B4-5870-09CB-4610A8780836}"/>
              </a:ext>
            </a:extLst>
          </p:cNvPr>
          <p:cNvSpPr/>
          <p:nvPr/>
        </p:nvSpPr>
        <p:spPr>
          <a:xfrm>
            <a:off x="292607" y="4357116"/>
            <a:ext cx="8604803" cy="480060"/>
          </a:xfrm>
          <a:prstGeom prst="rect">
            <a:avLst/>
          </a:prstGeom>
          <a:solidFill>
            <a:schemeClr val="accent4">
              <a:lumMod val="40000"/>
              <a:lumOff val="60000"/>
            </a:schemeClr>
          </a:solidFill>
          <a:ln/>
        </p:spPr>
        <p:txBody>
          <a:bodyPr wrap="square" rtlCol="0" anchor="t"/>
          <a:lstStyle/>
          <a:p>
            <a:pPr>
              <a:spcAft>
                <a:spcPts val="600"/>
              </a:spcAft>
              <a:buSzPct val="100000"/>
            </a:pPr>
            <a:r>
              <a:rPr lang="en-US" sz="1200" dirty="0">
                <a:solidFill>
                  <a:srgbClr val="1E3A5F"/>
                </a:solidFill>
              </a:rPr>
              <a:t>In the case of DI API If all paths were available, then it’s up to the developers to choose whatever path they want, and you end up with some functions using path1 and others using path2 etc. More developers means more code fragmentation</a:t>
            </a:r>
          </a:p>
        </p:txBody>
      </p:sp>
    </p:spTree>
    <p:extLst>
      <p:ext uri="{BB962C8B-B14F-4D97-AF65-F5344CB8AC3E}">
        <p14:creationId xmlns:p14="http://schemas.microsoft.com/office/powerpoint/2010/main" val="3604459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#2 — Violation of 'Pay For What You Use'</a:t>
            </a:r>
            <a:endParaRPr lang="en-US" sz="1900" dirty="0"/>
          </a:p>
        </p:txBody>
      </p:sp>
      <p:sp>
        <p:nvSpPr>
          <p:cNvPr id="12" name="Text 6">
            <a:extLst>
              <a:ext uri="{FF2B5EF4-FFF2-40B4-BE49-F238E27FC236}">
                <a16:creationId xmlns:a16="http://schemas.microsoft.com/office/drawing/2014/main" id="{24EA630D-F115-36D0-DB13-610495C40131}"/>
              </a:ext>
            </a:extLst>
          </p:cNvPr>
          <p:cNvSpPr/>
          <p:nvPr/>
        </p:nvSpPr>
        <p:spPr>
          <a:xfrm>
            <a:off x="292608" y="886968"/>
            <a:ext cx="4654146"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default</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 </a:t>
            </a:r>
            <a:r>
              <a:rPr lang="en-US" sz="1000" b="0" dirty="0" err="1">
                <a:solidFill>
                  <a:srgbClr val="DCDCAA"/>
                </a:solidFill>
                <a:effectLst/>
                <a:latin typeface="Consolas" panose="020B0609020204030204" pitchFamily="49" charset="0"/>
              </a:rPr>
              <a:t>receiveData</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sendData</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data</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CanBusCommunication</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 </a:t>
            </a:r>
            <a:r>
              <a:rPr lang="en-US" sz="1000" b="0" dirty="0" err="1">
                <a:solidFill>
                  <a:srgbClr val="DCDCAA"/>
                </a:solidFill>
                <a:effectLst/>
                <a:latin typeface="Consolas" panose="020B0609020204030204" pitchFamily="49" charset="0"/>
              </a:rPr>
              <a:t>receiveData</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sendData</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data</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ICommunicationInterface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comm</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13" name="Text 4">
            <a:extLst>
              <a:ext uri="{FF2B5EF4-FFF2-40B4-BE49-F238E27FC236}">
                <a16:creationId xmlns:a16="http://schemas.microsoft.com/office/drawing/2014/main" id="{A6231D17-4B43-888F-59D5-EC9ADFEE311F}"/>
              </a:ext>
            </a:extLst>
          </p:cNvPr>
          <p:cNvSpPr/>
          <p:nvPr/>
        </p:nvSpPr>
        <p:spPr>
          <a:xfrm>
            <a:off x="5126636" y="850392"/>
            <a:ext cx="3605884"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Users of our API now get their function calls redirected through two v-tables (</a:t>
            </a:r>
            <a:r>
              <a:rPr lang="en-US" sz="1600" dirty="0" err="1">
                <a:solidFill>
                  <a:srgbClr val="4EC9B0"/>
                </a:solidFill>
                <a:latin typeface="Consolas" panose="020B0609020204030204" pitchFamily="49" charset="0"/>
              </a:rPr>
              <a:t>ICommunicationInterface</a:t>
            </a:r>
            <a:r>
              <a:rPr lang="en-US" sz="1600" dirty="0">
                <a:solidFill>
                  <a:srgbClr val="4EC9B0"/>
                </a:solidFill>
                <a:latin typeface="Consolas" panose="020B0609020204030204" pitchFamily="49" charset="0"/>
              </a:rPr>
              <a:t>, </a:t>
            </a:r>
            <a:r>
              <a:rPr lang="en-US" sz="1600" dirty="0" err="1">
                <a:solidFill>
                  <a:srgbClr val="4EC9B0"/>
                </a:solidFill>
                <a:latin typeface="Consolas" panose="020B0609020204030204" pitchFamily="49" charset="0"/>
              </a:rPr>
              <a:t>IXRayMachine</a:t>
            </a:r>
            <a:r>
              <a:rPr lang="en-US" sz="1600" dirty="0">
                <a:solidFill>
                  <a:srgbClr val="1E3A5F"/>
                </a:solidFill>
                <a:latin typeface="Calibri" pitchFamily="34" charset="0"/>
                <a:ea typeface="Calibri" pitchFamily="34" charset="-122"/>
                <a:cs typeface="Calibri" pitchFamily="34" charset="-120"/>
              </a:rPr>
              <a:t>) just because we wanted to test our code.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There is no way of escaping this even if users don’t need it</a:t>
            </a:r>
          </a:p>
          <a:p>
            <a:pPr marL="342900" indent="-342900">
              <a:spcAft>
                <a:spcPts val="600"/>
              </a:spcAft>
              <a:buSzPct val="100000"/>
              <a:buChar char="•"/>
            </a:pPr>
            <a:r>
              <a:rPr lang="en-US" sz="1600" dirty="0"/>
              <a:t>This is a very simplified example with only two v-tables. Real world examples are way worse than this</a:t>
            </a:r>
          </a:p>
        </p:txBody>
      </p:sp>
      <p:sp>
        <p:nvSpPr>
          <p:cNvPr id="15" name="Text 3">
            <a:extLst>
              <a:ext uri="{FF2B5EF4-FFF2-40B4-BE49-F238E27FC236}">
                <a16:creationId xmlns:a16="http://schemas.microsoft.com/office/drawing/2014/main" id="{B83D009D-13CE-DEDF-DCD4-5A4FC16D0D5F}"/>
              </a:ext>
            </a:extLst>
          </p:cNvPr>
          <p:cNvSpPr/>
          <p:nvPr/>
        </p:nvSpPr>
        <p:spPr>
          <a:xfrm>
            <a:off x="411480" y="553211"/>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4BBB3-4C30-2F32-B67C-BB632CF1CBA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0F40053-2FAF-CA09-8B0A-D53B72F2347F}"/>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497CAEC4-470E-25AD-0702-3FB9EDE20ABF}"/>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69C9F418-E1EB-BFB8-A28C-46036B8061EF}"/>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#2 — Violation of 'Pay For What You Use'</a:t>
            </a:r>
            <a:endParaRPr lang="en-US" sz="1900" dirty="0"/>
          </a:p>
        </p:txBody>
      </p:sp>
      <p:sp>
        <p:nvSpPr>
          <p:cNvPr id="12" name="Text 6">
            <a:extLst>
              <a:ext uri="{FF2B5EF4-FFF2-40B4-BE49-F238E27FC236}">
                <a16:creationId xmlns:a16="http://schemas.microsoft.com/office/drawing/2014/main" id="{772C610C-1BC9-3F23-8CAE-4C223DD17158}"/>
              </a:ext>
            </a:extLst>
          </p:cNvPr>
          <p:cNvSpPr/>
          <p:nvPr/>
        </p:nvSpPr>
        <p:spPr>
          <a:xfrm>
            <a:off x="292608" y="886968"/>
            <a:ext cx="4654146"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default</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 </a:t>
            </a:r>
            <a:r>
              <a:rPr lang="en-US" sz="1000" b="0" dirty="0" err="1">
                <a:solidFill>
                  <a:srgbClr val="DCDCAA"/>
                </a:solidFill>
                <a:effectLst/>
                <a:latin typeface="Consolas" panose="020B0609020204030204" pitchFamily="49" charset="0"/>
              </a:rPr>
              <a:t>receiveData</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sendData</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data</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CanBusCommunication</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 </a:t>
            </a:r>
            <a:r>
              <a:rPr lang="en-US" sz="1000" b="0" dirty="0" err="1">
                <a:solidFill>
                  <a:srgbClr val="DCDCAA"/>
                </a:solidFill>
                <a:effectLst/>
                <a:latin typeface="Consolas" panose="020B0609020204030204" pitchFamily="49" charset="0"/>
              </a:rPr>
              <a:t>receiveData</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sendData</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data</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ICommunicationInterface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comm</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5" name="Text 3">
            <a:extLst>
              <a:ext uri="{FF2B5EF4-FFF2-40B4-BE49-F238E27FC236}">
                <a16:creationId xmlns:a16="http://schemas.microsoft.com/office/drawing/2014/main" id="{8273B714-CCC6-FA11-1967-42ED548F2920}"/>
              </a:ext>
            </a:extLst>
          </p:cNvPr>
          <p:cNvSpPr/>
          <p:nvPr/>
        </p:nvSpPr>
        <p:spPr>
          <a:xfrm>
            <a:off x="5486401" y="553211"/>
            <a:ext cx="341101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Singleton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6" name="Text 6">
            <a:extLst>
              <a:ext uri="{FF2B5EF4-FFF2-40B4-BE49-F238E27FC236}">
                <a16:creationId xmlns:a16="http://schemas.microsoft.com/office/drawing/2014/main" id="{5D71A9F4-AF80-6DE6-1D88-35C2EC69E663}"/>
              </a:ext>
            </a:extLst>
          </p:cNvPr>
          <p:cNvSpPr/>
          <p:nvPr/>
        </p:nvSpPr>
        <p:spPr>
          <a:xfrm>
            <a:off x="5321507" y="886968"/>
            <a:ext cx="3575904"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
        <p:nvSpPr>
          <p:cNvPr id="7" name="Text 3">
            <a:extLst>
              <a:ext uri="{FF2B5EF4-FFF2-40B4-BE49-F238E27FC236}">
                <a16:creationId xmlns:a16="http://schemas.microsoft.com/office/drawing/2014/main" id="{44DEA345-B696-6FAE-7B34-87AAE8DC43E1}"/>
              </a:ext>
            </a:extLst>
          </p:cNvPr>
          <p:cNvSpPr/>
          <p:nvPr/>
        </p:nvSpPr>
        <p:spPr>
          <a:xfrm>
            <a:off x="411480" y="553211"/>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Tree>
    <p:extLst>
      <p:ext uri="{BB962C8B-B14F-4D97-AF65-F5344CB8AC3E}">
        <p14:creationId xmlns:p14="http://schemas.microsoft.com/office/powerpoint/2010/main" val="3840593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37A26-12DC-5CF0-CE2C-D67B6E65EAE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FC683AA-FA83-4D08-3A77-21DE96FA8B77}"/>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A7B47E8B-910D-015F-B4AC-7E91934C3953}"/>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3" name="Text 4">
            <a:extLst>
              <a:ext uri="{FF2B5EF4-FFF2-40B4-BE49-F238E27FC236}">
                <a16:creationId xmlns:a16="http://schemas.microsoft.com/office/drawing/2014/main" id="{61A875ED-1D0E-6CE9-8FF7-05D040A68BF1}"/>
              </a:ext>
            </a:extLst>
          </p:cNvPr>
          <p:cNvSpPr/>
          <p:nvPr/>
        </p:nvSpPr>
        <p:spPr>
          <a:xfrm>
            <a:off x="5297975" y="841248"/>
            <a:ext cx="3605884"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You need to explicitly pass a reference of storage through 3 layers of functions that doesn’t need it at all. Only because the function at level4 needs it</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You have no way around this, if function level4 needs to access storage you must explicitly give it to it (Unless you used a global DI Container, more on that later)</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If function level4 is the only function that needs storage, then all functions calling it need to know and cooperate</a:t>
            </a:r>
          </a:p>
        </p:txBody>
      </p:sp>
      <p:sp>
        <p:nvSpPr>
          <p:cNvPr id="6" name="Text 2">
            <a:extLst>
              <a:ext uri="{FF2B5EF4-FFF2-40B4-BE49-F238E27FC236}">
                <a16:creationId xmlns:a16="http://schemas.microsoft.com/office/drawing/2014/main" id="{FA0F1830-3E94-0136-DD21-6F4FB22F9501}"/>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#2 — Violation of 'Pay For What You Use'</a:t>
            </a:r>
            <a:endParaRPr lang="en-US" sz="1900" dirty="0"/>
          </a:p>
        </p:txBody>
      </p:sp>
      <p:sp>
        <p:nvSpPr>
          <p:cNvPr id="8" name="Text 6">
            <a:extLst>
              <a:ext uri="{FF2B5EF4-FFF2-40B4-BE49-F238E27FC236}">
                <a16:creationId xmlns:a16="http://schemas.microsoft.com/office/drawing/2014/main" id="{11E700D2-48FA-8625-309C-2D7C0290F8FE}"/>
              </a:ext>
            </a:extLst>
          </p:cNvPr>
          <p:cNvSpPr/>
          <p:nvPr/>
        </p:nvSpPr>
        <p:spPr>
          <a:xfrm>
            <a:off x="292607" y="886967"/>
            <a:ext cx="4923970"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level4</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IStorage</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dirty="0">
                <a:solidFill>
                  <a:srgbClr val="9CDCFE"/>
                </a:solidFill>
                <a:latin typeface="Consolas" panose="020B0609020204030204" pitchFamily="49" charset="0"/>
              </a:rPr>
              <a:t>storage</a:t>
            </a:r>
            <a:r>
              <a:rPr lang="en-US" sz="1000" dirty="0">
                <a:solidFill>
                  <a:srgbClr val="D4D4D4"/>
                </a:solidFill>
                <a:latin typeface="Consolas" panose="020B0609020204030204" pitchFamily="49" charset="0"/>
              </a:rPr>
              <a:t>-&gt;</a:t>
            </a:r>
            <a:r>
              <a:rPr lang="en-US" sz="1000" dirty="0">
                <a:solidFill>
                  <a:srgbClr val="DCDCAA"/>
                </a:solidFill>
                <a:latin typeface="Consolas" panose="020B0609020204030204" pitchFamily="49" charset="0"/>
              </a:rPr>
              <a:t>set</a:t>
            </a:r>
            <a:r>
              <a:rPr lang="en-US" sz="1000" dirty="0">
                <a:solidFill>
                  <a:srgbClr val="D4D4D4"/>
                </a:solidFill>
                <a:latin typeface="Consolas" panose="020B0609020204030204" pitchFamily="49" charset="0"/>
              </a:rPr>
              <a:t>(</a:t>
            </a:r>
            <a:r>
              <a:rPr lang="en-US" sz="1000" dirty="0">
                <a:solidFill>
                  <a:srgbClr val="CE9178"/>
                </a:solidFill>
                <a:latin typeface="Consolas" panose="020B0609020204030204" pitchFamily="49" charset="0"/>
              </a:rPr>
              <a:t>"theme"</a:t>
            </a:r>
            <a:r>
              <a:rPr lang="en-US" sz="1000" dirty="0">
                <a:solidFill>
                  <a:srgbClr val="D4D4D4"/>
                </a:solidFill>
                <a:latin typeface="Consolas" panose="020B0609020204030204" pitchFamily="49" charset="0"/>
              </a:rPr>
              <a:t>, </a:t>
            </a:r>
            <a:r>
              <a:rPr lang="en-US" sz="1000" dirty="0">
                <a:solidFill>
                  <a:srgbClr val="CE9178"/>
                </a:solidFill>
                <a:latin typeface="Consolas" panose="020B0609020204030204" pitchFamily="49" charset="0"/>
              </a:rPr>
              <a:t>"dark"</a:t>
            </a:r>
            <a:r>
              <a:rPr lang="en-US" sz="1000" dirty="0">
                <a:solidFill>
                  <a:srgbClr val="D4D4D4"/>
                </a:solidFill>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level3</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IStorage</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p>
          <a:p>
            <a:pPr>
              <a:lnSpc>
                <a:spcPts val="1425"/>
              </a:lnSpc>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level4</a:t>
            </a:r>
            <a:r>
              <a:rPr lang="en-US" sz="1000" b="0" dirty="0">
                <a:solidFill>
                  <a:srgbClr val="D4D4D4"/>
                </a:solidFill>
                <a:effectLst/>
                <a:latin typeface="Consolas" panose="020B0609020204030204" pitchFamily="49" charset="0"/>
              </a:rPr>
              <a:t>(</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r>
              <a:rPr lang="en-US" sz="1000" dirty="0">
                <a:solidFill>
                  <a:srgbClr val="6A9955"/>
                </a:solidFill>
                <a:latin typeface="Consolas" panose="020B0609020204030204" pitchFamily="49" charset="0"/>
              </a:rPr>
              <a:t>// This needs storage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level2</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IStorage</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p>
          <a:p>
            <a:pPr>
              <a:lnSpc>
                <a:spcPts val="1425"/>
              </a:lnSpc>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level3</a:t>
            </a:r>
            <a:r>
              <a:rPr lang="en-US" sz="1000" b="0" dirty="0">
                <a:solidFill>
                  <a:srgbClr val="D4D4D4"/>
                </a:solidFill>
                <a:effectLst/>
                <a:latin typeface="Consolas" panose="020B0609020204030204" pitchFamily="49" charset="0"/>
              </a:rPr>
              <a:t>(</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r>
              <a:rPr lang="en-US" sz="1000" dirty="0">
                <a:solidFill>
                  <a:srgbClr val="6A9955"/>
                </a:solidFill>
                <a:latin typeface="Consolas" panose="020B0609020204030204" pitchFamily="49" charset="0"/>
              </a:rPr>
              <a:t>// Doesn’t need storage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level1</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IStorage</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level2</a:t>
            </a:r>
            <a:r>
              <a:rPr lang="en-US" sz="1000" b="0" dirty="0">
                <a:solidFill>
                  <a:srgbClr val="D4D4D4"/>
                </a:solidFill>
                <a:effectLst/>
                <a:latin typeface="Consolas" panose="020B0609020204030204" pitchFamily="49" charset="0"/>
              </a:rPr>
              <a:t>(</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r>
              <a:rPr lang="en-US" sz="1000" dirty="0">
                <a:solidFill>
                  <a:srgbClr val="6A9955"/>
                </a:solidFill>
                <a:latin typeface="Consolas" panose="020B0609020204030204" pitchFamily="49" charset="0"/>
              </a:rPr>
              <a:t>// Doesn’t need storage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main</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level1</a:t>
            </a:r>
            <a:r>
              <a:rPr lang="en-US" sz="1000" b="0" dirty="0">
                <a:solidFill>
                  <a:srgbClr val="D4D4D4"/>
                </a:solidFill>
                <a:effectLst/>
                <a:latin typeface="Consolas" panose="020B0609020204030204" pitchFamily="49" charset="0"/>
              </a:rPr>
              <a:t>(&amp;storage);</a:t>
            </a:r>
            <a:r>
              <a:rPr lang="en-US" sz="1000" b="0" dirty="0">
                <a:solidFill>
                  <a:srgbClr val="6A9955"/>
                </a:solidFill>
                <a:effectLst/>
                <a:latin typeface="Consolas" panose="020B0609020204030204" pitchFamily="49" charset="0"/>
              </a:rPr>
              <a:t> // must explicitly pass storage everywhere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p:txBody>
      </p:sp>
      <p:sp>
        <p:nvSpPr>
          <p:cNvPr id="9" name="Text 3">
            <a:extLst>
              <a:ext uri="{FF2B5EF4-FFF2-40B4-BE49-F238E27FC236}">
                <a16:creationId xmlns:a16="http://schemas.microsoft.com/office/drawing/2014/main" id="{80E5243B-EE07-8466-02B9-CEB4EC916979}"/>
              </a:ext>
            </a:extLst>
          </p:cNvPr>
          <p:cNvSpPr/>
          <p:nvPr/>
        </p:nvSpPr>
        <p:spPr>
          <a:xfrm>
            <a:off x="411480" y="553211"/>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Tree>
    <p:extLst>
      <p:ext uri="{BB962C8B-B14F-4D97-AF65-F5344CB8AC3E}">
        <p14:creationId xmlns:p14="http://schemas.microsoft.com/office/powerpoint/2010/main" val="3473686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1AE7E-1411-FBC4-DDAA-DF2E871BE98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61ACBEB-475C-C290-27C7-85AC97123EF3}"/>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132D6ED5-D598-7366-2DDF-F9D4F1C0F7A6}"/>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2" name="Text 6">
            <a:extLst>
              <a:ext uri="{FF2B5EF4-FFF2-40B4-BE49-F238E27FC236}">
                <a16:creationId xmlns:a16="http://schemas.microsoft.com/office/drawing/2014/main" id="{0EBA7AC1-E469-49E2-5246-8714AAA6E63B}"/>
              </a:ext>
            </a:extLst>
          </p:cNvPr>
          <p:cNvSpPr/>
          <p:nvPr/>
        </p:nvSpPr>
        <p:spPr>
          <a:xfrm>
            <a:off x="292607" y="886967"/>
            <a:ext cx="4923970"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level4</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IStorage</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dirty="0">
                <a:solidFill>
                  <a:srgbClr val="9CDCFE"/>
                </a:solidFill>
                <a:latin typeface="Consolas" panose="020B0609020204030204" pitchFamily="49" charset="0"/>
              </a:rPr>
              <a:t>storage</a:t>
            </a:r>
            <a:r>
              <a:rPr lang="en-US" sz="1000" dirty="0">
                <a:solidFill>
                  <a:srgbClr val="D4D4D4"/>
                </a:solidFill>
                <a:latin typeface="Consolas" panose="020B0609020204030204" pitchFamily="49" charset="0"/>
              </a:rPr>
              <a:t>-&gt;</a:t>
            </a:r>
            <a:r>
              <a:rPr lang="en-US" sz="1000" dirty="0">
                <a:solidFill>
                  <a:srgbClr val="DCDCAA"/>
                </a:solidFill>
                <a:latin typeface="Consolas" panose="020B0609020204030204" pitchFamily="49" charset="0"/>
              </a:rPr>
              <a:t>set</a:t>
            </a:r>
            <a:r>
              <a:rPr lang="en-US" sz="1000" dirty="0">
                <a:solidFill>
                  <a:srgbClr val="D4D4D4"/>
                </a:solidFill>
                <a:latin typeface="Consolas" panose="020B0609020204030204" pitchFamily="49" charset="0"/>
              </a:rPr>
              <a:t>(</a:t>
            </a:r>
            <a:r>
              <a:rPr lang="en-US" sz="1000" dirty="0">
                <a:solidFill>
                  <a:srgbClr val="CE9178"/>
                </a:solidFill>
                <a:latin typeface="Consolas" panose="020B0609020204030204" pitchFamily="49" charset="0"/>
              </a:rPr>
              <a:t>"theme"</a:t>
            </a:r>
            <a:r>
              <a:rPr lang="en-US" sz="1000" dirty="0">
                <a:solidFill>
                  <a:srgbClr val="D4D4D4"/>
                </a:solidFill>
                <a:latin typeface="Consolas" panose="020B0609020204030204" pitchFamily="49" charset="0"/>
              </a:rPr>
              <a:t>, </a:t>
            </a:r>
            <a:r>
              <a:rPr lang="en-US" sz="1000" dirty="0">
                <a:solidFill>
                  <a:srgbClr val="CE9178"/>
                </a:solidFill>
                <a:latin typeface="Consolas" panose="020B0609020204030204" pitchFamily="49" charset="0"/>
              </a:rPr>
              <a:t>"dark"</a:t>
            </a:r>
            <a:r>
              <a:rPr lang="en-US" sz="1000" dirty="0">
                <a:solidFill>
                  <a:srgbClr val="D4D4D4"/>
                </a:solidFill>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level3</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IStorage</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p>
          <a:p>
            <a:pPr>
              <a:lnSpc>
                <a:spcPts val="1425"/>
              </a:lnSpc>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level4</a:t>
            </a:r>
            <a:r>
              <a:rPr lang="en-US" sz="1000" b="0" dirty="0">
                <a:solidFill>
                  <a:srgbClr val="D4D4D4"/>
                </a:solidFill>
                <a:effectLst/>
                <a:latin typeface="Consolas" panose="020B0609020204030204" pitchFamily="49" charset="0"/>
              </a:rPr>
              <a:t>(</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r>
              <a:rPr lang="en-US" sz="1000" dirty="0">
                <a:solidFill>
                  <a:srgbClr val="6A9955"/>
                </a:solidFill>
                <a:latin typeface="Consolas" panose="020B0609020204030204" pitchFamily="49" charset="0"/>
              </a:rPr>
              <a:t>// This needs storage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level2</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IStorage</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p>
          <a:p>
            <a:pPr>
              <a:lnSpc>
                <a:spcPts val="1425"/>
              </a:lnSpc>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level3</a:t>
            </a:r>
            <a:r>
              <a:rPr lang="en-US" sz="1000" b="0" dirty="0">
                <a:solidFill>
                  <a:srgbClr val="D4D4D4"/>
                </a:solidFill>
                <a:effectLst/>
                <a:latin typeface="Consolas" panose="020B0609020204030204" pitchFamily="49" charset="0"/>
              </a:rPr>
              <a:t>(</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r>
              <a:rPr lang="en-US" sz="1000" dirty="0">
                <a:solidFill>
                  <a:srgbClr val="6A9955"/>
                </a:solidFill>
                <a:latin typeface="Consolas" panose="020B0609020204030204" pitchFamily="49" charset="0"/>
              </a:rPr>
              <a:t>// Doesn’t need storage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level1</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IStorage</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level2</a:t>
            </a:r>
            <a:r>
              <a:rPr lang="en-US" sz="1000" b="0" dirty="0">
                <a:solidFill>
                  <a:srgbClr val="D4D4D4"/>
                </a:solidFill>
                <a:effectLst/>
                <a:latin typeface="Consolas" panose="020B0609020204030204" pitchFamily="49" charset="0"/>
              </a:rPr>
              <a:t>(</a:t>
            </a:r>
            <a:r>
              <a:rPr lang="en-US" sz="1000" b="0" dirty="0">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r>
              <a:rPr lang="en-US" sz="1000" dirty="0">
                <a:solidFill>
                  <a:srgbClr val="6A9955"/>
                </a:solidFill>
                <a:latin typeface="Consolas" panose="020B0609020204030204" pitchFamily="49" charset="0"/>
              </a:rPr>
              <a:t>// Doesn’t need storage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main</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level1</a:t>
            </a:r>
            <a:r>
              <a:rPr lang="en-US" sz="1000" b="0" dirty="0">
                <a:solidFill>
                  <a:srgbClr val="D4D4D4"/>
                </a:solidFill>
                <a:effectLst/>
                <a:latin typeface="Consolas" panose="020B0609020204030204" pitchFamily="49" charset="0"/>
              </a:rPr>
              <a:t>(&amp;storage);</a:t>
            </a:r>
            <a:r>
              <a:rPr lang="en-US" sz="1000" b="0" dirty="0">
                <a:solidFill>
                  <a:srgbClr val="6A9955"/>
                </a:solidFill>
                <a:effectLst/>
                <a:latin typeface="Consolas" panose="020B0609020204030204" pitchFamily="49" charset="0"/>
              </a:rPr>
              <a:t> // must explicitly pass storage everywhere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p:txBody>
      </p:sp>
      <p:sp>
        <p:nvSpPr>
          <p:cNvPr id="6" name="Text 2">
            <a:extLst>
              <a:ext uri="{FF2B5EF4-FFF2-40B4-BE49-F238E27FC236}">
                <a16:creationId xmlns:a16="http://schemas.microsoft.com/office/drawing/2014/main" id="{9BC565ED-4D4D-F0EC-5EDA-5E9B3D1A5E76}"/>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#2 — Violation of 'Pay For What You Use'</a:t>
            </a:r>
            <a:endParaRPr lang="en-US" sz="1900" dirty="0"/>
          </a:p>
        </p:txBody>
      </p:sp>
      <p:sp>
        <p:nvSpPr>
          <p:cNvPr id="7" name="Text 3">
            <a:extLst>
              <a:ext uri="{FF2B5EF4-FFF2-40B4-BE49-F238E27FC236}">
                <a16:creationId xmlns:a16="http://schemas.microsoft.com/office/drawing/2014/main" id="{B5AE39EA-BC80-7724-26EE-41FB220C0D73}"/>
              </a:ext>
            </a:extLst>
          </p:cNvPr>
          <p:cNvSpPr/>
          <p:nvPr/>
        </p:nvSpPr>
        <p:spPr>
          <a:xfrm>
            <a:off x="411480" y="553211"/>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4" name="Text 3">
            <a:extLst>
              <a:ext uri="{FF2B5EF4-FFF2-40B4-BE49-F238E27FC236}">
                <a16:creationId xmlns:a16="http://schemas.microsoft.com/office/drawing/2014/main" id="{B87489D0-7413-8D3E-5FFC-5905F66F248F}"/>
              </a:ext>
            </a:extLst>
          </p:cNvPr>
          <p:cNvSpPr/>
          <p:nvPr/>
        </p:nvSpPr>
        <p:spPr>
          <a:xfrm>
            <a:off x="5486400" y="530352"/>
            <a:ext cx="341101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Singleton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5" name="Text 6">
            <a:extLst>
              <a:ext uri="{FF2B5EF4-FFF2-40B4-BE49-F238E27FC236}">
                <a16:creationId xmlns:a16="http://schemas.microsoft.com/office/drawing/2014/main" id="{5BAD831B-6CA9-321D-A404-E8515070673F}"/>
              </a:ext>
            </a:extLst>
          </p:cNvPr>
          <p:cNvSpPr/>
          <p:nvPr/>
        </p:nvSpPr>
        <p:spPr>
          <a:xfrm>
            <a:off x="5321507" y="886968"/>
            <a:ext cx="3575904"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level4</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6A9955"/>
                </a:solidFill>
                <a:effectLst/>
                <a:latin typeface="Consolas" panose="020B0609020204030204" pitchFamily="49" charset="0"/>
              </a:rPr>
              <a:t>    // Storage only used here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Storage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set</a:t>
            </a:r>
            <a:r>
              <a:rPr lang="en-US" sz="1000" b="0" dirty="0">
                <a:solidFill>
                  <a:srgbClr val="D4D4D4"/>
                </a:solidFill>
                <a:effectLst/>
                <a:latin typeface="Consolas" panose="020B0609020204030204" pitchFamily="49" charset="0"/>
              </a:rPr>
              <a:t>(</a:t>
            </a:r>
            <a:r>
              <a:rPr lang="en-US" sz="1000" b="0" dirty="0">
                <a:solidFill>
                  <a:srgbClr val="CE9178"/>
                </a:solidFill>
                <a:effectLst/>
                <a:latin typeface="Consolas" panose="020B0609020204030204" pitchFamily="49" charset="0"/>
              </a:rPr>
              <a:t>"theme"</a:t>
            </a:r>
            <a:r>
              <a:rPr lang="en-US" sz="1000" b="0" dirty="0">
                <a:solidFill>
                  <a:srgbClr val="D4D4D4"/>
                </a:solidFill>
                <a:effectLst/>
                <a:latin typeface="Consolas" panose="020B0609020204030204" pitchFamily="49" charset="0"/>
              </a:rPr>
              <a:t>, </a:t>
            </a:r>
            <a:r>
              <a:rPr lang="en-US" sz="1000" b="0" dirty="0">
                <a:solidFill>
                  <a:srgbClr val="CE9178"/>
                </a:solidFill>
                <a:effectLst/>
                <a:latin typeface="Consolas" panose="020B0609020204030204" pitchFamily="49" charset="0"/>
              </a:rPr>
              <a:t>"dark</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level3</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level4</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level2</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level3</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level1</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level2</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main</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level1</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004808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610CD-3539-F86F-F07D-A7D0283067F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FFCB83E-AC0B-804F-D25B-AE15C27B2C85}"/>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D2211569-F43C-0B04-E00C-21156DE59DB8}"/>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D943178E-F119-1E76-063A-5B59B510642D}"/>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#2 — Violation of 'Pay For What You Use'</a:t>
            </a:r>
            <a:endParaRPr lang="en-US" sz="1900" dirty="0"/>
          </a:p>
        </p:txBody>
      </p:sp>
      <p:sp>
        <p:nvSpPr>
          <p:cNvPr id="7" name="Text 4">
            <a:extLst>
              <a:ext uri="{FF2B5EF4-FFF2-40B4-BE49-F238E27FC236}">
                <a16:creationId xmlns:a16="http://schemas.microsoft.com/office/drawing/2014/main" id="{818E96D6-1668-3976-AD44-9DAF9F2DCE7F}"/>
              </a:ext>
            </a:extLst>
          </p:cNvPr>
          <p:cNvSpPr/>
          <p:nvPr/>
        </p:nvSpPr>
        <p:spPr>
          <a:xfrm>
            <a:off x="4946754" y="841248"/>
            <a:ext cx="3957105"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References aren’t free, they occupy memory and incur pointer indirection overhead. Now everybody is paying for your internal references without knowing about it even if they don’t need it</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 problem usually grows exponentially as each dependency of your class will also need its own dependencies to be injected into them and they will have to store it internally for their own use too</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Your code ends up having multiple pointers pointing to the same object, each pointer occupies unnecessary memory and adds layers of indirection to the object they are referencing</a:t>
            </a:r>
          </a:p>
        </p:txBody>
      </p:sp>
      <p:sp>
        <p:nvSpPr>
          <p:cNvPr id="8" name="Text 3">
            <a:extLst>
              <a:ext uri="{FF2B5EF4-FFF2-40B4-BE49-F238E27FC236}">
                <a16:creationId xmlns:a16="http://schemas.microsoft.com/office/drawing/2014/main" id="{ED90A490-AEDD-3DBC-45AA-ADD5FDBDB1A2}"/>
              </a:ext>
            </a:extLst>
          </p:cNvPr>
          <p:cNvSpPr/>
          <p:nvPr/>
        </p:nvSpPr>
        <p:spPr>
          <a:xfrm>
            <a:off x="411480" y="521208"/>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9" name="Text 6">
            <a:extLst>
              <a:ext uri="{FF2B5EF4-FFF2-40B4-BE49-F238E27FC236}">
                <a16:creationId xmlns:a16="http://schemas.microsoft.com/office/drawing/2014/main" id="{DD1A2A39-BFF8-FE6B-027C-A748F2ACE69B}"/>
              </a:ext>
            </a:extLst>
          </p:cNvPr>
          <p:cNvSpPr/>
          <p:nvPr/>
        </p:nvSpPr>
        <p:spPr>
          <a:xfrm>
            <a:off x="292607" y="841248"/>
            <a:ext cx="4459275" cy="4000499"/>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comm</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IPowerController</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power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ISafetyInterlock</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safety</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4EC9B0"/>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ICollimatorControl</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collimator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IAECModule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aec</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IDetectorCooling</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cooling</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IGridMotion</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grid</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4EC9B0"/>
                </a:solidFill>
                <a:effectLst/>
                <a:latin typeface="Consolas" panose="020B0609020204030204" pitchFamily="49" charset="0"/>
              </a:rPr>
              <a:t>IFilterWheel</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filter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IRemoteMonitoring</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remote</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4EC9B0"/>
                </a:solidFill>
                <a:effectLst/>
                <a:latin typeface="Consolas" panose="020B0609020204030204" pitchFamily="49" charset="0"/>
              </a:rPr>
              <a:t>ILogger</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logger</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 </a:t>
            </a:r>
            <a:r>
              <a:rPr lang="en-US" sz="1000" b="0" dirty="0" err="1">
                <a:solidFill>
                  <a:srgbClr val="DCDCAA"/>
                </a:solidFill>
                <a:effectLst/>
                <a:latin typeface="Consolas" panose="020B0609020204030204" pitchFamily="49" charset="0"/>
              </a:rPr>
              <a:t>m_comm</a:t>
            </a:r>
            <a:r>
              <a:rPr lang="en-US" sz="1000" b="0" dirty="0">
                <a:solidFill>
                  <a:srgbClr val="D4D4D4"/>
                </a:solidFill>
                <a:effectLst/>
                <a:latin typeface="Consolas" panose="020B0609020204030204" pitchFamily="49" charset="0"/>
              </a:rPr>
              <a:t>(comm),</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m_power</a:t>
            </a:r>
            <a:r>
              <a:rPr lang="en-US" sz="1000" b="0" dirty="0">
                <a:solidFill>
                  <a:srgbClr val="D4D4D4"/>
                </a:solidFill>
                <a:effectLst/>
                <a:latin typeface="Consolas" panose="020B0609020204030204" pitchFamily="49" charset="0"/>
              </a:rPr>
              <a:t>(power), </a:t>
            </a:r>
            <a:r>
              <a:rPr lang="en-US" sz="1000" b="0" dirty="0" err="1">
                <a:solidFill>
                  <a:srgbClr val="DCDCAA"/>
                </a:solidFill>
                <a:effectLst/>
                <a:latin typeface="Consolas" panose="020B0609020204030204" pitchFamily="49" charset="0"/>
              </a:rPr>
              <a:t>m_safety</a:t>
            </a:r>
            <a:r>
              <a:rPr lang="en-US" sz="1000" b="0" dirty="0">
                <a:solidFill>
                  <a:srgbClr val="D4D4D4"/>
                </a:solidFill>
                <a:effectLst/>
                <a:latin typeface="Consolas" panose="020B0609020204030204" pitchFamily="49" charset="0"/>
              </a:rPr>
              <a:t>(safety),</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m_collimator</a:t>
            </a:r>
            <a:r>
              <a:rPr lang="en-US" sz="1000" b="0" dirty="0">
                <a:solidFill>
                  <a:srgbClr val="D4D4D4"/>
                </a:solidFill>
                <a:effectLst/>
                <a:latin typeface="Consolas" panose="020B0609020204030204" pitchFamily="49" charset="0"/>
              </a:rPr>
              <a:t>(collimator), </a:t>
            </a:r>
            <a:r>
              <a:rPr lang="en-US" sz="1000" b="0" dirty="0" err="1">
                <a:solidFill>
                  <a:srgbClr val="DCDCAA"/>
                </a:solidFill>
                <a:effectLst/>
                <a:latin typeface="Consolas" panose="020B0609020204030204" pitchFamily="49" charset="0"/>
              </a:rPr>
              <a:t>m_aec</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aec</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m_cooling</a:t>
            </a:r>
            <a:r>
              <a:rPr lang="en-US" sz="1000" b="0" dirty="0">
                <a:solidFill>
                  <a:srgbClr val="D4D4D4"/>
                </a:solidFill>
                <a:effectLst/>
                <a:latin typeface="Consolas" panose="020B0609020204030204" pitchFamily="49" charset="0"/>
              </a:rPr>
              <a:t>(cooling), </a:t>
            </a:r>
            <a:r>
              <a:rPr lang="en-US" sz="1000" b="0" dirty="0" err="1">
                <a:solidFill>
                  <a:srgbClr val="DCDCAA"/>
                </a:solidFill>
                <a:effectLst/>
                <a:latin typeface="Consolas" panose="020B0609020204030204" pitchFamily="49" charset="0"/>
              </a:rPr>
              <a:t>m_grid</a:t>
            </a:r>
            <a:r>
              <a:rPr lang="en-US" sz="1000" b="0" dirty="0">
                <a:solidFill>
                  <a:srgbClr val="D4D4D4"/>
                </a:solidFill>
                <a:effectLst/>
                <a:latin typeface="Consolas" panose="020B0609020204030204" pitchFamily="49" charset="0"/>
              </a:rPr>
              <a:t>(grid),</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m_filter</a:t>
            </a:r>
            <a:r>
              <a:rPr lang="en-US" sz="1000" b="0" dirty="0">
                <a:solidFill>
                  <a:srgbClr val="D4D4D4"/>
                </a:solidFill>
                <a:effectLst/>
                <a:latin typeface="Consolas" panose="020B0609020204030204" pitchFamily="49" charset="0"/>
              </a:rPr>
              <a:t>(filter), </a:t>
            </a:r>
            <a:r>
              <a:rPr lang="en-US" sz="1000" b="0" dirty="0" err="1">
                <a:solidFill>
                  <a:srgbClr val="DCDCAA"/>
                </a:solidFill>
                <a:effectLst/>
                <a:latin typeface="Consolas" panose="020B0609020204030204" pitchFamily="49" charset="0"/>
              </a:rPr>
              <a:t>m_remote</a:t>
            </a:r>
            <a:r>
              <a:rPr lang="en-US" sz="1000" b="0" dirty="0">
                <a:solidFill>
                  <a:srgbClr val="D4D4D4"/>
                </a:solidFill>
                <a:effectLst/>
                <a:latin typeface="Consolas" panose="020B0609020204030204" pitchFamily="49" charset="0"/>
              </a:rPr>
              <a:t>(remote),</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m_logger</a:t>
            </a:r>
            <a:r>
              <a:rPr lang="en-US" sz="1000" b="0" dirty="0">
                <a:solidFill>
                  <a:srgbClr val="D4D4D4"/>
                </a:solidFill>
                <a:effectLst/>
                <a:latin typeface="Consolas" panose="020B0609020204030204" pitchFamily="49" charset="0"/>
              </a:rPr>
              <a:t>(logger)</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All these member variables must be stored..</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242735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C2FD1-49D7-740E-E9CC-39AB924E5BB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1C99CB4-1FA7-9B30-A6F0-15B3A2B76296}"/>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AC70BFBB-9C73-9C32-A5FE-E088412A0587}"/>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CEF2E1C9-1018-B5A7-58E3-40A3BFC6D452}"/>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#2 — Violation of 'Pay For What You Use'</a:t>
            </a:r>
            <a:endParaRPr lang="en-US" sz="1900" dirty="0"/>
          </a:p>
        </p:txBody>
      </p:sp>
      <p:sp>
        <p:nvSpPr>
          <p:cNvPr id="6" name="Text 6">
            <a:extLst>
              <a:ext uri="{FF2B5EF4-FFF2-40B4-BE49-F238E27FC236}">
                <a16:creationId xmlns:a16="http://schemas.microsoft.com/office/drawing/2014/main" id="{B1B8D720-B6C8-6DC0-ADB2-3EEC32F946CF}"/>
              </a:ext>
            </a:extLst>
          </p:cNvPr>
          <p:cNvSpPr/>
          <p:nvPr/>
        </p:nvSpPr>
        <p:spPr>
          <a:xfrm>
            <a:off x="292607" y="841248"/>
            <a:ext cx="4459275" cy="4000499"/>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comm</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IPowerController</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power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ISafetyInterlock</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safety</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4EC9B0"/>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ICollimatorControl</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collimator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IAECModule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aec</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IDetectorCooling</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cooling</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IGridMotion</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grid</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4EC9B0"/>
                </a:solidFill>
                <a:effectLst/>
                <a:latin typeface="Consolas" panose="020B0609020204030204" pitchFamily="49" charset="0"/>
              </a:rPr>
              <a:t>IFilterWheel</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filter</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IRemoteMonitoring</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remote</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4EC9B0"/>
                </a:solidFill>
                <a:effectLst/>
                <a:latin typeface="Consolas" panose="020B0609020204030204" pitchFamily="49" charset="0"/>
              </a:rPr>
              <a:t>ILogger</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logger</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 </a:t>
            </a:r>
            <a:r>
              <a:rPr lang="en-US" sz="1000" b="0" dirty="0" err="1">
                <a:solidFill>
                  <a:srgbClr val="DCDCAA"/>
                </a:solidFill>
                <a:effectLst/>
                <a:latin typeface="Consolas" panose="020B0609020204030204" pitchFamily="49" charset="0"/>
              </a:rPr>
              <a:t>m_comm</a:t>
            </a:r>
            <a:r>
              <a:rPr lang="en-US" sz="1000" b="0" dirty="0">
                <a:solidFill>
                  <a:srgbClr val="D4D4D4"/>
                </a:solidFill>
                <a:effectLst/>
                <a:latin typeface="Consolas" panose="020B0609020204030204" pitchFamily="49" charset="0"/>
              </a:rPr>
              <a:t>(comm),</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m_power</a:t>
            </a:r>
            <a:r>
              <a:rPr lang="en-US" sz="1000" b="0" dirty="0">
                <a:solidFill>
                  <a:srgbClr val="D4D4D4"/>
                </a:solidFill>
                <a:effectLst/>
                <a:latin typeface="Consolas" panose="020B0609020204030204" pitchFamily="49" charset="0"/>
              </a:rPr>
              <a:t>(power), </a:t>
            </a:r>
            <a:r>
              <a:rPr lang="en-US" sz="1000" b="0" dirty="0" err="1">
                <a:solidFill>
                  <a:srgbClr val="DCDCAA"/>
                </a:solidFill>
                <a:effectLst/>
                <a:latin typeface="Consolas" panose="020B0609020204030204" pitchFamily="49" charset="0"/>
              </a:rPr>
              <a:t>m_safety</a:t>
            </a:r>
            <a:r>
              <a:rPr lang="en-US" sz="1000" b="0" dirty="0">
                <a:solidFill>
                  <a:srgbClr val="D4D4D4"/>
                </a:solidFill>
                <a:effectLst/>
                <a:latin typeface="Consolas" panose="020B0609020204030204" pitchFamily="49" charset="0"/>
              </a:rPr>
              <a:t>(safety),</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m_collimator</a:t>
            </a:r>
            <a:r>
              <a:rPr lang="en-US" sz="1000" b="0" dirty="0">
                <a:solidFill>
                  <a:srgbClr val="D4D4D4"/>
                </a:solidFill>
                <a:effectLst/>
                <a:latin typeface="Consolas" panose="020B0609020204030204" pitchFamily="49" charset="0"/>
              </a:rPr>
              <a:t>(collimator), </a:t>
            </a:r>
            <a:r>
              <a:rPr lang="en-US" sz="1000" b="0" dirty="0" err="1">
                <a:solidFill>
                  <a:srgbClr val="DCDCAA"/>
                </a:solidFill>
                <a:effectLst/>
                <a:latin typeface="Consolas" panose="020B0609020204030204" pitchFamily="49" charset="0"/>
              </a:rPr>
              <a:t>m_aec</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aec</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m_cooling</a:t>
            </a:r>
            <a:r>
              <a:rPr lang="en-US" sz="1000" b="0" dirty="0">
                <a:solidFill>
                  <a:srgbClr val="D4D4D4"/>
                </a:solidFill>
                <a:effectLst/>
                <a:latin typeface="Consolas" panose="020B0609020204030204" pitchFamily="49" charset="0"/>
              </a:rPr>
              <a:t>(cooling), </a:t>
            </a:r>
            <a:r>
              <a:rPr lang="en-US" sz="1000" b="0" dirty="0" err="1">
                <a:solidFill>
                  <a:srgbClr val="DCDCAA"/>
                </a:solidFill>
                <a:effectLst/>
                <a:latin typeface="Consolas" panose="020B0609020204030204" pitchFamily="49" charset="0"/>
              </a:rPr>
              <a:t>m_grid</a:t>
            </a:r>
            <a:r>
              <a:rPr lang="en-US" sz="1000" b="0" dirty="0">
                <a:solidFill>
                  <a:srgbClr val="D4D4D4"/>
                </a:solidFill>
                <a:effectLst/>
                <a:latin typeface="Consolas" panose="020B0609020204030204" pitchFamily="49" charset="0"/>
              </a:rPr>
              <a:t>(grid),</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m_filter</a:t>
            </a:r>
            <a:r>
              <a:rPr lang="en-US" sz="1000" b="0" dirty="0">
                <a:solidFill>
                  <a:srgbClr val="D4D4D4"/>
                </a:solidFill>
                <a:effectLst/>
                <a:latin typeface="Consolas" panose="020B0609020204030204" pitchFamily="49" charset="0"/>
              </a:rPr>
              <a:t>(filter), </a:t>
            </a:r>
            <a:r>
              <a:rPr lang="en-US" sz="1000" b="0" dirty="0" err="1">
                <a:solidFill>
                  <a:srgbClr val="DCDCAA"/>
                </a:solidFill>
                <a:effectLst/>
                <a:latin typeface="Consolas" panose="020B0609020204030204" pitchFamily="49" charset="0"/>
              </a:rPr>
              <a:t>m_remote</a:t>
            </a:r>
            <a:r>
              <a:rPr lang="en-US" sz="1000" b="0" dirty="0">
                <a:solidFill>
                  <a:srgbClr val="D4D4D4"/>
                </a:solidFill>
                <a:effectLst/>
                <a:latin typeface="Consolas" panose="020B0609020204030204" pitchFamily="49" charset="0"/>
              </a:rPr>
              <a:t>(remote),</a:t>
            </a:r>
          </a:p>
          <a:p>
            <a:pPr>
              <a:lnSpc>
                <a:spcPts val="1425"/>
              </a:lnSpc>
              <a:buNone/>
            </a:pPr>
            <a:r>
              <a:rPr lang="en-US" sz="1000" dirty="0">
                <a:solidFill>
                  <a:srgbClr val="D4D4D4"/>
                </a:solidFill>
                <a:latin typeface="Consolas" panose="020B0609020204030204" pitchFamily="49" charset="0"/>
              </a:rPr>
              <a:t>          </a:t>
            </a:r>
            <a:r>
              <a:rPr lang="en-US" sz="1000" b="0" dirty="0" err="1">
                <a:solidFill>
                  <a:srgbClr val="DCDCAA"/>
                </a:solidFill>
                <a:effectLst/>
                <a:latin typeface="Consolas" panose="020B0609020204030204" pitchFamily="49" charset="0"/>
              </a:rPr>
              <a:t>m_logger</a:t>
            </a:r>
            <a:r>
              <a:rPr lang="en-US" sz="1000" b="0" dirty="0">
                <a:solidFill>
                  <a:srgbClr val="D4D4D4"/>
                </a:solidFill>
                <a:effectLst/>
                <a:latin typeface="Consolas" panose="020B0609020204030204" pitchFamily="49" charset="0"/>
              </a:rPr>
              <a:t>(logger)</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All these member variables must be stored..</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8" name="Text 3">
            <a:extLst>
              <a:ext uri="{FF2B5EF4-FFF2-40B4-BE49-F238E27FC236}">
                <a16:creationId xmlns:a16="http://schemas.microsoft.com/office/drawing/2014/main" id="{D0FDF0D0-DCE3-B8D8-626F-D0C6C3F7FA9A}"/>
              </a:ext>
            </a:extLst>
          </p:cNvPr>
          <p:cNvSpPr/>
          <p:nvPr/>
        </p:nvSpPr>
        <p:spPr>
          <a:xfrm>
            <a:off x="411480" y="530352"/>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5" name="Text 3">
            <a:extLst>
              <a:ext uri="{FF2B5EF4-FFF2-40B4-BE49-F238E27FC236}">
                <a16:creationId xmlns:a16="http://schemas.microsoft.com/office/drawing/2014/main" id="{EDFE101B-9EE8-F077-9DB9-1BE99C113987}"/>
              </a:ext>
            </a:extLst>
          </p:cNvPr>
          <p:cNvSpPr/>
          <p:nvPr/>
        </p:nvSpPr>
        <p:spPr>
          <a:xfrm>
            <a:off x="5104151" y="530352"/>
            <a:ext cx="341101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Singleton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9" name="Text 6">
            <a:extLst>
              <a:ext uri="{FF2B5EF4-FFF2-40B4-BE49-F238E27FC236}">
                <a16:creationId xmlns:a16="http://schemas.microsoft.com/office/drawing/2014/main" id="{A3A522B4-9C59-D517-B51E-E1EA0A2B4B71}"/>
              </a:ext>
            </a:extLst>
          </p:cNvPr>
          <p:cNvSpPr/>
          <p:nvPr/>
        </p:nvSpPr>
        <p:spPr>
          <a:xfrm>
            <a:off x="4946754" y="841248"/>
            <a:ext cx="3950657"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private: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No space used to hold references</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40461117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C7672-1293-997B-14A1-AF7BC0BF073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20FF76-F110-489A-93C5-4EAE492B1217}"/>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3DAAB5F0-B341-0CDE-1518-D8AE438DE2DA}"/>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811D0F5F-8CA5-7AFD-25E8-0ADAB9FD2BCD}"/>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DI Problem #3 — Violation of ‘Encapsulation’</a:t>
            </a:r>
            <a:endParaRPr lang="en-US" sz="1900" dirty="0"/>
          </a:p>
        </p:txBody>
      </p:sp>
      <p:sp>
        <p:nvSpPr>
          <p:cNvPr id="5" name="Text 3">
            <a:extLst>
              <a:ext uri="{FF2B5EF4-FFF2-40B4-BE49-F238E27FC236}">
                <a16:creationId xmlns:a16="http://schemas.microsoft.com/office/drawing/2014/main" id="{EDE955EE-8245-95F8-1BA8-D8F163103C34}"/>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SECTION 02 · DI PROBLEMS</a:t>
            </a:r>
            <a:endParaRPr lang="en-US" sz="1000" dirty="0"/>
          </a:p>
        </p:txBody>
      </p:sp>
      <p:sp>
        <p:nvSpPr>
          <p:cNvPr id="6" name="Text 4">
            <a:extLst>
              <a:ext uri="{FF2B5EF4-FFF2-40B4-BE49-F238E27FC236}">
                <a16:creationId xmlns:a16="http://schemas.microsoft.com/office/drawing/2014/main" id="{3A750426-41FD-7219-60C7-317FA7720D50}"/>
              </a:ext>
            </a:extLst>
          </p:cNvPr>
          <p:cNvSpPr/>
          <p:nvPr/>
        </p:nvSpPr>
        <p:spPr>
          <a:xfrm>
            <a:off x="411480" y="850392"/>
            <a:ext cx="8321040" cy="259734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C++ has no </a:t>
            </a:r>
            <a:r>
              <a:rPr lang="en-US" sz="1600" dirty="0">
                <a:solidFill>
                  <a:srgbClr val="569CD6"/>
                </a:solidFill>
                <a:latin typeface="Calibri" pitchFamily="34" charset="0"/>
                <a:ea typeface="Calibri" pitchFamily="34" charset="-122"/>
                <a:cs typeface="Calibri" pitchFamily="34" charset="-120"/>
              </a:rPr>
              <a:t>internal</a:t>
            </a:r>
            <a:r>
              <a:rPr lang="en-US" sz="1600" dirty="0">
                <a:solidFill>
                  <a:srgbClr val="1E3A5F"/>
                </a:solidFill>
                <a:latin typeface="Calibri" pitchFamily="34" charset="0"/>
                <a:ea typeface="Calibri" pitchFamily="34" charset="-122"/>
                <a:cs typeface="Calibri" pitchFamily="34" charset="-120"/>
              </a:rPr>
              <a:t> keyword (unlike C# and its siblings) that we can use to limit access to our implementation details— our only boundary is the header file</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To ensure testability, DI necessitates that every dependency become a constructor parameter (or accessible through getters and setters) — which makes it visible to all API users</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Now, a private design decision (How we want to test our components) and an implementation detail (How our Device class communicates with hardware) became visible in public API</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Every user of our object now knows about how our abstraction works internally</a:t>
            </a:r>
          </a:p>
          <a:p>
            <a:pPr marL="342900" indent="-342900">
              <a:spcAft>
                <a:spcPts val="600"/>
              </a:spcAft>
              <a:buSzPct val="100000"/>
              <a:buChar char="•"/>
            </a:pPr>
            <a:r>
              <a:rPr lang="en-US" sz="1600" b="1" dirty="0">
                <a:solidFill>
                  <a:srgbClr val="1E3A5F"/>
                </a:solidFill>
                <a:latin typeface="Calibri" pitchFamily="34" charset="0"/>
                <a:ea typeface="Calibri" pitchFamily="34" charset="-122"/>
                <a:cs typeface="Calibri" pitchFamily="34" charset="-120"/>
              </a:rPr>
              <a:t>DI violated encapsulation in the sense that it made dependencies visible to users</a:t>
            </a:r>
            <a:br>
              <a:rPr lang="en-US" sz="1600" b="1" dirty="0">
                <a:solidFill>
                  <a:srgbClr val="1E3A5F"/>
                </a:solidFill>
                <a:latin typeface="Calibri" pitchFamily="34" charset="0"/>
                <a:ea typeface="Calibri" pitchFamily="34" charset="-122"/>
                <a:cs typeface="Calibri" pitchFamily="34" charset="-120"/>
              </a:rPr>
            </a:br>
            <a:r>
              <a:rPr lang="en-US" sz="1600" b="1" dirty="0">
                <a:solidFill>
                  <a:srgbClr val="1E3A5F"/>
                </a:solidFill>
                <a:latin typeface="Calibri" pitchFamily="34" charset="0"/>
                <a:ea typeface="Calibri" pitchFamily="34" charset="-122"/>
                <a:cs typeface="Calibri" pitchFamily="34" charset="-120"/>
              </a:rPr>
              <a:t>It mutated the public API to accommodate implementation details / testing techniques</a:t>
            </a:r>
            <a:endParaRPr lang="en-US" sz="1600" dirty="0"/>
          </a:p>
        </p:txBody>
      </p:sp>
      <p:sp>
        <p:nvSpPr>
          <p:cNvPr id="7" name="Text 4">
            <a:extLst>
              <a:ext uri="{FF2B5EF4-FFF2-40B4-BE49-F238E27FC236}">
                <a16:creationId xmlns:a16="http://schemas.microsoft.com/office/drawing/2014/main" id="{31454A6E-3484-70F6-5350-68B89D07C852}"/>
              </a:ext>
            </a:extLst>
          </p:cNvPr>
          <p:cNvSpPr/>
          <p:nvPr/>
        </p:nvSpPr>
        <p:spPr>
          <a:xfrm>
            <a:off x="411480" y="3679733"/>
            <a:ext cx="8321040" cy="921489"/>
          </a:xfrm>
          <a:prstGeom prst="rect">
            <a:avLst/>
          </a:prstGeom>
          <a:solidFill>
            <a:schemeClr val="accent4">
              <a:lumMod val="40000"/>
              <a:lumOff val="60000"/>
            </a:schemeClr>
          </a:solidFill>
          <a:ln/>
        </p:spPr>
        <p:txBody>
          <a:bodyPr wrap="square" rtlCol="0" anchor="t"/>
          <a:lstStyle/>
          <a:p>
            <a:pPr>
              <a:spcAft>
                <a:spcPts val="600"/>
              </a:spcAft>
              <a:buSzPct val="100000"/>
            </a:pPr>
            <a:r>
              <a:rPr lang="en-US" sz="1200" b="1" dirty="0">
                <a:solidFill>
                  <a:srgbClr val="1E3A5F"/>
                </a:solidFill>
              </a:rPr>
              <a:t>Rule of thumb:</a:t>
            </a:r>
          </a:p>
          <a:p>
            <a:pPr>
              <a:spcAft>
                <a:spcPts val="600"/>
              </a:spcAft>
              <a:buSzPct val="100000"/>
            </a:pPr>
            <a:r>
              <a:rPr lang="en-US" sz="1200" dirty="0">
                <a:solidFill>
                  <a:srgbClr val="1E3A5F"/>
                </a:solidFill>
              </a:rPr>
              <a:t>Don’t introduce an interface unless you have at least two meaningful implementations — or a credible reason to expect them.</a:t>
            </a:r>
            <a:br>
              <a:rPr lang="en-US" sz="1200" dirty="0">
                <a:solidFill>
                  <a:srgbClr val="1E3A5F"/>
                </a:solidFill>
              </a:rPr>
            </a:br>
            <a:r>
              <a:rPr lang="en-US" sz="1200" dirty="0">
                <a:solidFill>
                  <a:srgbClr val="1E3A5F"/>
                </a:solidFill>
              </a:rPr>
              <a:t>Abstractions should exist to model domain variability, not to compensate for testing strategy.</a:t>
            </a:r>
          </a:p>
        </p:txBody>
      </p:sp>
    </p:spTree>
    <p:extLst>
      <p:ext uri="{BB962C8B-B14F-4D97-AF65-F5344CB8AC3E}">
        <p14:creationId xmlns:p14="http://schemas.microsoft.com/office/powerpoint/2010/main" val="1598198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E819-41FB-F772-460E-574B5EB28D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356F127-FF3C-72AD-4174-44F3FB3F5AAC}"/>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D7DF0046-B6F0-CC06-0811-DDE92D7392DC}"/>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DF194A8B-524E-7641-9CD3-F2FDFB7395CB}"/>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DI Problem #3 — Violation of ‘Encapsulation’</a:t>
            </a:r>
            <a:endParaRPr lang="en-US" sz="1900" dirty="0"/>
          </a:p>
        </p:txBody>
      </p:sp>
      <p:sp>
        <p:nvSpPr>
          <p:cNvPr id="5" name="Text 3">
            <a:extLst>
              <a:ext uri="{FF2B5EF4-FFF2-40B4-BE49-F238E27FC236}">
                <a16:creationId xmlns:a16="http://schemas.microsoft.com/office/drawing/2014/main" id="{7480F7CC-BAF1-D48A-C8C2-CEACB0F408F2}"/>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8" name="Text 6">
            <a:extLst>
              <a:ext uri="{FF2B5EF4-FFF2-40B4-BE49-F238E27FC236}">
                <a16:creationId xmlns:a16="http://schemas.microsoft.com/office/drawing/2014/main" id="{33ECDB66-42F6-2B9E-1968-A24C18C44954}"/>
              </a:ext>
            </a:extLst>
          </p:cNvPr>
          <p:cNvSpPr/>
          <p:nvPr/>
        </p:nvSpPr>
        <p:spPr>
          <a:xfrm>
            <a:off x="292608" y="886968"/>
            <a:ext cx="4654146"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default</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 </a:t>
            </a:r>
            <a:r>
              <a:rPr lang="en-US" sz="1000" b="0" dirty="0" err="1">
                <a:solidFill>
                  <a:srgbClr val="DCDCAA"/>
                </a:solidFill>
                <a:effectLst/>
                <a:latin typeface="Consolas" panose="020B0609020204030204" pitchFamily="49" charset="0"/>
              </a:rPr>
              <a:t>receiveData</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sendData</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data</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CanBusCommunication</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 </a:t>
            </a:r>
            <a:r>
              <a:rPr lang="en-US" sz="1000" b="0" dirty="0" err="1">
                <a:solidFill>
                  <a:srgbClr val="DCDCAA"/>
                </a:solidFill>
                <a:effectLst/>
                <a:latin typeface="Consolas" panose="020B0609020204030204" pitchFamily="49" charset="0"/>
              </a:rPr>
              <a:t>receiveData</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sendData</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data</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ICommunicationInterface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comm</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6" name="Text 4">
            <a:extLst>
              <a:ext uri="{FF2B5EF4-FFF2-40B4-BE49-F238E27FC236}">
                <a16:creationId xmlns:a16="http://schemas.microsoft.com/office/drawing/2014/main" id="{232CB76E-8F85-A53E-0900-6E68DF831CDB}"/>
              </a:ext>
            </a:extLst>
          </p:cNvPr>
          <p:cNvSpPr/>
          <p:nvPr/>
        </p:nvSpPr>
        <p:spPr>
          <a:xfrm>
            <a:off x="5126636" y="850392"/>
            <a:ext cx="3889948"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Users are aware that we communicate with the device using some communication protocol</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 argument that:</a:t>
            </a:r>
            <a:br>
              <a:rPr lang="en-US" sz="1600" dirty="0">
                <a:solidFill>
                  <a:srgbClr val="1E3A5F"/>
                </a:solidFill>
                <a:latin typeface="Calibri" pitchFamily="34" charset="0"/>
                <a:ea typeface="Calibri" pitchFamily="34" charset="-122"/>
                <a:cs typeface="Calibri" pitchFamily="34" charset="-120"/>
              </a:rPr>
            </a:br>
            <a:r>
              <a:rPr lang="en-US" sz="1600" i="1" dirty="0">
                <a:solidFill>
                  <a:srgbClr val="1E3A5F"/>
                </a:solidFill>
                <a:latin typeface="Calibri" pitchFamily="34" charset="0"/>
                <a:ea typeface="Calibri" pitchFamily="34" charset="-122"/>
                <a:cs typeface="Calibri" pitchFamily="34" charset="-120"/>
              </a:rPr>
              <a:t>‘We need this interface to be able to Mock our code for unit tests’</a:t>
            </a:r>
            <a:br>
              <a:rPr lang="en-US" sz="1600"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isn’t an excuse. We just weakened encapsulation by exposing an implementation detail in public API</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In our specific case, all subsystems communicate with each other through CAN only. So, effectively this is a useless abstraction that is confusing to users, and we will have to maintain forever</a:t>
            </a:r>
            <a:endParaRPr lang="en-US" sz="1600" dirty="0"/>
          </a:p>
        </p:txBody>
      </p:sp>
    </p:spTree>
    <p:extLst>
      <p:ext uri="{BB962C8B-B14F-4D97-AF65-F5344CB8AC3E}">
        <p14:creationId xmlns:p14="http://schemas.microsoft.com/office/powerpoint/2010/main" val="12093045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27E75-B383-65E4-9B52-87CFF28B65C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0C2C00B-0969-BF57-DEF7-2E31764C42A3}"/>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A5516083-1DC7-7EF3-4B8F-E497BAD71D80}"/>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B9796231-997A-FA3F-2098-7E9951F110B7}"/>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DI Problem #3 — Violation of ‘Encapsulation’</a:t>
            </a:r>
            <a:endParaRPr lang="en-US" sz="1900" dirty="0"/>
          </a:p>
        </p:txBody>
      </p:sp>
      <p:sp>
        <p:nvSpPr>
          <p:cNvPr id="5" name="Text 3">
            <a:extLst>
              <a:ext uri="{FF2B5EF4-FFF2-40B4-BE49-F238E27FC236}">
                <a16:creationId xmlns:a16="http://schemas.microsoft.com/office/drawing/2014/main" id="{49706E01-44F4-BB14-168A-BF98F72C5AC1}"/>
              </a:ext>
            </a:extLst>
          </p:cNvPr>
          <p:cNvSpPr/>
          <p:nvPr/>
        </p:nvSpPr>
        <p:spPr>
          <a:xfrm>
            <a:off x="5486400" y="530352"/>
            <a:ext cx="341101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Singleton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7" name="Text 6">
            <a:extLst>
              <a:ext uri="{FF2B5EF4-FFF2-40B4-BE49-F238E27FC236}">
                <a16:creationId xmlns:a16="http://schemas.microsoft.com/office/drawing/2014/main" id="{CCDB0239-56DD-AB49-EF5B-1884B5776DFA}"/>
              </a:ext>
            </a:extLst>
          </p:cNvPr>
          <p:cNvSpPr/>
          <p:nvPr/>
        </p:nvSpPr>
        <p:spPr>
          <a:xfrm>
            <a:off x="5321507" y="886968"/>
            <a:ext cx="3575904"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
        <p:nvSpPr>
          <p:cNvPr id="12" name="Text 3">
            <a:extLst>
              <a:ext uri="{FF2B5EF4-FFF2-40B4-BE49-F238E27FC236}">
                <a16:creationId xmlns:a16="http://schemas.microsoft.com/office/drawing/2014/main" id="{AD0A449D-489C-87A0-4850-57CD08B0A6EE}"/>
              </a:ext>
            </a:extLst>
          </p:cNvPr>
          <p:cNvSpPr/>
          <p:nvPr/>
        </p:nvSpPr>
        <p:spPr>
          <a:xfrm>
            <a:off x="411480" y="530352"/>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a:t>
            </a:r>
            <a:r>
              <a:rPr lang="en-US" sz="1000" b="1" kern="0" spc="300" dirty="0" err="1">
                <a:solidFill>
                  <a:srgbClr val="F59E0B"/>
                </a:solidFill>
                <a:latin typeface="Calibri" pitchFamily="34" charset="0"/>
                <a:ea typeface="Calibri" pitchFamily="34" charset="-122"/>
                <a:cs typeface="Calibri" pitchFamily="34" charset="-120"/>
              </a:rPr>
              <a:t>XRayMachine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
        <p:nvSpPr>
          <p:cNvPr id="13" name="Text 6">
            <a:extLst>
              <a:ext uri="{FF2B5EF4-FFF2-40B4-BE49-F238E27FC236}">
                <a16:creationId xmlns:a16="http://schemas.microsoft.com/office/drawing/2014/main" id="{6AC4FD8A-CF1B-725C-3BEE-EB5979436C86}"/>
              </a:ext>
            </a:extLst>
          </p:cNvPr>
          <p:cNvSpPr/>
          <p:nvPr/>
        </p:nvSpPr>
        <p:spPr>
          <a:xfrm>
            <a:off x="292608" y="886968"/>
            <a:ext cx="4654146"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default</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 </a:t>
            </a:r>
            <a:r>
              <a:rPr lang="en-US" sz="1000" b="0" dirty="0" err="1">
                <a:solidFill>
                  <a:srgbClr val="DCDCAA"/>
                </a:solidFill>
                <a:effectLst/>
                <a:latin typeface="Consolas" panose="020B0609020204030204" pitchFamily="49" charset="0"/>
              </a:rPr>
              <a:t>receiveData</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sendData</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data</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CanBusCommunication</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 </a:t>
            </a:r>
            <a:r>
              <a:rPr lang="en-US" sz="1000" b="0" dirty="0" err="1">
                <a:solidFill>
                  <a:srgbClr val="DCDCAA"/>
                </a:solidFill>
                <a:effectLst/>
                <a:latin typeface="Consolas" panose="020B0609020204030204" pitchFamily="49" charset="0"/>
              </a:rPr>
              <a:t>receiveData</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sendData</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vector</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char</a:t>
            </a:r>
            <a:r>
              <a:rPr lang="en-US" sz="1000" b="0" dirty="0">
                <a:solidFill>
                  <a:srgbClr val="D4D4D4"/>
                </a:solidFill>
                <a:effectLst/>
                <a:latin typeface="Consolas" panose="020B0609020204030204" pitchFamily="49" charset="0"/>
              </a:rPr>
              <a:t>&gt;</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data</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ICommunicationInterface</a:t>
            </a:r>
            <a:r>
              <a:rPr lang="en-US" sz="1000" b="0" dirty="0">
                <a:solidFill>
                  <a:srgbClr val="569CD6"/>
                </a:solidFill>
                <a:effectLst/>
                <a:latin typeface="Consolas" panose="020B0609020204030204" pitchFamily="49" charset="0"/>
              </a:rPr>
              <a:t>&amp;</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comm</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231493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6" name="Text 4"/>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 explicitness of DI grows exponentially</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Manually wiring dependencies becomes a challenge of its own</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Developers reach for a global DI Container to solve wiring</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Now we’ve opened a whole new can of worms:</a:t>
            </a:r>
            <a:endParaRPr lang="en-US" sz="1600" dirty="0"/>
          </a:p>
          <a:p>
            <a:pPr marL="762000" lvl="1" indent="-381000">
              <a:spcAft>
                <a:spcPts val="200"/>
              </a:spcAft>
              <a:buSzPct val="100000"/>
              <a:buChar char="•"/>
            </a:pPr>
            <a:r>
              <a:rPr lang="en-US" sz="1600" dirty="0">
                <a:solidFill>
                  <a:srgbClr val="94A3B8"/>
                </a:solidFill>
                <a:latin typeface="Calibri" pitchFamily="34" charset="0"/>
                <a:ea typeface="Calibri" pitchFamily="34" charset="-122"/>
                <a:cs typeface="Calibri" pitchFamily="34" charset="-120"/>
              </a:rPr>
              <a:t>Should our container own instances or act as a factory?</a:t>
            </a:r>
          </a:p>
          <a:p>
            <a:pPr marL="762000" lvl="1" indent="-381000">
              <a:spcAft>
                <a:spcPts val="200"/>
              </a:spcAft>
              <a:buSzPct val="100000"/>
              <a:buChar char="•"/>
            </a:pPr>
            <a:r>
              <a:rPr lang="en-US" sz="1600" dirty="0">
                <a:solidFill>
                  <a:srgbClr val="94A3B8"/>
                </a:solidFill>
                <a:latin typeface="Calibri" pitchFamily="34" charset="0"/>
                <a:ea typeface="Calibri" pitchFamily="34" charset="-122"/>
                <a:cs typeface="Calibri" pitchFamily="34" charset="-120"/>
              </a:rPr>
              <a:t>Who owns the lifetime of each instance?</a:t>
            </a:r>
            <a:r>
              <a:rPr lang="en-US" sz="1600" dirty="0"/>
              <a:t> </a:t>
            </a:r>
          </a:p>
          <a:p>
            <a:pPr marL="762000" lvl="1" indent="-381000">
              <a:spcAft>
                <a:spcPts val="200"/>
              </a:spcAft>
              <a:buSzPct val="100000"/>
              <a:buChar char="•"/>
            </a:pPr>
            <a:r>
              <a:rPr lang="en-US" sz="1600" dirty="0">
                <a:solidFill>
                  <a:srgbClr val="94A3B8"/>
                </a:solidFill>
                <a:latin typeface="Calibri" pitchFamily="34" charset="0"/>
                <a:ea typeface="Calibri" pitchFamily="34" charset="-122"/>
                <a:cs typeface="Calibri" pitchFamily="34" charset="-120"/>
              </a:rPr>
              <a:t>Should we store keys internally by value (std::any overhead), std::</a:t>
            </a:r>
            <a:r>
              <a:rPr lang="en-US" sz="1600" dirty="0" err="1">
                <a:solidFill>
                  <a:srgbClr val="94A3B8"/>
                </a:solidFill>
                <a:latin typeface="Calibri" pitchFamily="34" charset="0"/>
                <a:ea typeface="Calibri" pitchFamily="34" charset="-122"/>
                <a:cs typeface="Calibri" pitchFamily="34" charset="-120"/>
              </a:rPr>
              <a:t>unique_ptr</a:t>
            </a:r>
            <a:r>
              <a:rPr lang="en-US" sz="1600" dirty="0">
                <a:solidFill>
                  <a:srgbClr val="94A3B8"/>
                </a:solidFill>
                <a:latin typeface="Calibri" pitchFamily="34" charset="0"/>
                <a:ea typeface="Calibri" pitchFamily="34" charset="-122"/>
                <a:cs typeface="Calibri" pitchFamily="34" charset="-120"/>
              </a:rPr>
              <a:t> (non-copyable), or std::</a:t>
            </a:r>
            <a:r>
              <a:rPr lang="en-US" sz="1600" dirty="0" err="1">
                <a:solidFill>
                  <a:srgbClr val="94A3B8"/>
                </a:solidFill>
                <a:latin typeface="Calibri" pitchFamily="34" charset="0"/>
                <a:ea typeface="Calibri" pitchFamily="34" charset="-122"/>
                <a:cs typeface="Calibri" pitchFamily="34" charset="-120"/>
              </a:rPr>
              <a:t>shared_ptr</a:t>
            </a:r>
            <a:r>
              <a:rPr lang="en-US" sz="1600" dirty="0">
                <a:solidFill>
                  <a:srgbClr val="94A3B8"/>
                </a:solidFill>
                <a:latin typeface="Calibri" pitchFamily="34" charset="0"/>
                <a:ea typeface="Calibri" pitchFamily="34" charset="-122"/>
                <a:cs typeface="Calibri" pitchFamily="34" charset="-120"/>
              </a:rPr>
              <a:t> (ref-count tax)?</a:t>
            </a:r>
            <a:endParaRPr lang="en-US" sz="1600" dirty="0"/>
          </a:p>
          <a:p>
            <a:pPr marL="762000" lvl="1" indent="-381000">
              <a:spcAft>
                <a:spcPts val="200"/>
              </a:spcAft>
              <a:buSzPct val="100000"/>
              <a:buChar char="•"/>
            </a:pPr>
            <a:r>
              <a:rPr lang="en-US" sz="1600" dirty="0">
                <a:solidFill>
                  <a:srgbClr val="94A3B8"/>
                </a:solidFill>
                <a:latin typeface="Calibri" pitchFamily="34" charset="0"/>
                <a:ea typeface="Calibri" pitchFamily="34" charset="-122"/>
                <a:cs typeface="Calibri" pitchFamily="34" charset="-120"/>
              </a:rPr>
              <a:t>What happens with circular </a:t>
            </a:r>
            <a:r>
              <a:rPr lang="en-US" sz="1600" dirty="0" err="1">
                <a:solidFill>
                  <a:srgbClr val="94A3B8"/>
                </a:solidFill>
                <a:latin typeface="Calibri" pitchFamily="34" charset="0"/>
                <a:ea typeface="Calibri" pitchFamily="34" charset="-122"/>
                <a:cs typeface="Calibri" pitchFamily="34" charset="-120"/>
              </a:rPr>
              <a:t>shared_ptr</a:t>
            </a:r>
            <a:r>
              <a:rPr lang="en-US" sz="1600" dirty="0">
                <a:solidFill>
                  <a:srgbClr val="94A3B8"/>
                </a:solidFill>
                <a:latin typeface="Calibri" pitchFamily="34" charset="0"/>
                <a:ea typeface="Calibri" pitchFamily="34" charset="-122"/>
                <a:cs typeface="Calibri" pitchFamily="34" charset="-120"/>
              </a:rPr>
              <a:t> ownership — how to mitigate this for every PR?</a:t>
            </a:r>
          </a:p>
          <a:p>
            <a:pPr marL="762000" lvl="1" indent="-381000">
              <a:spcAft>
                <a:spcPts val="200"/>
              </a:spcAft>
              <a:buSzPct val="100000"/>
              <a:buChar char="•"/>
            </a:pPr>
            <a:r>
              <a:rPr lang="en-US" sz="1600" dirty="0">
                <a:solidFill>
                  <a:srgbClr val="94A3B8"/>
                </a:solidFill>
                <a:latin typeface="Calibri" pitchFamily="34" charset="0"/>
                <a:ea typeface="Calibri" pitchFamily="34" charset="-122"/>
                <a:cs typeface="Calibri" pitchFamily="34" charset="-120"/>
              </a:rPr>
              <a:t>Do we make it a singleton to make sure we have one single source of truth in the whole application?</a:t>
            </a:r>
            <a:br>
              <a:rPr lang="en-US" sz="1600" dirty="0">
                <a:solidFill>
                  <a:srgbClr val="94A3B8"/>
                </a:solidFill>
                <a:latin typeface="Calibri" pitchFamily="34" charset="0"/>
                <a:ea typeface="Calibri" pitchFamily="34" charset="-122"/>
                <a:cs typeface="Calibri" pitchFamily="34" charset="-120"/>
              </a:rPr>
            </a:br>
            <a:r>
              <a:rPr lang="en-US" sz="1600" dirty="0">
                <a:solidFill>
                  <a:srgbClr val="94A3B8"/>
                </a:solidFill>
                <a:latin typeface="Calibri" pitchFamily="34" charset="0"/>
                <a:ea typeface="Calibri" pitchFamily="34" charset="-122"/>
                <a:cs typeface="Calibri" pitchFamily="34" charset="-120"/>
              </a:rPr>
              <a:t>Or do we stick to our principles and make it possible to instantiate multiple instances of it?</a:t>
            </a:r>
          </a:p>
        </p:txBody>
      </p:sp>
      <p:sp>
        <p:nvSpPr>
          <p:cNvPr id="2" name="Shape 0"/>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#4 —The DI Container Trap</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E557B-E872-B40B-F821-37B7962AC9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5B23A79-35B2-5DCF-5248-803905BAA61C}"/>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29C6E5CE-0239-1C36-B1D3-C70E8E99B124}"/>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6" name="Text 6">
            <a:extLst>
              <a:ext uri="{FF2B5EF4-FFF2-40B4-BE49-F238E27FC236}">
                <a16:creationId xmlns:a16="http://schemas.microsoft.com/office/drawing/2014/main" id="{13B9EFB1-6285-03CD-2AB5-925D268FBDD4}"/>
              </a:ext>
            </a:extLst>
          </p:cNvPr>
          <p:cNvSpPr/>
          <p:nvPr/>
        </p:nvSpPr>
        <p:spPr>
          <a:xfrm>
            <a:off x="292607" y="841248"/>
            <a:ext cx="4535274" cy="4000499"/>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D4D4D4"/>
                </a:solidFill>
                <a:effectLst/>
                <a:latin typeface="Consolas" panose="020B0609020204030204" pitchFamily="49" charset="0"/>
              </a:rPr>
              <a:t>    </a:t>
            </a:r>
            <a:r>
              <a:rPr lang="en-US" sz="1000" dirty="0">
                <a:solidFill>
                  <a:srgbClr val="569CD6"/>
                </a:solidFill>
                <a:latin typeface="Consolas" panose="020B0609020204030204" pitchFamily="49" charset="0"/>
              </a:rPr>
              <a:t>static 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registerType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D4D4D4"/>
                </a:solidFill>
                <a:effectLst/>
                <a:latin typeface="Consolas" panose="020B0609020204030204" pitchFamily="49" charset="0"/>
              </a:rPr>
              <a:t>    </a:t>
            </a:r>
            <a:r>
              <a:rPr lang="en-US" sz="1000" dirty="0">
                <a:solidFill>
                  <a:srgbClr val="569CD6"/>
                </a:solidFill>
                <a:latin typeface="Consolas" panose="020B0609020204030204" pitchFamily="49" charset="0"/>
              </a:rPr>
              <a:t>static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DCDCAA"/>
                </a:solidFill>
                <a:effectLst/>
                <a:latin typeface="Consolas" panose="020B0609020204030204" pitchFamily="49" charset="0"/>
              </a:rPr>
              <a:t>resolve</a:t>
            </a: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Usage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main</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a:t>
            </a:r>
            <a:r>
              <a:rPr lang="en-US" sz="1000" b="0" dirty="0" err="1">
                <a:solidFill>
                  <a:srgbClr val="9CDCFE"/>
                </a:solidFill>
                <a:effectLst/>
                <a:latin typeface="Consolas" panose="020B0609020204030204" pitchFamily="49" charset="0"/>
              </a:rPr>
              <a:t>registerType</a:t>
            </a:r>
            <a:r>
              <a:rPr lang="en-US" sz="1000" b="0" dirty="0">
                <a:solidFill>
                  <a:srgbClr val="D4D4D4"/>
                </a:solidFill>
                <a:effectLst/>
                <a:latin typeface="Consolas" panose="020B0609020204030204" pitchFamily="49" charset="0"/>
              </a:rPr>
              <a:t>&lt;</a:t>
            </a:r>
            <a:r>
              <a:rPr lang="en-US" sz="1000" dirty="0" err="1">
                <a:solidFill>
                  <a:srgbClr val="4EC9B0"/>
                </a:solidFill>
                <a:latin typeface="Consolas" panose="020B0609020204030204" pitchFamily="49" charset="0"/>
              </a:rPr>
              <a:t>IXRayMachine</a:t>
            </a: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&gt;();</a:t>
            </a:r>
          </a:p>
          <a:p>
            <a:pPr>
              <a:lnSpc>
                <a:spcPts val="1425"/>
              </a:lnSpc>
              <a:buNone/>
            </a:pPr>
            <a:endParaRPr lang="en-US" sz="1000" dirty="0">
              <a:solidFill>
                <a:srgbClr val="D4D4D4"/>
              </a:solidFill>
              <a:latin typeface="Consolas" panose="020B0609020204030204" pitchFamily="49" charset="0"/>
            </a:endParaRPr>
          </a:p>
          <a:p>
            <a:pPr>
              <a:lnSpc>
                <a:spcPts val="1425"/>
              </a:lnSpc>
            </a:pPr>
            <a:r>
              <a:rPr lang="en-US" sz="1000" b="0" dirty="0">
                <a:solidFill>
                  <a:srgbClr val="D4D4D4"/>
                </a:solidFill>
                <a:effectLst/>
                <a:latin typeface="Consolas" panose="020B0609020204030204" pitchFamily="49" charset="0"/>
              </a:rPr>
              <a:t>    </a:t>
            </a:r>
            <a:r>
              <a:rPr lang="en-US" sz="1000" dirty="0">
                <a:solidFill>
                  <a:srgbClr val="6A9955"/>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pP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dirty="0">
              <a:solidFill>
                <a:srgbClr val="D4D4D4"/>
              </a:solidFill>
              <a:latin typeface="Consolas" panose="020B0609020204030204" pitchFamily="49" charset="0"/>
            </a:endParaRPr>
          </a:p>
          <a:p>
            <a:pPr>
              <a:lnSpc>
                <a:spcPts val="1425"/>
              </a:lnSpc>
            </a:pPr>
            <a:r>
              <a:rPr lang="en-US" sz="1000" dirty="0">
                <a:solidFill>
                  <a:srgbClr val="6A9955"/>
                </a:solidFill>
                <a:latin typeface="Consolas" panose="020B0609020204030204" pitchFamily="49" charset="0"/>
              </a:rPr>
              <a:t>// Somewhere else in the code</a:t>
            </a:r>
            <a:endParaRPr lang="en-US" sz="1000" dirty="0">
              <a:solidFill>
                <a:srgbClr val="D4D4D4"/>
              </a:solidFill>
              <a:latin typeface="Consolas" panose="020B0609020204030204" pitchFamily="49" charset="0"/>
            </a:endParaRPr>
          </a:p>
          <a:p>
            <a:pPr>
              <a:lnSpc>
                <a:spcPts val="1425"/>
              </a:lnSpc>
              <a:buNone/>
            </a:pPr>
            <a:r>
              <a:rPr lang="en-US" sz="1000" dirty="0" err="1">
                <a:solidFill>
                  <a:srgbClr val="4EC9B0"/>
                </a:solidFill>
                <a:latin typeface="Consolas" panose="020B0609020204030204" pitchFamily="49" charset="0"/>
              </a:rPr>
              <a:t>IXRayMachine</a:t>
            </a:r>
            <a:r>
              <a:rPr lang="en-US" sz="1000" dirty="0">
                <a:solidFill>
                  <a:srgbClr val="D4D4D4"/>
                </a:solidFill>
                <a:latin typeface="Consolas" panose="020B0609020204030204" pitchFamily="49" charset="0"/>
              </a:rPr>
              <a:t> </a:t>
            </a:r>
            <a:r>
              <a:rPr lang="en-US" sz="1000" dirty="0">
                <a:solidFill>
                  <a:srgbClr val="569CD6"/>
                </a:solidFill>
                <a:latin typeface="Consolas" panose="020B0609020204030204" pitchFamily="49" charset="0"/>
              </a:rPr>
              <a:t>&amp;</a:t>
            </a:r>
            <a:r>
              <a:rPr lang="en-US" sz="1000" dirty="0">
                <a:solidFill>
                  <a:srgbClr val="D4D4D4"/>
                </a:solidFill>
                <a:latin typeface="Consolas" panose="020B0609020204030204" pitchFamily="49" charset="0"/>
              </a:rPr>
              <a:t>machine = 	</a:t>
            </a:r>
            <a:r>
              <a:rPr lang="en-US" sz="1000" dirty="0" err="1">
                <a:solidFill>
                  <a:srgbClr val="4EC9B0"/>
                </a:solidFill>
                <a:latin typeface="Consolas" panose="020B0609020204030204" pitchFamily="49" charset="0"/>
              </a:rPr>
              <a:t>DIContainer</a:t>
            </a:r>
            <a:r>
              <a:rPr lang="en-US" sz="1000" dirty="0">
                <a:solidFill>
                  <a:srgbClr val="D4D4D4"/>
                </a:solidFill>
                <a:latin typeface="Consolas" panose="020B0609020204030204" pitchFamily="49" charset="0"/>
              </a:rPr>
              <a:t>::</a:t>
            </a:r>
            <a:r>
              <a:rPr lang="en-US" sz="1000" dirty="0">
                <a:solidFill>
                  <a:srgbClr val="9CDCFE"/>
                </a:solidFill>
                <a:latin typeface="Consolas" panose="020B0609020204030204" pitchFamily="49" charset="0"/>
              </a:rPr>
              <a:t>resolve</a:t>
            </a:r>
            <a:r>
              <a:rPr lang="en-US" sz="1000" dirty="0">
                <a:solidFill>
                  <a:srgbClr val="D4D4D4"/>
                </a:solidFill>
                <a:latin typeface="Consolas" panose="020B0609020204030204" pitchFamily="49" charset="0"/>
              </a:rPr>
              <a:t>&lt;</a:t>
            </a:r>
            <a:r>
              <a:rPr lang="en-US" sz="1000" dirty="0" err="1">
                <a:solidFill>
                  <a:srgbClr val="4EC9B0"/>
                </a:solidFill>
                <a:latin typeface="Consolas" panose="020B0609020204030204" pitchFamily="49" charset="0"/>
              </a:rPr>
              <a:t>IXRayMachine</a:t>
            </a:r>
            <a:r>
              <a:rPr lang="en-US" sz="1000" dirty="0">
                <a:solidFill>
                  <a:srgbClr val="D4D4D4"/>
                </a:solidFill>
                <a:latin typeface="Consolas" panose="020B0609020204030204" pitchFamily="49" charset="0"/>
              </a:rPr>
              <a:t>&gt;();</a:t>
            </a:r>
          </a:p>
          <a:p>
            <a:pPr>
              <a:lnSpc>
                <a:spcPts val="1425"/>
              </a:lnSpc>
              <a:buNone/>
            </a:pPr>
            <a:r>
              <a:rPr lang="en-US" sz="1000" dirty="0" err="1">
                <a:solidFill>
                  <a:srgbClr val="9CDCFE"/>
                </a:solidFill>
                <a:latin typeface="Consolas" panose="020B0609020204030204" pitchFamily="49" charset="0"/>
              </a:rPr>
              <a:t>machine</a:t>
            </a:r>
            <a:r>
              <a:rPr lang="en-US" sz="1000" dirty="0" err="1">
                <a:solidFill>
                  <a:srgbClr val="D4D4D4"/>
                </a:solidFill>
                <a:latin typeface="Consolas" panose="020B0609020204030204" pitchFamily="49" charset="0"/>
              </a:rPr>
              <a:t>.</a:t>
            </a:r>
            <a:r>
              <a:rPr lang="en-US" sz="1000" dirty="0" err="1">
                <a:solidFill>
                  <a:srgbClr val="DCDCAA"/>
                </a:solidFill>
                <a:latin typeface="Consolas" panose="020B0609020204030204" pitchFamily="49" charset="0"/>
              </a:rPr>
              <a:t>startExposure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p:txBody>
      </p:sp>
      <p:sp>
        <p:nvSpPr>
          <p:cNvPr id="7" name="Text 4">
            <a:extLst>
              <a:ext uri="{FF2B5EF4-FFF2-40B4-BE49-F238E27FC236}">
                <a16:creationId xmlns:a16="http://schemas.microsoft.com/office/drawing/2014/main" id="{AB5244C4-B7D3-1FF4-0C7D-5C5F8F4497FA}"/>
              </a:ext>
            </a:extLst>
          </p:cNvPr>
          <p:cNvSpPr/>
          <p:nvPr/>
        </p:nvSpPr>
        <p:spPr>
          <a:xfrm>
            <a:off x="5012576" y="841248"/>
            <a:ext cx="3891284"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Basically, a global registry where you can specify which concrete implementation to use with each abstract interface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Everyone registers the default concrete implementation for each DI interface in the application here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When someone needs to use a specific dependency, he uses the resolve function to get a concrete implementation to the Interface of this dependency</a:t>
            </a:r>
          </a:p>
          <a:p>
            <a:pPr marL="342900" indent="-342900">
              <a:spcAft>
                <a:spcPts val="600"/>
              </a:spcAft>
              <a:buSzPct val="100000"/>
              <a:buChar char="•"/>
            </a:pPr>
            <a:endParaRPr lang="en-US" sz="1600" dirty="0">
              <a:solidFill>
                <a:srgbClr val="1E3A5F"/>
              </a:solidFill>
              <a:latin typeface="Calibri" pitchFamily="34" charset="0"/>
              <a:ea typeface="Calibri" pitchFamily="34" charset="-122"/>
              <a:cs typeface="Calibri" pitchFamily="34" charset="-120"/>
            </a:endParaRPr>
          </a:p>
        </p:txBody>
      </p:sp>
      <p:sp>
        <p:nvSpPr>
          <p:cNvPr id="8" name="Text 3">
            <a:extLst>
              <a:ext uri="{FF2B5EF4-FFF2-40B4-BE49-F238E27FC236}">
                <a16:creationId xmlns:a16="http://schemas.microsoft.com/office/drawing/2014/main" id="{84AE2E48-940F-2FD8-49B1-C1BCCB35719C}"/>
              </a:ext>
            </a:extLst>
          </p:cNvPr>
          <p:cNvSpPr/>
          <p:nvPr/>
        </p:nvSpPr>
        <p:spPr>
          <a:xfrm>
            <a:off x="411480" y="521208"/>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What is a DI Container</a:t>
            </a:r>
            <a:endParaRPr lang="en-US" sz="1000" dirty="0"/>
          </a:p>
        </p:txBody>
      </p:sp>
      <p:sp>
        <p:nvSpPr>
          <p:cNvPr id="5" name="Text 2">
            <a:extLst>
              <a:ext uri="{FF2B5EF4-FFF2-40B4-BE49-F238E27FC236}">
                <a16:creationId xmlns:a16="http://schemas.microsoft.com/office/drawing/2014/main" id="{5D809BC2-E68E-29B0-A56B-374C31DE92CF}"/>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#4 —The DI Container Trap</a:t>
            </a:r>
            <a:endParaRPr lang="en-US" sz="1900" dirty="0"/>
          </a:p>
        </p:txBody>
      </p:sp>
    </p:spTree>
    <p:extLst>
      <p:ext uri="{BB962C8B-B14F-4D97-AF65-F5344CB8AC3E}">
        <p14:creationId xmlns:p14="http://schemas.microsoft.com/office/powerpoint/2010/main" val="3112045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65757-A875-A0BE-FAF4-4DB99531DBD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EB77619-6B82-4B0B-E4D2-B7F05BAE1E7F}"/>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A28DE9EC-90E2-0D67-F55F-928BC3853FBC}"/>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6" name="Text 6">
            <a:extLst>
              <a:ext uri="{FF2B5EF4-FFF2-40B4-BE49-F238E27FC236}">
                <a16:creationId xmlns:a16="http://schemas.microsoft.com/office/drawing/2014/main" id="{34103885-741A-559D-27CA-4FD22EC97B81}"/>
              </a:ext>
            </a:extLst>
          </p:cNvPr>
          <p:cNvSpPr/>
          <p:nvPr/>
        </p:nvSpPr>
        <p:spPr>
          <a:xfrm>
            <a:off x="292607" y="841248"/>
            <a:ext cx="5179045" cy="4000499"/>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registerType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if</a:t>
            </a:r>
            <a:r>
              <a:rPr lang="en-US" sz="1000" b="0" dirty="0">
                <a:solidFill>
                  <a:srgbClr val="D4D4D4"/>
                </a:solidFill>
                <a:effectLst/>
                <a:latin typeface="Consolas" panose="020B0609020204030204" pitchFamily="49" charset="0"/>
              </a:rPr>
              <a:t> (</a:t>
            </a:r>
            <a:r>
              <a:rPr lang="en-US" sz="1000" dirty="0" err="1">
                <a:solidFill>
                  <a:srgbClr val="9CDCFE"/>
                </a:solidFill>
                <a:latin typeface="Consolas" panose="020B0609020204030204" pitchFamily="49" charset="0"/>
              </a:rPr>
              <a:t>m_instances</a:t>
            </a:r>
            <a:r>
              <a:rPr lang="en-US" sz="1000" dirty="0" err="1">
                <a:solidFill>
                  <a:srgbClr val="D4D4D4"/>
                </a:solidFill>
                <a:latin typeface="Consolas" panose="020B0609020204030204" pitchFamily="49" charset="0"/>
              </a:rPr>
              <a:t>.</a:t>
            </a:r>
            <a:r>
              <a:rPr lang="en-US" sz="1000" dirty="0" err="1">
                <a:solidFill>
                  <a:srgbClr val="DCDCAA"/>
                </a:solidFill>
                <a:latin typeface="Consolas" panose="020B0609020204030204" pitchFamily="49" charset="0"/>
              </a:rPr>
              <a:t>find</a:t>
            </a:r>
            <a:r>
              <a:rPr lang="en-US" sz="1000" dirty="0">
                <a:solidFill>
                  <a:srgbClr val="D4D4D4"/>
                </a:solidFill>
                <a:latin typeface="Consolas" panose="020B0609020204030204" pitchFamily="49" charset="0"/>
              </a:rPr>
              <a:t>(</a:t>
            </a:r>
            <a:r>
              <a:rPr lang="en-US" sz="1000" dirty="0" err="1">
                <a:solidFill>
                  <a:srgbClr val="569CD6"/>
                </a:solidFill>
                <a:latin typeface="Consolas" panose="020B0609020204030204" pitchFamily="49" charset="0"/>
              </a:rPr>
              <a:t>typeid</a:t>
            </a:r>
            <a:r>
              <a:rPr lang="en-US" sz="1000" dirty="0">
                <a:solidFill>
                  <a:srgbClr val="D4D4D4"/>
                </a:solidFill>
                <a:latin typeface="Consolas" panose="020B0609020204030204" pitchFamily="49" charset="0"/>
              </a:rPr>
              <a:t>(</a:t>
            </a:r>
            <a:r>
              <a:rPr lang="en-US" sz="1000" dirty="0" err="1">
                <a:solidFill>
                  <a:srgbClr val="D4D4D4"/>
                </a:solidFill>
                <a:latin typeface="Consolas" panose="020B0609020204030204" pitchFamily="49" charset="0"/>
              </a:rPr>
              <a:t>BaseType</a:t>
            </a:r>
            <a:r>
              <a:rPr lang="en-US" sz="1000" dirty="0">
                <a:solidFill>
                  <a:srgbClr val="D4D4D4"/>
                </a:solidFill>
                <a:latin typeface="Consolas" panose="020B0609020204030204" pitchFamily="49" charset="0"/>
              </a:rPr>
              <a:t>)) </a:t>
            </a: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m_instances</a:t>
            </a:r>
            <a:r>
              <a:rPr lang="en-US" sz="1000" b="0" dirty="0" err="1">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end</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a:t>
            </a:r>
            <a:r>
              <a:rPr lang="en-US" sz="1000" b="0" dirty="0">
                <a:solidFill>
                  <a:srgbClr val="6A9955"/>
                </a:solidFill>
                <a:effectLst/>
                <a:latin typeface="Consolas" panose="020B0609020204030204" pitchFamily="49" charset="0"/>
              </a:rPr>
              <a:t> // Already registered</a:t>
            </a:r>
            <a:endParaRPr lang="en-US" sz="1000" b="0" dirty="0">
              <a:solidFill>
                <a:srgbClr val="D4D4D4"/>
              </a:solidFill>
              <a:effectLst/>
              <a:latin typeface="Consolas" panose="020B0609020204030204" pitchFamily="49" charset="0"/>
            </a:endParaRP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m_instances</a:t>
            </a:r>
            <a:r>
              <a:rPr lang="en-US" sz="1000" b="0" dirty="0">
                <a:solidFill>
                  <a:srgbClr val="D4D4D4"/>
                </a:solidFill>
                <a:effectLst/>
                <a:latin typeface="Consolas" panose="020B0609020204030204" pitchFamily="49" charset="0"/>
              </a:rPr>
              <a:t>[</a:t>
            </a:r>
            <a:r>
              <a:rPr lang="en-US" sz="1000" b="0" dirty="0" err="1">
                <a:solidFill>
                  <a:srgbClr val="569CD6"/>
                </a:solidFill>
                <a:effectLst/>
                <a:latin typeface="Consolas" panose="020B0609020204030204" pitchFamily="49" charset="0"/>
              </a:rPr>
              <a:t>typeid</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 </a:t>
            </a:r>
            <a:r>
              <a:rPr lang="en-US" sz="1000" b="0" dirty="0">
                <a:solidFill>
                  <a:srgbClr val="C586C0"/>
                </a:solidFill>
                <a:effectLst/>
                <a:latin typeface="Consolas" panose="020B0609020204030204" pitchFamily="49" charset="0"/>
              </a:rPr>
              <a:t>new</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a:solidFill>
                  <a:srgbClr val="DCDCAA"/>
                </a:solidFill>
                <a:effectLst/>
                <a:latin typeface="Consolas" panose="020B0609020204030204" pitchFamily="49" charset="0"/>
              </a:rPr>
              <a:t>resolve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auto</a:t>
            </a:r>
            <a:r>
              <a:rPr lang="en-US" sz="1000" b="0" dirty="0">
                <a:solidFill>
                  <a:srgbClr val="D4D4D4"/>
                </a:solidFill>
                <a:effectLst/>
                <a:latin typeface="Consolas" panose="020B0609020204030204" pitchFamily="49" charset="0"/>
              </a:rPr>
              <a:t> it = </a:t>
            </a:r>
            <a:r>
              <a:rPr lang="en-US" sz="1000" b="0" dirty="0" err="1">
                <a:solidFill>
                  <a:srgbClr val="9CDCFE"/>
                </a:solidFill>
                <a:effectLst/>
                <a:latin typeface="Consolas" panose="020B0609020204030204" pitchFamily="49" charset="0"/>
              </a:rPr>
              <a:t>m_instances</a:t>
            </a:r>
            <a:r>
              <a:rPr lang="en-US" sz="1000" b="0" dirty="0" err="1">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find</a:t>
            </a:r>
            <a:r>
              <a:rPr lang="en-US" sz="1000" b="0" dirty="0">
                <a:solidFill>
                  <a:srgbClr val="D4D4D4"/>
                </a:solidFill>
                <a:effectLst/>
                <a:latin typeface="Consolas" panose="020B0609020204030204" pitchFamily="49" charset="0"/>
              </a:rPr>
              <a:t>(</a:t>
            </a:r>
            <a:r>
              <a:rPr lang="en-US" sz="1000" b="0" dirty="0" err="1">
                <a:solidFill>
                  <a:srgbClr val="569CD6"/>
                </a:solidFill>
                <a:effectLst/>
                <a:latin typeface="Consolas" panose="020B0609020204030204" pitchFamily="49" charset="0"/>
              </a:rPr>
              <a:t>typeid</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if</a:t>
            </a:r>
            <a:r>
              <a:rPr lang="en-US" sz="1000" b="0" dirty="0">
                <a:solidFill>
                  <a:srgbClr val="D4D4D4"/>
                </a:solidFill>
                <a:effectLst/>
                <a:latin typeface="Consolas" panose="020B0609020204030204" pitchFamily="49" charset="0"/>
              </a:rPr>
              <a:t> (it == </a:t>
            </a:r>
            <a:r>
              <a:rPr lang="en-US" sz="1000" b="0" dirty="0" err="1">
                <a:solidFill>
                  <a:srgbClr val="9CDCFE"/>
                </a:solidFill>
                <a:effectLst/>
                <a:latin typeface="Consolas" panose="020B0609020204030204" pitchFamily="49" charset="0"/>
              </a:rPr>
              <a:t>m_instances</a:t>
            </a:r>
            <a:r>
              <a:rPr lang="en-US" sz="1000" b="0" dirty="0" err="1">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end</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dirty="0">
                <a:solidFill>
                  <a:srgbClr val="C586C0"/>
                </a:solidFill>
                <a:latin typeface="Consolas" panose="020B0609020204030204" pitchFamily="49" charset="0"/>
              </a:rPr>
              <a:t>return</a:t>
            </a:r>
            <a:r>
              <a:rPr lang="en-US" sz="1000" dirty="0">
                <a:solidFill>
                  <a:srgbClr val="D4D4D4"/>
                </a:solidFill>
                <a:latin typeface="Consolas" panose="020B0609020204030204" pitchFamily="49" charset="0"/>
              </a:rPr>
              <a:t> </a:t>
            </a:r>
            <a:r>
              <a:rPr lang="en-US" sz="1000" dirty="0" err="1">
                <a:solidFill>
                  <a:srgbClr val="569CD6"/>
                </a:solidFill>
                <a:latin typeface="Consolas" panose="020B0609020204030204" pitchFamily="49" charset="0"/>
              </a:rPr>
              <a:t>nullptr</a:t>
            </a:r>
            <a:r>
              <a:rPr lang="en-US" sz="1000" dirty="0">
                <a:solidFill>
                  <a:srgbClr val="D4D4D4"/>
                </a:solidFill>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dirty="0">
                <a:solidFill>
                  <a:srgbClr val="C586C0"/>
                </a:solidFill>
                <a:latin typeface="Consolas" panose="020B0609020204030204" pitchFamily="49" charset="0"/>
              </a:rPr>
              <a:t> return</a:t>
            </a:r>
            <a:r>
              <a:rPr lang="en-US" sz="1000" dirty="0">
                <a:solidFill>
                  <a:srgbClr val="D4D4D4"/>
                </a:solidFill>
                <a:latin typeface="Consolas" panose="020B0609020204030204" pitchFamily="49" charset="0"/>
              </a:rPr>
              <a:t> </a:t>
            </a:r>
            <a:r>
              <a:rPr lang="en-US" sz="1000" dirty="0" err="1">
                <a:solidFill>
                  <a:srgbClr val="569CD6"/>
                </a:solidFill>
                <a:latin typeface="Consolas" panose="020B0609020204030204" pitchFamily="49" charset="0"/>
              </a:rPr>
              <a:t>dynamic_cast</a:t>
            </a:r>
            <a:r>
              <a:rPr lang="en-US" sz="1000" dirty="0">
                <a:solidFill>
                  <a:srgbClr val="D4D4D4"/>
                </a:solidFill>
                <a:latin typeface="Consolas" panose="020B0609020204030204" pitchFamily="49" charset="0"/>
              </a:rPr>
              <a:t>&lt;</a:t>
            </a:r>
            <a:r>
              <a:rPr lang="en-US" sz="1000" dirty="0" err="1">
                <a:solidFill>
                  <a:srgbClr val="D4D4D4"/>
                </a:solidFill>
                <a:latin typeface="Consolas" panose="020B0609020204030204" pitchFamily="49" charset="0"/>
              </a:rPr>
              <a:t>BaseType</a:t>
            </a:r>
            <a:r>
              <a:rPr lang="en-US" sz="1000" dirty="0">
                <a:solidFill>
                  <a:srgbClr val="D4D4D4"/>
                </a:solidFill>
                <a:latin typeface="Consolas" panose="020B0609020204030204" pitchFamily="49" charset="0"/>
              </a:rPr>
              <a:t> *&gt;(</a:t>
            </a:r>
            <a:r>
              <a:rPr lang="en-US" sz="1000" dirty="0">
                <a:solidFill>
                  <a:srgbClr val="9CDCFE"/>
                </a:solidFill>
                <a:latin typeface="Consolas" panose="020B0609020204030204" pitchFamily="49" charset="0"/>
              </a:rPr>
              <a:t>it</a:t>
            </a:r>
            <a:r>
              <a:rPr lang="en-US" sz="1000" dirty="0">
                <a:solidFill>
                  <a:srgbClr val="D4D4D4"/>
                </a:solidFill>
                <a:latin typeface="Consolas" panose="020B0609020204030204" pitchFamily="49" charset="0"/>
              </a:rPr>
              <a:t>-&gt;</a:t>
            </a:r>
            <a:r>
              <a:rPr lang="en-US" sz="1000" dirty="0">
                <a:solidFill>
                  <a:srgbClr val="9CDCFE"/>
                </a:solidFill>
                <a:latin typeface="Consolas" panose="020B0609020204030204" pitchFamily="49" charset="0"/>
              </a:rPr>
              <a:t>second</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private: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dirty="0">
                <a:solidFill>
                  <a:srgbClr val="569CD6"/>
                </a:solidFill>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unordered_map</a:t>
            </a:r>
            <a:r>
              <a:rPr lang="en-US" sz="1000" b="0" dirty="0">
                <a:solidFill>
                  <a:srgbClr val="D4D4D4"/>
                </a:solidFill>
                <a:effectLst/>
                <a:latin typeface="Consolas" panose="020B0609020204030204" pitchFamily="49" charset="0"/>
              </a:rPr>
              <a:t>&lt;</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type_index</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*&gt; </a:t>
            </a:r>
            <a:r>
              <a:rPr lang="en-US" sz="1000" b="0" dirty="0" err="1">
                <a:solidFill>
                  <a:srgbClr val="D4D4D4"/>
                </a:solidFill>
                <a:effectLst/>
                <a:latin typeface="Consolas" panose="020B0609020204030204" pitchFamily="49" charset="0"/>
              </a:rPr>
              <a:t>m_instances</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p:txBody>
      </p:sp>
      <p:sp>
        <p:nvSpPr>
          <p:cNvPr id="7" name="Text 4">
            <a:extLst>
              <a:ext uri="{FF2B5EF4-FFF2-40B4-BE49-F238E27FC236}">
                <a16:creationId xmlns:a16="http://schemas.microsoft.com/office/drawing/2014/main" id="{6EF35CF8-3905-3CE7-1E88-4B7520520A67}"/>
              </a:ext>
            </a:extLst>
          </p:cNvPr>
          <p:cNvSpPr/>
          <p:nvPr/>
        </p:nvSpPr>
        <p:spPr>
          <a:xfrm>
            <a:off x="5641258" y="804671"/>
            <a:ext cx="3262601"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This is a very basic implementation to show the logic</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Must store raw pointers as values in the map because of inheritance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Value types must be erased</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Must either manage the life-time of the object pointed to by each key, or explicitly defer this task to the users (Omitted here for pravity)</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Usually, the container itself is a singleton</a:t>
            </a:r>
          </a:p>
          <a:p>
            <a:pPr marL="342900" indent="-342900">
              <a:spcAft>
                <a:spcPts val="600"/>
              </a:spcAft>
              <a:buSzPct val="100000"/>
              <a:buChar char="•"/>
            </a:pPr>
            <a:endParaRPr lang="en-US" sz="1600" dirty="0">
              <a:solidFill>
                <a:srgbClr val="1E3A5F"/>
              </a:solidFill>
              <a:latin typeface="Calibri" pitchFamily="34" charset="0"/>
              <a:ea typeface="Calibri" pitchFamily="34" charset="-122"/>
              <a:cs typeface="Calibri" pitchFamily="34" charset="-120"/>
            </a:endParaRPr>
          </a:p>
        </p:txBody>
      </p:sp>
      <p:sp>
        <p:nvSpPr>
          <p:cNvPr id="8" name="Text 3">
            <a:extLst>
              <a:ext uri="{FF2B5EF4-FFF2-40B4-BE49-F238E27FC236}">
                <a16:creationId xmlns:a16="http://schemas.microsoft.com/office/drawing/2014/main" id="{70C6AA1E-4EE1-0515-A56D-C7312BDD34F0}"/>
              </a:ext>
            </a:extLst>
          </p:cNvPr>
          <p:cNvSpPr/>
          <p:nvPr/>
        </p:nvSpPr>
        <p:spPr>
          <a:xfrm>
            <a:off x="411480" y="521208"/>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How a DI Container is implemented</a:t>
            </a:r>
            <a:endParaRPr lang="en-US" sz="1000" dirty="0"/>
          </a:p>
        </p:txBody>
      </p:sp>
      <p:sp>
        <p:nvSpPr>
          <p:cNvPr id="5" name="Text 2">
            <a:extLst>
              <a:ext uri="{FF2B5EF4-FFF2-40B4-BE49-F238E27FC236}">
                <a16:creationId xmlns:a16="http://schemas.microsoft.com/office/drawing/2014/main" id="{6C9FE2A6-7961-D36D-4A8C-FCA78A426DC2}"/>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#4 —The DI Container Trap</a:t>
            </a:r>
            <a:endParaRPr lang="en-US" sz="1900" dirty="0"/>
          </a:p>
        </p:txBody>
      </p:sp>
    </p:spTree>
    <p:extLst>
      <p:ext uri="{BB962C8B-B14F-4D97-AF65-F5344CB8AC3E}">
        <p14:creationId xmlns:p14="http://schemas.microsoft.com/office/powerpoint/2010/main" val="3058632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47039-DDCC-E005-C975-578ACF56BB2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F0A4A1B-F492-367C-D08D-1BA54AD2F972}"/>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A6F39114-BAAA-62E7-0A75-85C454B22E5C}"/>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6" name="Text 6">
            <a:extLst>
              <a:ext uri="{FF2B5EF4-FFF2-40B4-BE49-F238E27FC236}">
                <a16:creationId xmlns:a16="http://schemas.microsoft.com/office/drawing/2014/main" id="{24C5FE19-67AF-4E68-0ED8-89668CEC9329}"/>
              </a:ext>
            </a:extLst>
          </p:cNvPr>
          <p:cNvSpPr/>
          <p:nvPr/>
        </p:nvSpPr>
        <p:spPr>
          <a:xfrm>
            <a:off x="292606" y="841248"/>
            <a:ext cx="5746859" cy="4000499"/>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registerType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if</a:t>
            </a: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m_instances</a:t>
            </a:r>
            <a:r>
              <a:rPr lang="en-US" sz="1000" b="0" dirty="0" err="1">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find</a:t>
            </a:r>
            <a:r>
              <a:rPr lang="en-US" sz="1000" b="0" dirty="0">
                <a:solidFill>
                  <a:srgbClr val="D4D4D4"/>
                </a:solidFill>
                <a:effectLst/>
                <a:latin typeface="Consolas" panose="020B0609020204030204" pitchFamily="49" charset="0"/>
              </a:rPr>
              <a:t>(</a:t>
            </a:r>
            <a:r>
              <a:rPr lang="en-US" sz="1000" b="0" dirty="0" err="1">
                <a:solidFill>
                  <a:srgbClr val="569CD6"/>
                </a:solidFill>
                <a:effectLst/>
                <a:latin typeface="Consolas" panose="020B0609020204030204" pitchFamily="49" charset="0"/>
              </a:rPr>
              <a:t>typeid</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 </a:t>
            </a:r>
            <a:r>
              <a:rPr lang="en-US" sz="1000" b="0" dirty="0" err="1">
                <a:solidFill>
                  <a:srgbClr val="9CDCFE"/>
                </a:solidFill>
                <a:effectLst/>
                <a:latin typeface="Consolas" panose="020B0609020204030204" pitchFamily="49" charset="0"/>
              </a:rPr>
              <a:t>m_instances</a:t>
            </a:r>
            <a:r>
              <a:rPr lang="en-US" sz="1000" b="0" dirty="0" err="1">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end</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a:t>
            </a:r>
            <a:r>
              <a:rPr lang="en-US" sz="1000" b="0" dirty="0">
                <a:solidFill>
                  <a:srgbClr val="6A9955"/>
                </a:solidFill>
                <a:effectLst/>
                <a:latin typeface="Consolas" panose="020B0609020204030204" pitchFamily="49" charset="0"/>
              </a:rPr>
              <a:t> // Already registered</a:t>
            </a:r>
            <a:endParaRPr lang="en-US" sz="1000" b="0" dirty="0">
              <a:solidFill>
                <a:srgbClr val="D4D4D4"/>
              </a:solidFill>
              <a:effectLst/>
              <a:latin typeface="Consolas" panose="020B0609020204030204" pitchFamily="49" charset="0"/>
            </a:endParaRP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m_instances</a:t>
            </a:r>
            <a:r>
              <a:rPr lang="en-US" sz="1000" b="0" dirty="0">
                <a:solidFill>
                  <a:srgbClr val="D4D4D4"/>
                </a:solidFill>
                <a:effectLst/>
                <a:latin typeface="Consolas" panose="020B0609020204030204" pitchFamily="49" charset="0"/>
              </a:rPr>
              <a:t>[</a:t>
            </a:r>
            <a:r>
              <a:rPr lang="en-US" sz="1000" b="0" dirty="0" err="1">
                <a:solidFill>
                  <a:srgbClr val="569CD6"/>
                </a:solidFill>
                <a:effectLst/>
                <a:latin typeface="Consolas" panose="020B0609020204030204" pitchFamily="49" charset="0"/>
              </a:rPr>
              <a:t>typeid</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 []() -&gt; </a:t>
            </a:r>
            <a:r>
              <a:rPr lang="en-US" sz="1000" b="0" dirty="0">
                <a:solidFill>
                  <a:srgbClr val="569CD6"/>
                </a:solidFill>
                <a:effectLst/>
                <a:latin typeface="Consolas" panose="020B0609020204030204" pitchFamily="49" charset="0"/>
              </a:rPr>
              <a:t>void *</a:t>
            </a: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new</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a:solidFill>
                  <a:srgbClr val="DCDCAA"/>
                </a:solidFill>
                <a:effectLst/>
                <a:latin typeface="Consolas" panose="020B0609020204030204" pitchFamily="49" charset="0"/>
              </a:rPr>
              <a:t>resolve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auto</a:t>
            </a:r>
            <a:r>
              <a:rPr lang="en-US" sz="1000" b="0" dirty="0">
                <a:solidFill>
                  <a:srgbClr val="D4D4D4"/>
                </a:solidFill>
                <a:effectLst/>
                <a:latin typeface="Consolas" panose="020B0609020204030204" pitchFamily="49" charset="0"/>
              </a:rPr>
              <a:t> it = </a:t>
            </a:r>
            <a:r>
              <a:rPr lang="en-US" sz="1000" b="0" dirty="0" err="1">
                <a:solidFill>
                  <a:srgbClr val="9CDCFE"/>
                </a:solidFill>
                <a:effectLst/>
                <a:latin typeface="Consolas" panose="020B0609020204030204" pitchFamily="49" charset="0"/>
              </a:rPr>
              <a:t>m_instances</a:t>
            </a:r>
            <a:r>
              <a:rPr lang="en-US" sz="1000" b="0" dirty="0" err="1">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find</a:t>
            </a:r>
            <a:r>
              <a:rPr lang="en-US" sz="1000" b="0" dirty="0">
                <a:solidFill>
                  <a:srgbClr val="D4D4D4"/>
                </a:solidFill>
                <a:effectLst/>
                <a:latin typeface="Consolas" panose="020B0609020204030204" pitchFamily="49" charset="0"/>
              </a:rPr>
              <a:t>(</a:t>
            </a:r>
            <a:r>
              <a:rPr lang="en-US" sz="1000" b="0" dirty="0" err="1">
                <a:solidFill>
                  <a:srgbClr val="569CD6"/>
                </a:solidFill>
                <a:effectLst/>
                <a:latin typeface="Consolas" panose="020B0609020204030204" pitchFamily="49" charset="0"/>
              </a:rPr>
              <a:t>typeid</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if</a:t>
            </a:r>
            <a:r>
              <a:rPr lang="en-US" sz="1000" b="0" dirty="0">
                <a:solidFill>
                  <a:srgbClr val="D4D4D4"/>
                </a:solidFill>
                <a:effectLst/>
                <a:latin typeface="Consolas" panose="020B0609020204030204" pitchFamily="49" charset="0"/>
              </a:rPr>
              <a:t> (it == </a:t>
            </a:r>
            <a:r>
              <a:rPr lang="en-US" sz="1000" b="0" dirty="0" err="1">
                <a:solidFill>
                  <a:srgbClr val="9CDCFE"/>
                </a:solidFill>
                <a:effectLst/>
                <a:latin typeface="Consolas" panose="020B0609020204030204" pitchFamily="49" charset="0"/>
              </a:rPr>
              <a:t>m_instances</a:t>
            </a:r>
            <a:r>
              <a:rPr lang="en-US" sz="1000" b="0" dirty="0" err="1">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end</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err="1">
                <a:solidFill>
                  <a:srgbClr val="569CD6"/>
                </a:solidFill>
                <a:effectLst/>
                <a:latin typeface="Consolas" panose="020B0609020204030204" pitchFamily="49" charset="0"/>
              </a:rPr>
              <a:t>nullptr</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err="1">
                <a:solidFill>
                  <a:srgbClr val="569CD6"/>
                </a:solidFill>
                <a:effectLst/>
                <a:latin typeface="Consolas" panose="020B0609020204030204" pitchFamily="49" charset="0"/>
              </a:rPr>
              <a:t>dynamic_cast</a:t>
            </a:r>
            <a:r>
              <a:rPr lang="en-US" sz="1000" b="0" dirty="0">
                <a:solidFill>
                  <a:srgbClr val="D4D4D4"/>
                </a:solidFill>
                <a:effectLst/>
                <a:latin typeface="Consolas" panose="020B0609020204030204" pitchFamily="49" charset="0"/>
              </a:rPr>
              <a:t>&lt;</a:t>
            </a:r>
            <a:r>
              <a:rPr lang="en-US" sz="1000" b="0" dirty="0" err="1">
                <a:solidFill>
                  <a:srgbClr val="D4D4D4"/>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*&gt;(</a:t>
            </a:r>
            <a:r>
              <a:rPr lang="en-US" sz="1000" b="0" dirty="0">
                <a:solidFill>
                  <a:srgbClr val="9CDCFE"/>
                </a:solidFill>
                <a:effectLst/>
                <a:latin typeface="Consolas" panose="020B0609020204030204" pitchFamily="49" charset="0"/>
              </a:rPr>
              <a:t>it</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second</a:t>
            </a:r>
            <a:r>
              <a:rPr lang="en-US" sz="1000" b="0" dirty="0">
                <a:solidFill>
                  <a:srgbClr val="D4D4D4"/>
                </a:solidFill>
                <a:effectLst/>
                <a:latin typeface="Consolas" panose="020B0609020204030204" pitchFamily="49" charset="0"/>
              </a:rPr>
              <a:t>());</a:t>
            </a:r>
            <a:r>
              <a:rPr lang="en-US" sz="1000" b="0" dirty="0">
                <a:solidFill>
                  <a:srgbClr val="6A9955"/>
                </a:solidFill>
                <a:effectLst/>
                <a:latin typeface="Consolas" panose="020B0609020204030204" pitchFamily="49" charset="0"/>
              </a:rPr>
              <a:t> // create new instance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private: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unordered_map</a:t>
            </a:r>
            <a:r>
              <a:rPr lang="en-US" sz="1000" b="0" dirty="0">
                <a:solidFill>
                  <a:srgbClr val="D4D4D4"/>
                </a:solidFill>
                <a:effectLst/>
                <a:latin typeface="Consolas" panose="020B0609020204030204" pitchFamily="49" charset="0"/>
              </a:rPr>
              <a:t>&lt;</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err="1">
                <a:solidFill>
                  <a:srgbClr val="D4D4D4"/>
                </a:solidFill>
                <a:effectLst/>
                <a:latin typeface="Consolas" panose="020B0609020204030204" pitchFamily="49" charset="0"/>
              </a:rPr>
              <a:t>type_index</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::function&lt;</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*()&gt;&gt; </a:t>
            </a:r>
            <a:r>
              <a:rPr lang="en-US" sz="1000" b="0" dirty="0" err="1">
                <a:solidFill>
                  <a:srgbClr val="D4D4D4"/>
                </a:solidFill>
                <a:effectLst/>
                <a:latin typeface="Consolas" panose="020B0609020204030204" pitchFamily="49" charset="0"/>
              </a:rPr>
              <a:t>m_instances</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p:txBody>
      </p:sp>
      <p:sp>
        <p:nvSpPr>
          <p:cNvPr id="7" name="Text 4">
            <a:extLst>
              <a:ext uri="{FF2B5EF4-FFF2-40B4-BE49-F238E27FC236}">
                <a16:creationId xmlns:a16="http://schemas.microsoft.com/office/drawing/2014/main" id="{58F088B6-4DC8-7440-4D50-F0B4F7F9C0FA}"/>
              </a:ext>
            </a:extLst>
          </p:cNvPr>
          <p:cNvSpPr/>
          <p:nvPr/>
        </p:nvSpPr>
        <p:spPr>
          <a:xfrm>
            <a:off x="6179574" y="804671"/>
            <a:ext cx="2724285"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Returns a new instance of the registered concrete type every time resolve is called</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Managing the life-time of returned instances is usually the responsibility of the user</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Doesn’t solve the original problem. We need to have resolve return the same instance of the object every time we call it</a:t>
            </a:r>
          </a:p>
        </p:txBody>
      </p:sp>
      <p:sp>
        <p:nvSpPr>
          <p:cNvPr id="8" name="Text 3">
            <a:extLst>
              <a:ext uri="{FF2B5EF4-FFF2-40B4-BE49-F238E27FC236}">
                <a16:creationId xmlns:a16="http://schemas.microsoft.com/office/drawing/2014/main" id="{C7233567-B77A-1285-7466-8AB4A8BC1FF2}"/>
              </a:ext>
            </a:extLst>
          </p:cNvPr>
          <p:cNvSpPr/>
          <p:nvPr/>
        </p:nvSpPr>
        <p:spPr>
          <a:xfrm>
            <a:off x="411480" y="521208"/>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Factory-like implementation of a DI Container</a:t>
            </a:r>
            <a:endParaRPr lang="en-US" sz="1000" dirty="0"/>
          </a:p>
        </p:txBody>
      </p:sp>
      <p:sp>
        <p:nvSpPr>
          <p:cNvPr id="5" name="Text 2">
            <a:extLst>
              <a:ext uri="{FF2B5EF4-FFF2-40B4-BE49-F238E27FC236}">
                <a16:creationId xmlns:a16="http://schemas.microsoft.com/office/drawing/2014/main" id="{F15339EC-96E3-B41A-2BAD-E71163DA0732}"/>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#4 —The DI Container Trap</a:t>
            </a:r>
            <a:endParaRPr lang="en-US" sz="1900" dirty="0"/>
          </a:p>
        </p:txBody>
      </p:sp>
    </p:spTree>
    <p:extLst>
      <p:ext uri="{BB962C8B-B14F-4D97-AF65-F5344CB8AC3E}">
        <p14:creationId xmlns:p14="http://schemas.microsoft.com/office/powerpoint/2010/main" val="41078423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9C2A6-7634-42ED-C84E-65A8D3EDD8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917C9EB-CA0E-5E5B-4EFE-651960C4C815}"/>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0CC08699-9BBF-9CD0-C07A-B3885395E731}"/>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8" name="Text 3">
            <a:extLst>
              <a:ext uri="{FF2B5EF4-FFF2-40B4-BE49-F238E27FC236}">
                <a16:creationId xmlns:a16="http://schemas.microsoft.com/office/drawing/2014/main" id="{206AC3D4-D2C9-07EB-AE21-E1FE3112CA4F}"/>
              </a:ext>
            </a:extLst>
          </p:cNvPr>
          <p:cNvSpPr/>
          <p:nvPr/>
        </p:nvSpPr>
        <p:spPr>
          <a:xfrm>
            <a:off x="411480" y="521208"/>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Container philosophical questions</a:t>
            </a:r>
            <a:endParaRPr lang="en-US" sz="1000" dirty="0"/>
          </a:p>
        </p:txBody>
      </p:sp>
      <p:sp>
        <p:nvSpPr>
          <p:cNvPr id="5" name="Text 2">
            <a:extLst>
              <a:ext uri="{FF2B5EF4-FFF2-40B4-BE49-F238E27FC236}">
                <a16:creationId xmlns:a16="http://schemas.microsoft.com/office/drawing/2014/main" id="{5DCF8666-79D9-0893-4004-E829CF43B007}"/>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#4 —The DI Container Trap</a:t>
            </a:r>
            <a:endParaRPr lang="en-US" sz="1900" dirty="0"/>
          </a:p>
        </p:txBody>
      </p:sp>
      <p:sp>
        <p:nvSpPr>
          <p:cNvPr id="9" name="Text 6">
            <a:extLst>
              <a:ext uri="{FF2B5EF4-FFF2-40B4-BE49-F238E27FC236}">
                <a16:creationId xmlns:a16="http://schemas.microsoft.com/office/drawing/2014/main" id="{C9EF1F82-A040-5A1C-71D7-B8356F4D6C04}"/>
              </a:ext>
            </a:extLst>
          </p:cNvPr>
          <p:cNvSpPr/>
          <p:nvPr/>
        </p:nvSpPr>
        <p:spPr>
          <a:xfrm>
            <a:off x="292607" y="841248"/>
            <a:ext cx="5038936" cy="4000499"/>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6A9955"/>
                </a:solidFill>
                <a:effectLst/>
                <a:latin typeface="Consolas" panose="020B0609020204030204" pitchFamily="49" charset="0"/>
              </a:rPr>
              <a:t>// Option1: What should we return when the object is not found?</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&gt;</a:t>
            </a:r>
          </a:p>
          <a:p>
            <a:pPr>
              <a:lnSpc>
                <a:spcPts val="1425"/>
              </a:lnSpc>
              <a:buNone/>
            </a:pP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resolve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Option2: Who manages this object lifetime?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&gt;</a:t>
            </a:r>
          </a:p>
          <a:p>
            <a:pPr>
              <a:lnSpc>
                <a:spcPts val="1425"/>
              </a:lnSpc>
              <a:buNone/>
            </a:pP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resolve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Option3: How can we copy this object around?</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unique_ptr</a:t>
            </a:r>
            <a:r>
              <a:rPr lang="en-US" sz="1000" b="0" dirty="0">
                <a:solidFill>
                  <a:srgbClr val="D4D4D4"/>
                </a:solidFill>
                <a:effectLst/>
                <a:latin typeface="Consolas" panose="020B0609020204030204" pitchFamily="49" charset="0"/>
              </a:rPr>
              <a:t>&lt;</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&gt; </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resolve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Option4: Why should everybody pay for reference count overhead?</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shared_ptr</a:t>
            </a:r>
            <a:r>
              <a:rPr lang="en-US" sz="1000" b="0" dirty="0">
                <a:solidFill>
                  <a:srgbClr val="D4D4D4"/>
                </a:solidFill>
                <a:effectLst/>
                <a:latin typeface="Consolas" panose="020B0609020204030204" pitchFamily="49" charset="0"/>
              </a:rPr>
              <a:t>&lt;</a:t>
            </a:r>
            <a:r>
              <a:rPr lang="en-US" sz="1000" b="0" dirty="0" err="1">
                <a:solidFill>
                  <a:srgbClr val="4EC9B0"/>
                </a:solidFill>
                <a:effectLst/>
                <a:latin typeface="Consolas" panose="020B0609020204030204" pitchFamily="49" charset="0"/>
              </a:rPr>
              <a:t>BaseType</a:t>
            </a:r>
            <a:r>
              <a:rPr lang="en-US" sz="1000" b="0" dirty="0">
                <a:solidFill>
                  <a:srgbClr val="D4D4D4"/>
                </a:solidFill>
                <a:effectLst/>
                <a:latin typeface="Consolas" panose="020B0609020204030204" pitchFamily="49" charset="0"/>
              </a:rPr>
              <a:t>&gt; </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resolve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
        <p:nvSpPr>
          <p:cNvPr id="10" name="Text 4">
            <a:extLst>
              <a:ext uri="{FF2B5EF4-FFF2-40B4-BE49-F238E27FC236}">
                <a16:creationId xmlns:a16="http://schemas.microsoft.com/office/drawing/2014/main" id="{9C2AAD69-64A5-4EDB-57FE-DCEC3C5905DE}"/>
              </a:ext>
            </a:extLst>
          </p:cNvPr>
          <p:cNvSpPr/>
          <p:nvPr/>
        </p:nvSpPr>
        <p:spPr>
          <a:xfrm>
            <a:off x="5442156" y="804671"/>
            <a:ext cx="3461704" cy="4037076"/>
          </a:xfrm>
          <a:prstGeom prst="rect">
            <a:avLst/>
          </a:prstGeom>
          <a:noFill/>
          <a:ln/>
        </p:spPr>
        <p:txBody>
          <a:bodyPr wrap="square" rtlCol="0" anchor="t"/>
          <a:lstStyle/>
          <a:p>
            <a:pPr>
              <a:spcAft>
                <a:spcPts val="600"/>
              </a:spcAft>
              <a:buSzPct val="100000"/>
            </a:pPr>
            <a:r>
              <a:rPr lang="en-US" sz="1600" dirty="0">
                <a:solidFill>
                  <a:srgbClr val="1E3A5F"/>
                </a:solidFill>
                <a:latin typeface="Calibri" pitchFamily="34" charset="0"/>
                <a:ea typeface="Calibri" pitchFamily="34" charset="-122"/>
                <a:cs typeface="Calibri" pitchFamily="34" charset="-120"/>
              </a:rPr>
              <a:t>What should be the return type of resolve?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Returning a reference is only an option if we’re ok with throwing exceptions when an unregistered type is requested</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Returning raw pointer is dangerous as object life-time must become the responsibility of someone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Returning a </a:t>
            </a:r>
            <a:r>
              <a:rPr lang="en-US" sz="1600" dirty="0" err="1">
                <a:solidFill>
                  <a:srgbClr val="1E3A5F"/>
                </a:solidFill>
                <a:latin typeface="Calibri" pitchFamily="34" charset="0"/>
                <a:ea typeface="Calibri" pitchFamily="34" charset="-122"/>
                <a:cs typeface="Calibri" pitchFamily="34" charset="-120"/>
              </a:rPr>
              <a:t>unique_ptr</a:t>
            </a:r>
            <a:r>
              <a:rPr lang="en-US" sz="1600" dirty="0">
                <a:solidFill>
                  <a:srgbClr val="1E3A5F"/>
                </a:solidFill>
                <a:latin typeface="Calibri" pitchFamily="34" charset="0"/>
                <a:ea typeface="Calibri" pitchFamily="34" charset="-122"/>
                <a:cs typeface="Calibri" pitchFamily="34" charset="-120"/>
              </a:rPr>
              <a:t> prevents users from moving the object around</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Returning a  </a:t>
            </a:r>
            <a:r>
              <a:rPr lang="en-US" sz="1600" dirty="0" err="1">
                <a:solidFill>
                  <a:srgbClr val="1E3A5F"/>
                </a:solidFill>
                <a:latin typeface="Calibri" pitchFamily="34" charset="0"/>
                <a:ea typeface="Calibri" pitchFamily="34" charset="-122"/>
                <a:cs typeface="Calibri" pitchFamily="34" charset="-120"/>
              </a:rPr>
              <a:t>shared_ptr</a:t>
            </a:r>
            <a:r>
              <a:rPr lang="en-US" sz="1600" dirty="0">
                <a:solidFill>
                  <a:srgbClr val="1E3A5F"/>
                </a:solidFill>
                <a:latin typeface="Calibri" pitchFamily="34" charset="0"/>
                <a:ea typeface="Calibri" pitchFamily="34" charset="-122"/>
                <a:cs typeface="Calibri" pitchFamily="34" charset="-120"/>
              </a:rPr>
              <a:t> incurs reference counting overhead</a:t>
            </a:r>
          </a:p>
          <a:p>
            <a:pPr marL="342900" indent="-342900">
              <a:spcAft>
                <a:spcPts val="600"/>
              </a:spcAft>
              <a:buSzPct val="100000"/>
              <a:buChar char="•"/>
            </a:pPr>
            <a:endParaRPr lang="en-US" sz="1600" dirty="0">
              <a:solidFill>
                <a:srgbClr val="1E3A5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5233569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2A58A-5677-8945-17DC-1855C6E388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E1FDAE-BAD5-6CF8-0135-650806D986CE}"/>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8C731145-808F-C49F-8524-1275A92CFB6E}"/>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8" name="Text 3">
            <a:extLst>
              <a:ext uri="{FF2B5EF4-FFF2-40B4-BE49-F238E27FC236}">
                <a16:creationId xmlns:a16="http://schemas.microsoft.com/office/drawing/2014/main" id="{ABA2E395-A466-2E5E-B00A-E4F3C47DC36F}"/>
              </a:ext>
            </a:extLst>
          </p:cNvPr>
          <p:cNvSpPr/>
          <p:nvPr/>
        </p:nvSpPr>
        <p:spPr>
          <a:xfrm>
            <a:off x="411480" y="521208"/>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DI Container philosophical questions</a:t>
            </a:r>
            <a:endParaRPr lang="en-US" sz="1000" dirty="0"/>
          </a:p>
        </p:txBody>
      </p:sp>
      <p:sp>
        <p:nvSpPr>
          <p:cNvPr id="5" name="Text 2">
            <a:extLst>
              <a:ext uri="{FF2B5EF4-FFF2-40B4-BE49-F238E27FC236}">
                <a16:creationId xmlns:a16="http://schemas.microsoft.com/office/drawing/2014/main" id="{4B427EBD-60DF-4480-E1AD-A95D4AB1DA5F}"/>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#4 —The DI Container Trap</a:t>
            </a:r>
            <a:endParaRPr lang="en-US" sz="1900" dirty="0"/>
          </a:p>
        </p:txBody>
      </p:sp>
      <p:sp>
        <p:nvSpPr>
          <p:cNvPr id="9" name="Text 6">
            <a:extLst>
              <a:ext uri="{FF2B5EF4-FFF2-40B4-BE49-F238E27FC236}">
                <a16:creationId xmlns:a16="http://schemas.microsoft.com/office/drawing/2014/main" id="{244A7CF8-992B-6E23-31E5-53E2944C7671}"/>
              </a:ext>
            </a:extLst>
          </p:cNvPr>
          <p:cNvSpPr/>
          <p:nvPr/>
        </p:nvSpPr>
        <p:spPr>
          <a:xfrm>
            <a:off x="292607" y="841248"/>
            <a:ext cx="5061058" cy="4000499"/>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6A9955"/>
                </a:solidFill>
                <a:effectLst/>
                <a:latin typeface="Consolas" panose="020B0609020204030204" pitchFamily="49" charset="0"/>
              </a:rPr>
              <a:t>// Option1: Let users opt-in when calling the constructor</a:t>
            </a:r>
            <a:endParaRPr lang="en-US" sz="1000" b="0" dirty="0">
              <a:solidFill>
                <a:srgbClr val="D4D4D4"/>
              </a:solidFill>
              <a:effectLst/>
              <a:latin typeface="Consolas" panose="020B0609020204030204" pitchFamily="49" charset="0"/>
            </a:endParaRPr>
          </a:p>
          <a:p>
            <a:pPr>
              <a:lnSpc>
                <a:spcPts val="1425"/>
              </a:lnSpc>
              <a:buNone/>
            </a:pP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machine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a:t>
            </a:r>
            <a:r>
              <a:rPr lang="en-US" sz="1000" dirty="0">
                <a:solidFill>
                  <a:srgbClr val="DCDCAA"/>
                </a:solidFill>
                <a:latin typeface="Consolas" panose="020B0609020204030204" pitchFamily="49" charset="0"/>
              </a:rPr>
              <a:t>resolve</a:t>
            </a:r>
            <a:r>
              <a:rPr lang="en-US" sz="1000" b="0" dirty="0">
                <a:solidFill>
                  <a:srgbClr val="D4D4D4"/>
                </a:solidFill>
                <a:effectLst/>
                <a:latin typeface="Consolas" panose="020B0609020204030204" pitchFamily="49" charset="0"/>
              </a:rPr>
              <a:t>&lt;</a:t>
            </a:r>
            <a:r>
              <a:rPr lang="en-US" sz="1000" b="0" dirty="0" err="1">
                <a:solidFill>
                  <a:srgbClr val="4EC9B0"/>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a:t>
            </a:r>
            <a:r>
              <a:rPr lang="en-US" sz="1000" dirty="0">
                <a:solidFill>
                  <a:srgbClr val="DCDCAA"/>
                </a:solidFill>
                <a:latin typeface="Consolas" panose="020B0609020204030204" pitchFamily="49" charset="0"/>
              </a:rPr>
              <a:t>resolve</a:t>
            </a:r>
            <a:r>
              <a:rPr lang="en-US" sz="1000" b="0" dirty="0">
                <a:solidFill>
                  <a:srgbClr val="D4D4D4"/>
                </a:solidFill>
                <a:effectLst/>
                <a:latin typeface="Consolas" panose="020B0609020204030204" pitchFamily="49" charset="0"/>
              </a:rPr>
              <a:t>&lt;</a:t>
            </a:r>
            <a:r>
              <a:rPr lang="en-US" sz="1000" b="0" dirty="0" err="1">
                <a:solidFill>
                  <a:srgbClr val="4EC9B0"/>
                </a:solidFill>
                <a:effectLst/>
                <a:latin typeface="Consolas" panose="020B0609020204030204" pitchFamily="49" charset="0"/>
              </a:rPr>
              <a:t>IPowerController</a:t>
            </a:r>
            <a:r>
              <a:rPr lang="en-US" sz="1000" b="0" dirty="0">
                <a:solidFill>
                  <a:srgbClr val="D4D4D4"/>
                </a:solidFill>
                <a:effectLst/>
                <a:latin typeface="Consolas" panose="020B0609020204030204" pitchFamily="49" charset="0"/>
              </a:rPr>
              <a:t>&gt;()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Option2: Use default values for constructor parameters</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ICommunicationInterface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9CDCFE"/>
                </a:solidFill>
                <a:effectLst/>
                <a:latin typeface="Consolas" panose="020B0609020204030204" pitchFamily="49" charset="0"/>
              </a:rPr>
              <a:t>comm</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a:t>
            </a:r>
            <a:r>
              <a:rPr lang="en-US" sz="1000" dirty="0">
                <a:solidFill>
                  <a:srgbClr val="DCDCAA"/>
                </a:solidFill>
                <a:latin typeface="Consolas" panose="020B0609020204030204" pitchFamily="49" charset="0"/>
              </a:rPr>
              <a:t>resolve</a:t>
            </a:r>
            <a:r>
              <a:rPr lang="en-US" sz="1000" b="0" dirty="0">
                <a:solidFill>
                  <a:srgbClr val="D4D4D4"/>
                </a:solidFill>
                <a:effectLst/>
                <a:latin typeface="Consolas" panose="020B0609020204030204" pitchFamily="49" charset="0"/>
              </a:rPr>
              <a:t>&lt;</a:t>
            </a:r>
            <a:r>
              <a:rPr lang="en-US" sz="1000" dirty="0" err="1">
                <a:solidFill>
                  <a:srgbClr val="4EC9B0"/>
                </a:solidFill>
                <a:latin typeface="Consolas" panose="020B0609020204030204" pitchFamily="49" charset="0"/>
              </a:rPr>
              <a:t>ICommunicationInterface</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IPowerController</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9CDCFE"/>
                </a:solidFill>
                <a:effectLst/>
                <a:latin typeface="Consolas" panose="020B0609020204030204" pitchFamily="49" charset="0"/>
              </a:rPr>
              <a:t>power</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DIContainer</a:t>
            </a:r>
            <a:r>
              <a:rPr lang="en-US" sz="1000" b="0" dirty="0">
                <a:solidFill>
                  <a:srgbClr val="D4D4D4"/>
                </a:solidFill>
                <a:effectLst/>
                <a:latin typeface="Consolas" panose="020B0609020204030204" pitchFamily="49" charset="0"/>
              </a:rPr>
              <a:t>::</a:t>
            </a:r>
            <a:r>
              <a:rPr lang="en-US" sz="1000" dirty="0">
                <a:solidFill>
                  <a:srgbClr val="DCDCAA"/>
                </a:solidFill>
                <a:latin typeface="Consolas" panose="020B0609020204030204" pitchFamily="49" charset="0"/>
              </a:rPr>
              <a:t>resolve</a:t>
            </a:r>
            <a:r>
              <a:rPr lang="en-US" sz="1000" b="0" dirty="0">
                <a:solidFill>
                  <a:srgbClr val="D4D4D4"/>
                </a:solidFill>
                <a:effectLst/>
                <a:latin typeface="Consolas" panose="020B0609020204030204" pitchFamily="49" charset="0"/>
              </a:rPr>
              <a:t>&lt;</a:t>
            </a:r>
            <a:r>
              <a:rPr lang="en-US" sz="1000" dirty="0" err="1">
                <a:solidFill>
                  <a:srgbClr val="4EC9B0"/>
                </a:solidFill>
                <a:latin typeface="Consolas" panose="020B0609020204030204" pitchFamily="49" charset="0"/>
              </a:rPr>
              <a:t>IPowerController</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
        <p:nvSpPr>
          <p:cNvPr id="10" name="Text 4">
            <a:extLst>
              <a:ext uri="{FF2B5EF4-FFF2-40B4-BE49-F238E27FC236}">
                <a16:creationId xmlns:a16="http://schemas.microsoft.com/office/drawing/2014/main" id="{F74DA1FF-129D-F9C5-3A0A-CEBD8A73D236}"/>
              </a:ext>
            </a:extLst>
          </p:cNvPr>
          <p:cNvSpPr/>
          <p:nvPr/>
        </p:nvSpPr>
        <p:spPr>
          <a:xfrm>
            <a:off x="5523270" y="804671"/>
            <a:ext cx="3380589" cy="4037076"/>
          </a:xfrm>
          <a:prstGeom prst="rect">
            <a:avLst/>
          </a:prstGeom>
          <a:noFill/>
          <a:ln/>
        </p:spPr>
        <p:txBody>
          <a:bodyPr wrap="square" rtlCol="0" anchor="t"/>
          <a:lstStyle/>
          <a:p>
            <a:pPr>
              <a:spcAft>
                <a:spcPts val="600"/>
              </a:spcAft>
              <a:buSzPct val="100000"/>
            </a:pPr>
            <a:r>
              <a:rPr lang="en-US" sz="1600" dirty="0">
                <a:solidFill>
                  <a:srgbClr val="1E3A5F"/>
                </a:solidFill>
                <a:latin typeface="Calibri" pitchFamily="34" charset="0"/>
                <a:ea typeface="Calibri" pitchFamily="34" charset="-122"/>
                <a:cs typeface="Calibri" pitchFamily="34" charset="-120"/>
              </a:rPr>
              <a:t>How can we make sure everybody in the codebase is using the container to resolve concrete implementations for a specific interface?</a:t>
            </a:r>
          </a:p>
          <a:p>
            <a:pPr marL="285750" indent="-285750">
              <a:spcAft>
                <a:spcPts val="600"/>
              </a:spcAft>
              <a:buSzPct val="100000"/>
              <a:buFont typeface="Arial" panose="020B0604020202020204" pitchFamily="34" charset="0"/>
              <a:buChar char="•"/>
            </a:pPr>
            <a:r>
              <a:rPr lang="en-US" sz="1600" dirty="0">
                <a:solidFill>
                  <a:srgbClr val="1E3A5F"/>
                </a:solidFill>
                <a:latin typeface="Calibri" pitchFamily="34" charset="0"/>
                <a:ea typeface="Calibri" pitchFamily="34" charset="-122"/>
                <a:cs typeface="Calibri" pitchFamily="34" charset="-120"/>
              </a:rPr>
              <a:t>Giving users the option to opt-in when testing is just a recipe for disaster and code fragmentation</a:t>
            </a:r>
          </a:p>
          <a:p>
            <a:pPr marL="285750" indent="-285750">
              <a:spcAft>
                <a:spcPts val="600"/>
              </a:spcAft>
              <a:buSzPct val="100000"/>
              <a:buFont typeface="Arial" panose="020B0604020202020204" pitchFamily="34" charset="0"/>
              <a:buChar char="•"/>
            </a:pPr>
            <a:r>
              <a:rPr lang="en-US" sz="1600" dirty="0">
                <a:solidFill>
                  <a:srgbClr val="1E3A5F"/>
                </a:solidFill>
                <a:latin typeface="Calibri" pitchFamily="34" charset="0"/>
                <a:ea typeface="Calibri" pitchFamily="34" charset="-122"/>
                <a:cs typeface="Calibri" pitchFamily="34" charset="-120"/>
              </a:rPr>
              <a:t>Setting default values for constructor parameters is cleaner</a:t>
            </a:r>
          </a:p>
          <a:p>
            <a:pPr marL="285750" indent="-285750">
              <a:spcAft>
                <a:spcPts val="600"/>
              </a:spcAft>
              <a:buSzPct val="100000"/>
              <a:buFont typeface="Arial" panose="020B0604020202020204" pitchFamily="34" charset="0"/>
              <a:buChar char="•"/>
            </a:pPr>
            <a:r>
              <a:rPr lang="en-US" sz="1600" dirty="0">
                <a:solidFill>
                  <a:srgbClr val="1E3A5F"/>
                </a:solidFill>
                <a:latin typeface="Calibri" pitchFamily="34" charset="0"/>
                <a:ea typeface="Calibri" pitchFamily="34" charset="-122"/>
                <a:cs typeface="Calibri" pitchFamily="34" charset="-120"/>
              </a:rPr>
              <a:t>Unfortunately, both options don’t guarantee that everyone will end up using the same implementation everywhere in the code </a:t>
            </a:r>
          </a:p>
        </p:txBody>
      </p:sp>
    </p:spTree>
    <p:extLst>
      <p:ext uri="{BB962C8B-B14F-4D97-AF65-F5344CB8AC3E}">
        <p14:creationId xmlns:p14="http://schemas.microsoft.com/office/powerpoint/2010/main" val="1285304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6320E-471F-C4FE-4431-5A9F68BE7C58}"/>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D74B6186-92DE-155E-D2A8-BE962955E2F6}"/>
              </a:ext>
            </a:extLst>
          </p:cNvPr>
          <p:cNvSpPr/>
          <p:nvPr/>
        </p:nvSpPr>
        <p:spPr>
          <a:xfrm>
            <a:off x="411480" y="850392"/>
            <a:ext cx="8321040" cy="3743731"/>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Any DI container inherently incurs performance / memory overhead as it internally needs to use some form of key/value map to store its data</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If the DI Container itself is a singleton (Most common implementation techniques do so), then we ended up where we started</a:t>
            </a:r>
          </a:p>
          <a:p>
            <a:pPr marL="342900" indent="-342900">
              <a:spcAft>
                <a:spcPts val="600"/>
              </a:spcAft>
              <a:buSzPct val="100000"/>
              <a:buChar char="•"/>
            </a:pPr>
            <a:endParaRPr lang="en-US" sz="1600" dirty="0">
              <a:solidFill>
                <a:srgbClr val="94A3B8"/>
              </a:solidFill>
              <a:latin typeface="Calibri" pitchFamily="34" charset="0"/>
              <a:ea typeface="Calibri" pitchFamily="34" charset="-122"/>
              <a:cs typeface="Calibri" pitchFamily="34" charset="-120"/>
            </a:endParaRPr>
          </a:p>
        </p:txBody>
      </p:sp>
      <p:sp>
        <p:nvSpPr>
          <p:cNvPr id="2" name="Shape 0">
            <a:extLst>
              <a:ext uri="{FF2B5EF4-FFF2-40B4-BE49-F238E27FC236}">
                <a16:creationId xmlns:a16="http://schemas.microsoft.com/office/drawing/2014/main" id="{D2EF56E9-3B87-7A31-F1E4-A94433D350AA}"/>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7622C4AB-CD99-122D-2830-048CCCD95107}"/>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99F2697D-839B-CA16-2E9A-C85728BAAB42}"/>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 Problem #4 —The DI Container Trap</a:t>
            </a:r>
            <a:endParaRPr lang="en-US" sz="1900" dirty="0"/>
          </a:p>
        </p:txBody>
      </p:sp>
      <p:sp>
        <p:nvSpPr>
          <p:cNvPr id="5" name="Text 3">
            <a:extLst>
              <a:ext uri="{FF2B5EF4-FFF2-40B4-BE49-F238E27FC236}">
                <a16:creationId xmlns:a16="http://schemas.microsoft.com/office/drawing/2014/main" id="{A23757AC-C0E1-FD51-D0D2-C6535E1538DC}"/>
              </a:ext>
            </a:extLst>
          </p:cNvPr>
          <p:cNvSpPr/>
          <p:nvPr/>
        </p:nvSpPr>
        <p:spPr>
          <a:xfrm>
            <a:off x="411480" y="530352"/>
            <a:ext cx="4535274"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Additional DI Container problems</a:t>
            </a:r>
            <a:endParaRPr lang="en-US" sz="1000" dirty="0"/>
          </a:p>
        </p:txBody>
      </p:sp>
    </p:spTree>
    <p:extLst>
      <p:ext uri="{BB962C8B-B14F-4D97-AF65-F5344CB8AC3E}">
        <p14:creationId xmlns:p14="http://schemas.microsoft.com/office/powerpoint/2010/main" val="13795395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4130A-8AAA-CFCF-5A1A-9E72A1FAF30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BE838C-D592-EB55-7A9F-F440E5226771}"/>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0862AE09-717A-8E0D-E60E-201060E23E9D}"/>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B693E0A2-5637-79C9-1770-51634513CC3D}"/>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Summary: Downsides of DI</a:t>
            </a:r>
            <a:endParaRPr lang="en-US" sz="1900" dirty="0"/>
          </a:p>
        </p:txBody>
      </p:sp>
      <p:graphicFrame>
        <p:nvGraphicFramePr>
          <p:cNvPr id="5" name="Table 0">
            <a:extLst>
              <a:ext uri="{FF2B5EF4-FFF2-40B4-BE49-F238E27FC236}">
                <a16:creationId xmlns:a16="http://schemas.microsoft.com/office/drawing/2014/main" id="{D7C6A18D-EFB9-2DA6-2E6A-8C03F493F589}"/>
              </a:ext>
            </a:extLst>
          </p:cNvPr>
          <p:cNvGraphicFramePr>
            <a:graphicFrameLocks noGrp="1"/>
          </p:cNvGraphicFramePr>
          <p:nvPr>
            <p:extLst>
              <p:ext uri="{D42A27DB-BD31-4B8C-83A1-F6EECF244321}">
                <p14:modId xmlns:p14="http://schemas.microsoft.com/office/powerpoint/2010/main" val="2050898309"/>
              </p:ext>
            </p:extLst>
          </p:nvPr>
        </p:nvGraphicFramePr>
        <p:xfrm>
          <a:off x="266008" y="582930"/>
          <a:ext cx="8611984" cy="4251960"/>
        </p:xfrm>
        <a:graphic>
          <a:graphicData uri="http://schemas.openxmlformats.org/drawingml/2006/table">
            <a:tbl>
              <a:tblPr/>
              <a:tblGrid>
                <a:gridCol w="2377441">
                  <a:extLst>
                    <a:ext uri="{9D8B030D-6E8A-4147-A177-3AD203B41FA5}">
                      <a16:colId xmlns:a16="http://schemas.microsoft.com/office/drawing/2014/main" val="20000"/>
                    </a:ext>
                  </a:extLst>
                </a:gridCol>
                <a:gridCol w="6234543">
                  <a:extLst>
                    <a:ext uri="{9D8B030D-6E8A-4147-A177-3AD203B41FA5}">
                      <a16:colId xmlns:a16="http://schemas.microsoft.com/office/drawing/2014/main" val="20001"/>
                    </a:ext>
                  </a:extLst>
                </a:gridCol>
              </a:tblGrid>
              <a:tr h="121526">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Details</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249665">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Boilerplate Explosion</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171450" indent="-171450" algn="l">
                        <a:buFont typeface="Arial" panose="020B0604020202020204" pitchFamily="34" charset="0"/>
                        <a:buChar char="•"/>
                      </a:pPr>
                      <a:r>
                        <a:rPr lang="en-US" sz="1100" dirty="0"/>
                        <a:t>Explicit wiring of all dependencies</a:t>
                      </a:r>
                    </a:p>
                    <a:p>
                      <a:pPr marL="171450" indent="-171450" algn="l">
                        <a:buFont typeface="Arial" panose="020B0604020202020204" pitchFamily="34" charset="0"/>
                        <a:buChar char="•"/>
                      </a:pPr>
                      <a:r>
                        <a:rPr lang="en-US" sz="1100" dirty="0"/>
                        <a:t>Constructor parameter bloat</a:t>
                      </a:r>
                    </a:p>
                    <a:p>
                      <a:pPr marL="171450" indent="-171450" algn="l">
                        <a:buFont typeface="Arial" panose="020B0604020202020204" pitchFamily="34" charset="0"/>
                        <a:buChar char="•"/>
                      </a:pPr>
                      <a:r>
                        <a:rPr lang="en-US" sz="1100" dirty="0"/>
                        <a:t>Cluttered APIs</a:t>
                      </a:r>
                    </a:p>
                    <a:p>
                      <a:pPr marL="171450" indent="-171450" algn="l">
                        <a:buFont typeface="Arial" panose="020B0604020202020204" pitchFamily="34" charset="0"/>
                        <a:buChar char="•"/>
                      </a:pPr>
                      <a:r>
                        <a:rPr lang="en-US" sz="1100" dirty="0">
                          <a:latin typeface="Calibri" charset="0"/>
                          <a:ea typeface="Calibri" charset="0"/>
                          <a:cs typeface="Calibri" charset="0"/>
                        </a:rPr>
                        <a:t>Avoiding very long call chains requires very verbose API</a:t>
                      </a:r>
                    </a:p>
                    <a:p>
                      <a:pPr marL="171450" indent="-171450" algn="l">
                        <a:buFont typeface="Arial" panose="020B0604020202020204" pitchFamily="34" charset="0"/>
                        <a:buChar char="•"/>
                      </a:pPr>
                      <a:r>
                        <a:rPr lang="en-US" sz="1100" dirty="0">
                          <a:latin typeface="Calibri" charset="0"/>
                          <a:ea typeface="Calibri" charset="0"/>
                          <a:cs typeface="Calibri" charset="0"/>
                        </a:rPr>
                        <a:t>Avoiding very verbose APIs leads to very long call chains</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1"/>
                  </a:ext>
                </a:extLst>
              </a:tr>
              <a:tr h="219018">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Violation of DRY Principle</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tc>
                  <a:txBody>
                    <a:bodyPr/>
                    <a:lstStyle/>
                    <a:p>
                      <a:pPr marL="171450" indent="-171450" algn="l">
                        <a:buFont typeface="Arial" panose="020B0604020202020204" pitchFamily="34" charset="0"/>
                        <a:buChar char="•"/>
                      </a:pPr>
                      <a:r>
                        <a:rPr lang="en-US" sz="1100" dirty="0"/>
                        <a:t>Small changes ripple across multiple files</a:t>
                      </a:r>
                    </a:p>
                    <a:p>
                      <a:pPr marL="171450" indent="-171450" algn="l">
                        <a:buFont typeface="Arial" panose="020B0604020202020204" pitchFamily="34" charset="0"/>
                        <a:buChar char="•"/>
                      </a:pPr>
                      <a:r>
                        <a:rPr lang="en-US" sz="1100" dirty="0"/>
                        <a:t>Lots of references to the same dependency in multiple places</a:t>
                      </a:r>
                    </a:p>
                    <a:p>
                      <a:pPr marL="171450" indent="-171450" algn="l">
                        <a:buFont typeface="Arial" panose="020B0604020202020204" pitchFamily="34" charset="0"/>
                        <a:buChar char="•"/>
                      </a:pPr>
                      <a:r>
                        <a:rPr lang="en-US" sz="1100" dirty="0"/>
                        <a:t>Manual wiring of dependencies for each object</a:t>
                      </a:r>
                    </a:p>
                    <a:p>
                      <a:pPr marL="171450" indent="-171450" algn="l">
                        <a:buFont typeface="Arial" panose="020B0604020202020204" pitchFamily="34" charset="0"/>
                        <a:buChar char="•"/>
                      </a:pPr>
                      <a:r>
                        <a:rPr lang="en-US" sz="1100" dirty="0"/>
                        <a:t>Multiple long call chains to access the same dependency everywhere</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57244">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Performance Overhead</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171450" indent="-171450" algn="l">
                        <a:buFont typeface="Arial" panose="020B0604020202020204" pitchFamily="34" charset="0"/>
                        <a:buChar char="•"/>
                      </a:pPr>
                      <a:r>
                        <a:rPr lang="en-US" sz="1100" dirty="0">
                          <a:solidFill>
                            <a:srgbClr val="111827"/>
                          </a:solidFill>
                          <a:latin typeface="Calibri" pitchFamily="34" charset="0"/>
                          <a:ea typeface="Calibri" pitchFamily="34" charset="-122"/>
                          <a:cs typeface="Calibri" pitchFamily="34" charset="-120"/>
                        </a:rPr>
                        <a:t>Virtual dispatch incurs pointer indirection overhead</a:t>
                      </a:r>
                    </a:p>
                    <a:p>
                      <a:pPr marL="171450" indent="-171450" algn="l">
                        <a:buFont typeface="Arial" panose="020B0604020202020204" pitchFamily="34" charset="0"/>
                        <a:buChar char="•"/>
                      </a:pPr>
                      <a:r>
                        <a:rPr lang="en-US" sz="1100" dirty="0">
                          <a:solidFill>
                            <a:srgbClr val="111827"/>
                          </a:solidFill>
                          <a:latin typeface="Calibri" pitchFamily="34" charset="0"/>
                          <a:ea typeface="Calibri" pitchFamily="34" charset="-122"/>
                          <a:cs typeface="Calibri" pitchFamily="34" charset="-120"/>
                        </a:rPr>
                        <a:t>Extra memory for </a:t>
                      </a:r>
                      <a:r>
                        <a:rPr lang="en-US" sz="1100" dirty="0" err="1">
                          <a:solidFill>
                            <a:srgbClr val="111827"/>
                          </a:solidFill>
                          <a:latin typeface="Calibri" pitchFamily="34" charset="0"/>
                          <a:ea typeface="Calibri" pitchFamily="34" charset="-122"/>
                          <a:cs typeface="Calibri" pitchFamily="34" charset="-120"/>
                        </a:rPr>
                        <a:t>vtables</a:t>
                      </a:r>
                      <a:r>
                        <a:rPr lang="en-US" sz="1100" dirty="0">
                          <a:solidFill>
                            <a:srgbClr val="111827"/>
                          </a:solidFill>
                          <a:latin typeface="Calibri" pitchFamily="34" charset="0"/>
                          <a:ea typeface="Calibri" pitchFamily="34" charset="-122"/>
                          <a:cs typeface="Calibri" pitchFamily="34" charset="-120"/>
                        </a:rPr>
                        <a:t> and repeated references</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3"/>
                  </a:ext>
                </a:extLst>
              </a:tr>
              <a:tr h="157244">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Debugging Complexity</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tc>
                  <a:txBody>
                    <a:bodyPr/>
                    <a:lstStyle/>
                    <a:p>
                      <a:pPr marL="171450" indent="-171450" algn="l">
                        <a:buFont typeface="Arial" panose="020B0604020202020204" pitchFamily="34" charset="0"/>
                        <a:buChar char="•"/>
                      </a:pPr>
                      <a:r>
                        <a:rPr lang="en-US" sz="1100" dirty="0">
                          <a:solidFill>
                            <a:srgbClr val="111827"/>
                          </a:solidFill>
                          <a:latin typeface="Calibri" pitchFamily="34" charset="0"/>
                          <a:ea typeface="Calibri" pitchFamily="34" charset="-122"/>
                          <a:cs typeface="Calibri" pitchFamily="34" charset="-120"/>
                        </a:rPr>
                        <a:t>Deeper, harder-to-trace call stacks</a:t>
                      </a:r>
                    </a:p>
                    <a:p>
                      <a:pPr marL="171450" indent="-171450" algn="l">
                        <a:buFont typeface="Arial" panose="020B0604020202020204" pitchFamily="34" charset="0"/>
                        <a:buChar char="•"/>
                      </a:pPr>
                      <a:r>
                        <a:rPr lang="en-US" sz="1100" dirty="0">
                          <a:solidFill>
                            <a:srgbClr val="111827"/>
                          </a:solidFill>
                          <a:latin typeface="Calibri" pitchFamily="34" charset="0"/>
                          <a:ea typeface="Calibri" pitchFamily="34" charset="-122"/>
                          <a:cs typeface="Calibri" pitchFamily="34" charset="-120"/>
                        </a:rPr>
                        <a:t>Concrete implementations hidden behind abstractions</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57244">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Ownership Nightmares</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171450" indent="-171450" algn="l">
                        <a:buFont typeface="Arial" panose="020B0604020202020204" pitchFamily="34" charset="0"/>
                        <a:buChar char="•"/>
                      </a:pPr>
                      <a:r>
                        <a:rPr lang="en-US" sz="1100" dirty="0">
                          <a:solidFill>
                            <a:srgbClr val="111827"/>
                          </a:solidFill>
                          <a:latin typeface="Calibri" pitchFamily="34" charset="0"/>
                          <a:ea typeface="Calibri" pitchFamily="34" charset="-122"/>
                          <a:cs typeface="Calibri" pitchFamily="34" charset="-120"/>
                        </a:rPr>
                        <a:t>Who should own what?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111827"/>
                          </a:solidFill>
                          <a:latin typeface="Calibri" pitchFamily="34" charset="0"/>
                          <a:ea typeface="Calibri" pitchFamily="34" charset="-122"/>
                          <a:cs typeface="Calibri" pitchFamily="34" charset="-120"/>
                        </a:rPr>
                        <a:t>Risk of circular references</a:t>
                      </a:r>
                    </a:p>
                    <a:p>
                      <a:pPr marL="171450" indent="-171450" algn="l">
                        <a:buFont typeface="Arial" panose="020B0604020202020204" pitchFamily="34" charset="0"/>
                        <a:buChar char="•"/>
                      </a:pPr>
                      <a:r>
                        <a:rPr lang="en-US" sz="1100" dirty="0" err="1">
                          <a:solidFill>
                            <a:srgbClr val="111827"/>
                          </a:solidFill>
                          <a:latin typeface="Calibri" pitchFamily="34" charset="0"/>
                          <a:ea typeface="Calibri" pitchFamily="34" charset="-122"/>
                          <a:cs typeface="Calibri" pitchFamily="34" charset="-120"/>
                        </a:rPr>
                        <a:t>unique_ptr</a:t>
                      </a:r>
                      <a:r>
                        <a:rPr lang="en-US" sz="1100" dirty="0">
                          <a:solidFill>
                            <a:srgbClr val="111827"/>
                          </a:solidFill>
                          <a:latin typeface="Calibri" pitchFamily="34" charset="0"/>
                          <a:ea typeface="Calibri" pitchFamily="34" charset="-122"/>
                          <a:cs typeface="Calibri" pitchFamily="34" charset="-120"/>
                        </a:rPr>
                        <a:t> / </a:t>
                      </a:r>
                      <a:r>
                        <a:rPr lang="en-US" sz="1100" dirty="0" err="1">
                          <a:solidFill>
                            <a:srgbClr val="111827"/>
                          </a:solidFill>
                          <a:latin typeface="Calibri" pitchFamily="34" charset="0"/>
                          <a:ea typeface="Calibri" pitchFamily="34" charset="-122"/>
                          <a:cs typeface="Calibri" pitchFamily="34" charset="-120"/>
                        </a:rPr>
                        <a:t>shared_ptr</a:t>
                      </a:r>
                      <a:r>
                        <a:rPr lang="en-US" sz="1100" dirty="0">
                          <a:solidFill>
                            <a:srgbClr val="111827"/>
                          </a:solidFill>
                          <a:latin typeface="Calibri" pitchFamily="34" charset="0"/>
                          <a:ea typeface="Calibri" pitchFamily="34" charset="-122"/>
                          <a:cs typeface="Calibri" pitchFamily="34" charset="-120"/>
                        </a:rPr>
                        <a:t> complicate lifetimes even more</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5"/>
                  </a:ext>
                </a:extLst>
              </a:tr>
              <a:tr h="157244">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Compromise of Encapsulation</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tc>
                  <a:txBody>
                    <a:bodyPr/>
                    <a:lstStyle/>
                    <a:p>
                      <a:pPr marL="171450" indent="-171450" algn="l">
                        <a:buFont typeface="Arial" panose="020B0604020202020204" pitchFamily="34" charset="0"/>
                        <a:buChar char="•"/>
                      </a:pPr>
                      <a:r>
                        <a:rPr lang="en-US" sz="1100" dirty="0">
                          <a:solidFill>
                            <a:srgbClr val="111827"/>
                          </a:solidFill>
                          <a:latin typeface="Calibri" pitchFamily="34" charset="0"/>
                          <a:ea typeface="Calibri" pitchFamily="34" charset="-122"/>
                          <a:cs typeface="Calibri" pitchFamily="34" charset="-120"/>
                        </a:rPr>
                        <a:t>Internal dependencies exposed in public APIs</a:t>
                      </a:r>
                    </a:p>
                    <a:p>
                      <a:pPr marL="171450" indent="-171450" algn="l">
                        <a:buFont typeface="Arial" panose="020B0604020202020204" pitchFamily="34" charset="0"/>
                        <a:buChar char="•"/>
                      </a:pPr>
                      <a:r>
                        <a:rPr lang="en-US" sz="1100" dirty="0">
                          <a:solidFill>
                            <a:srgbClr val="111827"/>
                          </a:solidFill>
                          <a:latin typeface="Calibri" pitchFamily="34" charset="0"/>
                          <a:ea typeface="Calibri" pitchFamily="34" charset="-122"/>
                          <a:cs typeface="Calibri" pitchFamily="34" charset="-120"/>
                        </a:rPr>
                        <a:t>Public API shaped by implementation details</a:t>
                      </a:r>
                    </a:p>
                    <a:p>
                      <a:pPr marL="171450" indent="-171450" algn="l">
                        <a:buFont typeface="Arial" panose="020B0604020202020204" pitchFamily="34" charset="0"/>
                        <a:buChar char="•"/>
                      </a:pPr>
                      <a:r>
                        <a:rPr lang="en-US" sz="1100" dirty="0">
                          <a:solidFill>
                            <a:srgbClr val="111827"/>
                          </a:solidFill>
                          <a:latin typeface="Calibri" pitchFamily="34" charset="0"/>
                          <a:ea typeface="Calibri" pitchFamily="34" charset="-122"/>
                          <a:cs typeface="Calibri" pitchFamily="34" charset="-120"/>
                        </a:rPr>
                        <a:t>Interfaces added for testing, not domain modeling</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21526">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Violation of ‘Pay For What You Use’</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171450" indent="-171450" algn="l">
                        <a:buFont typeface="Arial" panose="020B0604020202020204" pitchFamily="34" charset="0"/>
                        <a:buChar char="•"/>
                      </a:pPr>
                      <a:r>
                        <a:rPr lang="en-US" sz="1100" dirty="0">
                          <a:solidFill>
                            <a:srgbClr val="111827"/>
                          </a:solidFill>
                          <a:latin typeface="Calibri" pitchFamily="34" charset="0"/>
                          <a:ea typeface="Calibri" pitchFamily="34" charset="-122"/>
                          <a:cs typeface="Calibri" pitchFamily="34" charset="-120"/>
                        </a:rPr>
                        <a:t>Overhead applies even when abstraction isn’t needed</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647823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CDE59-EFDE-228B-250E-CED84B63C9C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077BF1-7501-9B8F-38AF-DDEAEFBFD7AE}"/>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1FF9B1B6-6B9F-DBA4-E6CA-3AEE1718BE42}"/>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2AD922B3-C54E-4F38-6AA4-92AD96CA2D74}"/>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Singletons vs Dependency Injection</a:t>
            </a:r>
            <a:endParaRPr lang="en-US" sz="1900" dirty="0"/>
          </a:p>
        </p:txBody>
      </p:sp>
      <p:graphicFrame>
        <p:nvGraphicFramePr>
          <p:cNvPr id="5" name="Table 0">
            <a:extLst>
              <a:ext uri="{FF2B5EF4-FFF2-40B4-BE49-F238E27FC236}">
                <a16:creationId xmlns:a16="http://schemas.microsoft.com/office/drawing/2014/main" id="{608AAAFF-A7EC-BAE1-08BD-4F01C1B9EC07}"/>
              </a:ext>
            </a:extLst>
          </p:cNvPr>
          <p:cNvGraphicFramePr>
            <a:graphicFrameLocks noGrp="1"/>
          </p:cNvGraphicFramePr>
          <p:nvPr>
            <p:extLst>
              <p:ext uri="{D42A27DB-BD31-4B8C-83A1-F6EECF244321}">
                <p14:modId xmlns:p14="http://schemas.microsoft.com/office/powerpoint/2010/main" val="59079633"/>
              </p:ext>
            </p:extLst>
          </p:nvPr>
        </p:nvGraphicFramePr>
        <p:xfrm>
          <a:off x="266008" y="636270"/>
          <a:ext cx="8611984" cy="4145280"/>
        </p:xfrm>
        <a:graphic>
          <a:graphicData uri="http://schemas.openxmlformats.org/drawingml/2006/table">
            <a:tbl>
              <a:tblPr/>
              <a:tblGrid>
                <a:gridCol w="2602553">
                  <a:extLst>
                    <a:ext uri="{9D8B030D-6E8A-4147-A177-3AD203B41FA5}">
                      <a16:colId xmlns:a16="http://schemas.microsoft.com/office/drawing/2014/main" val="20000"/>
                    </a:ext>
                  </a:extLst>
                </a:gridCol>
                <a:gridCol w="2920181">
                  <a:extLst>
                    <a:ext uri="{9D8B030D-6E8A-4147-A177-3AD203B41FA5}">
                      <a16:colId xmlns:a16="http://schemas.microsoft.com/office/drawing/2014/main" val="20001"/>
                    </a:ext>
                  </a:extLst>
                </a:gridCol>
                <a:gridCol w="3089250">
                  <a:extLst>
                    <a:ext uri="{9D8B030D-6E8A-4147-A177-3AD203B41FA5}">
                      <a16:colId xmlns:a16="http://schemas.microsoft.com/office/drawing/2014/main" val="729028301"/>
                    </a:ext>
                  </a:extLst>
                </a:gridCol>
              </a:tblGrid>
              <a:tr h="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Singletons</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1E3A5F"/>
                    </a:solidFill>
                  </a:tcPr>
                </a:tc>
                <a:tc>
                  <a:txBody>
                    <a:bodyPr/>
                    <a:lstStyle/>
                    <a:p>
                      <a:pPr marL="0" indent="0" algn="ctr">
                        <a:buFontTx/>
                        <a:buNone/>
                      </a:pPr>
                      <a:r>
                        <a:rPr lang="en-US" sz="1100" b="1" kern="1200" dirty="0">
                          <a:solidFill>
                            <a:srgbClr val="FFFFFF"/>
                          </a:solidFill>
                          <a:latin typeface="Calibri" pitchFamily="34" charset="0"/>
                          <a:ea typeface="Calibri" pitchFamily="34" charset="-122"/>
                          <a:cs typeface="Calibri" pitchFamily="34" charset="-120"/>
                        </a:rPr>
                        <a:t>Dependency Injection</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0">
                <a:tc>
                  <a:txBody>
                    <a:bodyPr/>
                    <a:lstStyle/>
                    <a:p>
                      <a:pPr marL="0" indent="0" algn="l">
                        <a:buNone/>
                      </a:pPr>
                      <a:r>
                        <a:rPr lang="en-US" sz="1100" dirty="0">
                          <a:latin typeface="Calibri" charset="0"/>
                          <a:ea typeface="Calibri" charset="0"/>
                          <a:cs typeface="Calibri" charset="0"/>
                        </a:rPr>
                        <a:t>Implementation Simplicity</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264691732"/>
                  </a:ext>
                </a:extLst>
              </a:tr>
              <a:tr h="0">
                <a:tc>
                  <a:txBody>
                    <a:bodyPr/>
                    <a:lstStyle/>
                    <a:p>
                      <a:pPr marL="0" indent="0" algn="l" defTabSz="914400" rtl="0" eaLnBrk="1" latinLnBrk="0" hangingPunct="1">
                        <a:buNone/>
                      </a:pPr>
                      <a:r>
                        <a:rPr lang="en-US" sz="1100" kern="1200" dirty="0">
                          <a:solidFill>
                            <a:schemeClr val="tx1"/>
                          </a:solidFill>
                          <a:latin typeface="Calibri" charset="0"/>
                          <a:ea typeface="Calibri" charset="0"/>
                          <a:cs typeface="Calibri" charset="0"/>
                        </a:rPr>
                        <a:t>Ease of use</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defTabSz="914400" rtl="0" eaLnBrk="1" latinLnBrk="0" hangingPunct="1">
                        <a:buFontTx/>
                        <a:buNone/>
                      </a:pPr>
                      <a:r>
                        <a:rPr lang="en-US" sz="1100" dirty="0">
                          <a:solidFill>
                            <a:srgbClr val="111827"/>
                          </a:solidFill>
                          <a:latin typeface="Calibri" pitchFamily="34" charset="0"/>
                          <a:ea typeface="Calibri" pitchFamily="34" charset="-122"/>
                          <a:cs typeface="Calibri" pitchFamily="34" charset="-120"/>
                        </a:rPr>
                        <a:t>✓</a:t>
                      </a:r>
                      <a:endParaRPr lang="en-US" sz="1100" kern="1200" dirty="0">
                        <a:solidFill>
                          <a:schemeClr val="tx1"/>
                        </a:solidFill>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3464038358"/>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Testability</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1"/>
                  </a:ext>
                </a:extLst>
              </a:tr>
              <a:tr h="0">
                <a:tc>
                  <a:txBody>
                    <a:bodyPr/>
                    <a:lstStyle/>
                    <a:p>
                      <a:pPr marL="0" indent="0" algn="l">
                        <a:buNone/>
                      </a:pPr>
                      <a:r>
                        <a:rPr lang="en-US" sz="1100" dirty="0">
                          <a:latin typeface="Calibri" charset="0"/>
                          <a:ea typeface="Calibri" charset="0"/>
                          <a:cs typeface="Calibri" charset="0"/>
                        </a:rPr>
                        <a:t>Hidden dependencies</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extLst>
                  <a:ext uri="{0D108BD9-81ED-4DB2-BD59-A6C34878D82A}">
                    <a16:rowId xmlns:a16="http://schemas.microsoft.com/office/drawing/2014/main" val="2597903588"/>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Respect for encapsulation</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2"/>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Low overhead (Performance / memory)</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Debuggability</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4"/>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Low Boilerplate</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10005"/>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Respect for DRY</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6"/>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Respect for ‘Pay For What You Use’</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10007"/>
                  </a:ext>
                </a:extLst>
              </a:tr>
              <a:tr h="0">
                <a:tc>
                  <a:txBody>
                    <a:bodyPr/>
                    <a:lstStyle/>
                    <a:p>
                      <a:pPr marL="0" indent="0" algn="l">
                        <a:buNone/>
                      </a:pPr>
                      <a:r>
                        <a:rPr lang="en-US" sz="1100" dirty="0">
                          <a:latin typeface="Calibri" charset="0"/>
                          <a:ea typeface="Calibri" charset="0"/>
                          <a:cs typeface="Calibri" charset="0"/>
                        </a:rPr>
                        <a:t>Simple ownership model</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3546386670"/>
                  </a:ext>
                </a:extLst>
              </a:tr>
              <a:tr h="0">
                <a:tc>
                  <a:txBody>
                    <a:bodyPr/>
                    <a:lstStyle/>
                    <a:p>
                      <a:pPr marL="0" indent="0" algn="l">
                        <a:buNone/>
                      </a:pPr>
                      <a:r>
                        <a:rPr lang="en-US" sz="1100" dirty="0">
                          <a:latin typeface="Calibri" charset="0"/>
                          <a:ea typeface="Calibri" charset="0"/>
                          <a:cs typeface="Calibri" charset="0"/>
                        </a:rPr>
                        <a:t>Life-cycle flexibility</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269226711"/>
                  </a:ext>
                </a:extLst>
              </a:tr>
              <a:tr h="0">
                <a:tc>
                  <a:txBody>
                    <a:bodyPr/>
                    <a:lstStyle/>
                    <a:p>
                      <a:pPr marL="0" indent="0" algn="l">
                        <a:buNone/>
                      </a:pPr>
                      <a:r>
                        <a:rPr lang="en-US" sz="1100" dirty="0">
                          <a:latin typeface="Calibri" charset="0"/>
                          <a:ea typeface="Calibri" charset="0"/>
                          <a:cs typeface="Calibri" charset="0"/>
                        </a:rPr>
                        <a:t>Legacy friendly</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556428940"/>
                  </a:ext>
                </a:extLst>
              </a:tr>
              <a:tr h="0">
                <a:tc>
                  <a:txBody>
                    <a:bodyPr/>
                    <a:lstStyle/>
                    <a:p>
                      <a:pPr marL="0" indent="0" algn="l">
                        <a:buNone/>
                      </a:pPr>
                      <a:r>
                        <a:rPr lang="en-US" sz="1100" dirty="0">
                          <a:latin typeface="Calibri" charset="0"/>
                          <a:ea typeface="Calibri" charset="0"/>
                          <a:cs typeface="Calibri" charset="0"/>
                        </a:rPr>
                        <a:t>Respect for Dependency Inversion</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2600658112"/>
                  </a:ext>
                </a:extLst>
              </a:tr>
              <a:tr h="0">
                <a:tc>
                  <a:txBody>
                    <a:bodyPr/>
                    <a:lstStyle/>
                    <a:p>
                      <a:pPr marL="0" indent="0" algn="l">
                        <a:buNone/>
                      </a:pPr>
                      <a:r>
                        <a:rPr lang="en-US" sz="1100" dirty="0">
                          <a:latin typeface="Calibri" charset="0"/>
                          <a:ea typeface="Calibri" charset="0"/>
                          <a:cs typeface="Calibri" charset="0"/>
                        </a:rPr>
                        <a:t>Reduces Tight coupling</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974732739"/>
                  </a:ext>
                </a:extLst>
              </a:tr>
            </a:tbl>
          </a:graphicData>
        </a:graphic>
      </p:graphicFrame>
    </p:spTree>
    <p:extLst>
      <p:ext uri="{BB962C8B-B14F-4D97-AF65-F5344CB8AC3E}">
        <p14:creationId xmlns:p14="http://schemas.microsoft.com/office/powerpoint/2010/main" val="11656747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5AE8DE0A-2A34-F644-9E7A-682A91F9C54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20D7C2-F2E1-0440-32C3-EBB653D3686A}"/>
              </a:ext>
            </a:extLst>
          </p:cNvPr>
          <p:cNvSpPr/>
          <p:nvPr/>
        </p:nvSpPr>
        <p:spPr>
          <a:xfrm>
            <a:off x="0" y="0"/>
            <a:ext cx="164592" cy="5143500"/>
          </a:xfrm>
          <a:prstGeom prst="rect">
            <a:avLst/>
          </a:prstGeom>
          <a:solidFill>
            <a:srgbClr val="F59E0B"/>
          </a:solidFill>
          <a:ln w="12700">
            <a:solidFill>
              <a:srgbClr val="F59E0B"/>
            </a:solidFill>
            <a:prstDash val="solid"/>
          </a:ln>
        </p:spPr>
        <p:txBody>
          <a:bodyPr/>
          <a:lstStyle/>
          <a:p>
            <a:endParaRPr lang="en-US"/>
          </a:p>
        </p:txBody>
      </p:sp>
      <p:sp>
        <p:nvSpPr>
          <p:cNvPr id="3" name="Shape 1">
            <a:extLst>
              <a:ext uri="{FF2B5EF4-FFF2-40B4-BE49-F238E27FC236}">
                <a16:creationId xmlns:a16="http://schemas.microsoft.com/office/drawing/2014/main" id="{7677623C-3EFB-0EC6-5B61-0BAEDACD7CF3}"/>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74DC2AA1-212A-BF21-89EA-27750136ABB6}"/>
              </a:ext>
            </a:extLst>
          </p:cNvPr>
          <p:cNvSpPr/>
          <p:nvPr/>
        </p:nvSpPr>
        <p:spPr>
          <a:xfrm>
            <a:off x="411480" y="640080"/>
            <a:ext cx="8321040" cy="1645920"/>
          </a:xfrm>
          <a:prstGeom prst="rect">
            <a:avLst/>
          </a:prstGeom>
          <a:noFill/>
          <a:ln/>
        </p:spPr>
        <p:txBody>
          <a:bodyPr wrap="square" lIns="0" tIns="0" rIns="0" bIns="0" rtlCol="0" anchor="ctr"/>
          <a:lstStyle/>
          <a:p>
            <a:pPr marL="0" indent="0">
              <a:lnSpc>
                <a:spcPct val="120000"/>
              </a:lnSpc>
              <a:buNone/>
            </a:pPr>
            <a:r>
              <a:rPr lang="en-US" sz="3400" b="1" dirty="0">
                <a:solidFill>
                  <a:srgbClr val="FFFFFF"/>
                </a:solidFill>
                <a:latin typeface="Georgia" pitchFamily="34" charset="0"/>
                <a:ea typeface="Georgia" pitchFamily="34" charset="-122"/>
                <a:cs typeface="Georgia" pitchFamily="34" charset="-120"/>
              </a:rPr>
              <a:t>Fixing Singletons vs. Forcing DI: What’s the Smarter Choice?</a:t>
            </a:r>
            <a:endParaRPr lang="en-US" sz="3400" dirty="0"/>
          </a:p>
        </p:txBody>
      </p:sp>
      <p:sp>
        <p:nvSpPr>
          <p:cNvPr id="6" name="Text 4">
            <a:extLst>
              <a:ext uri="{FF2B5EF4-FFF2-40B4-BE49-F238E27FC236}">
                <a16:creationId xmlns:a16="http://schemas.microsoft.com/office/drawing/2014/main" id="{F6151B3D-3179-6D42-688E-18F0A9BDE8DC}"/>
              </a:ext>
            </a:extLst>
          </p:cNvPr>
          <p:cNvSpPr/>
          <p:nvPr/>
        </p:nvSpPr>
        <p:spPr>
          <a:xfrm>
            <a:off x="411480" y="2419004"/>
            <a:ext cx="8321040" cy="2335876"/>
          </a:xfrm>
          <a:prstGeom prst="rect">
            <a:avLst/>
          </a:prstGeom>
          <a:noFill/>
          <a:ln/>
        </p:spPr>
        <p:txBody>
          <a:bodyPr wrap="square" rtlCol="0" anchor="t"/>
          <a:lstStyle/>
          <a:p>
            <a:pPr marL="342900" indent="-342900">
              <a:spcAft>
                <a:spcPts val="800"/>
              </a:spcAft>
              <a:buSzPct val="100000"/>
              <a:buChar char="•"/>
            </a:pPr>
            <a:r>
              <a:rPr lang="en-US" sz="1600" dirty="0">
                <a:solidFill>
                  <a:srgbClr val="E2E8F0"/>
                </a:solidFill>
                <a:latin typeface="Calibri" pitchFamily="34" charset="0"/>
                <a:ea typeface="Calibri" pitchFamily="34" charset="-122"/>
                <a:cs typeface="Calibri" pitchFamily="34" charset="-120"/>
              </a:rPr>
              <a:t>Singletons present a limited set of specific, well-understood issues</a:t>
            </a:r>
          </a:p>
          <a:p>
            <a:pPr marL="342900" indent="-342900">
              <a:spcAft>
                <a:spcPts val="800"/>
              </a:spcAft>
              <a:buSzPct val="100000"/>
              <a:buChar char="•"/>
            </a:pPr>
            <a:r>
              <a:rPr lang="en-US" sz="1600" dirty="0">
                <a:solidFill>
                  <a:srgbClr val="E2E8F0"/>
                </a:solidFill>
                <a:latin typeface="Calibri" pitchFamily="34" charset="0"/>
                <a:ea typeface="Calibri" pitchFamily="34" charset="-122"/>
                <a:cs typeface="Calibri" pitchFamily="34" charset="-120"/>
              </a:rPr>
              <a:t>Adopting Dependency Injection comes with significant complexity and overhead</a:t>
            </a:r>
          </a:p>
          <a:p>
            <a:pPr marL="342900" indent="-342900">
              <a:spcAft>
                <a:spcPts val="800"/>
              </a:spcAft>
              <a:buSzPct val="100000"/>
              <a:buChar char="•"/>
            </a:pPr>
            <a:r>
              <a:rPr lang="en-US" sz="1600" dirty="0">
                <a:solidFill>
                  <a:srgbClr val="E2E8F0"/>
                </a:solidFill>
                <a:latin typeface="Calibri" pitchFamily="34" charset="0"/>
                <a:ea typeface="Calibri" pitchFamily="34" charset="-122"/>
                <a:cs typeface="Calibri" pitchFamily="34" charset="-120"/>
              </a:rPr>
              <a:t>The problems caused by singletons almost never outweigh the cost of switching to DI</a:t>
            </a:r>
          </a:p>
          <a:p>
            <a:pPr marL="342900" indent="-342900">
              <a:spcAft>
                <a:spcPts val="800"/>
              </a:spcAft>
              <a:buSzPct val="100000"/>
              <a:buChar char="•"/>
            </a:pPr>
            <a:r>
              <a:rPr lang="en-US" sz="1600" dirty="0">
                <a:solidFill>
                  <a:srgbClr val="E2E8F0"/>
                </a:solidFill>
                <a:latin typeface="Calibri" pitchFamily="34" charset="0"/>
                <a:ea typeface="Calibri" pitchFamily="34" charset="-122"/>
                <a:cs typeface="Calibri" pitchFamily="34" charset="-120"/>
              </a:rPr>
              <a:t>A practical approach is to address singleton issues directly instead of fully replacing them with DI</a:t>
            </a:r>
          </a:p>
        </p:txBody>
      </p:sp>
    </p:spTree>
    <p:extLst>
      <p:ext uri="{BB962C8B-B14F-4D97-AF65-F5344CB8AC3E}">
        <p14:creationId xmlns:p14="http://schemas.microsoft.com/office/powerpoint/2010/main" val="91453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4">
    <p:bg>
      <p:bgPr>
        <a:solidFill>
          <a:schemeClr val="tx2">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146304"/>
          </a:xfrm>
          <a:prstGeom prst="rect">
            <a:avLst/>
          </a:prstGeom>
          <a:solidFill>
            <a:srgbClr val="3B82F6"/>
          </a:solidFill>
          <a:ln w="12700">
            <a:solidFill>
              <a:srgbClr val="3B82F6"/>
            </a:solidFill>
            <a:prstDash val="solid"/>
          </a:ln>
        </p:spPr>
        <p:txBody>
          <a:bodyPr/>
          <a:lstStyle/>
          <a:p>
            <a:endParaRPr lang="en-US"/>
          </a:p>
        </p:txBody>
      </p:sp>
      <p:sp>
        <p:nvSpPr>
          <p:cNvPr id="3" name="Shape 1"/>
          <p:cNvSpPr/>
          <p:nvPr/>
        </p:nvSpPr>
        <p:spPr>
          <a:xfrm>
            <a:off x="0" y="4997196"/>
            <a:ext cx="9144000" cy="146304"/>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57200" y="548640"/>
            <a:ext cx="8229600" cy="347472"/>
          </a:xfrm>
          <a:prstGeom prst="rect">
            <a:avLst/>
          </a:prstGeom>
          <a:noFill/>
          <a:ln/>
        </p:spPr>
        <p:txBody>
          <a:bodyPr wrap="square" lIns="0" tIns="0" rIns="0" bIns="0" rtlCol="0" anchor="ctr"/>
          <a:lstStyle/>
          <a:p>
            <a:pPr marL="0" indent="0">
              <a:buNone/>
            </a:pPr>
            <a:r>
              <a:rPr lang="en-US" sz="1300" b="1" kern="0" spc="400">
                <a:solidFill>
                  <a:srgbClr val="F59E0B"/>
                </a:solidFill>
                <a:latin typeface="Calibri" pitchFamily="34" charset="0"/>
                <a:ea typeface="Calibri" pitchFamily="34" charset="-122"/>
                <a:cs typeface="Calibri" pitchFamily="34" charset="-120"/>
              </a:rPr>
              <a:t>SECTION 03</a:t>
            </a:r>
            <a:endParaRPr lang="en-US" sz="1300"/>
          </a:p>
        </p:txBody>
      </p:sp>
      <p:sp>
        <p:nvSpPr>
          <p:cNvPr id="5" name="Text 3"/>
          <p:cNvSpPr/>
          <p:nvPr/>
        </p:nvSpPr>
        <p:spPr>
          <a:xfrm>
            <a:off x="457200" y="1005840"/>
            <a:ext cx="8229600" cy="2011680"/>
          </a:xfrm>
          <a:prstGeom prst="rect">
            <a:avLst/>
          </a:prstGeom>
          <a:noFill/>
          <a:ln/>
        </p:spPr>
        <p:txBody>
          <a:bodyPr wrap="square" lIns="0" tIns="0" rIns="0" bIns="0" rtlCol="0" anchor="ctr"/>
          <a:lstStyle/>
          <a:p>
            <a:pPr marL="0" indent="0">
              <a:lnSpc>
                <a:spcPct val="115000"/>
              </a:lnSpc>
              <a:buNone/>
            </a:pPr>
            <a:r>
              <a:rPr lang="en-US" sz="3400" b="1" dirty="0">
                <a:solidFill>
                  <a:srgbClr val="FFFFFF"/>
                </a:solidFill>
                <a:latin typeface="Georgia" pitchFamily="34" charset="0"/>
                <a:ea typeface="Georgia" pitchFamily="34" charset="-122"/>
                <a:cs typeface="Georgia" pitchFamily="34" charset="-120"/>
              </a:rPr>
              <a:t>What would a good singleton look like? </a:t>
            </a:r>
            <a:r>
              <a:rPr lang="en-US" sz="1500" dirty="0">
                <a:solidFill>
                  <a:srgbClr val="94A3B8"/>
                </a:solidFill>
                <a:latin typeface="Calibri" pitchFamily="34" charset="0"/>
                <a:ea typeface="Calibri" pitchFamily="34" charset="-122"/>
                <a:cs typeface="Calibri" pitchFamily="34" charset="-120"/>
              </a:rPr>
              <a:t>25</a:t>
            </a:r>
          </a:p>
        </p:txBody>
      </p:sp>
      <p:sp>
        <p:nvSpPr>
          <p:cNvPr id="6" name="Text 4"/>
          <p:cNvSpPr/>
          <p:nvPr/>
        </p:nvSpPr>
        <p:spPr>
          <a:xfrm>
            <a:off x="457200" y="3154680"/>
            <a:ext cx="7772400" cy="59436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From data to code</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36ADE-585D-712E-F421-C02374512D39}"/>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182AD3D8-65A0-9DAF-74A1-810B403A7E5B}"/>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Preserve original singleton strengths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Zero boilerplate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 manual dependency wiring</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Respect ‘Pay for what you use’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Respect ‘DRY’</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Unit testable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Beginner friendly</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Legacy friendly  (No breaking API changes, and ABI if possible)</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Non-invasive</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Require minimal changes</a:t>
            </a:r>
          </a:p>
          <a:p>
            <a:pPr marL="342900" indent="-342900">
              <a:spcAft>
                <a:spcPts val="600"/>
              </a:spcAft>
              <a:buSzPct val="100000"/>
              <a:buFontTx/>
              <a:buChar char="•"/>
            </a:pPr>
            <a:endParaRPr lang="en-US" sz="1600" dirty="0"/>
          </a:p>
        </p:txBody>
      </p:sp>
      <p:sp>
        <p:nvSpPr>
          <p:cNvPr id="2" name="Shape 0">
            <a:extLst>
              <a:ext uri="{FF2B5EF4-FFF2-40B4-BE49-F238E27FC236}">
                <a16:creationId xmlns:a16="http://schemas.microsoft.com/office/drawing/2014/main" id="{4CF54DD7-5223-AC93-DB2C-2CC7D04AF5C1}"/>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55E95CB8-F7F5-8AC8-C9AB-981D45FE4E47}"/>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29C00D66-0E07-36C3-C7AF-107FBCF1923F}"/>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What would be an optimum solution?</a:t>
            </a:r>
            <a:endParaRPr lang="en-US" sz="1900" dirty="0"/>
          </a:p>
        </p:txBody>
      </p:sp>
    </p:spTree>
    <p:extLst>
      <p:ext uri="{BB962C8B-B14F-4D97-AF65-F5344CB8AC3E}">
        <p14:creationId xmlns:p14="http://schemas.microsoft.com/office/powerpoint/2010/main" val="32698525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7CD0D-B58B-C107-21F8-607F6ACE5DA4}"/>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90BAD070-674B-6DA2-6422-51AD72ED4359}"/>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took these requirements and began exploring ways to fulfill them</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had some legacy singletons alongside new singletons as our test cases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explored different solutions and started working on refining them iteratively</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Finally, our design reached a stable point where it fulfilled all requirements and worked with all our test cases flawlessly</a:t>
            </a:r>
          </a:p>
        </p:txBody>
      </p:sp>
      <p:sp>
        <p:nvSpPr>
          <p:cNvPr id="2" name="Shape 0">
            <a:extLst>
              <a:ext uri="{FF2B5EF4-FFF2-40B4-BE49-F238E27FC236}">
                <a16:creationId xmlns:a16="http://schemas.microsoft.com/office/drawing/2014/main" id="{37A39027-9256-27CF-C0D1-98D9A984CA72}"/>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19B8F8C0-A5D8-F309-98E2-419177E3C2EC}"/>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D08A05DD-52B6-4259-B8DB-F3E123449193}"/>
              </a:ext>
            </a:extLst>
          </p:cNvPr>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What should the optimum solution look like?</a:t>
            </a:r>
            <a:endParaRPr lang="en-US" sz="1900" dirty="0"/>
          </a:p>
        </p:txBody>
      </p:sp>
    </p:spTree>
    <p:extLst>
      <p:ext uri="{BB962C8B-B14F-4D97-AF65-F5344CB8AC3E}">
        <p14:creationId xmlns:p14="http://schemas.microsoft.com/office/powerpoint/2010/main" val="18415790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2FDBE9B1-2909-E646-43A0-F95F4BD2CBE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3FFE787-531A-DBA8-4CAA-DE06EB74B458}"/>
              </a:ext>
            </a:extLst>
          </p:cNvPr>
          <p:cNvSpPr/>
          <p:nvPr/>
        </p:nvSpPr>
        <p:spPr>
          <a:xfrm>
            <a:off x="0" y="0"/>
            <a:ext cx="164592" cy="5143500"/>
          </a:xfrm>
          <a:prstGeom prst="rect">
            <a:avLst/>
          </a:prstGeom>
          <a:solidFill>
            <a:srgbClr val="F59E0B"/>
          </a:solidFill>
          <a:ln w="12700">
            <a:solidFill>
              <a:srgbClr val="F59E0B"/>
            </a:solidFill>
            <a:prstDash val="solid"/>
          </a:ln>
        </p:spPr>
        <p:txBody>
          <a:bodyPr/>
          <a:lstStyle/>
          <a:p>
            <a:endParaRPr lang="en-US"/>
          </a:p>
        </p:txBody>
      </p:sp>
      <p:sp>
        <p:nvSpPr>
          <p:cNvPr id="3" name="Shape 1">
            <a:extLst>
              <a:ext uri="{FF2B5EF4-FFF2-40B4-BE49-F238E27FC236}">
                <a16:creationId xmlns:a16="http://schemas.microsoft.com/office/drawing/2014/main" id="{9C684F04-A384-2CD9-4A27-70C79EB0575B}"/>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1E9381E3-8E8E-1BD2-29D4-66BF64705343}"/>
              </a:ext>
            </a:extLst>
          </p:cNvPr>
          <p:cNvSpPr/>
          <p:nvPr/>
        </p:nvSpPr>
        <p:spPr>
          <a:xfrm>
            <a:off x="411480" y="640080"/>
            <a:ext cx="8321040" cy="1645920"/>
          </a:xfrm>
          <a:prstGeom prst="rect">
            <a:avLst/>
          </a:prstGeom>
          <a:noFill/>
          <a:ln/>
        </p:spPr>
        <p:txBody>
          <a:bodyPr wrap="square" lIns="0" tIns="0" rIns="0" bIns="0" rtlCol="0" anchor="ctr"/>
          <a:lstStyle/>
          <a:p>
            <a:pPr marL="0" indent="0">
              <a:lnSpc>
                <a:spcPct val="120000"/>
              </a:lnSpc>
              <a:buNone/>
            </a:pPr>
            <a:r>
              <a:rPr lang="en-US" sz="3400" b="1" dirty="0">
                <a:solidFill>
                  <a:srgbClr val="FFFFFF"/>
                </a:solidFill>
                <a:latin typeface="Georgia" pitchFamily="34" charset="0"/>
                <a:ea typeface="Georgia" pitchFamily="34" charset="-122"/>
                <a:cs typeface="Georgia" pitchFamily="34" charset="-120"/>
              </a:rPr>
              <a:t>The Solution</a:t>
            </a:r>
            <a:endParaRPr lang="en-US" sz="3400" dirty="0"/>
          </a:p>
        </p:txBody>
      </p:sp>
      <p:sp>
        <p:nvSpPr>
          <p:cNvPr id="6" name="Text 4">
            <a:extLst>
              <a:ext uri="{FF2B5EF4-FFF2-40B4-BE49-F238E27FC236}">
                <a16:creationId xmlns:a16="http://schemas.microsoft.com/office/drawing/2014/main" id="{2705C885-4CF5-0B83-2806-8EF8C72C366A}"/>
              </a:ext>
            </a:extLst>
          </p:cNvPr>
          <p:cNvSpPr/>
          <p:nvPr/>
        </p:nvSpPr>
        <p:spPr>
          <a:xfrm>
            <a:off x="411480" y="2419004"/>
            <a:ext cx="8321040" cy="2335876"/>
          </a:xfrm>
          <a:prstGeom prst="rect">
            <a:avLst/>
          </a:prstGeom>
          <a:noFill/>
          <a:ln/>
        </p:spPr>
        <p:txBody>
          <a:bodyPr wrap="square" rtlCol="0" anchor="t"/>
          <a:lstStyle/>
          <a:p>
            <a:pPr>
              <a:spcAft>
                <a:spcPts val="800"/>
              </a:spcAft>
              <a:buSzPct val="100000"/>
            </a:pPr>
            <a:r>
              <a:rPr lang="en-US" sz="1600" dirty="0" err="1">
                <a:solidFill>
                  <a:srgbClr val="E2E8F0"/>
                </a:solidFill>
                <a:latin typeface="Calibri" pitchFamily="34" charset="0"/>
                <a:ea typeface="Calibri" pitchFamily="34" charset="-122"/>
                <a:cs typeface="Calibri" pitchFamily="34" charset="-120"/>
              </a:rPr>
              <a:t>SingletonBase</a:t>
            </a:r>
            <a:r>
              <a:rPr lang="en-US" sz="1600" dirty="0">
                <a:solidFill>
                  <a:srgbClr val="E2E8F0"/>
                </a:solidFill>
                <a:latin typeface="Calibri" pitchFamily="34" charset="0"/>
                <a:ea typeface="Calibri" pitchFamily="34" charset="-122"/>
                <a:cs typeface="Calibri" pitchFamily="34" charset="-120"/>
              </a:rPr>
              <a:t> + </a:t>
            </a:r>
            <a:r>
              <a:rPr lang="en-US" sz="1600" dirty="0" err="1">
                <a:solidFill>
                  <a:srgbClr val="E2E8F0"/>
                </a:solidFill>
                <a:latin typeface="Calibri" pitchFamily="34" charset="0"/>
                <a:ea typeface="Calibri" pitchFamily="34" charset="-122"/>
                <a:cs typeface="Calibri" pitchFamily="34" charset="-120"/>
              </a:rPr>
              <a:t>ScopedSingletonState</a:t>
            </a:r>
            <a:endParaRPr lang="en-US" sz="1600" dirty="0">
              <a:solidFill>
                <a:srgbClr val="E2E8F0"/>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2809916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59F3A-3043-D460-790E-FAA70CA79598}"/>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846742BA-2360-10E7-661D-EC38EFA8CE73}"/>
              </a:ext>
            </a:extLst>
          </p:cNvPr>
          <p:cNvSpPr/>
          <p:nvPr/>
        </p:nvSpPr>
        <p:spPr>
          <a:xfrm>
            <a:off x="292608" y="886968"/>
            <a:ext cx="4023360"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4EC9B0"/>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usage from anywhere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3140B22F-A1CE-8587-004A-39AD3E6CF847}"/>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ACFD64AD-27D0-C5ED-FFBD-D3BD4812E285}"/>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8" name="Text 4">
            <a:extLst>
              <a:ext uri="{FF2B5EF4-FFF2-40B4-BE49-F238E27FC236}">
                <a16:creationId xmlns:a16="http://schemas.microsoft.com/office/drawing/2014/main" id="{E4B1066E-45AF-9AC4-34C8-71CA722586E1}"/>
              </a:ext>
            </a:extLst>
          </p:cNvPr>
          <p:cNvSpPr/>
          <p:nvPr/>
        </p:nvSpPr>
        <p:spPr>
          <a:xfrm>
            <a:off x="4572000" y="850392"/>
            <a:ext cx="434340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will use our </a:t>
            </a:r>
            <a:r>
              <a:rPr lang="en-US" sz="1600" dirty="0" err="1">
                <a:solidFill>
                  <a:srgbClr val="4EC9B0"/>
                </a:solidFill>
                <a:latin typeface="Consolas" panose="020B0609020204030204" pitchFamily="49" charset="0"/>
              </a:rPr>
              <a:t>XRayMachine</a:t>
            </a:r>
            <a:r>
              <a:rPr lang="en-US" sz="1600" dirty="0">
                <a:solidFill>
                  <a:srgbClr val="1E3A5F"/>
                </a:solidFill>
                <a:latin typeface="Calibri" pitchFamily="34" charset="0"/>
                <a:ea typeface="Calibri" pitchFamily="34" charset="-122"/>
                <a:cs typeface="Calibri" pitchFamily="34" charset="-120"/>
              </a:rPr>
              <a:t> Singleton for demonstration</a:t>
            </a:r>
          </a:p>
          <a:p>
            <a:pPr>
              <a:spcAft>
                <a:spcPts val="600"/>
              </a:spcAft>
              <a:buSzPct val="100000"/>
            </a:pP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Char char="•"/>
            </a:pPr>
            <a:endParaRPr lang="en-US" sz="1600" dirty="0"/>
          </a:p>
        </p:txBody>
      </p:sp>
      <p:sp>
        <p:nvSpPr>
          <p:cNvPr id="6" name="Text 2">
            <a:extLst>
              <a:ext uri="{FF2B5EF4-FFF2-40B4-BE49-F238E27FC236}">
                <a16:creationId xmlns:a16="http://schemas.microsoft.com/office/drawing/2014/main" id="{0947BFC9-A199-D28D-9032-16A55977B328}"/>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a:t>
            </a:r>
            <a:endParaRPr lang="en-US" sz="1900" strike="sngStrike" dirty="0"/>
          </a:p>
        </p:txBody>
      </p:sp>
      <p:sp>
        <p:nvSpPr>
          <p:cNvPr id="4" name="Text 3">
            <a:extLst>
              <a:ext uri="{FF2B5EF4-FFF2-40B4-BE49-F238E27FC236}">
                <a16:creationId xmlns:a16="http://schemas.microsoft.com/office/drawing/2014/main" id="{B20C7AD1-56EC-C28C-0A03-31C877C29456}"/>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Our Showcase</a:t>
            </a:r>
            <a:endParaRPr lang="en-US" sz="1000" dirty="0"/>
          </a:p>
        </p:txBody>
      </p:sp>
    </p:spTree>
    <p:extLst>
      <p:ext uri="{BB962C8B-B14F-4D97-AF65-F5344CB8AC3E}">
        <p14:creationId xmlns:p14="http://schemas.microsoft.com/office/powerpoint/2010/main" val="35446857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AE107-3A4B-1850-EB09-61EEAC18AB34}"/>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F33E5D49-7CCD-1FB0-3C7A-B6F34C71AF33}"/>
              </a:ext>
            </a:extLst>
          </p:cNvPr>
          <p:cNvSpPr/>
          <p:nvPr/>
        </p:nvSpPr>
        <p:spPr>
          <a:xfrm>
            <a:off x="292608" y="886968"/>
            <a:ext cx="4023360"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4EC9B0"/>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usage from anywhere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305EF1E8-44CF-DB5E-B6A9-C01859DE0B18}"/>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861BC48F-13FA-F663-D683-C768BC5D745B}"/>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3294AAC0-1B64-E0AB-FDC5-66BDF0142DF6}"/>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Retrofitting a legacy singleton</a:t>
            </a:r>
            <a:endParaRPr lang="en-US" sz="1000" dirty="0"/>
          </a:p>
        </p:txBody>
      </p:sp>
      <p:sp>
        <p:nvSpPr>
          <p:cNvPr id="6" name="Text 2">
            <a:extLst>
              <a:ext uri="{FF2B5EF4-FFF2-40B4-BE49-F238E27FC236}">
                <a16:creationId xmlns:a16="http://schemas.microsoft.com/office/drawing/2014/main" id="{75FB932C-A225-477C-5F1F-2DCC06272D7E}"/>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a:t>
            </a:r>
            <a:endParaRPr lang="en-US" sz="1900" strike="sngStrike" dirty="0"/>
          </a:p>
        </p:txBody>
      </p:sp>
      <p:sp>
        <p:nvSpPr>
          <p:cNvPr id="4" name="Text 6">
            <a:extLst>
              <a:ext uri="{FF2B5EF4-FFF2-40B4-BE49-F238E27FC236}">
                <a16:creationId xmlns:a16="http://schemas.microsoft.com/office/drawing/2014/main" id="{14C0150E-4A65-374F-38F7-E3FC47A80264}"/>
              </a:ext>
            </a:extLst>
          </p:cNvPr>
          <p:cNvSpPr/>
          <p:nvPr/>
        </p:nvSpPr>
        <p:spPr>
          <a:xfrm>
            <a:off x="4572000" y="886968"/>
            <a:ext cx="4279394"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&gt;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PM_SINGLETON</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usage from anywhere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3564040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CA345-062A-A646-E2C8-695368859BFA}"/>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AFA4ADAC-47DC-A696-521A-132FE9364829}"/>
              </a:ext>
            </a:extLst>
          </p:cNvPr>
          <p:cNvSpPr/>
          <p:nvPr/>
        </p:nvSpPr>
        <p:spPr>
          <a:xfrm>
            <a:off x="292608" y="886968"/>
            <a:ext cx="4023360"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highlight>
                  <a:srgbClr val="800000"/>
                </a:highlight>
                <a:latin typeface="Consolas" panose="020B0609020204030204" pitchFamily="49" charset="0"/>
              </a:rPr>
              <a:t>static</a:t>
            </a:r>
            <a:r>
              <a:rPr lang="en-US" sz="1000" b="0" dirty="0">
                <a:solidFill>
                  <a:srgbClr val="D4D4D4"/>
                </a:solidFill>
                <a:effectLst/>
                <a:highlight>
                  <a:srgbClr val="800000"/>
                </a:highlight>
                <a:latin typeface="Consolas" panose="020B0609020204030204" pitchFamily="49" charset="0"/>
              </a:rPr>
              <a:t> </a:t>
            </a:r>
            <a:r>
              <a:rPr lang="en-US" sz="1000" b="0" dirty="0" err="1">
                <a:solidFill>
                  <a:srgbClr val="4EC9B0"/>
                </a:solidFill>
                <a:effectLst/>
                <a:highlight>
                  <a:srgbClr val="800000"/>
                </a:highlight>
                <a:latin typeface="Consolas" panose="020B0609020204030204" pitchFamily="49" charset="0"/>
              </a:rPr>
              <a:t>XRayMachine</a:t>
            </a:r>
            <a:r>
              <a:rPr lang="en-US" sz="1000" b="0" dirty="0">
                <a:solidFill>
                  <a:srgbClr val="4EC9B0"/>
                </a:solidFill>
                <a:effectLst/>
                <a:highlight>
                  <a:srgbClr val="800000"/>
                </a:highlight>
                <a:latin typeface="Consolas" panose="020B0609020204030204" pitchFamily="49" charset="0"/>
              </a:rPr>
              <a:t> </a:t>
            </a:r>
            <a:r>
              <a:rPr lang="en-US" sz="1000" b="0" dirty="0">
                <a:solidFill>
                  <a:srgbClr val="569CD6"/>
                </a:solidFill>
                <a:effectLst/>
                <a:highlight>
                  <a:srgbClr val="800000"/>
                </a:highlight>
                <a:latin typeface="Consolas" panose="020B0609020204030204" pitchFamily="49" charset="0"/>
              </a:rPr>
              <a:t>&amp;</a:t>
            </a:r>
            <a:r>
              <a:rPr lang="en-US" sz="1000" b="0" dirty="0">
                <a:solidFill>
                  <a:srgbClr val="DCDCAA"/>
                </a:solidFill>
                <a:effectLst/>
                <a:highlight>
                  <a:srgbClr val="800000"/>
                </a:highlight>
                <a:latin typeface="Consolas" panose="020B0609020204030204" pitchFamily="49" charset="0"/>
              </a:rPr>
              <a:t>instance</a:t>
            </a:r>
            <a:r>
              <a:rPr lang="en-US" sz="1000" b="0" dirty="0">
                <a:solidFill>
                  <a:srgbClr val="D4D4D4"/>
                </a:solidFill>
                <a:effectLst/>
                <a:highlight>
                  <a:srgbClr val="800000"/>
                </a:highligh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usage from anywhere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8A0DB31C-FBE8-3CAA-4304-F5A754C3267C}"/>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8E51FA4A-C808-DEBC-C644-8EFD15694985}"/>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E6B66724-F6B3-AFAA-5C1E-8AD98922CB93}"/>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Retrofitting a legacy singleton</a:t>
            </a:r>
            <a:endParaRPr lang="en-US" sz="1000" dirty="0"/>
          </a:p>
        </p:txBody>
      </p:sp>
      <p:sp>
        <p:nvSpPr>
          <p:cNvPr id="6" name="Text 2">
            <a:extLst>
              <a:ext uri="{FF2B5EF4-FFF2-40B4-BE49-F238E27FC236}">
                <a16:creationId xmlns:a16="http://schemas.microsoft.com/office/drawing/2014/main" id="{B31AB650-CD8D-06DC-1F7B-B4CE672580D2}"/>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a:t>
            </a:r>
            <a:endParaRPr lang="en-US" sz="1900" strike="sngStrike" dirty="0"/>
          </a:p>
        </p:txBody>
      </p:sp>
      <p:sp>
        <p:nvSpPr>
          <p:cNvPr id="4" name="Text 6">
            <a:extLst>
              <a:ext uri="{FF2B5EF4-FFF2-40B4-BE49-F238E27FC236}">
                <a16:creationId xmlns:a16="http://schemas.microsoft.com/office/drawing/2014/main" id="{1CEAD488-864F-D315-5014-B3A686DE732C}"/>
              </a:ext>
            </a:extLst>
          </p:cNvPr>
          <p:cNvSpPr/>
          <p:nvPr/>
        </p:nvSpPr>
        <p:spPr>
          <a:xfrm>
            <a:off x="4572000" y="886968"/>
            <a:ext cx="4279394"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r>
              <a:rPr lang="en-US" sz="1000" b="0" dirty="0">
                <a:solidFill>
                  <a:srgbClr val="D4D4D4"/>
                </a:solidFill>
                <a:effectLst/>
                <a:highlight>
                  <a:srgbClr val="008000"/>
                </a:highlight>
                <a:latin typeface="Consolas" panose="020B0609020204030204" pitchFamily="49" charset="0"/>
              </a:rPr>
              <a:t>: </a:t>
            </a:r>
            <a:r>
              <a:rPr lang="en-US" sz="1000" b="0" dirty="0">
                <a:solidFill>
                  <a:srgbClr val="569CD6"/>
                </a:solidFill>
                <a:effectLst/>
                <a:highlight>
                  <a:srgbClr val="008000"/>
                </a:highlight>
                <a:latin typeface="Consolas" panose="020B0609020204030204" pitchFamily="49" charset="0"/>
              </a:rPr>
              <a:t>public</a:t>
            </a:r>
            <a:r>
              <a:rPr lang="en-US" sz="1000" b="0" dirty="0">
                <a:solidFill>
                  <a:srgbClr val="D4D4D4"/>
                </a:solidFill>
                <a:effectLst/>
                <a:highlight>
                  <a:srgbClr val="008000"/>
                </a:highlight>
                <a:latin typeface="Consolas" panose="020B0609020204030204" pitchFamily="49" charset="0"/>
              </a:rPr>
              <a:t> </a:t>
            </a:r>
            <a:r>
              <a:rPr lang="en-US" sz="1000" b="0" dirty="0" err="1">
                <a:solidFill>
                  <a:srgbClr val="4EC9B0"/>
                </a:solidFill>
                <a:effectLst/>
                <a:highlight>
                  <a:srgbClr val="008000"/>
                </a:highlight>
                <a:latin typeface="Consolas" panose="020B0609020204030204" pitchFamily="49" charset="0"/>
              </a:rPr>
              <a:t>SingletonBase</a:t>
            </a:r>
            <a:r>
              <a:rPr lang="en-US" sz="1000" b="0" dirty="0">
                <a:solidFill>
                  <a:srgbClr val="D4D4D4"/>
                </a:solidFill>
                <a:effectLst/>
                <a:highlight>
                  <a:srgbClr val="008000"/>
                </a:highlight>
                <a:latin typeface="Consolas" panose="020B0609020204030204" pitchFamily="49" charset="0"/>
              </a:rPr>
              <a:t>&lt;</a:t>
            </a:r>
            <a:r>
              <a:rPr lang="en-US" sz="1000" b="0" dirty="0" err="1">
                <a:solidFill>
                  <a:srgbClr val="4EC9B0"/>
                </a:solidFill>
                <a:effectLst/>
                <a:highlight>
                  <a:srgbClr val="008000"/>
                </a:highlight>
                <a:latin typeface="Consolas" panose="020B0609020204030204" pitchFamily="49" charset="0"/>
              </a:rPr>
              <a:t>XRayMachine</a:t>
            </a:r>
            <a:r>
              <a:rPr lang="en-US" sz="1000" b="0" dirty="0">
                <a:solidFill>
                  <a:srgbClr val="D4D4D4"/>
                </a:solidFill>
                <a:effectLst/>
                <a:highlight>
                  <a:srgbClr val="008000"/>
                </a:highlight>
                <a:latin typeface="Consolas" panose="020B0609020204030204" pitchFamily="49" charset="0"/>
              </a:rPr>
              <a:t>&gt; </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highlight>
                  <a:srgbClr val="008000"/>
                </a:highlight>
                <a:latin typeface="Consolas" panose="020B0609020204030204" pitchFamily="49" charset="0"/>
              </a:rPr>
              <a:t>PM_SINGLETON</a:t>
            </a:r>
            <a:r>
              <a:rPr lang="en-US" sz="1000" b="0" dirty="0">
                <a:solidFill>
                  <a:srgbClr val="D4D4D4"/>
                </a:solidFill>
                <a:effectLst/>
                <a:highlight>
                  <a:srgbClr val="008000"/>
                </a:highlight>
                <a:latin typeface="Consolas" panose="020B0609020204030204" pitchFamily="49" charset="0"/>
              </a:rPr>
              <a:t>(</a:t>
            </a:r>
            <a:r>
              <a:rPr lang="en-US" sz="1000" b="0" dirty="0" err="1">
                <a:solidFill>
                  <a:srgbClr val="4EC9B0"/>
                </a:solidFill>
                <a:effectLst/>
                <a:highlight>
                  <a:srgbClr val="008000"/>
                </a:highlight>
                <a:latin typeface="Consolas" panose="020B0609020204030204" pitchFamily="49" charset="0"/>
              </a:rPr>
              <a:t>XRayMachine</a:t>
            </a:r>
            <a:r>
              <a:rPr lang="en-US" sz="1000" b="0" dirty="0">
                <a:solidFill>
                  <a:srgbClr val="D4D4D4"/>
                </a:solidFill>
                <a:effectLst/>
                <a:highlight>
                  <a:srgbClr val="008000"/>
                </a:highligh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usage from anywhere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4628579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C525E-4E5F-8F79-4C3C-E4FBF8C75795}"/>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8B4B26A0-3E25-0711-956E-B9883ABCEA9F}"/>
              </a:ext>
            </a:extLst>
          </p:cNvPr>
          <p:cNvSpPr/>
          <p:nvPr/>
        </p:nvSpPr>
        <p:spPr>
          <a:xfrm>
            <a:off x="292608" y="886968"/>
            <a:ext cx="4023360" cy="2714973"/>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highlight>
                  <a:srgbClr val="800000"/>
                </a:highlight>
                <a:latin typeface="Consolas" panose="020B0609020204030204" pitchFamily="49" charset="0"/>
              </a:rPr>
              <a:t>static</a:t>
            </a:r>
            <a:r>
              <a:rPr lang="en-US" sz="1000" b="0" dirty="0">
                <a:solidFill>
                  <a:srgbClr val="D4D4D4"/>
                </a:solidFill>
                <a:effectLst/>
                <a:highlight>
                  <a:srgbClr val="800000"/>
                </a:highlight>
                <a:latin typeface="Consolas" panose="020B0609020204030204" pitchFamily="49" charset="0"/>
              </a:rPr>
              <a:t> </a:t>
            </a:r>
            <a:r>
              <a:rPr lang="en-US" sz="1000" b="0" dirty="0" err="1">
                <a:solidFill>
                  <a:srgbClr val="4EC9B0"/>
                </a:solidFill>
                <a:effectLst/>
                <a:highlight>
                  <a:srgbClr val="800000"/>
                </a:highlight>
                <a:latin typeface="Consolas" panose="020B0609020204030204" pitchFamily="49" charset="0"/>
              </a:rPr>
              <a:t>XRayMachine</a:t>
            </a:r>
            <a:r>
              <a:rPr lang="en-US" sz="1000" b="0" dirty="0">
                <a:solidFill>
                  <a:srgbClr val="4EC9B0"/>
                </a:solidFill>
                <a:effectLst/>
                <a:highlight>
                  <a:srgbClr val="800000"/>
                </a:highlight>
                <a:latin typeface="Consolas" panose="020B0609020204030204" pitchFamily="49" charset="0"/>
              </a:rPr>
              <a:t> </a:t>
            </a:r>
            <a:r>
              <a:rPr lang="en-US" sz="1000" b="0" dirty="0">
                <a:solidFill>
                  <a:srgbClr val="569CD6"/>
                </a:solidFill>
                <a:effectLst/>
                <a:highlight>
                  <a:srgbClr val="800000"/>
                </a:highlight>
                <a:latin typeface="Consolas" panose="020B0609020204030204" pitchFamily="49" charset="0"/>
              </a:rPr>
              <a:t>&amp;</a:t>
            </a:r>
            <a:r>
              <a:rPr lang="en-US" sz="1000" b="0" dirty="0">
                <a:solidFill>
                  <a:srgbClr val="DCDCAA"/>
                </a:solidFill>
                <a:effectLst/>
                <a:highlight>
                  <a:srgbClr val="800000"/>
                </a:highlight>
                <a:latin typeface="Consolas" panose="020B0609020204030204" pitchFamily="49" charset="0"/>
              </a:rPr>
              <a:t>instance</a:t>
            </a:r>
            <a:r>
              <a:rPr lang="en-US" sz="1000" b="0" dirty="0">
                <a:solidFill>
                  <a:srgbClr val="D4D4D4"/>
                </a:solidFill>
                <a:effectLst/>
                <a:highlight>
                  <a:srgbClr val="800000"/>
                </a:highligh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87175CAB-F2CF-DE8B-FA5D-590928EDD9E7}"/>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69A52176-CE30-BB62-9238-93B0543E7383}"/>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B8C8A9AD-3E20-E454-8976-3326681F73CF}"/>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Retrofitting a legacy singleton</a:t>
            </a:r>
            <a:endParaRPr lang="en-US" sz="1000" dirty="0"/>
          </a:p>
        </p:txBody>
      </p:sp>
      <p:sp>
        <p:nvSpPr>
          <p:cNvPr id="6" name="Text 2">
            <a:extLst>
              <a:ext uri="{FF2B5EF4-FFF2-40B4-BE49-F238E27FC236}">
                <a16:creationId xmlns:a16="http://schemas.microsoft.com/office/drawing/2014/main" id="{F5FAA75D-9A90-9F41-0601-D34B32AD98C9}"/>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a:t>
            </a:r>
            <a:endParaRPr lang="en-US" sz="1900" strike="sngStrike" dirty="0"/>
          </a:p>
        </p:txBody>
      </p:sp>
      <p:sp>
        <p:nvSpPr>
          <p:cNvPr id="4" name="Text 6">
            <a:extLst>
              <a:ext uri="{FF2B5EF4-FFF2-40B4-BE49-F238E27FC236}">
                <a16:creationId xmlns:a16="http://schemas.microsoft.com/office/drawing/2014/main" id="{A9FB6BED-E1A8-0CF5-6EB2-C4CAF01592BA}"/>
              </a:ext>
            </a:extLst>
          </p:cNvPr>
          <p:cNvSpPr/>
          <p:nvPr/>
        </p:nvSpPr>
        <p:spPr>
          <a:xfrm>
            <a:off x="4572000" y="886968"/>
            <a:ext cx="4279394" cy="2714973"/>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r>
              <a:rPr lang="en-US" sz="1000" b="0" dirty="0">
                <a:solidFill>
                  <a:srgbClr val="D4D4D4"/>
                </a:solidFill>
                <a:effectLst/>
                <a:highlight>
                  <a:srgbClr val="008000"/>
                </a:highlight>
                <a:latin typeface="Consolas" panose="020B0609020204030204" pitchFamily="49" charset="0"/>
              </a:rPr>
              <a:t>: </a:t>
            </a:r>
            <a:r>
              <a:rPr lang="en-US" sz="1000" b="0" dirty="0">
                <a:solidFill>
                  <a:srgbClr val="569CD6"/>
                </a:solidFill>
                <a:effectLst/>
                <a:highlight>
                  <a:srgbClr val="008000"/>
                </a:highlight>
                <a:latin typeface="Consolas" panose="020B0609020204030204" pitchFamily="49" charset="0"/>
              </a:rPr>
              <a:t>public</a:t>
            </a:r>
            <a:r>
              <a:rPr lang="en-US" sz="1000" b="0" dirty="0">
                <a:solidFill>
                  <a:srgbClr val="D4D4D4"/>
                </a:solidFill>
                <a:effectLst/>
                <a:highlight>
                  <a:srgbClr val="008000"/>
                </a:highlight>
                <a:latin typeface="Consolas" panose="020B0609020204030204" pitchFamily="49" charset="0"/>
              </a:rPr>
              <a:t> </a:t>
            </a:r>
            <a:r>
              <a:rPr lang="en-US" sz="1000" b="0" dirty="0" err="1">
                <a:solidFill>
                  <a:srgbClr val="4EC9B0"/>
                </a:solidFill>
                <a:effectLst/>
                <a:highlight>
                  <a:srgbClr val="008000"/>
                </a:highlight>
                <a:latin typeface="Consolas" panose="020B0609020204030204" pitchFamily="49" charset="0"/>
              </a:rPr>
              <a:t>SingletonBase</a:t>
            </a:r>
            <a:r>
              <a:rPr lang="en-US" sz="1000" b="0" dirty="0">
                <a:solidFill>
                  <a:srgbClr val="D4D4D4"/>
                </a:solidFill>
                <a:effectLst/>
                <a:highlight>
                  <a:srgbClr val="008000"/>
                </a:highlight>
                <a:latin typeface="Consolas" panose="020B0609020204030204" pitchFamily="49" charset="0"/>
              </a:rPr>
              <a:t>&lt;</a:t>
            </a:r>
            <a:r>
              <a:rPr lang="en-US" sz="1000" b="0" dirty="0" err="1">
                <a:solidFill>
                  <a:srgbClr val="4EC9B0"/>
                </a:solidFill>
                <a:effectLst/>
                <a:highlight>
                  <a:srgbClr val="008000"/>
                </a:highlight>
                <a:latin typeface="Consolas" panose="020B0609020204030204" pitchFamily="49" charset="0"/>
              </a:rPr>
              <a:t>XRayMachine</a:t>
            </a:r>
            <a:r>
              <a:rPr lang="en-US" sz="1000" b="0" dirty="0">
                <a:solidFill>
                  <a:srgbClr val="D4D4D4"/>
                </a:solidFill>
                <a:effectLst/>
                <a:highlight>
                  <a:srgbClr val="008000"/>
                </a:highlight>
                <a:latin typeface="Consolas" panose="020B0609020204030204" pitchFamily="49" charset="0"/>
              </a:rPr>
              <a:t>&gt; </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highlight>
                  <a:srgbClr val="008000"/>
                </a:highlight>
                <a:latin typeface="Consolas" panose="020B0609020204030204" pitchFamily="49" charset="0"/>
              </a:rPr>
              <a:t>PM_SINGLETON</a:t>
            </a:r>
            <a:r>
              <a:rPr lang="en-US" sz="1000" b="0" dirty="0">
                <a:solidFill>
                  <a:srgbClr val="D4D4D4"/>
                </a:solidFill>
                <a:effectLst/>
                <a:highlight>
                  <a:srgbClr val="008000"/>
                </a:highlight>
                <a:latin typeface="Consolas" panose="020B0609020204030204" pitchFamily="49" charset="0"/>
              </a:rPr>
              <a:t>(</a:t>
            </a:r>
            <a:r>
              <a:rPr lang="en-US" sz="1000" b="0" dirty="0" err="1">
                <a:solidFill>
                  <a:srgbClr val="4EC9B0"/>
                </a:solidFill>
                <a:effectLst/>
                <a:highlight>
                  <a:srgbClr val="008000"/>
                </a:highlight>
                <a:latin typeface="Consolas" panose="020B0609020204030204" pitchFamily="49" charset="0"/>
              </a:rPr>
              <a:t>XRayMachine</a:t>
            </a:r>
            <a:r>
              <a:rPr lang="en-US" sz="1000" b="0" dirty="0">
                <a:solidFill>
                  <a:srgbClr val="D4D4D4"/>
                </a:solidFill>
                <a:effectLst/>
                <a:highlight>
                  <a:srgbClr val="008000"/>
                </a:highligh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7" name="Rectangle 6">
            <a:extLst>
              <a:ext uri="{FF2B5EF4-FFF2-40B4-BE49-F238E27FC236}">
                <a16:creationId xmlns:a16="http://schemas.microsoft.com/office/drawing/2014/main" id="{72C8C85E-53CC-C803-FDAE-517F176302BB}"/>
              </a:ext>
            </a:extLst>
          </p:cNvPr>
          <p:cNvSpPr/>
          <p:nvPr/>
        </p:nvSpPr>
        <p:spPr>
          <a:xfrm>
            <a:off x="2825195" y="1155359"/>
            <a:ext cx="546158" cy="523220"/>
          </a:xfrm>
          <a:prstGeom prst="rect">
            <a:avLst/>
          </a:prstGeom>
          <a:noFill/>
        </p:spPr>
        <p:txBody>
          <a:bodyPr wrap="square" lIns="91440" tIns="45720" rIns="91440" bIns="45720">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rPr>
              <a:t>1</a:t>
            </a:r>
          </a:p>
        </p:txBody>
      </p:sp>
      <p:sp>
        <p:nvSpPr>
          <p:cNvPr id="8" name="Rectangle 7">
            <a:extLst>
              <a:ext uri="{FF2B5EF4-FFF2-40B4-BE49-F238E27FC236}">
                <a16:creationId xmlns:a16="http://schemas.microsoft.com/office/drawing/2014/main" id="{11D244C3-FB14-4446-A115-ECE5F7C7157D}"/>
              </a:ext>
            </a:extLst>
          </p:cNvPr>
          <p:cNvSpPr/>
          <p:nvPr/>
        </p:nvSpPr>
        <p:spPr>
          <a:xfrm>
            <a:off x="8422166" y="809444"/>
            <a:ext cx="546158" cy="523220"/>
          </a:xfrm>
          <a:prstGeom prst="rect">
            <a:avLst/>
          </a:prstGeom>
          <a:noFill/>
        </p:spPr>
        <p:txBody>
          <a:bodyPr wrap="square" lIns="91440" tIns="45720" rIns="91440" bIns="45720">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rPr>
              <a:t>2</a:t>
            </a:r>
          </a:p>
        </p:txBody>
      </p:sp>
      <p:sp>
        <p:nvSpPr>
          <p:cNvPr id="9" name="Rectangle 8">
            <a:extLst>
              <a:ext uri="{FF2B5EF4-FFF2-40B4-BE49-F238E27FC236}">
                <a16:creationId xmlns:a16="http://schemas.microsoft.com/office/drawing/2014/main" id="{EDADD3EC-1C1C-1F94-C750-CADDDEAB3A41}"/>
              </a:ext>
            </a:extLst>
          </p:cNvPr>
          <p:cNvSpPr/>
          <p:nvPr/>
        </p:nvSpPr>
        <p:spPr>
          <a:xfrm>
            <a:off x="6675361" y="1037877"/>
            <a:ext cx="546158" cy="523220"/>
          </a:xfrm>
          <a:prstGeom prst="rect">
            <a:avLst/>
          </a:prstGeom>
          <a:noFill/>
        </p:spPr>
        <p:txBody>
          <a:bodyPr wrap="square" lIns="91440" tIns="45720" rIns="91440" bIns="45720">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rPr>
              <a:t>3</a:t>
            </a:r>
          </a:p>
        </p:txBody>
      </p:sp>
      <p:sp>
        <p:nvSpPr>
          <p:cNvPr id="11" name="Text 4">
            <a:extLst>
              <a:ext uri="{FF2B5EF4-FFF2-40B4-BE49-F238E27FC236}">
                <a16:creationId xmlns:a16="http://schemas.microsoft.com/office/drawing/2014/main" id="{4B47FB82-FFD6-2464-46D8-A88737020D20}"/>
              </a:ext>
            </a:extLst>
          </p:cNvPr>
          <p:cNvSpPr/>
          <p:nvPr/>
        </p:nvSpPr>
        <p:spPr>
          <a:xfrm>
            <a:off x="411480" y="3752850"/>
            <a:ext cx="8321040" cy="1134617"/>
          </a:xfrm>
          <a:prstGeom prst="rect">
            <a:avLst/>
          </a:prstGeom>
          <a:noFill/>
          <a:ln/>
        </p:spPr>
        <p:txBody>
          <a:bodyPr wrap="square" rtlCol="0" anchor="t"/>
          <a:lstStyle/>
          <a:p>
            <a:pPr marL="342900" indent="-342900">
              <a:spcAft>
                <a:spcPts val="600"/>
              </a:spcAft>
              <a:buSzPct val="100000"/>
              <a:buFont typeface="+mj-lt"/>
              <a:buAutoNum type="arabicPeriod"/>
            </a:pPr>
            <a:r>
              <a:rPr lang="en-US" sz="1600" dirty="0">
                <a:solidFill>
                  <a:srgbClr val="1E3A5F"/>
                </a:solidFill>
                <a:latin typeface="Calibri" pitchFamily="34" charset="0"/>
                <a:ea typeface="Calibri" pitchFamily="34" charset="-122"/>
                <a:cs typeface="Calibri" pitchFamily="34" charset="-120"/>
              </a:rPr>
              <a:t>Delete instance()</a:t>
            </a:r>
          </a:p>
          <a:p>
            <a:pPr marL="342900" indent="-342900">
              <a:spcAft>
                <a:spcPts val="600"/>
              </a:spcAft>
              <a:buSzPct val="100000"/>
              <a:buFont typeface="+mj-lt"/>
              <a:buAutoNum type="arabicPeriod"/>
            </a:pPr>
            <a:r>
              <a:rPr lang="en-US" sz="1600" dirty="0">
                <a:solidFill>
                  <a:srgbClr val="1E3A5F"/>
                </a:solidFill>
                <a:latin typeface="Calibri" pitchFamily="34" charset="0"/>
                <a:ea typeface="Calibri" pitchFamily="34" charset="-122"/>
                <a:cs typeface="Calibri" pitchFamily="34" charset="-120"/>
              </a:rPr>
              <a:t>Inherit </a:t>
            </a:r>
            <a:r>
              <a:rPr lang="en-US" sz="1600" dirty="0" err="1">
                <a:solidFill>
                  <a:srgbClr val="4EC9B0"/>
                </a:solidFill>
                <a:latin typeface="Consolas" panose="020B0609020204030204" pitchFamily="49" charset="0"/>
              </a:rPr>
              <a:t>SingletonBase</a:t>
            </a:r>
            <a:r>
              <a:rPr lang="en-US" sz="1600" dirty="0">
                <a:solidFill>
                  <a:srgbClr val="1E3A5F"/>
                </a:solidFill>
                <a:latin typeface="Calibri" pitchFamily="34" charset="0"/>
                <a:ea typeface="Calibri" pitchFamily="34" charset="-122"/>
                <a:cs typeface="Calibri" pitchFamily="34" charset="-120"/>
              </a:rPr>
              <a:t>&lt;&gt;</a:t>
            </a:r>
          </a:p>
          <a:p>
            <a:pPr marL="342900" indent="-342900">
              <a:spcAft>
                <a:spcPts val="600"/>
              </a:spcAft>
              <a:buSzPct val="100000"/>
              <a:buFont typeface="+mj-lt"/>
              <a:buAutoNum type="arabicPeriod"/>
            </a:pPr>
            <a:r>
              <a:rPr lang="en-US" sz="1600" dirty="0">
                <a:solidFill>
                  <a:srgbClr val="1E3A5F"/>
                </a:solidFill>
                <a:latin typeface="Calibri" pitchFamily="34" charset="0"/>
                <a:ea typeface="Calibri" pitchFamily="34" charset="-122"/>
                <a:cs typeface="Calibri" pitchFamily="34" charset="-120"/>
              </a:rPr>
              <a:t>Add PM_SINGLETON() macro in a private section of the singleton class</a:t>
            </a:r>
          </a:p>
        </p:txBody>
      </p:sp>
    </p:spTree>
    <p:extLst>
      <p:ext uri="{BB962C8B-B14F-4D97-AF65-F5344CB8AC3E}">
        <p14:creationId xmlns:p14="http://schemas.microsoft.com/office/powerpoint/2010/main" val="15975708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DF2DA-DD78-BEB1-8A88-DC7DF9FF5C2F}"/>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C693F599-3033-CB11-DFE9-15C4391A3EEF}"/>
              </a:ext>
            </a:extLst>
          </p:cNvPr>
          <p:cNvSpPr/>
          <p:nvPr/>
        </p:nvSpPr>
        <p:spPr>
          <a:xfrm>
            <a:off x="292608" y="886968"/>
            <a:ext cx="4023360"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usage from anywhere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E2E2DF13-EC6B-ADC4-3782-1D9879F8646D}"/>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09140909-9AC8-8877-E4AF-5056B5BCE04E}"/>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6469A2B5-DC9B-D19D-1AD5-78740A5DBAA6}"/>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Implementing a new singleton</a:t>
            </a:r>
            <a:endParaRPr lang="en-US" sz="1000" dirty="0"/>
          </a:p>
        </p:txBody>
      </p:sp>
      <p:sp>
        <p:nvSpPr>
          <p:cNvPr id="6" name="Text 2">
            <a:extLst>
              <a:ext uri="{FF2B5EF4-FFF2-40B4-BE49-F238E27FC236}">
                <a16:creationId xmlns:a16="http://schemas.microsoft.com/office/drawing/2014/main" id="{750FB75B-271E-D0B1-752E-4ADC065B6D79}"/>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a:t>
            </a:r>
            <a:endParaRPr lang="en-US" sz="1900" strike="sngStrike" dirty="0"/>
          </a:p>
        </p:txBody>
      </p:sp>
      <p:sp>
        <p:nvSpPr>
          <p:cNvPr id="4" name="Text 6">
            <a:extLst>
              <a:ext uri="{FF2B5EF4-FFF2-40B4-BE49-F238E27FC236}">
                <a16:creationId xmlns:a16="http://schemas.microsoft.com/office/drawing/2014/main" id="{F0AF582F-892D-A199-E234-24BA5638D3DD}"/>
              </a:ext>
            </a:extLst>
          </p:cNvPr>
          <p:cNvSpPr/>
          <p:nvPr/>
        </p:nvSpPr>
        <p:spPr>
          <a:xfrm>
            <a:off x="4572000" y="886968"/>
            <a:ext cx="4279394"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&gt;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PM_SINGLETON</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usage from anywhere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4410139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C4264-978C-4BF9-68C4-A0BFB658810A}"/>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5F68E0D6-9078-9C1E-9CF8-2EB6880CB559}"/>
              </a:ext>
            </a:extLst>
          </p:cNvPr>
          <p:cNvSpPr/>
          <p:nvPr/>
        </p:nvSpPr>
        <p:spPr>
          <a:xfrm>
            <a:off x="292608" y="886968"/>
            <a:ext cx="4023360"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usage from anywhere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74C0BB6B-71C9-ED3F-D696-731E7D2C3AF0}"/>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F05FD8E0-7B32-6E7E-A89E-47EF872D78A4}"/>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C8779958-FB31-CF8A-801A-317444DBA589}"/>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Implementing a new singleton</a:t>
            </a:r>
            <a:endParaRPr lang="en-US" sz="1000" dirty="0"/>
          </a:p>
        </p:txBody>
      </p:sp>
      <p:sp>
        <p:nvSpPr>
          <p:cNvPr id="6" name="Text 2">
            <a:extLst>
              <a:ext uri="{FF2B5EF4-FFF2-40B4-BE49-F238E27FC236}">
                <a16:creationId xmlns:a16="http://schemas.microsoft.com/office/drawing/2014/main" id="{717DE13F-63DF-A0BC-BAB8-49AB2785AD4B}"/>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a:t>
            </a:r>
            <a:endParaRPr lang="en-US" sz="1900" strike="sngStrike" dirty="0"/>
          </a:p>
        </p:txBody>
      </p:sp>
      <p:sp>
        <p:nvSpPr>
          <p:cNvPr id="4" name="Text 6">
            <a:extLst>
              <a:ext uri="{FF2B5EF4-FFF2-40B4-BE49-F238E27FC236}">
                <a16:creationId xmlns:a16="http://schemas.microsoft.com/office/drawing/2014/main" id="{34E5F7E8-7BFE-D22A-989B-D6792A7CA34F}"/>
              </a:ext>
            </a:extLst>
          </p:cNvPr>
          <p:cNvSpPr/>
          <p:nvPr/>
        </p:nvSpPr>
        <p:spPr>
          <a:xfrm>
            <a:off x="4572000" y="886968"/>
            <a:ext cx="4279394"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r>
              <a:rPr lang="en-US" sz="1000" b="0" dirty="0">
                <a:solidFill>
                  <a:srgbClr val="D4D4D4"/>
                </a:solidFill>
                <a:effectLst/>
                <a:highlight>
                  <a:srgbClr val="008000"/>
                </a:highlight>
                <a:latin typeface="Consolas" panose="020B0609020204030204" pitchFamily="49" charset="0"/>
              </a:rPr>
              <a:t>: </a:t>
            </a:r>
            <a:r>
              <a:rPr lang="en-US" sz="1000" b="0" dirty="0">
                <a:solidFill>
                  <a:srgbClr val="569CD6"/>
                </a:solidFill>
                <a:effectLst/>
                <a:highlight>
                  <a:srgbClr val="008000"/>
                </a:highlight>
                <a:latin typeface="Consolas" panose="020B0609020204030204" pitchFamily="49" charset="0"/>
              </a:rPr>
              <a:t>public</a:t>
            </a:r>
            <a:r>
              <a:rPr lang="en-US" sz="1000" b="0" dirty="0">
                <a:solidFill>
                  <a:srgbClr val="D4D4D4"/>
                </a:solidFill>
                <a:effectLst/>
                <a:highlight>
                  <a:srgbClr val="008000"/>
                </a:highlight>
                <a:latin typeface="Consolas" panose="020B0609020204030204" pitchFamily="49" charset="0"/>
              </a:rPr>
              <a:t> </a:t>
            </a:r>
            <a:r>
              <a:rPr lang="en-US" sz="1000" b="0" dirty="0" err="1">
                <a:solidFill>
                  <a:srgbClr val="4EC9B0"/>
                </a:solidFill>
                <a:effectLst/>
                <a:highlight>
                  <a:srgbClr val="008000"/>
                </a:highlight>
                <a:latin typeface="Consolas" panose="020B0609020204030204" pitchFamily="49" charset="0"/>
              </a:rPr>
              <a:t>SingletonBase</a:t>
            </a:r>
            <a:r>
              <a:rPr lang="en-US" sz="1000" b="0" dirty="0">
                <a:solidFill>
                  <a:srgbClr val="D4D4D4"/>
                </a:solidFill>
                <a:effectLst/>
                <a:highlight>
                  <a:srgbClr val="008000"/>
                </a:highlight>
                <a:latin typeface="Consolas" panose="020B0609020204030204" pitchFamily="49" charset="0"/>
              </a:rPr>
              <a:t>&lt;</a:t>
            </a:r>
            <a:r>
              <a:rPr lang="en-US" sz="1000" b="0" dirty="0" err="1">
                <a:solidFill>
                  <a:srgbClr val="4EC9B0"/>
                </a:solidFill>
                <a:effectLst/>
                <a:highlight>
                  <a:srgbClr val="008000"/>
                </a:highlight>
                <a:latin typeface="Consolas" panose="020B0609020204030204" pitchFamily="49" charset="0"/>
              </a:rPr>
              <a:t>XRayMachine</a:t>
            </a:r>
            <a:r>
              <a:rPr lang="en-US" sz="1000" b="0" dirty="0">
                <a:solidFill>
                  <a:srgbClr val="D4D4D4"/>
                </a:solidFill>
                <a:effectLst/>
                <a:highlight>
                  <a:srgbClr val="008000"/>
                </a:highlight>
                <a:latin typeface="Consolas" panose="020B0609020204030204" pitchFamily="49" charset="0"/>
              </a:rPr>
              <a:t>&gt; </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highlight>
                  <a:srgbClr val="008000"/>
                </a:highlight>
                <a:latin typeface="Consolas" panose="020B0609020204030204" pitchFamily="49" charset="0"/>
              </a:rPr>
              <a:t>PM_SINGLETON</a:t>
            </a:r>
            <a:r>
              <a:rPr lang="en-US" sz="1000" b="0" dirty="0">
                <a:solidFill>
                  <a:srgbClr val="D4D4D4"/>
                </a:solidFill>
                <a:effectLst/>
                <a:highlight>
                  <a:srgbClr val="008000"/>
                </a:highlight>
                <a:latin typeface="Consolas" panose="020B0609020204030204" pitchFamily="49" charset="0"/>
              </a:rPr>
              <a:t>(</a:t>
            </a:r>
            <a:r>
              <a:rPr lang="en-US" sz="1000" b="0" dirty="0" err="1">
                <a:solidFill>
                  <a:srgbClr val="4EC9B0"/>
                </a:solidFill>
                <a:effectLst/>
                <a:highlight>
                  <a:srgbClr val="008000"/>
                </a:highlight>
                <a:latin typeface="Consolas" panose="020B0609020204030204" pitchFamily="49" charset="0"/>
              </a:rPr>
              <a:t>XRayMachine</a:t>
            </a:r>
            <a:r>
              <a:rPr lang="en-US" sz="1000" b="0" dirty="0">
                <a:solidFill>
                  <a:srgbClr val="D4D4D4"/>
                </a:solidFill>
                <a:effectLst/>
                <a:highlight>
                  <a:srgbClr val="008000"/>
                </a:highligh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usage from anywhere in the code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performXRay</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7283892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B1D6C-E1F8-DC32-FEE3-EFC6ACB2DB7B}"/>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4DDF5E2F-4743-3B17-EACD-F652878F7A99}"/>
              </a:ext>
            </a:extLst>
          </p:cNvPr>
          <p:cNvSpPr/>
          <p:nvPr/>
        </p:nvSpPr>
        <p:spPr>
          <a:xfrm>
            <a:off x="292608" y="886968"/>
            <a:ext cx="4023360" cy="2730874"/>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A8B6A98E-021F-453A-504C-66E6C5144520}"/>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9E2CCBCB-1A40-3B07-835A-2BE3A0A684ED}"/>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D4262A69-4F90-867E-D000-5CA400E2FAE3}"/>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Implementing a new singleton</a:t>
            </a:r>
            <a:endParaRPr lang="en-US" sz="1000" dirty="0"/>
          </a:p>
        </p:txBody>
      </p:sp>
      <p:sp>
        <p:nvSpPr>
          <p:cNvPr id="6" name="Text 2">
            <a:extLst>
              <a:ext uri="{FF2B5EF4-FFF2-40B4-BE49-F238E27FC236}">
                <a16:creationId xmlns:a16="http://schemas.microsoft.com/office/drawing/2014/main" id="{2861A910-1F67-23BA-2C0A-A6B995B8158F}"/>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a:t>
            </a:r>
            <a:endParaRPr lang="en-US" sz="1900" strike="sngStrike" dirty="0"/>
          </a:p>
        </p:txBody>
      </p:sp>
      <p:sp>
        <p:nvSpPr>
          <p:cNvPr id="4" name="Text 6">
            <a:extLst>
              <a:ext uri="{FF2B5EF4-FFF2-40B4-BE49-F238E27FC236}">
                <a16:creationId xmlns:a16="http://schemas.microsoft.com/office/drawing/2014/main" id="{BE29E063-9714-DF12-0B86-EB1FBE0F85C7}"/>
              </a:ext>
            </a:extLst>
          </p:cNvPr>
          <p:cNvSpPr/>
          <p:nvPr/>
        </p:nvSpPr>
        <p:spPr>
          <a:xfrm>
            <a:off x="4572000" y="886967"/>
            <a:ext cx="4279394" cy="2730875"/>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r>
              <a:rPr lang="en-US" sz="1000" b="0" dirty="0">
                <a:solidFill>
                  <a:srgbClr val="D4D4D4"/>
                </a:solidFill>
                <a:effectLst/>
                <a:highlight>
                  <a:srgbClr val="008000"/>
                </a:highlight>
                <a:latin typeface="Consolas" panose="020B0609020204030204" pitchFamily="49" charset="0"/>
              </a:rPr>
              <a:t>: </a:t>
            </a:r>
            <a:r>
              <a:rPr lang="en-US" sz="1000" b="0" dirty="0">
                <a:solidFill>
                  <a:srgbClr val="569CD6"/>
                </a:solidFill>
                <a:effectLst/>
                <a:highlight>
                  <a:srgbClr val="008000"/>
                </a:highlight>
                <a:latin typeface="Consolas" panose="020B0609020204030204" pitchFamily="49" charset="0"/>
              </a:rPr>
              <a:t>public</a:t>
            </a:r>
            <a:r>
              <a:rPr lang="en-US" sz="1000" b="0" dirty="0">
                <a:solidFill>
                  <a:srgbClr val="D4D4D4"/>
                </a:solidFill>
                <a:effectLst/>
                <a:highlight>
                  <a:srgbClr val="008000"/>
                </a:highlight>
                <a:latin typeface="Consolas" panose="020B0609020204030204" pitchFamily="49" charset="0"/>
              </a:rPr>
              <a:t> </a:t>
            </a:r>
            <a:r>
              <a:rPr lang="en-US" sz="1000" b="0" dirty="0" err="1">
                <a:solidFill>
                  <a:srgbClr val="4EC9B0"/>
                </a:solidFill>
                <a:effectLst/>
                <a:highlight>
                  <a:srgbClr val="008000"/>
                </a:highlight>
                <a:latin typeface="Consolas" panose="020B0609020204030204" pitchFamily="49" charset="0"/>
              </a:rPr>
              <a:t>SingletonBase</a:t>
            </a:r>
            <a:r>
              <a:rPr lang="en-US" sz="1000" b="0" dirty="0">
                <a:solidFill>
                  <a:srgbClr val="D4D4D4"/>
                </a:solidFill>
                <a:effectLst/>
                <a:highlight>
                  <a:srgbClr val="008000"/>
                </a:highlight>
                <a:latin typeface="Consolas" panose="020B0609020204030204" pitchFamily="49" charset="0"/>
              </a:rPr>
              <a:t>&lt;</a:t>
            </a:r>
            <a:r>
              <a:rPr lang="en-US" sz="1000" b="0" dirty="0" err="1">
                <a:solidFill>
                  <a:srgbClr val="4EC9B0"/>
                </a:solidFill>
                <a:effectLst/>
                <a:highlight>
                  <a:srgbClr val="008000"/>
                </a:highlight>
                <a:latin typeface="Consolas" panose="020B0609020204030204" pitchFamily="49" charset="0"/>
              </a:rPr>
              <a:t>XRayMachine</a:t>
            </a:r>
            <a:r>
              <a:rPr lang="en-US" sz="1000" b="0" dirty="0">
                <a:solidFill>
                  <a:srgbClr val="D4D4D4"/>
                </a:solidFill>
                <a:effectLst/>
                <a:highlight>
                  <a:srgbClr val="008000"/>
                </a:highlight>
                <a:latin typeface="Consolas" panose="020B0609020204030204" pitchFamily="49" charset="0"/>
              </a:rPr>
              <a:t>&gt; </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highlight>
                  <a:srgbClr val="008000"/>
                </a:highlight>
                <a:latin typeface="Consolas" panose="020B0609020204030204" pitchFamily="49" charset="0"/>
              </a:rPr>
              <a:t>PM_SINGLETON</a:t>
            </a:r>
            <a:r>
              <a:rPr lang="en-US" sz="1000" b="0" dirty="0">
                <a:solidFill>
                  <a:srgbClr val="D4D4D4"/>
                </a:solidFill>
                <a:effectLst/>
                <a:highlight>
                  <a:srgbClr val="008000"/>
                </a:highlight>
                <a:latin typeface="Consolas" panose="020B0609020204030204" pitchFamily="49" charset="0"/>
              </a:rPr>
              <a:t>(</a:t>
            </a:r>
            <a:r>
              <a:rPr lang="en-US" sz="1000" b="0" dirty="0" err="1">
                <a:solidFill>
                  <a:srgbClr val="4EC9B0"/>
                </a:solidFill>
                <a:effectLst/>
                <a:highlight>
                  <a:srgbClr val="008000"/>
                </a:highlight>
                <a:latin typeface="Consolas" panose="020B0609020204030204" pitchFamily="49" charset="0"/>
              </a:rPr>
              <a:t>XRayMachine</a:t>
            </a:r>
            <a:r>
              <a:rPr lang="en-US" sz="1000" b="0" dirty="0">
                <a:solidFill>
                  <a:srgbClr val="D4D4D4"/>
                </a:solidFill>
                <a:effectLst/>
                <a:highlight>
                  <a:srgbClr val="008000"/>
                </a:highligh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stopExposure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exposureTime_ms</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a:t>
            </a:r>
            <a:r>
              <a:rPr lang="en-US" sz="1000" b="0" dirty="0">
                <a:solidFill>
                  <a:srgbClr val="9CDCFE"/>
                </a:solidFill>
                <a:effectLst/>
                <a:latin typeface="Consolas" panose="020B0609020204030204" pitchFamily="49" charset="0"/>
              </a:rPr>
              <a:t>value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p>
          <a:p>
            <a:pPr>
              <a:lnSpc>
                <a:spcPts val="1425"/>
              </a:lnSpc>
              <a:buNone/>
            </a:pPr>
            <a:r>
              <a:rPr lang="en-US" sz="1000" dirty="0">
                <a:solidFill>
                  <a:srgbClr val="569CD6"/>
                </a:solidFill>
                <a:latin typeface="Consolas" panose="020B0609020204030204" pitchFamily="49" charset="0"/>
              </a:rPr>
              <a:t>private: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DCDCAA"/>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7" name="Text 4">
            <a:extLst>
              <a:ext uri="{FF2B5EF4-FFF2-40B4-BE49-F238E27FC236}">
                <a16:creationId xmlns:a16="http://schemas.microsoft.com/office/drawing/2014/main" id="{3586F88F-4EE8-2D0C-A391-2670B7310838}"/>
              </a:ext>
            </a:extLst>
          </p:cNvPr>
          <p:cNvSpPr/>
          <p:nvPr/>
        </p:nvSpPr>
        <p:spPr>
          <a:xfrm>
            <a:off x="411480" y="3752850"/>
            <a:ext cx="8321040" cy="1134617"/>
          </a:xfrm>
          <a:prstGeom prst="rect">
            <a:avLst/>
          </a:prstGeom>
          <a:noFill/>
          <a:ln/>
        </p:spPr>
        <p:txBody>
          <a:bodyPr wrap="square" rtlCol="0" anchor="t"/>
          <a:lstStyle/>
          <a:p>
            <a:pPr marL="342900" indent="-342900">
              <a:spcAft>
                <a:spcPts val="600"/>
              </a:spcAft>
              <a:buSzPct val="100000"/>
              <a:buFont typeface="+mj-lt"/>
              <a:buAutoNum type="arabicPeriod"/>
            </a:pPr>
            <a:r>
              <a:rPr lang="en-US" sz="1600" dirty="0">
                <a:solidFill>
                  <a:srgbClr val="1E3A5F"/>
                </a:solidFill>
                <a:latin typeface="Calibri" pitchFamily="34" charset="0"/>
                <a:ea typeface="Calibri" pitchFamily="34" charset="-122"/>
                <a:cs typeface="Calibri" pitchFamily="34" charset="-120"/>
              </a:rPr>
              <a:t>Inherit</a:t>
            </a:r>
            <a:r>
              <a:rPr lang="en-US" sz="1600" dirty="0"/>
              <a:t> </a:t>
            </a:r>
            <a:r>
              <a:rPr lang="en-US" sz="1600" dirty="0" err="1">
                <a:solidFill>
                  <a:srgbClr val="4EC9B0"/>
                </a:solidFill>
                <a:latin typeface="Consolas" panose="020B0609020204030204" pitchFamily="49" charset="0"/>
              </a:rPr>
              <a:t>SingletonBase</a:t>
            </a:r>
            <a:r>
              <a:rPr lang="en-US" sz="1600" dirty="0">
                <a:solidFill>
                  <a:srgbClr val="1E3A5F"/>
                </a:solidFill>
                <a:latin typeface="Calibri" pitchFamily="34" charset="0"/>
                <a:ea typeface="Calibri" pitchFamily="34" charset="-122"/>
                <a:cs typeface="Calibri" pitchFamily="34" charset="-120"/>
              </a:rPr>
              <a:t>&lt;&gt;</a:t>
            </a:r>
          </a:p>
          <a:p>
            <a:pPr marL="342900" indent="-342900">
              <a:spcAft>
                <a:spcPts val="600"/>
              </a:spcAft>
              <a:buSzPct val="100000"/>
              <a:buFont typeface="+mj-lt"/>
              <a:buAutoNum type="arabicPeriod"/>
            </a:pPr>
            <a:r>
              <a:rPr lang="en-US" sz="1600" dirty="0">
                <a:solidFill>
                  <a:srgbClr val="1E3A5F"/>
                </a:solidFill>
                <a:latin typeface="Calibri" pitchFamily="34" charset="0"/>
                <a:ea typeface="Calibri" pitchFamily="34" charset="-122"/>
                <a:cs typeface="Calibri" pitchFamily="34" charset="-120"/>
              </a:rPr>
              <a:t>Add PM_SINGLETON() macro in a private section of the singleton class</a:t>
            </a:r>
          </a:p>
        </p:txBody>
      </p:sp>
      <p:sp>
        <p:nvSpPr>
          <p:cNvPr id="8" name="Rectangle 7">
            <a:extLst>
              <a:ext uri="{FF2B5EF4-FFF2-40B4-BE49-F238E27FC236}">
                <a16:creationId xmlns:a16="http://schemas.microsoft.com/office/drawing/2014/main" id="{EE006918-1735-9CE9-C9B3-FA65B15B5285}"/>
              </a:ext>
            </a:extLst>
          </p:cNvPr>
          <p:cNvSpPr/>
          <p:nvPr/>
        </p:nvSpPr>
        <p:spPr>
          <a:xfrm>
            <a:off x="8422166" y="809444"/>
            <a:ext cx="546158" cy="523220"/>
          </a:xfrm>
          <a:prstGeom prst="rect">
            <a:avLst/>
          </a:prstGeom>
          <a:noFill/>
        </p:spPr>
        <p:txBody>
          <a:bodyPr wrap="square" lIns="91440" tIns="45720" rIns="91440" bIns="45720">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rPr>
              <a:t>1</a:t>
            </a:r>
          </a:p>
        </p:txBody>
      </p:sp>
      <p:sp>
        <p:nvSpPr>
          <p:cNvPr id="9" name="Rectangle 8">
            <a:extLst>
              <a:ext uri="{FF2B5EF4-FFF2-40B4-BE49-F238E27FC236}">
                <a16:creationId xmlns:a16="http://schemas.microsoft.com/office/drawing/2014/main" id="{3A42EA51-01FB-CDB7-DCD4-B50DC7A799D3}"/>
              </a:ext>
            </a:extLst>
          </p:cNvPr>
          <p:cNvSpPr/>
          <p:nvPr/>
        </p:nvSpPr>
        <p:spPr>
          <a:xfrm>
            <a:off x="6675361" y="1037877"/>
            <a:ext cx="546158" cy="523220"/>
          </a:xfrm>
          <a:prstGeom prst="rect">
            <a:avLst/>
          </a:prstGeom>
          <a:noFill/>
        </p:spPr>
        <p:txBody>
          <a:bodyPr wrap="square" lIns="91440" tIns="45720" rIns="91440" bIns="45720">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rPr>
              <a:t>2</a:t>
            </a:r>
          </a:p>
        </p:txBody>
      </p:sp>
    </p:spTree>
    <p:extLst>
      <p:ext uri="{BB962C8B-B14F-4D97-AF65-F5344CB8AC3E}">
        <p14:creationId xmlns:p14="http://schemas.microsoft.com/office/powerpoint/2010/main" val="34842186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11F99-BC03-1328-D97F-89AEE18A1BAC}"/>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117ABC01-9234-AEF1-E1C8-C769E3584F7E}"/>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b="1" dirty="0">
                <a:solidFill>
                  <a:srgbClr val="1E3A5F"/>
                </a:solidFill>
                <a:latin typeface="Calibri" pitchFamily="34" charset="0"/>
                <a:ea typeface="Calibri" pitchFamily="34" charset="-122"/>
                <a:cs typeface="Calibri" pitchFamily="34" charset="-120"/>
              </a:rPr>
              <a:t>That’s it?</a:t>
            </a:r>
          </a:p>
          <a:p>
            <a:pPr marL="342900" indent="-342900">
              <a:spcAft>
                <a:spcPts val="600"/>
              </a:spcAft>
              <a:buSzPct val="100000"/>
              <a:buChar char="•"/>
            </a:pPr>
            <a:r>
              <a:rPr lang="en-US" sz="1600" b="1" dirty="0">
                <a:solidFill>
                  <a:srgbClr val="1E3A5F"/>
                </a:solidFill>
                <a:latin typeface="Calibri" pitchFamily="34" charset="0"/>
                <a:ea typeface="Calibri" pitchFamily="34" charset="-122"/>
                <a:cs typeface="Calibri" pitchFamily="34" charset="-120"/>
              </a:rPr>
              <a:t>How does this solve anything?</a:t>
            </a:r>
          </a:p>
          <a:p>
            <a:pPr marL="342900" indent="-342900">
              <a:spcAft>
                <a:spcPts val="600"/>
              </a:spcAft>
              <a:buSzPct val="100000"/>
              <a:buChar char="•"/>
            </a:pPr>
            <a:r>
              <a:rPr lang="en-US" sz="1600" b="1" dirty="0">
                <a:solidFill>
                  <a:srgbClr val="1E3A5F"/>
                </a:solidFill>
                <a:latin typeface="Calibri" pitchFamily="34" charset="0"/>
                <a:ea typeface="Calibri" pitchFamily="34" charset="-122"/>
                <a:cs typeface="Calibri" pitchFamily="34" charset="-120"/>
              </a:rPr>
              <a:t>What about testability and unit tests?</a:t>
            </a:r>
          </a:p>
        </p:txBody>
      </p:sp>
      <p:sp>
        <p:nvSpPr>
          <p:cNvPr id="2" name="Shape 0">
            <a:extLst>
              <a:ext uri="{FF2B5EF4-FFF2-40B4-BE49-F238E27FC236}">
                <a16:creationId xmlns:a16="http://schemas.microsoft.com/office/drawing/2014/main" id="{98962638-C021-2FF2-9D79-28DCEA3F24CE}"/>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4E6CDE51-D157-2ED8-03E2-2269DCD080AD}"/>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024672EC-E58D-E557-5660-5BAC0CD87053}"/>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a:t>
            </a:r>
            <a:endParaRPr lang="en-US" sz="1900" strike="sngStrike" dirty="0"/>
          </a:p>
        </p:txBody>
      </p:sp>
    </p:spTree>
    <p:extLst>
      <p:ext uri="{BB962C8B-B14F-4D97-AF65-F5344CB8AC3E}">
        <p14:creationId xmlns:p14="http://schemas.microsoft.com/office/powerpoint/2010/main" val="10144103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0BFDB-8964-86FA-B82B-1824CA1885BE}"/>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685D5A4A-D25D-087C-3D4C-6F5AF7497D5D}"/>
              </a:ext>
            </a:extLst>
          </p:cNvPr>
          <p:cNvSpPr/>
          <p:nvPr/>
        </p:nvSpPr>
        <p:spPr>
          <a:xfrm>
            <a:off x="292608" y="886968"/>
            <a:ext cx="5400526"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bool</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testCase1</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ScopedSingletonState</a:t>
            </a:r>
            <a:r>
              <a:rPr lang="en-US" sz="1000" b="0" dirty="0">
                <a:solidFill>
                  <a:srgbClr val="D4D4D4"/>
                </a:solidFill>
                <a:effectLst/>
                <a:latin typeface="Consolas" panose="020B0609020204030204" pitchFamily="49" charset="0"/>
              </a:rPr>
              <a:t>&lt;</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&gt; state;</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power</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voltage</a:t>
            </a:r>
            <a:r>
              <a:rPr lang="en-US" sz="1000" b="0" dirty="0">
                <a:solidFill>
                  <a:srgbClr val="D4D4D4"/>
                </a:solidFill>
                <a:effectLst/>
                <a:latin typeface="Consolas" panose="020B0609020204030204" pitchFamily="49" charset="0"/>
              </a:rPr>
              <a:t>() &gt; </a:t>
            </a:r>
            <a:r>
              <a:rPr lang="en-US" sz="1000" b="0" dirty="0">
                <a:solidFill>
                  <a:srgbClr val="B5CEA8"/>
                </a:solidFill>
                <a:effectLst/>
                <a:latin typeface="Consolas" panose="020B0609020204030204" pitchFamily="49" charset="0"/>
              </a:rPr>
              <a:t>100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collimatorControl</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position</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true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bool</a:t>
            </a: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testCase2</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ScopedSingletonState</a:t>
            </a:r>
            <a:r>
              <a:rPr lang="en-US" sz="1000" b="0" dirty="0">
                <a:solidFill>
                  <a:srgbClr val="D4D4D4"/>
                </a:solidFill>
                <a:effectLst/>
                <a:latin typeface="Consolas" panose="020B0609020204030204" pitchFamily="49" charset="0"/>
              </a:rPr>
              <a:t>&lt;</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&gt; state;</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setExposureTime_ms</a:t>
            </a:r>
            <a:r>
              <a:rPr lang="en-US" sz="1000" b="0" dirty="0">
                <a:solidFill>
                  <a:srgbClr val="D4D4D4"/>
                </a:solidFill>
                <a:effectLst/>
                <a:latin typeface="Consolas" panose="020B0609020204030204" pitchFamily="49" charset="0"/>
              </a:rPr>
              <a:t>(</a:t>
            </a:r>
            <a:r>
              <a:rPr lang="en-US" sz="1000" b="0" dirty="0">
                <a:solidFill>
                  <a:srgbClr val="B5CEA8"/>
                </a:solidFill>
                <a:effectLst/>
                <a:latin typeface="Consolas" panose="020B0609020204030204" pitchFamily="49" charset="0"/>
              </a:rPr>
              <a:t>500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true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5E379211-3BD7-5FA1-2EC0-2D04130DFB7A}"/>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6FC2E379-9ED4-4A28-DAE4-5BCED31969B0}"/>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3BE6B8E8-D8B2-C014-C029-9F80FC45B6E4}"/>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Writing Unit tests</a:t>
            </a:r>
            <a:endParaRPr lang="en-US" sz="1000" dirty="0"/>
          </a:p>
        </p:txBody>
      </p:sp>
      <p:sp>
        <p:nvSpPr>
          <p:cNvPr id="6" name="Text 2">
            <a:extLst>
              <a:ext uri="{FF2B5EF4-FFF2-40B4-BE49-F238E27FC236}">
                <a16:creationId xmlns:a16="http://schemas.microsoft.com/office/drawing/2014/main" id="{B51E6C2A-720C-CBC0-E7AA-00514ACDA1C3}"/>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a:t>
            </a:r>
            <a:endParaRPr lang="en-US" sz="1900" strike="sngStrike" dirty="0"/>
          </a:p>
        </p:txBody>
      </p:sp>
      <p:sp>
        <p:nvSpPr>
          <p:cNvPr id="7" name="Text 4">
            <a:extLst>
              <a:ext uri="{FF2B5EF4-FFF2-40B4-BE49-F238E27FC236}">
                <a16:creationId xmlns:a16="http://schemas.microsoft.com/office/drawing/2014/main" id="{58EBB4EF-C6EA-35BF-D5A5-AB2D95A6A985}"/>
              </a:ext>
            </a:extLst>
          </p:cNvPr>
          <p:cNvSpPr/>
          <p:nvPr/>
        </p:nvSpPr>
        <p:spPr>
          <a:xfrm>
            <a:off x="5828306" y="850392"/>
            <a:ext cx="3087094"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Create a simple variable of type </a:t>
            </a:r>
            <a:r>
              <a:rPr lang="en-US" sz="1600" dirty="0" err="1">
                <a:solidFill>
                  <a:srgbClr val="4EC9B0"/>
                </a:solidFill>
                <a:latin typeface="Consolas" panose="020B0609020204030204" pitchFamily="49" charset="0"/>
              </a:rPr>
              <a:t>ScopedSingletonState</a:t>
            </a:r>
            <a:r>
              <a:rPr lang="en-US" sz="1600" dirty="0">
                <a:solidFill>
                  <a:srgbClr val="1E3A5F"/>
                </a:solidFill>
                <a:latin typeface="Calibri" pitchFamily="34" charset="0"/>
                <a:ea typeface="Calibri" pitchFamily="34" charset="-122"/>
                <a:cs typeface="Calibri" pitchFamily="34" charset="-120"/>
              </a:rPr>
              <a:t>&lt;&gt; at the top of each test function</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Write your testing logic in the way you like. No need to use specifics testing frameworks or techniques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Each test case gets a brand-new singleton state each time they are called. Testing order doesn’t matter</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Test outcome is guaranteed </a:t>
            </a:r>
            <a:r>
              <a:rPr lang="en-US" sz="1600" dirty="0" err="1">
                <a:solidFill>
                  <a:srgbClr val="1E3A5F"/>
                </a:solidFill>
                <a:latin typeface="Calibri" pitchFamily="34" charset="0"/>
                <a:ea typeface="Calibri" pitchFamily="34" charset="-122"/>
                <a:cs typeface="Calibri" pitchFamily="34" charset="-120"/>
              </a:rPr>
              <a:t>everytime</a:t>
            </a: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Char char="•"/>
            </a:pPr>
            <a:endParaRPr lang="en-US" sz="1600" dirty="0"/>
          </a:p>
        </p:txBody>
      </p:sp>
    </p:spTree>
    <p:extLst>
      <p:ext uri="{BB962C8B-B14F-4D97-AF65-F5344CB8AC3E}">
        <p14:creationId xmlns:p14="http://schemas.microsoft.com/office/powerpoint/2010/main" val="33302323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D8A0CBDE-2F0E-C98C-7914-B7D189A70D4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08D82D-8C22-DD20-F4BD-0029B70F1B7B}"/>
              </a:ext>
            </a:extLst>
          </p:cNvPr>
          <p:cNvSpPr/>
          <p:nvPr/>
        </p:nvSpPr>
        <p:spPr>
          <a:xfrm>
            <a:off x="0" y="0"/>
            <a:ext cx="164592" cy="5143500"/>
          </a:xfrm>
          <a:prstGeom prst="rect">
            <a:avLst/>
          </a:prstGeom>
          <a:solidFill>
            <a:srgbClr val="F59E0B"/>
          </a:solidFill>
          <a:ln w="12700">
            <a:solidFill>
              <a:srgbClr val="F59E0B"/>
            </a:solidFill>
            <a:prstDash val="solid"/>
          </a:ln>
        </p:spPr>
        <p:txBody>
          <a:bodyPr/>
          <a:lstStyle/>
          <a:p>
            <a:endParaRPr lang="en-US"/>
          </a:p>
        </p:txBody>
      </p:sp>
      <p:sp>
        <p:nvSpPr>
          <p:cNvPr id="3" name="Shape 1">
            <a:extLst>
              <a:ext uri="{FF2B5EF4-FFF2-40B4-BE49-F238E27FC236}">
                <a16:creationId xmlns:a16="http://schemas.microsoft.com/office/drawing/2014/main" id="{74BE67C9-9501-A24F-C9B3-33D307C0976F}"/>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451C049B-D14B-2C18-322A-0CA00F72F95B}"/>
              </a:ext>
            </a:extLst>
          </p:cNvPr>
          <p:cNvSpPr/>
          <p:nvPr/>
        </p:nvSpPr>
        <p:spPr>
          <a:xfrm>
            <a:off x="411480" y="640080"/>
            <a:ext cx="8321040" cy="1645920"/>
          </a:xfrm>
          <a:prstGeom prst="rect">
            <a:avLst/>
          </a:prstGeom>
          <a:noFill/>
          <a:ln/>
        </p:spPr>
        <p:txBody>
          <a:bodyPr wrap="square" lIns="0" tIns="0" rIns="0" bIns="0" rtlCol="0" anchor="ctr"/>
          <a:lstStyle/>
          <a:p>
            <a:pPr marL="0" indent="0">
              <a:lnSpc>
                <a:spcPct val="120000"/>
              </a:lnSpc>
              <a:buNone/>
            </a:pPr>
            <a:r>
              <a:rPr lang="en-US" sz="3400" b="1" dirty="0">
                <a:solidFill>
                  <a:srgbClr val="FFFFFF"/>
                </a:solidFill>
                <a:latin typeface="Georgia" pitchFamily="34" charset="0"/>
                <a:ea typeface="Georgia" pitchFamily="34" charset="-122"/>
                <a:cs typeface="Georgia" pitchFamily="34" charset="-120"/>
              </a:rPr>
              <a:t>How is this implemented?</a:t>
            </a:r>
            <a:endParaRPr lang="en-US" sz="3400" dirty="0"/>
          </a:p>
        </p:txBody>
      </p:sp>
      <p:sp>
        <p:nvSpPr>
          <p:cNvPr id="4" name="Text 4">
            <a:extLst>
              <a:ext uri="{FF2B5EF4-FFF2-40B4-BE49-F238E27FC236}">
                <a16:creationId xmlns:a16="http://schemas.microsoft.com/office/drawing/2014/main" id="{B6E7D6C7-9DCA-4E96-3237-BB664EEC3C32}"/>
              </a:ext>
            </a:extLst>
          </p:cNvPr>
          <p:cNvSpPr/>
          <p:nvPr/>
        </p:nvSpPr>
        <p:spPr>
          <a:xfrm>
            <a:off x="457200" y="3154680"/>
            <a:ext cx="7772400" cy="59436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What is </a:t>
            </a:r>
            <a:r>
              <a:rPr lang="en-US" sz="1500" dirty="0" err="1">
                <a:solidFill>
                  <a:srgbClr val="94A3B8"/>
                </a:solidFill>
                <a:latin typeface="Calibri" pitchFamily="34" charset="0"/>
                <a:ea typeface="Calibri" pitchFamily="34" charset="-122"/>
                <a:cs typeface="Calibri" pitchFamily="34" charset="-120"/>
              </a:rPr>
              <a:t>SingletonBase</a:t>
            </a:r>
            <a:r>
              <a:rPr lang="en-US" sz="1500" dirty="0">
                <a:solidFill>
                  <a:srgbClr val="94A3B8"/>
                </a:solidFill>
                <a:latin typeface="Calibri" pitchFamily="34" charset="0"/>
                <a:ea typeface="Calibri" pitchFamily="34" charset="-122"/>
                <a:cs typeface="Calibri" pitchFamily="34" charset="-120"/>
              </a:rPr>
              <a:t> and </a:t>
            </a:r>
            <a:r>
              <a:rPr lang="en-US" sz="1500" dirty="0" err="1">
                <a:solidFill>
                  <a:srgbClr val="94A3B8"/>
                </a:solidFill>
                <a:latin typeface="Calibri" pitchFamily="34" charset="0"/>
                <a:ea typeface="Calibri" pitchFamily="34" charset="-122"/>
                <a:cs typeface="Calibri" pitchFamily="34" charset="-120"/>
              </a:rPr>
              <a:t>ScopedSingletonState</a:t>
            </a:r>
            <a:r>
              <a:rPr lang="en-US" sz="1500" dirty="0">
                <a:solidFill>
                  <a:srgbClr val="94A3B8"/>
                </a:solidFill>
                <a:latin typeface="Calibri" pitchFamily="34" charset="0"/>
                <a:ea typeface="Calibri" pitchFamily="34" charset="-122"/>
                <a:cs typeface="Calibri" pitchFamily="34" charset="-120"/>
              </a:rPr>
              <a:t>?</a:t>
            </a:r>
            <a:endParaRPr lang="en-US" sz="1500" dirty="0"/>
          </a:p>
        </p:txBody>
      </p:sp>
    </p:spTree>
    <p:extLst>
      <p:ext uri="{BB962C8B-B14F-4D97-AF65-F5344CB8AC3E}">
        <p14:creationId xmlns:p14="http://schemas.microsoft.com/office/powerpoint/2010/main" val="36189971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485D0-FEE6-F10C-86B8-79153C9708D2}"/>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B2729419-9ED3-95DC-96EF-B4BA70A4757D}"/>
              </a:ext>
            </a:extLst>
          </p:cNvPr>
          <p:cNvSpPr/>
          <p:nvPr/>
        </p:nvSpPr>
        <p:spPr>
          <a:xfrm>
            <a:off x="292608" y="841248"/>
            <a:ext cx="4462272"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 &lt;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SingletonBase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 &lt;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Ty</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friend</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ScopedSingletonState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protected:</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default</a:t>
            </a:r>
            <a:r>
              <a:rPr lang="en-US" sz="1000" b="0" dirty="0">
                <a:solidFill>
                  <a:srgbClr val="D4D4D4"/>
                </a:solidFill>
                <a:effectLst/>
                <a:latin typeface="Consolas" panose="020B0609020204030204" pitchFamily="49" charset="0"/>
              </a:rPr>
              <a:t>;</a:t>
            </a:r>
          </a:p>
          <a:p>
            <a:pPr>
              <a:lnSpc>
                <a:spcPts val="1425"/>
              </a:lnSpc>
              <a:buNone/>
            </a:pPr>
            <a:endParaRPr lang="en-US" sz="1000" dirty="0">
              <a:solidFill>
                <a:srgbClr val="D4D4D4"/>
              </a:solidFill>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instanceRef</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private:</a:t>
            </a:r>
          </a:p>
          <a:p>
            <a:pPr>
              <a:lnSpc>
                <a:spcPts val="1425"/>
              </a:lnSpc>
              <a:buNone/>
            </a:pPr>
            <a:r>
              <a:rPr lang="en-US" sz="1000" b="0" dirty="0">
                <a:solidFill>
                  <a:srgbClr val="569CD6"/>
                </a:solidFill>
                <a:effectLst/>
                <a:latin typeface="Consolas" panose="020B0609020204030204" pitchFamily="49" charset="0"/>
              </a:rPr>
              <a:t>    </a:t>
            </a:r>
            <a:r>
              <a:rPr lang="en-US" sz="1000" dirty="0">
                <a:solidFill>
                  <a:srgbClr val="569CD6"/>
                </a:solidFill>
                <a:latin typeface="Consolas" panose="020B0609020204030204" pitchFamily="49" charset="0"/>
              </a:rPr>
              <a:t>static</a:t>
            </a:r>
            <a:r>
              <a:rPr lang="en-US" sz="1000" dirty="0">
                <a:solidFill>
                  <a:srgbClr val="D4D4D4"/>
                </a:solidFill>
                <a:latin typeface="Consolas" panose="020B0609020204030204" pitchFamily="49" charset="0"/>
              </a:rPr>
              <a:t> </a:t>
            </a:r>
            <a:r>
              <a:rPr lang="en-US" sz="1000" dirty="0">
                <a:solidFill>
                  <a:srgbClr val="4EC9B0"/>
                </a:solidFill>
                <a:latin typeface="Consolas" panose="020B0609020204030204" pitchFamily="49" charset="0"/>
              </a:rPr>
              <a:t>T</a:t>
            </a:r>
            <a:r>
              <a:rPr lang="en-US" sz="1000" dirty="0">
                <a:solidFill>
                  <a:srgbClr val="D4D4D4"/>
                </a:solidFill>
                <a:latin typeface="Consolas" panose="020B0609020204030204" pitchFamily="49" charset="0"/>
              </a:rPr>
              <a:t> </a:t>
            </a:r>
            <a:r>
              <a:rPr lang="en-US" sz="1000" dirty="0">
                <a:solidFill>
                  <a:srgbClr val="569CD6"/>
                </a:solidFill>
                <a:latin typeface="Consolas" panose="020B0609020204030204" pitchFamily="49" charset="0"/>
              </a:rPr>
              <a:t>*</a:t>
            </a:r>
            <a:r>
              <a:rPr lang="en-US" sz="1000" dirty="0" err="1">
                <a:solidFill>
                  <a:srgbClr val="DCDCAA"/>
                </a:solidFill>
                <a:latin typeface="Consolas" panose="020B0609020204030204" pitchFamily="49" charset="0"/>
              </a:rPr>
              <a:t>setInstance</a:t>
            </a:r>
            <a:r>
              <a:rPr lang="en-US" sz="1000" dirty="0">
                <a:solidFill>
                  <a:srgbClr val="D4D4D4"/>
                </a:solidFill>
                <a:latin typeface="Consolas" panose="020B0609020204030204" pitchFamily="49" charset="0"/>
              </a:rPr>
              <a:t>(</a:t>
            </a:r>
            <a:r>
              <a:rPr lang="en-US" sz="1000" dirty="0">
                <a:solidFill>
                  <a:srgbClr val="4EC9B0"/>
                </a:solidFill>
                <a:latin typeface="Consolas" panose="020B0609020204030204" pitchFamily="49" charset="0"/>
              </a:rPr>
              <a:t>T</a:t>
            </a:r>
            <a:r>
              <a:rPr lang="en-US" sz="1000" dirty="0">
                <a:solidFill>
                  <a:srgbClr val="D4D4D4"/>
                </a:solidFill>
                <a:latin typeface="Consolas" panose="020B0609020204030204" pitchFamily="49" charset="0"/>
              </a:rPr>
              <a:t> </a:t>
            </a:r>
            <a:r>
              <a:rPr lang="en-US" sz="1000" dirty="0">
                <a:solidFill>
                  <a:srgbClr val="569CD6"/>
                </a:solidFill>
                <a:latin typeface="Consolas" panose="020B0609020204030204" pitchFamily="49" charset="0"/>
              </a:rPr>
              <a:t>*</a:t>
            </a:r>
            <a:r>
              <a:rPr lang="en-US" sz="1000" dirty="0" err="1">
                <a:solidFill>
                  <a:srgbClr val="9CDCFE"/>
                </a:solidFill>
                <a:latin typeface="Consolas" panose="020B0609020204030204" pitchFamily="49" charset="0"/>
              </a:rPr>
              <a:t>newInstance</a:t>
            </a:r>
            <a:r>
              <a:rPr lang="en-US" sz="1000" dirty="0">
                <a:solidFill>
                  <a:srgbClr val="D4D4D4"/>
                </a:solidFill>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dirty="0">
                <a:solidFill>
                  <a:srgbClr val="569CD6"/>
                </a:solidFill>
                <a:latin typeface="Consolas" panose="020B0609020204030204" pitchFamily="49" charset="0"/>
              </a:rPr>
              <a:t>static</a:t>
            </a:r>
            <a:r>
              <a:rPr lang="en-US" sz="1000" dirty="0">
                <a:solidFill>
                  <a:srgbClr val="D4D4D4"/>
                </a:solidFill>
                <a:latin typeface="Consolas" panose="020B0609020204030204" pitchFamily="49" charset="0"/>
              </a:rPr>
              <a:t> </a:t>
            </a:r>
            <a:r>
              <a:rPr lang="en-US" sz="1000" dirty="0">
                <a:solidFill>
                  <a:srgbClr val="4EC9B0"/>
                </a:solidFill>
                <a:latin typeface="Consolas" panose="020B0609020204030204" pitchFamily="49" charset="0"/>
              </a:rPr>
              <a:t>T</a:t>
            </a:r>
            <a:r>
              <a:rPr lang="en-US" sz="1000" dirty="0">
                <a:solidFill>
                  <a:srgbClr val="D4D4D4"/>
                </a:solidFill>
                <a:latin typeface="Consolas" panose="020B0609020204030204" pitchFamily="49" charset="0"/>
              </a:rPr>
              <a:t> </a:t>
            </a:r>
            <a:r>
              <a:rPr lang="en-US" sz="1000" dirty="0">
                <a:solidFill>
                  <a:srgbClr val="569CD6"/>
                </a:solidFill>
                <a:latin typeface="Consolas" panose="020B0609020204030204" pitchFamily="49" charset="0"/>
              </a:rPr>
              <a:t>&amp;</a:t>
            </a:r>
            <a:r>
              <a:rPr lang="en-US" sz="1000" dirty="0" err="1">
                <a:solidFill>
                  <a:srgbClr val="DCDCAA"/>
                </a:solidFill>
                <a:latin typeface="Consolas" panose="020B0609020204030204" pitchFamily="49" charset="0"/>
              </a:rPr>
              <a:t>defaultInstance</a:t>
            </a:r>
            <a:r>
              <a:rPr lang="en-US" sz="1000" dirty="0">
                <a:solidFill>
                  <a:srgbClr val="D4D4D4"/>
                </a:solidFill>
                <a:latin typeface="Consolas" panose="020B0609020204030204" pitchFamily="49" charset="0"/>
              </a:rPr>
              <a:t>();</a:t>
            </a:r>
          </a:p>
          <a:p>
            <a:pPr>
              <a:lnSpc>
                <a:spcPts val="1425"/>
              </a:lnSpc>
              <a:buNone/>
            </a:pPr>
            <a:endParaRPr lang="en-US" sz="1000" b="0" dirty="0">
              <a:solidFill>
                <a:srgbClr val="569CD6"/>
              </a:solidFill>
              <a:effectLst/>
              <a:latin typeface="Consolas" panose="020B0609020204030204" pitchFamily="49" charset="0"/>
            </a:endParaRPr>
          </a:p>
          <a:p>
            <a:pPr>
              <a:lnSpc>
                <a:spcPts val="1425"/>
              </a:lnSpc>
            </a:pPr>
            <a:r>
              <a:rPr lang="en-US" sz="1000" b="0" dirty="0">
                <a:solidFill>
                  <a:srgbClr val="D4D4D4"/>
                </a:solidFill>
                <a:effectLst/>
                <a:latin typeface="Consolas" panose="020B0609020204030204" pitchFamily="49" charset="0"/>
              </a:rPr>
              <a:t>    </a:t>
            </a:r>
            <a:r>
              <a:rPr lang="en-US" sz="1000" dirty="0">
                <a:solidFill>
                  <a:srgbClr val="6A9955"/>
                </a:solidFill>
                <a:latin typeface="Consolas" panose="020B0609020204030204" pitchFamily="49" charset="0"/>
              </a:rPr>
              <a:t>// Deleted copy constructor + copy assignment operator</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6B8742F0-8565-69C3-F211-E02BDBD118CA}"/>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80DD2E05-AE31-CD08-25F3-8BB7AAAF7643}"/>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8" name="Text 4">
            <a:extLst>
              <a:ext uri="{FF2B5EF4-FFF2-40B4-BE49-F238E27FC236}">
                <a16:creationId xmlns:a16="http://schemas.microsoft.com/office/drawing/2014/main" id="{1E888467-8FA8-10A6-1D16-F2109A8DCC45}"/>
              </a:ext>
            </a:extLst>
          </p:cNvPr>
          <p:cNvSpPr/>
          <p:nvPr/>
        </p:nvSpPr>
        <p:spPr>
          <a:xfrm>
            <a:off x="5025224" y="850392"/>
            <a:ext cx="3890176"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Templated </a:t>
            </a:r>
            <a:r>
              <a:rPr lang="en-US" sz="1600" dirty="0" err="1">
                <a:solidFill>
                  <a:srgbClr val="4EC9B0"/>
                </a:solidFill>
                <a:latin typeface="Consolas" panose="020B0609020204030204" pitchFamily="49" charset="0"/>
              </a:rPr>
              <a:t>SingletonBase</a:t>
            </a:r>
            <a:r>
              <a:rPr lang="en-US" sz="1600" dirty="0">
                <a:solidFill>
                  <a:srgbClr val="1E3A5F"/>
                </a:solidFill>
                <a:latin typeface="Calibri" pitchFamily="34" charset="0"/>
                <a:ea typeface="Calibri" pitchFamily="34" charset="-122"/>
                <a:cs typeface="Calibri" pitchFamily="34" charset="-120"/>
              </a:rPr>
              <a:t> is a simple helper that contains one single public static function: instance()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Holds no data or internal state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It has a protected default constructor to ensure it’s useable only when inherited by some other class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Any class that inherits this needs to pass its own type as the template parameter (CRTP)</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Has two protected helpers as implementation details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Everything other than the constructor is static</a:t>
            </a:r>
          </a:p>
        </p:txBody>
      </p:sp>
      <p:sp>
        <p:nvSpPr>
          <p:cNvPr id="6" name="Text 2">
            <a:extLst>
              <a:ext uri="{FF2B5EF4-FFF2-40B4-BE49-F238E27FC236}">
                <a16:creationId xmlns:a16="http://schemas.microsoft.com/office/drawing/2014/main" id="{92ADC3A2-63A8-DFD9-5004-487A7FC37C14}"/>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 </a:t>
            </a:r>
            <a:r>
              <a:rPr lang="en-US" sz="1900" b="1" dirty="0" err="1">
                <a:solidFill>
                  <a:srgbClr val="FFFFFF"/>
                </a:solidFill>
                <a:latin typeface="Georgia" pitchFamily="34" charset="0"/>
                <a:ea typeface="Georgia" pitchFamily="34" charset="-122"/>
                <a:cs typeface="Georgia" pitchFamily="34" charset="-120"/>
              </a:rPr>
              <a:t>SingletonBase</a:t>
            </a:r>
            <a:endParaRPr lang="en-US" sz="1900" strike="sngStrike" dirty="0"/>
          </a:p>
        </p:txBody>
      </p:sp>
      <p:sp>
        <p:nvSpPr>
          <p:cNvPr id="4" name="Text 3">
            <a:extLst>
              <a:ext uri="{FF2B5EF4-FFF2-40B4-BE49-F238E27FC236}">
                <a16:creationId xmlns:a16="http://schemas.microsoft.com/office/drawing/2014/main" id="{73F1647B-4B4E-019C-EABC-64F8AF549EC8}"/>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err="1">
                <a:solidFill>
                  <a:srgbClr val="F59E0B"/>
                </a:solidFill>
                <a:latin typeface="Calibri" pitchFamily="34" charset="0"/>
                <a:ea typeface="Calibri" pitchFamily="34" charset="-122"/>
                <a:cs typeface="Calibri" pitchFamily="34" charset="-120"/>
              </a:rPr>
              <a:t>SingletonBase</a:t>
            </a:r>
            <a:r>
              <a:rPr lang="en-US" sz="1000" b="1" kern="0" spc="300" dirty="0">
                <a:solidFill>
                  <a:srgbClr val="F59E0B"/>
                </a:solidFill>
                <a:latin typeface="Calibri" pitchFamily="34" charset="0"/>
                <a:ea typeface="Calibri" pitchFamily="34" charset="-122"/>
                <a:cs typeface="Calibri" pitchFamily="34" charset="-120"/>
              </a:rPr>
              <a:t> API</a:t>
            </a:r>
            <a:endParaRPr lang="en-US" sz="1000" dirty="0"/>
          </a:p>
        </p:txBody>
      </p:sp>
    </p:spTree>
    <p:extLst>
      <p:ext uri="{BB962C8B-B14F-4D97-AF65-F5344CB8AC3E}">
        <p14:creationId xmlns:p14="http://schemas.microsoft.com/office/powerpoint/2010/main" val="21300340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31358-492B-CDAA-4979-377FC66C64B3}"/>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976BAD37-B246-AB0D-DE70-BC137D3BD784}"/>
              </a:ext>
            </a:extLst>
          </p:cNvPr>
          <p:cNvSpPr/>
          <p:nvPr/>
        </p:nvSpPr>
        <p:spPr>
          <a:xfrm>
            <a:off x="292608" y="841248"/>
            <a:ext cx="4462272"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 &lt;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SingletonBase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 &lt;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Ty</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friend</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ScopedSingletonState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protected:</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default</a:t>
            </a:r>
            <a:r>
              <a:rPr lang="en-US" sz="1000" b="0" dirty="0">
                <a:solidFill>
                  <a:srgbClr val="D4D4D4"/>
                </a:solidFill>
                <a:effectLst/>
                <a:latin typeface="Consolas" panose="020B0609020204030204" pitchFamily="49" charset="0"/>
              </a:rPr>
              <a:t>;</a:t>
            </a:r>
          </a:p>
          <a:p>
            <a:pPr>
              <a:lnSpc>
                <a:spcPts val="1425"/>
              </a:lnSpc>
              <a:buNone/>
            </a:pPr>
            <a:endParaRPr lang="en-US" sz="1000" dirty="0">
              <a:solidFill>
                <a:srgbClr val="D4D4D4"/>
              </a:solidFill>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instanceRef</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private:</a:t>
            </a:r>
          </a:p>
          <a:p>
            <a:pPr>
              <a:lnSpc>
                <a:spcPts val="1425"/>
              </a:lnSpc>
              <a:buNone/>
            </a:pPr>
            <a:r>
              <a:rPr lang="en-US" sz="1000" dirty="0">
                <a:solidFill>
                  <a:srgbClr val="569CD6"/>
                </a:solidFill>
                <a:latin typeface="Consolas" panose="020B0609020204030204" pitchFamily="49" charset="0"/>
              </a:rPr>
              <a:t> </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setInstance</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9CDCFE"/>
                </a:solidFill>
                <a:effectLst/>
                <a:latin typeface="Consolas" panose="020B0609020204030204" pitchFamily="49" charset="0"/>
              </a:rPr>
              <a:t>newInstance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err="1">
                <a:solidFill>
                  <a:srgbClr val="DCDCAA"/>
                </a:solidFill>
                <a:effectLst/>
                <a:latin typeface="Consolas" panose="020B0609020204030204" pitchFamily="49" charset="0"/>
              </a:rPr>
              <a:t>defaultInstance</a:t>
            </a:r>
            <a:r>
              <a:rPr lang="en-US" sz="1000" b="0" dirty="0">
                <a:solidFill>
                  <a:srgbClr val="D4D4D4"/>
                </a:solidFill>
                <a:effectLst/>
                <a:latin typeface="Consolas" panose="020B0609020204030204" pitchFamily="49" charset="0"/>
              </a:rPr>
              <a:t>();</a:t>
            </a:r>
          </a:p>
          <a:p>
            <a:pPr>
              <a:lnSpc>
                <a:spcPts val="1425"/>
              </a:lnSpc>
              <a:buNone/>
            </a:pPr>
            <a:endParaRPr lang="en-US" sz="1000" dirty="0">
              <a:solidFill>
                <a:srgbClr val="D4D4D4"/>
              </a:solidFill>
              <a:latin typeface="Consolas" panose="020B0609020204030204" pitchFamily="49" charset="0"/>
            </a:endParaRPr>
          </a:p>
          <a:p>
            <a:pPr>
              <a:lnSpc>
                <a:spcPts val="1425"/>
              </a:lnSpc>
            </a:pPr>
            <a:r>
              <a:rPr lang="en-US" sz="1000" b="0" dirty="0">
                <a:solidFill>
                  <a:srgbClr val="D4D4D4"/>
                </a:solidFill>
                <a:effectLst/>
                <a:latin typeface="Consolas" panose="020B0609020204030204" pitchFamily="49" charset="0"/>
              </a:rPr>
              <a:t>    </a:t>
            </a:r>
            <a:r>
              <a:rPr lang="en-US" sz="1000" dirty="0">
                <a:solidFill>
                  <a:srgbClr val="6A9955"/>
                </a:solidFill>
                <a:latin typeface="Consolas" panose="020B0609020204030204" pitchFamily="49" charset="0"/>
              </a:rPr>
              <a:t>// Deleted copy constructor + copy assignment operator</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D029E806-6562-93A5-06D0-ABCEFBC5429D}"/>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87D33E5D-4606-55F6-2416-07AFEFAF736B}"/>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8" name="Text 4">
            <a:extLst>
              <a:ext uri="{FF2B5EF4-FFF2-40B4-BE49-F238E27FC236}">
                <a16:creationId xmlns:a16="http://schemas.microsoft.com/office/drawing/2014/main" id="{3751D6A4-2967-3F62-8D36-DE27A0616793}"/>
              </a:ext>
            </a:extLst>
          </p:cNvPr>
          <p:cNvSpPr/>
          <p:nvPr/>
        </p:nvSpPr>
        <p:spPr>
          <a:xfrm>
            <a:off x="5025224" y="850392"/>
            <a:ext cx="3890176"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Private functions are accessible by </a:t>
            </a:r>
            <a:r>
              <a:rPr lang="en-US" sz="1600" dirty="0" err="1">
                <a:solidFill>
                  <a:srgbClr val="4EC9B0"/>
                </a:solidFill>
                <a:latin typeface="Consolas" panose="020B0609020204030204" pitchFamily="49" charset="0"/>
              </a:rPr>
              <a:t>ScopedSingletonState</a:t>
            </a: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Char char="•"/>
            </a:pPr>
            <a:r>
              <a:rPr lang="en-US" sz="1600" dirty="0" err="1">
                <a:solidFill>
                  <a:srgbClr val="1E3A5F"/>
                </a:solidFill>
                <a:latin typeface="Calibri" pitchFamily="34" charset="0"/>
                <a:ea typeface="Calibri" pitchFamily="34" charset="-122"/>
                <a:cs typeface="Calibri" pitchFamily="34" charset="-120"/>
              </a:rPr>
              <a:t>setInstance</a:t>
            </a:r>
            <a:r>
              <a:rPr lang="en-US" sz="1600" dirty="0">
                <a:solidFill>
                  <a:srgbClr val="1E3A5F"/>
                </a:solidFill>
                <a:latin typeface="Calibri" pitchFamily="34" charset="0"/>
                <a:ea typeface="Calibri" pitchFamily="34" charset="-122"/>
                <a:cs typeface="Calibri" pitchFamily="34" charset="-120"/>
              </a:rPr>
              <a:t>() can be used to replace the value that gets returned by instance() at runtime</a:t>
            </a:r>
          </a:p>
          <a:p>
            <a:pPr marL="342900" indent="-342900">
              <a:spcAft>
                <a:spcPts val="600"/>
              </a:spcAft>
              <a:buSzPct val="100000"/>
              <a:buChar char="•"/>
            </a:pPr>
            <a:r>
              <a:rPr lang="en-US" sz="1600" dirty="0" err="1">
                <a:solidFill>
                  <a:srgbClr val="1E3A5F"/>
                </a:solidFill>
                <a:latin typeface="Calibri" pitchFamily="34" charset="0"/>
                <a:ea typeface="Calibri" pitchFamily="34" charset="-122"/>
                <a:cs typeface="Calibri" pitchFamily="34" charset="-120"/>
              </a:rPr>
              <a:t>defaultInstance</a:t>
            </a:r>
            <a:r>
              <a:rPr lang="en-US" sz="1600" dirty="0">
                <a:solidFill>
                  <a:srgbClr val="1E3A5F"/>
                </a:solidFill>
                <a:latin typeface="Calibri" pitchFamily="34" charset="0"/>
                <a:ea typeface="Calibri" pitchFamily="34" charset="-122"/>
                <a:cs typeface="Calibri" pitchFamily="34" charset="-120"/>
              </a:rPr>
              <a:t>() returns a static global instance if </a:t>
            </a:r>
            <a:r>
              <a:rPr lang="en-US" sz="1600" dirty="0" err="1">
                <a:solidFill>
                  <a:srgbClr val="1E3A5F"/>
                </a:solidFill>
                <a:latin typeface="Calibri" pitchFamily="34" charset="0"/>
                <a:ea typeface="Calibri" pitchFamily="34" charset="-122"/>
                <a:cs typeface="Calibri" pitchFamily="34" charset="-120"/>
              </a:rPr>
              <a:t>setInstance</a:t>
            </a:r>
            <a:r>
              <a:rPr lang="en-US" sz="1600" dirty="0">
                <a:solidFill>
                  <a:srgbClr val="1E3A5F"/>
                </a:solidFill>
                <a:latin typeface="Calibri" pitchFamily="34" charset="0"/>
                <a:ea typeface="Calibri" pitchFamily="34" charset="-122"/>
                <a:cs typeface="Calibri" pitchFamily="34" charset="-120"/>
              </a:rPr>
              <a:t>() was never called</a:t>
            </a:r>
          </a:p>
          <a:p>
            <a:pPr marL="342900" indent="-342900">
              <a:spcAft>
                <a:spcPts val="600"/>
              </a:spcAft>
              <a:buSzPct val="100000"/>
              <a:buChar char="•"/>
            </a:pP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returns a non-const pointer to which value should be returned by instance()</a:t>
            </a:r>
          </a:p>
        </p:txBody>
      </p:sp>
      <p:sp>
        <p:nvSpPr>
          <p:cNvPr id="6" name="Text 2">
            <a:extLst>
              <a:ext uri="{FF2B5EF4-FFF2-40B4-BE49-F238E27FC236}">
                <a16:creationId xmlns:a16="http://schemas.microsoft.com/office/drawing/2014/main" id="{EBC67027-26AA-3E6A-4927-0FD9A249C1D4}"/>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 </a:t>
            </a:r>
            <a:r>
              <a:rPr lang="en-US" sz="1900" b="1" dirty="0" err="1">
                <a:solidFill>
                  <a:srgbClr val="FFFFFF"/>
                </a:solidFill>
                <a:latin typeface="Georgia" pitchFamily="34" charset="0"/>
                <a:ea typeface="Georgia" pitchFamily="34" charset="-122"/>
                <a:cs typeface="Georgia" pitchFamily="34" charset="-120"/>
              </a:rPr>
              <a:t>SingletonBase</a:t>
            </a:r>
            <a:endParaRPr lang="en-US" sz="1900" strike="sngStrike" dirty="0"/>
          </a:p>
        </p:txBody>
      </p:sp>
      <p:sp>
        <p:nvSpPr>
          <p:cNvPr id="4" name="Text 3">
            <a:extLst>
              <a:ext uri="{FF2B5EF4-FFF2-40B4-BE49-F238E27FC236}">
                <a16:creationId xmlns:a16="http://schemas.microsoft.com/office/drawing/2014/main" id="{30B36D36-CB39-AF0E-BC77-0C000591A7B5}"/>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err="1">
                <a:solidFill>
                  <a:srgbClr val="F59E0B"/>
                </a:solidFill>
                <a:latin typeface="Calibri" pitchFamily="34" charset="0"/>
                <a:ea typeface="Calibri" pitchFamily="34" charset="-122"/>
                <a:cs typeface="Calibri" pitchFamily="34" charset="-120"/>
              </a:rPr>
              <a:t>SingletonBase</a:t>
            </a:r>
            <a:r>
              <a:rPr lang="en-US" sz="1000" b="1" kern="0" spc="300" dirty="0">
                <a:solidFill>
                  <a:srgbClr val="F59E0B"/>
                </a:solidFill>
                <a:latin typeface="Calibri" pitchFamily="34" charset="0"/>
                <a:ea typeface="Calibri" pitchFamily="34" charset="-122"/>
                <a:cs typeface="Calibri" pitchFamily="34" charset="-120"/>
              </a:rPr>
              <a:t> private section</a:t>
            </a:r>
            <a:endParaRPr lang="en-US" sz="1000" dirty="0"/>
          </a:p>
        </p:txBody>
      </p:sp>
    </p:spTree>
    <p:extLst>
      <p:ext uri="{BB962C8B-B14F-4D97-AF65-F5344CB8AC3E}">
        <p14:creationId xmlns:p14="http://schemas.microsoft.com/office/powerpoint/2010/main" val="25185608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20225-C01C-5C0C-1E79-405C334CDC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D2CDBD-8DD7-466B-5D64-76CA528A4183}"/>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38238B6D-0221-E9C7-59A8-99201DE40D6B}"/>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8" name="Text 4">
            <a:extLst>
              <a:ext uri="{FF2B5EF4-FFF2-40B4-BE49-F238E27FC236}">
                <a16:creationId xmlns:a16="http://schemas.microsoft.com/office/drawing/2014/main" id="{9E6EC691-6CA5-36C4-89EB-9670B119D2C8}"/>
              </a:ext>
            </a:extLst>
          </p:cNvPr>
          <p:cNvSpPr/>
          <p:nvPr/>
        </p:nvSpPr>
        <p:spPr>
          <a:xfrm>
            <a:off x="5200160" y="850392"/>
            <a:ext cx="37152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instance basically returns whatever </a:t>
            </a: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is pointing to</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By default </a:t>
            </a: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points to </a:t>
            </a:r>
            <a:r>
              <a:rPr lang="en-US" sz="1600" dirty="0" err="1">
                <a:solidFill>
                  <a:srgbClr val="1E3A5F"/>
                </a:solidFill>
                <a:latin typeface="Calibri" pitchFamily="34" charset="0"/>
                <a:ea typeface="Calibri" pitchFamily="34" charset="-122"/>
                <a:cs typeface="Calibri" pitchFamily="34" charset="-120"/>
              </a:rPr>
              <a:t>defaultInstance</a:t>
            </a:r>
            <a:r>
              <a:rPr lang="en-US" sz="1600" dirty="0">
                <a:solidFill>
                  <a:srgbClr val="1E3A5F"/>
                </a:solidFill>
                <a:latin typeface="Calibri" pitchFamily="34" charset="0"/>
                <a:ea typeface="Calibri" pitchFamily="34" charset="-122"/>
                <a:cs typeface="Calibri" pitchFamily="34" charset="-120"/>
              </a:rPr>
              <a:t>()</a:t>
            </a:r>
          </a:p>
          <a:p>
            <a:pPr marL="342900" indent="-342900">
              <a:spcAft>
                <a:spcPts val="600"/>
              </a:spcAft>
              <a:buSzPct val="100000"/>
              <a:buChar char="•"/>
            </a:pPr>
            <a:r>
              <a:rPr lang="en-US" sz="1600" dirty="0" err="1">
                <a:solidFill>
                  <a:srgbClr val="1E3A5F"/>
                </a:solidFill>
                <a:latin typeface="Calibri" pitchFamily="34" charset="0"/>
                <a:ea typeface="Calibri" pitchFamily="34" charset="-122"/>
                <a:cs typeface="Calibri" pitchFamily="34" charset="-120"/>
              </a:rPr>
              <a:t>defaultInstance</a:t>
            </a:r>
            <a:r>
              <a:rPr lang="en-US" sz="1600" dirty="0">
                <a:solidFill>
                  <a:srgbClr val="1E3A5F"/>
                </a:solidFill>
                <a:latin typeface="Calibri" pitchFamily="34" charset="0"/>
                <a:ea typeface="Calibri" pitchFamily="34" charset="-122"/>
                <a:cs typeface="Calibri" pitchFamily="34" charset="-120"/>
              </a:rPr>
              <a:t>() is implemented as a </a:t>
            </a:r>
            <a:r>
              <a:rPr lang="en-US" sz="1600" dirty="0" err="1">
                <a:solidFill>
                  <a:srgbClr val="1E3A5F"/>
                </a:solidFill>
                <a:latin typeface="Calibri" pitchFamily="34" charset="0"/>
                <a:ea typeface="Calibri" pitchFamily="34" charset="-122"/>
                <a:cs typeface="Calibri" pitchFamily="34" charset="-120"/>
              </a:rPr>
              <a:t>myers</a:t>
            </a:r>
            <a:r>
              <a:rPr lang="en-US" sz="1600" dirty="0">
                <a:solidFill>
                  <a:srgbClr val="1E3A5F"/>
                </a:solidFill>
                <a:latin typeface="Calibri" pitchFamily="34" charset="0"/>
                <a:ea typeface="Calibri" pitchFamily="34" charset="-122"/>
                <a:cs typeface="Calibri" pitchFamily="34" charset="-120"/>
              </a:rPr>
              <a:t> singleton, so it’s lazily initialized in a thread-safe way when it’s called for the first time</a:t>
            </a:r>
          </a:p>
        </p:txBody>
      </p:sp>
      <p:sp>
        <p:nvSpPr>
          <p:cNvPr id="6" name="Text 2">
            <a:extLst>
              <a:ext uri="{FF2B5EF4-FFF2-40B4-BE49-F238E27FC236}">
                <a16:creationId xmlns:a16="http://schemas.microsoft.com/office/drawing/2014/main" id="{8BD6EF88-EF24-A2DC-EF66-20DFDA62DD56}"/>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 </a:t>
            </a:r>
            <a:r>
              <a:rPr lang="en-US" sz="1900" b="1" dirty="0" err="1">
                <a:solidFill>
                  <a:srgbClr val="FFFFFF"/>
                </a:solidFill>
                <a:latin typeface="Georgia" pitchFamily="34" charset="0"/>
                <a:ea typeface="Georgia" pitchFamily="34" charset="-122"/>
                <a:cs typeface="Georgia" pitchFamily="34" charset="-120"/>
              </a:rPr>
              <a:t>SingletonBase</a:t>
            </a:r>
            <a:endParaRPr lang="en-US" sz="1900" strike="sngStrike" dirty="0"/>
          </a:p>
        </p:txBody>
      </p:sp>
      <p:sp>
        <p:nvSpPr>
          <p:cNvPr id="4" name="Text 3">
            <a:extLst>
              <a:ext uri="{FF2B5EF4-FFF2-40B4-BE49-F238E27FC236}">
                <a16:creationId xmlns:a16="http://schemas.microsoft.com/office/drawing/2014/main" id="{A0E4FD3C-E3A3-1CF7-4D69-037D29CD19F1}"/>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err="1">
                <a:solidFill>
                  <a:srgbClr val="F59E0B"/>
                </a:solidFill>
                <a:latin typeface="Calibri" pitchFamily="34" charset="0"/>
                <a:ea typeface="Calibri" pitchFamily="34" charset="-122"/>
                <a:cs typeface="Calibri" pitchFamily="34" charset="-120"/>
              </a:rPr>
              <a:t>SingletonBase</a:t>
            </a:r>
            <a:r>
              <a:rPr lang="en-US" sz="1000" b="1" kern="0" spc="300" dirty="0">
                <a:solidFill>
                  <a:srgbClr val="F59E0B"/>
                </a:solidFill>
                <a:latin typeface="Calibri" pitchFamily="34" charset="0"/>
                <a:ea typeface="Calibri" pitchFamily="34" charset="-122"/>
                <a:cs typeface="Calibri" pitchFamily="34" charset="-120"/>
              </a:rPr>
              <a:t> instance </a:t>
            </a:r>
            <a:r>
              <a:rPr lang="en-US" sz="1000" b="1" kern="0" spc="300" dirty="0" err="1">
                <a:solidFill>
                  <a:srgbClr val="F59E0B"/>
                </a:solidFill>
                <a:latin typeface="Calibri" pitchFamily="34" charset="0"/>
                <a:ea typeface="Calibri" pitchFamily="34" charset="-122"/>
                <a:cs typeface="Calibri" pitchFamily="34" charset="-120"/>
              </a:rPr>
              <a:t>implementetation</a:t>
            </a:r>
            <a:endParaRPr lang="en-US" sz="1000" dirty="0"/>
          </a:p>
        </p:txBody>
      </p:sp>
      <p:grpSp>
        <p:nvGrpSpPr>
          <p:cNvPr id="35" name="Group 34">
            <a:extLst>
              <a:ext uri="{FF2B5EF4-FFF2-40B4-BE49-F238E27FC236}">
                <a16:creationId xmlns:a16="http://schemas.microsoft.com/office/drawing/2014/main" id="{E4BCB3EA-DFC6-BB1B-9410-9DC173963DD6}"/>
              </a:ext>
            </a:extLst>
          </p:cNvPr>
          <p:cNvGrpSpPr/>
          <p:nvPr/>
        </p:nvGrpSpPr>
        <p:grpSpPr>
          <a:xfrm>
            <a:off x="411480" y="1224072"/>
            <a:ext cx="1846690" cy="1760506"/>
            <a:chOff x="2410900" y="1508711"/>
            <a:chExt cx="2447678" cy="1760506"/>
          </a:xfrm>
        </p:grpSpPr>
        <p:sp>
          <p:nvSpPr>
            <p:cNvPr id="36" name="Rectangle 35">
              <a:extLst>
                <a:ext uri="{FF2B5EF4-FFF2-40B4-BE49-F238E27FC236}">
                  <a16:creationId xmlns:a16="http://schemas.microsoft.com/office/drawing/2014/main" id="{B7D0DCF8-D8AE-83AE-2293-AFD2281D94A0}"/>
                </a:ext>
              </a:extLst>
            </p:cNvPr>
            <p:cNvSpPr/>
            <p:nvPr/>
          </p:nvSpPr>
          <p:spPr>
            <a:xfrm>
              <a:off x="2410900" y="2136417"/>
              <a:ext cx="2447671" cy="38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instanceRef</a:t>
              </a:r>
              <a:endParaRPr lang="en-US" dirty="0"/>
            </a:p>
          </p:txBody>
        </p:sp>
        <p:sp>
          <p:nvSpPr>
            <p:cNvPr id="37" name="Rectangle 36">
              <a:extLst>
                <a:ext uri="{FF2B5EF4-FFF2-40B4-BE49-F238E27FC236}">
                  <a16:creationId xmlns:a16="http://schemas.microsoft.com/office/drawing/2014/main" id="{91478027-96F7-CCEA-B7CB-C450024AFEB4}"/>
                </a:ext>
              </a:extLst>
            </p:cNvPr>
            <p:cNvSpPr/>
            <p:nvPr/>
          </p:nvSpPr>
          <p:spPr>
            <a:xfrm>
              <a:off x="2410900" y="1508711"/>
              <a:ext cx="2447667" cy="38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instance()</a:t>
              </a:r>
            </a:p>
          </p:txBody>
        </p:sp>
        <p:sp>
          <p:nvSpPr>
            <p:cNvPr id="38" name="Rectangle 37">
              <a:extLst>
                <a:ext uri="{FF2B5EF4-FFF2-40B4-BE49-F238E27FC236}">
                  <a16:creationId xmlns:a16="http://schemas.microsoft.com/office/drawing/2014/main" id="{57312567-8C55-1FB2-B2CA-A40440B1EAB0}"/>
                </a:ext>
              </a:extLst>
            </p:cNvPr>
            <p:cNvSpPr/>
            <p:nvPr/>
          </p:nvSpPr>
          <p:spPr>
            <a:xfrm>
              <a:off x="2410900" y="2887555"/>
              <a:ext cx="2447678" cy="38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defaultInstance</a:t>
              </a:r>
              <a:r>
                <a:rPr lang="en-US" dirty="0"/>
                <a:t>()</a:t>
              </a:r>
            </a:p>
          </p:txBody>
        </p:sp>
        <p:cxnSp>
          <p:nvCxnSpPr>
            <p:cNvPr id="39" name="Straight Arrow Connector 38">
              <a:extLst>
                <a:ext uri="{FF2B5EF4-FFF2-40B4-BE49-F238E27FC236}">
                  <a16:creationId xmlns:a16="http://schemas.microsoft.com/office/drawing/2014/main" id="{5D1627E6-BAC6-73D9-78CD-82E88B7DB862}"/>
                </a:ext>
              </a:extLst>
            </p:cNvPr>
            <p:cNvCxnSpPr>
              <a:cxnSpLocks/>
              <a:stCxn id="37" idx="2"/>
              <a:endCxn id="36" idx="0"/>
            </p:cNvCxnSpPr>
            <p:nvPr/>
          </p:nvCxnSpPr>
          <p:spPr>
            <a:xfrm>
              <a:off x="3634734" y="1890373"/>
              <a:ext cx="2" cy="24604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C968669E-311E-23F2-CA4A-39D0B6175E5E}"/>
                </a:ext>
              </a:extLst>
            </p:cNvPr>
            <p:cNvCxnSpPr>
              <a:cxnSpLocks/>
              <a:stCxn id="36" idx="2"/>
              <a:endCxn id="38" idx="0"/>
            </p:cNvCxnSpPr>
            <p:nvPr/>
          </p:nvCxnSpPr>
          <p:spPr>
            <a:xfrm>
              <a:off x="3634736" y="2518079"/>
              <a:ext cx="3" cy="369476"/>
            </a:xfrm>
            <a:prstGeom prst="straightConnector1">
              <a:avLst/>
            </a:prstGeom>
            <a:ln w="12700">
              <a:solidFill>
                <a:schemeClr val="tx1"/>
              </a:solidFill>
              <a:prstDash val="solid"/>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6452016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4C83-0051-E6BE-8AE3-1A112A2EBD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DCC6BC-4CED-A53B-C4CC-B5F985B8944B}"/>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9B98769A-129A-6546-C033-2277078E1839}"/>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8" name="Text 4">
            <a:extLst>
              <a:ext uri="{FF2B5EF4-FFF2-40B4-BE49-F238E27FC236}">
                <a16:creationId xmlns:a16="http://schemas.microsoft.com/office/drawing/2014/main" id="{D0E2F55B-8C40-4115-A2FA-D39AC913D7B4}"/>
              </a:ext>
            </a:extLst>
          </p:cNvPr>
          <p:cNvSpPr/>
          <p:nvPr/>
        </p:nvSpPr>
        <p:spPr>
          <a:xfrm>
            <a:off x="5200160" y="850392"/>
            <a:ext cx="3715240" cy="4037076"/>
          </a:xfrm>
          <a:prstGeom prst="rect">
            <a:avLst/>
          </a:prstGeom>
          <a:noFill/>
          <a:ln/>
        </p:spPr>
        <p:txBody>
          <a:bodyPr wrap="square" rtlCol="0" anchor="t"/>
          <a:lstStyle/>
          <a:p>
            <a:pPr marL="342900" indent="-342900">
              <a:spcAft>
                <a:spcPts val="600"/>
              </a:spcAft>
              <a:buSzPct val="100000"/>
              <a:buChar char="•"/>
            </a:pPr>
            <a:r>
              <a:rPr lang="en-US" sz="1600" dirty="0" err="1">
                <a:solidFill>
                  <a:srgbClr val="1E3A5F"/>
                </a:solidFill>
                <a:latin typeface="Calibri" pitchFamily="34" charset="0"/>
                <a:ea typeface="Calibri" pitchFamily="34" charset="-122"/>
                <a:cs typeface="Calibri" pitchFamily="34" charset="-120"/>
              </a:rPr>
              <a:t>setInstance</a:t>
            </a:r>
            <a:r>
              <a:rPr lang="en-US" sz="1600" dirty="0">
                <a:solidFill>
                  <a:srgbClr val="1E3A5F"/>
                </a:solidFill>
                <a:latin typeface="Calibri" pitchFamily="34" charset="0"/>
                <a:ea typeface="Calibri" pitchFamily="34" charset="-122"/>
                <a:cs typeface="Calibri" pitchFamily="34" charset="-120"/>
              </a:rPr>
              <a:t>() can be used to change the value of </a:t>
            </a: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to point to something different</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When </a:t>
            </a:r>
            <a:r>
              <a:rPr lang="en-US" sz="1600" dirty="0" err="1">
                <a:solidFill>
                  <a:srgbClr val="1E3A5F"/>
                </a:solidFill>
                <a:latin typeface="Calibri" pitchFamily="34" charset="0"/>
                <a:ea typeface="Calibri" pitchFamily="34" charset="-122"/>
                <a:cs typeface="Calibri" pitchFamily="34" charset="-120"/>
              </a:rPr>
              <a:t>setInstance</a:t>
            </a:r>
            <a:r>
              <a:rPr lang="en-US" sz="1600" dirty="0">
                <a:solidFill>
                  <a:srgbClr val="1E3A5F"/>
                </a:solidFill>
                <a:latin typeface="Calibri" pitchFamily="34" charset="0"/>
                <a:ea typeface="Calibri" pitchFamily="34" charset="-122"/>
                <a:cs typeface="Calibri" pitchFamily="34" charset="-120"/>
              </a:rPr>
              <a:t> is called the </a:t>
            </a:r>
            <a:r>
              <a:rPr lang="en-US" sz="1600" dirty="0" err="1">
                <a:solidFill>
                  <a:srgbClr val="1E3A5F"/>
                </a:solidFill>
                <a:latin typeface="Calibri" pitchFamily="34" charset="0"/>
                <a:ea typeface="Calibri" pitchFamily="34" charset="-122"/>
                <a:cs typeface="Calibri" pitchFamily="34" charset="-120"/>
              </a:rPr>
              <a:t>defaultInstance</a:t>
            </a:r>
            <a:r>
              <a:rPr lang="en-US" sz="1600" dirty="0">
                <a:solidFill>
                  <a:srgbClr val="1E3A5F"/>
                </a:solidFill>
                <a:latin typeface="Calibri" pitchFamily="34" charset="0"/>
                <a:ea typeface="Calibri" pitchFamily="34" charset="-122"/>
                <a:cs typeface="Calibri" pitchFamily="34" charset="-120"/>
              </a:rPr>
              <a:t> is still there, it will never be deleted</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If </a:t>
            </a:r>
            <a:r>
              <a:rPr lang="en-US" sz="1600" dirty="0" err="1">
                <a:solidFill>
                  <a:srgbClr val="1E3A5F"/>
                </a:solidFill>
                <a:latin typeface="Calibri" pitchFamily="34" charset="0"/>
                <a:ea typeface="Calibri" pitchFamily="34" charset="-122"/>
                <a:cs typeface="Calibri" pitchFamily="34" charset="-120"/>
              </a:rPr>
              <a:t>setInstance</a:t>
            </a:r>
            <a:r>
              <a:rPr lang="en-US" sz="1600" dirty="0">
                <a:solidFill>
                  <a:srgbClr val="1E3A5F"/>
                </a:solidFill>
                <a:latin typeface="Calibri" pitchFamily="34" charset="0"/>
                <a:ea typeface="Calibri" pitchFamily="34" charset="-122"/>
                <a:cs typeface="Calibri" pitchFamily="34" charset="-120"/>
              </a:rPr>
              <a:t> was called with a </a:t>
            </a:r>
            <a:r>
              <a:rPr lang="en-US" sz="1600" dirty="0" err="1">
                <a:solidFill>
                  <a:srgbClr val="1E3A5F"/>
                </a:solidFill>
                <a:latin typeface="Calibri" pitchFamily="34" charset="0"/>
                <a:ea typeface="Calibri" pitchFamily="34" charset="-122"/>
                <a:cs typeface="Calibri" pitchFamily="34" charset="-120"/>
              </a:rPr>
              <a:t>nullptr</a:t>
            </a:r>
            <a:r>
              <a:rPr lang="en-US" sz="1600" dirty="0">
                <a:solidFill>
                  <a:srgbClr val="1E3A5F"/>
                </a:solidFill>
                <a:latin typeface="Calibri" pitchFamily="34" charset="0"/>
                <a:ea typeface="Calibri" pitchFamily="34" charset="-122"/>
                <a:cs typeface="Calibri" pitchFamily="34" charset="-120"/>
              </a:rPr>
              <a:t>, it well reset </a:t>
            </a: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to point to </a:t>
            </a:r>
            <a:r>
              <a:rPr lang="en-US" sz="1600" dirty="0" err="1">
                <a:solidFill>
                  <a:srgbClr val="1E3A5F"/>
                </a:solidFill>
                <a:latin typeface="Calibri" pitchFamily="34" charset="0"/>
                <a:ea typeface="Calibri" pitchFamily="34" charset="-122"/>
                <a:cs typeface="Calibri" pitchFamily="34" charset="-120"/>
              </a:rPr>
              <a:t>defaultInstance</a:t>
            </a:r>
            <a:r>
              <a:rPr lang="en-US" sz="1600" dirty="0">
                <a:solidFill>
                  <a:srgbClr val="1E3A5F"/>
                </a:solidFill>
                <a:latin typeface="Calibri" pitchFamily="34" charset="0"/>
                <a:ea typeface="Calibri" pitchFamily="34" charset="-122"/>
                <a:cs typeface="Calibri" pitchFamily="34" charset="-120"/>
              </a:rPr>
              <a:t>()</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This ensures that </a:t>
            </a: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is always pointing to a valid instance at any point in the application life-time</a:t>
            </a:r>
          </a:p>
        </p:txBody>
      </p:sp>
      <p:sp>
        <p:nvSpPr>
          <p:cNvPr id="6" name="Text 2">
            <a:extLst>
              <a:ext uri="{FF2B5EF4-FFF2-40B4-BE49-F238E27FC236}">
                <a16:creationId xmlns:a16="http://schemas.microsoft.com/office/drawing/2014/main" id="{CC57A56A-29AD-A79B-58A4-ECDEF91B8BA9}"/>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 </a:t>
            </a:r>
            <a:r>
              <a:rPr lang="en-US" sz="1900" b="1" dirty="0" err="1">
                <a:solidFill>
                  <a:srgbClr val="FFFFFF"/>
                </a:solidFill>
                <a:latin typeface="Georgia" pitchFamily="34" charset="0"/>
                <a:ea typeface="Georgia" pitchFamily="34" charset="-122"/>
                <a:cs typeface="Georgia" pitchFamily="34" charset="-120"/>
              </a:rPr>
              <a:t>SingletonBase</a:t>
            </a:r>
            <a:endParaRPr lang="en-US" sz="1900" strike="sngStrike" dirty="0"/>
          </a:p>
        </p:txBody>
      </p:sp>
      <p:sp>
        <p:nvSpPr>
          <p:cNvPr id="4" name="Text 3">
            <a:extLst>
              <a:ext uri="{FF2B5EF4-FFF2-40B4-BE49-F238E27FC236}">
                <a16:creationId xmlns:a16="http://schemas.microsoft.com/office/drawing/2014/main" id="{5CC5C15B-30C0-0FFE-E0E0-EBFADA101C31}"/>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err="1">
                <a:solidFill>
                  <a:srgbClr val="F59E0B"/>
                </a:solidFill>
                <a:latin typeface="Calibri" pitchFamily="34" charset="0"/>
                <a:ea typeface="Calibri" pitchFamily="34" charset="-122"/>
                <a:cs typeface="Calibri" pitchFamily="34" charset="-120"/>
              </a:rPr>
              <a:t>SingletonBase</a:t>
            </a:r>
            <a:r>
              <a:rPr lang="en-US" sz="1000" b="1" kern="0" spc="300" dirty="0">
                <a:solidFill>
                  <a:srgbClr val="F59E0B"/>
                </a:solidFill>
                <a:latin typeface="Calibri" pitchFamily="34" charset="0"/>
                <a:ea typeface="Calibri" pitchFamily="34" charset="-122"/>
                <a:cs typeface="Calibri" pitchFamily="34" charset="-120"/>
              </a:rPr>
              <a:t> instance </a:t>
            </a:r>
            <a:r>
              <a:rPr lang="en-US" sz="1000" b="1" kern="0" spc="300" dirty="0" err="1">
                <a:solidFill>
                  <a:srgbClr val="F59E0B"/>
                </a:solidFill>
                <a:latin typeface="Calibri" pitchFamily="34" charset="0"/>
                <a:ea typeface="Calibri" pitchFamily="34" charset="-122"/>
                <a:cs typeface="Calibri" pitchFamily="34" charset="-120"/>
              </a:rPr>
              <a:t>implementetation</a:t>
            </a:r>
            <a:endParaRPr lang="en-US" sz="1000" dirty="0"/>
          </a:p>
        </p:txBody>
      </p:sp>
      <p:grpSp>
        <p:nvGrpSpPr>
          <p:cNvPr id="35" name="Group 34">
            <a:extLst>
              <a:ext uri="{FF2B5EF4-FFF2-40B4-BE49-F238E27FC236}">
                <a16:creationId xmlns:a16="http://schemas.microsoft.com/office/drawing/2014/main" id="{6F62DCA7-8E9E-A64A-81B6-4020AC2E289B}"/>
              </a:ext>
            </a:extLst>
          </p:cNvPr>
          <p:cNvGrpSpPr/>
          <p:nvPr/>
        </p:nvGrpSpPr>
        <p:grpSpPr>
          <a:xfrm>
            <a:off x="411480" y="1224072"/>
            <a:ext cx="1846690" cy="1760506"/>
            <a:chOff x="2410900" y="1508711"/>
            <a:chExt cx="2447678" cy="1760506"/>
          </a:xfrm>
        </p:grpSpPr>
        <p:sp>
          <p:nvSpPr>
            <p:cNvPr id="36" name="Rectangle 35">
              <a:extLst>
                <a:ext uri="{FF2B5EF4-FFF2-40B4-BE49-F238E27FC236}">
                  <a16:creationId xmlns:a16="http://schemas.microsoft.com/office/drawing/2014/main" id="{1CC0E747-4E8D-49AD-EBA6-8D39B9DC9FA9}"/>
                </a:ext>
              </a:extLst>
            </p:cNvPr>
            <p:cNvSpPr/>
            <p:nvPr/>
          </p:nvSpPr>
          <p:spPr>
            <a:xfrm>
              <a:off x="2410900" y="2136417"/>
              <a:ext cx="2447671" cy="38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instanceRef</a:t>
              </a:r>
              <a:endParaRPr lang="en-US" dirty="0"/>
            </a:p>
          </p:txBody>
        </p:sp>
        <p:sp>
          <p:nvSpPr>
            <p:cNvPr id="37" name="Rectangle 36">
              <a:extLst>
                <a:ext uri="{FF2B5EF4-FFF2-40B4-BE49-F238E27FC236}">
                  <a16:creationId xmlns:a16="http://schemas.microsoft.com/office/drawing/2014/main" id="{3CBFA7E6-1333-6A01-2CDF-FDA0AA8C6B42}"/>
                </a:ext>
              </a:extLst>
            </p:cNvPr>
            <p:cNvSpPr/>
            <p:nvPr/>
          </p:nvSpPr>
          <p:spPr>
            <a:xfrm>
              <a:off x="2410900" y="1508711"/>
              <a:ext cx="2447667" cy="38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instance()</a:t>
              </a:r>
            </a:p>
          </p:txBody>
        </p:sp>
        <p:sp>
          <p:nvSpPr>
            <p:cNvPr id="38" name="Rectangle 37">
              <a:extLst>
                <a:ext uri="{FF2B5EF4-FFF2-40B4-BE49-F238E27FC236}">
                  <a16:creationId xmlns:a16="http://schemas.microsoft.com/office/drawing/2014/main" id="{B54B56BC-D52C-4810-647D-527F7CE27AFD}"/>
                </a:ext>
              </a:extLst>
            </p:cNvPr>
            <p:cNvSpPr/>
            <p:nvPr/>
          </p:nvSpPr>
          <p:spPr>
            <a:xfrm>
              <a:off x="2410900" y="2887555"/>
              <a:ext cx="2447678" cy="38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defaultInstance</a:t>
              </a:r>
              <a:r>
                <a:rPr lang="en-US" dirty="0"/>
                <a:t>()</a:t>
              </a:r>
            </a:p>
          </p:txBody>
        </p:sp>
        <p:cxnSp>
          <p:nvCxnSpPr>
            <p:cNvPr id="39" name="Straight Arrow Connector 38">
              <a:extLst>
                <a:ext uri="{FF2B5EF4-FFF2-40B4-BE49-F238E27FC236}">
                  <a16:creationId xmlns:a16="http://schemas.microsoft.com/office/drawing/2014/main" id="{EFF940AF-299F-8079-099F-5FD5FA4A8B42}"/>
                </a:ext>
              </a:extLst>
            </p:cNvPr>
            <p:cNvCxnSpPr>
              <a:cxnSpLocks/>
              <a:stCxn id="37" idx="2"/>
              <a:endCxn id="36" idx="0"/>
            </p:cNvCxnSpPr>
            <p:nvPr/>
          </p:nvCxnSpPr>
          <p:spPr>
            <a:xfrm>
              <a:off x="3634734" y="1890373"/>
              <a:ext cx="2" cy="24604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1CE9CB0B-DEE0-CC84-99CA-8492F92ED47F}"/>
                </a:ext>
              </a:extLst>
            </p:cNvPr>
            <p:cNvCxnSpPr>
              <a:cxnSpLocks/>
              <a:stCxn id="36" idx="2"/>
              <a:endCxn id="38" idx="0"/>
            </p:cNvCxnSpPr>
            <p:nvPr/>
          </p:nvCxnSpPr>
          <p:spPr>
            <a:xfrm>
              <a:off x="3634736" y="2518079"/>
              <a:ext cx="3" cy="369476"/>
            </a:xfrm>
            <a:prstGeom prst="straightConnector1">
              <a:avLst/>
            </a:prstGeom>
            <a:ln w="12700">
              <a:solidFill>
                <a:schemeClr val="bg1">
                  <a:lumMod val="85000"/>
                </a:schemeClr>
              </a:solidFill>
              <a:prstDash val="dash"/>
              <a:tailEnd type="triangle"/>
            </a:ln>
          </p:spPr>
          <p:style>
            <a:lnRef idx="1">
              <a:schemeClr val="dk1"/>
            </a:lnRef>
            <a:fillRef idx="0">
              <a:schemeClr val="dk1"/>
            </a:fillRef>
            <a:effectRef idx="0">
              <a:schemeClr val="dk1"/>
            </a:effectRef>
            <a:fontRef idx="minor">
              <a:schemeClr val="tx1"/>
            </a:fontRef>
          </p:style>
        </p:cxnSp>
      </p:grpSp>
      <p:sp>
        <p:nvSpPr>
          <p:cNvPr id="5" name="Rectangle 4">
            <a:extLst>
              <a:ext uri="{FF2B5EF4-FFF2-40B4-BE49-F238E27FC236}">
                <a16:creationId xmlns:a16="http://schemas.microsoft.com/office/drawing/2014/main" id="{09CC4EE0-D467-A08E-F089-B58B51502E04}"/>
              </a:ext>
            </a:extLst>
          </p:cNvPr>
          <p:cNvSpPr/>
          <p:nvPr/>
        </p:nvSpPr>
        <p:spPr>
          <a:xfrm>
            <a:off x="2775003" y="1851778"/>
            <a:ext cx="2130941" cy="38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newInstance</a:t>
            </a:r>
            <a:endParaRPr lang="en-US" dirty="0"/>
          </a:p>
        </p:txBody>
      </p:sp>
      <p:cxnSp>
        <p:nvCxnSpPr>
          <p:cNvPr id="7" name="Straight Arrow Connector 6">
            <a:extLst>
              <a:ext uri="{FF2B5EF4-FFF2-40B4-BE49-F238E27FC236}">
                <a16:creationId xmlns:a16="http://schemas.microsoft.com/office/drawing/2014/main" id="{AD5DEB54-BC09-F106-D96E-596E882C1491}"/>
              </a:ext>
            </a:extLst>
          </p:cNvPr>
          <p:cNvCxnSpPr>
            <a:cxnSpLocks/>
            <a:stCxn id="36" idx="3"/>
            <a:endCxn id="5" idx="1"/>
          </p:cNvCxnSpPr>
          <p:nvPr/>
        </p:nvCxnSpPr>
        <p:spPr>
          <a:xfrm>
            <a:off x="2258165" y="2042609"/>
            <a:ext cx="516838"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283483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27E1B-6FBE-ABEA-9791-51C94EB405D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EA990F-918F-6C9F-C6F1-6B9C4194665F}"/>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9CFB42A3-E012-7BE1-A9F1-914F04F06EEC}"/>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8" name="Text 4">
            <a:extLst>
              <a:ext uri="{FF2B5EF4-FFF2-40B4-BE49-F238E27FC236}">
                <a16:creationId xmlns:a16="http://schemas.microsoft.com/office/drawing/2014/main" id="{1106398A-B682-4E17-F953-174ADD32C0D3}"/>
              </a:ext>
            </a:extLst>
          </p:cNvPr>
          <p:cNvSpPr/>
          <p:nvPr/>
        </p:nvSpPr>
        <p:spPr>
          <a:xfrm>
            <a:off x="5057030" y="850392"/>
            <a:ext cx="3858370" cy="4037076"/>
          </a:xfrm>
          <a:prstGeom prst="rect">
            <a:avLst/>
          </a:prstGeom>
          <a:noFill/>
          <a:ln/>
        </p:spPr>
        <p:txBody>
          <a:bodyPr wrap="square" rtlCol="0" anchor="t"/>
          <a:lstStyle/>
          <a:p>
            <a:pPr marL="342900" indent="-342900">
              <a:spcAft>
                <a:spcPts val="600"/>
              </a:spcAft>
              <a:buSzPct val="100000"/>
              <a:buChar char="•"/>
            </a:pPr>
            <a:r>
              <a:rPr lang="en-US" sz="1600" dirty="0" err="1">
                <a:solidFill>
                  <a:srgbClr val="1E3A5F"/>
                </a:solidFill>
                <a:latin typeface="Calibri" pitchFamily="34" charset="0"/>
                <a:ea typeface="Calibri" pitchFamily="34" charset="-122"/>
                <a:cs typeface="Calibri" pitchFamily="34" charset="-120"/>
              </a:rPr>
              <a:t>instancePtr</a:t>
            </a:r>
            <a:r>
              <a:rPr lang="en-US" sz="1600" dirty="0">
                <a:solidFill>
                  <a:srgbClr val="1E3A5F"/>
                </a:solidFill>
                <a:latin typeface="Calibri" pitchFamily="34" charset="0"/>
                <a:ea typeface="Calibri" pitchFamily="34" charset="-122"/>
                <a:cs typeface="Calibri" pitchFamily="34" charset="-120"/>
              </a:rPr>
              <a:t> is just a static pointer to an instance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By default it’s pointing to the default instance</a:t>
            </a:r>
          </a:p>
          <a:p>
            <a:pPr marL="342900" indent="-342900">
              <a:spcAft>
                <a:spcPts val="600"/>
              </a:spcAft>
              <a:buSzPct val="100000"/>
              <a:buChar char="•"/>
            </a:pP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returns the address of </a:t>
            </a:r>
            <a:r>
              <a:rPr lang="en-US" sz="1600" dirty="0" err="1">
                <a:solidFill>
                  <a:srgbClr val="1E3A5F"/>
                </a:solidFill>
                <a:latin typeface="Calibri" pitchFamily="34" charset="0"/>
                <a:ea typeface="Calibri" pitchFamily="34" charset="-122"/>
                <a:cs typeface="Calibri" pitchFamily="34" charset="-120"/>
              </a:rPr>
              <a:t>instancePtr</a:t>
            </a: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Instance() then just returns whatever </a:t>
            </a:r>
            <a:r>
              <a:rPr lang="en-US" sz="1600" dirty="0" err="1">
                <a:solidFill>
                  <a:srgbClr val="1E3A5F"/>
                </a:solidFill>
                <a:latin typeface="Calibri" pitchFamily="34" charset="0"/>
                <a:ea typeface="Calibri" pitchFamily="34" charset="-122"/>
                <a:cs typeface="Calibri" pitchFamily="34" charset="-120"/>
              </a:rPr>
              <a:t>instancePtr</a:t>
            </a:r>
            <a:r>
              <a:rPr lang="en-US" sz="1600" dirty="0">
                <a:solidFill>
                  <a:srgbClr val="1E3A5F"/>
                </a:solidFill>
                <a:latin typeface="Calibri" pitchFamily="34" charset="0"/>
                <a:ea typeface="Calibri" pitchFamily="34" charset="-122"/>
                <a:cs typeface="Calibri" pitchFamily="34" charset="-120"/>
              </a:rPr>
              <a:t> is pointing to</a:t>
            </a:r>
          </a:p>
        </p:txBody>
      </p:sp>
      <p:sp>
        <p:nvSpPr>
          <p:cNvPr id="6" name="Text 2">
            <a:extLst>
              <a:ext uri="{FF2B5EF4-FFF2-40B4-BE49-F238E27FC236}">
                <a16:creationId xmlns:a16="http://schemas.microsoft.com/office/drawing/2014/main" id="{719F5B11-5681-9731-2ECA-BA9164928A24}"/>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 </a:t>
            </a:r>
            <a:r>
              <a:rPr lang="en-US" sz="1900" b="1" dirty="0" err="1">
                <a:solidFill>
                  <a:srgbClr val="FFFFFF"/>
                </a:solidFill>
                <a:latin typeface="Georgia" pitchFamily="34" charset="0"/>
                <a:ea typeface="Georgia" pitchFamily="34" charset="-122"/>
                <a:cs typeface="Georgia" pitchFamily="34" charset="-120"/>
              </a:rPr>
              <a:t>SingletonBase</a:t>
            </a:r>
            <a:endParaRPr lang="en-US" sz="1900" strike="sngStrike" dirty="0"/>
          </a:p>
        </p:txBody>
      </p:sp>
      <p:sp>
        <p:nvSpPr>
          <p:cNvPr id="4" name="Text 3">
            <a:extLst>
              <a:ext uri="{FF2B5EF4-FFF2-40B4-BE49-F238E27FC236}">
                <a16:creationId xmlns:a16="http://schemas.microsoft.com/office/drawing/2014/main" id="{B7BA3554-29B9-3058-F71A-0AB212BF5090}"/>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err="1">
                <a:solidFill>
                  <a:srgbClr val="F59E0B"/>
                </a:solidFill>
                <a:latin typeface="Calibri" pitchFamily="34" charset="0"/>
                <a:ea typeface="Calibri" pitchFamily="34" charset="-122"/>
                <a:cs typeface="Calibri" pitchFamily="34" charset="-120"/>
              </a:rPr>
              <a:t>SingletonBase</a:t>
            </a:r>
            <a:r>
              <a:rPr lang="en-US" sz="1000" b="1" kern="0" spc="300" dirty="0">
                <a:solidFill>
                  <a:srgbClr val="F59E0B"/>
                </a:solidFill>
                <a:latin typeface="Calibri" pitchFamily="34" charset="0"/>
                <a:ea typeface="Calibri" pitchFamily="34" charset="-122"/>
                <a:cs typeface="Calibri" pitchFamily="34" charset="-120"/>
              </a:rPr>
              <a:t> instance </a:t>
            </a:r>
            <a:r>
              <a:rPr lang="en-US" sz="1000" b="1" kern="0" spc="300" dirty="0" err="1">
                <a:solidFill>
                  <a:srgbClr val="F59E0B"/>
                </a:solidFill>
                <a:latin typeface="Calibri" pitchFamily="34" charset="0"/>
                <a:ea typeface="Calibri" pitchFamily="34" charset="-122"/>
                <a:cs typeface="Calibri" pitchFamily="34" charset="-120"/>
              </a:rPr>
              <a:t>implementetation</a:t>
            </a:r>
            <a:endParaRPr lang="en-US" sz="1000" dirty="0"/>
          </a:p>
        </p:txBody>
      </p:sp>
      <p:sp>
        <p:nvSpPr>
          <p:cNvPr id="8" name="Text 6">
            <a:extLst>
              <a:ext uri="{FF2B5EF4-FFF2-40B4-BE49-F238E27FC236}">
                <a16:creationId xmlns:a16="http://schemas.microsoft.com/office/drawing/2014/main" id="{58DC1E88-D6DD-F134-67F1-4368C6AB9A9B}"/>
              </a:ext>
            </a:extLst>
          </p:cNvPr>
          <p:cNvSpPr/>
          <p:nvPr/>
        </p:nvSpPr>
        <p:spPr>
          <a:xfrm>
            <a:off x="292606" y="841248"/>
            <a:ext cx="4581144"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 &lt;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569CD6"/>
                </a:solidFill>
                <a:effectLst/>
                <a:latin typeface="Consolas" panose="020B0609020204030204" pitchFamily="49" charset="0"/>
              </a:rPr>
              <a:t>inline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4EC9B0"/>
                </a:solidFill>
                <a:effectLst/>
                <a:latin typeface="Consolas" panose="020B0609020204030204" pitchFamily="49" charset="0"/>
              </a:rPr>
              <a:t>PM</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internal</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defaultInstance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T result;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result;</a:t>
            </a:r>
          </a:p>
          <a:p>
            <a:pPr>
              <a:lnSpc>
                <a:spcPts val="1425"/>
              </a:lnSpc>
              <a:buNone/>
            </a:pPr>
            <a:r>
              <a:rPr lang="en-US" sz="1000" b="0" dirty="0">
                <a:solidFill>
                  <a:srgbClr val="D4D4D4"/>
                </a:solidFill>
                <a:effectLst/>
                <a:latin typeface="Consolas" panose="020B0609020204030204" pitchFamily="49" charset="0"/>
              </a:rPr>
              <a:t>}</a:t>
            </a:r>
            <a:endParaRPr lang="en-US" sz="1000" b="0" dirty="0">
              <a:solidFill>
                <a:srgbClr val="569CD6"/>
              </a:solidFill>
              <a:effectLst/>
              <a:latin typeface="Consolas" panose="020B0609020204030204" pitchFamily="49" charset="0"/>
            </a:endParaRPr>
          </a:p>
          <a:p>
            <a:pPr>
              <a:lnSpc>
                <a:spcPts val="1425"/>
              </a:lnSpc>
              <a:buNone/>
            </a:pPr>
            <a:endParaRPr lang="en-US" sz="1000" dirty="0">
              <a:solidFill>
                <a:srgbClr val="569CD6"/>
              </a:solidFill>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 &lt;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569CD6"/>
                </a:solidFill>
                <a:effectLst/>
                <a:latin typeface="Consolas" panose="020B0609020204030204" pitchFamily="49" charset="0"/>
              </a:rPr>
              <a:t>inline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instanceRef</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T *</a:t>
            </a:r>
            <a:r>
              <a:rPr lang="en-US" sz="1000" b="0" dirty="0" err="1">
                <a:solidFill>
                  <a:srgbClr val="D4D4D4"/>
                </a:solidFill>
                <a:effectLst/>
                <a:latin typeface="Consolas" panose="020B0609020204030204" pitchFamily="49" charset="0"/>
              </a:rPr>
              <a:t>instancePtr</a:t>
            </a:r>
            <a:r>
              <a:rPr lang="en-US" sz="1000" b="0" dirty="0">
                <a:solidFill>
                  <a:srgbClr val="D4D4D4"/>
                </a:solidFill>
                <a:effectLst/>
                <a:latin typeface="Consolas" panose="020B0609020204030204" pitchFamily="49" charset="0"/>
              </a:rPr>
              <a:t> = &amp;</a:t>
            </a:r>
            <a:r>
              <a:rPr lang="en-US" sz="1000" b="0" dirty="0" err="1">
                <a:solidFill>
                  <a:srgbClr val="DCDCAA"/>
                </a:solidFill>
                <a:effectLst/>
                <a:latin typeface="Consolas" panose="020B0609020204030204" pitchFamily="49" charset="0"/>
              </a:rPr>
              <a:t>defaultInstance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&amp;</a:t>
            </a:r>
            <a:r>
              <a:rPr lang="en-US" sz="1000" b="0" dirty="0" err="1">
                <a:solidFill>
                  <a:srgbClr val="D4D4D4"/>
                </a:solidFill>
                <a:effectLst/>
                <a:latin typeface="Consolas" panose="020B0609020204030204" pitchFamily="49" charset="0"/>
              </a:rPr>
              <a:t>instancePtr</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 &lt;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569CD6"/>
                </a:solidFill>
                <a:effectLst/>
                <a:latin typeface="Consolas" panose="020B0609020204030204" pitchFamily="49" charset="0"/>
              </a:rPr>
              <a:t>inline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instanceRef</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1657513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5A6EA-060E-5B51-663C-0046995C76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3AFFF91-5E40-0E9C-7081-C23D2E400E7D}"/>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A3EAACFB-115D-8B54-28CE-095957413EC1}"/>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8" name="Text 4">
            <a:extLst>
              <a:ext uri="{FF2B5EF4-FFF2-40B4-BE49-F238E27FC236}">
                <a16:creationId xmlns:a16="http://schemas.microsoft.com/office/drawing/2014/main" id="{CE3E4633-7171-42C9-4B47-FA323A190464}"/>
              </a:ext>
            </a:extLst>
          </p:cNvPr>
          <p:cNvSpPr/>
          <p:nvPr/>
        </p:nvSpPr>
        <p:spPr>
          <a:xfrm>
            <a:off x="5057030" y="850392"/>
            <a:ext cx="3858370" cy="4037076"/>
          </a:xfrm>
          <a:prstGeom prst="rect">
            <a:avLst/>
          </a:prstGeom>
          <a:noFill/>
          <a:ln/>
        </p:spPr>
        <p:txBody>
          <a:bodyPr wrap="square" rtlCol="0" anchor="t"/>
          <a:lstStyle/>
          <a:p>
            <a:pPr marL="342900" indent="-342900">
              <a:spcAft>
                <a:spcPts val="600"/>
              </a:spcAft>
              <a:buSzPct val="100000"/>
              <a:buChar char="•"/>
            </a:pPr>
            <a:r>
              <a:rPr lang="en-US" sz="1600" dirty="0" err="1">
                <a:solidFill>
                  <a:srgbClr val="1E3A5F"/>
                </a:solidFill>
                <a:latin typeface="Calibri" pitchFamily="34" charset="0"/>
                <a:ea typeface="Calibri" pitchFamily="34" charset="-122"/>
                <a:cs typeface="Calibri" pitchFamily="34" charset="-120"/>
              </a:rPr>
              <a:t>setInstance</a:t>
            </a:r>
            <a:r>
              <a:rPr lang="en-US" sz="1600" dirty="0">
                <a:solidFill>
                  <a:srgbClr val="1E3A5F"/>
                </a:solidFill>
                <a:latin typeface="Calibri" pitchFamily="34" charset="0"/>
                <a:ea typeface="Calibri" pitchFamily="34" charset="-122"/>
                <a:cs typeface="Calibri" pitchFamily="34" charset="-120"/>
              </a:rPr>
              <a:t>() simply replaces the value of </a:t>
            </a:r>
            <a:r>
              <a:rPr lang="en-US" sz="1600" dirty="0" err="1">
                <a:solidFill>
                  <a:srgbClr val="1E3A5F"/>
                </a:solidFill>
                <a:latin typeface="Calibri" pitchFamily="34" charset="0"/>
                <a:ea typeface="Calibri" pitchFamily="34" charset="-122"/>
                <a:cs typeface="Calibri" pitchFamily="34" charset="-120"/>
              </a:rPr>
              <a:t>instancePtr</a:t>
            </a:r>
            <a:r>
              <a:rPr lang="en-US" sz="1600" dirty="0">
                <a:solidFill>
                  <a:srgbClr val="1E3A5F"/>
                </a:solidFill>
                <a:latin typeface="Calibri" pitchFamily="34" charset="0"/>
                <a:ea typeface="Calibri" pitchFamily="34" charset="-122"/>
                <a:cs typeface="Calibri" pitchFamily="34" charset="-120"/>
              </a:rPr>
              <a:t> and returns the old value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If </a:t>
            </a:r>
            <a:r>
              <a:rPr lang="en-US" sz="1600" dirty="0" err="1">
                <a:solidFill>
                  <a:srgbClr val="1E3A5F"/>
                </a:solidFill>
                <a:latin typeface="Calibri" pitchFamily="34" charset="0"/>
                <a:ea typeface="Calibri" pitchFamily="34" charset="-122"/>
                <a:cs typeface="Calibri" pitchFamily="34" charset="-120"/>
              </a:rPr>
              <a:t>setInstance</a:t>
            </a:r>
            <a:r>
              <a:rPr lang="en-US" sz="1600" dirty="0">
                <a:solidFill>
                  <a:srgbClr val="1E3A5F"/>
                </a:solidFill>
                <a:latin typeface="Calibri" pitchFamily="34" charset="0"/>
                <a:ea typeface="Calibri" pitchFamily="34" charset="-122"/>
                <a:cs typeface="Calibri" pitchFamily="34" charset="-120"/>
              </a:rPr>
              <a:t>() was passed a </a:t>
            </a:r>
            <a:r>
              <a:rPr lang="en-US" sz="1600" dirty="0" err="1">
                <a:solidFill>
                  <a:srgbClr val="1E3A5F"/>
                </a:solidFill>
                <a:latin typeface="Calibri" pitchFamily="34" charset="0"/>
                <a:ea typeface="Calibri" pitchFamily="34" charset="-122"/>
                <a:cs typeface="Calibri" pitchFamily="34" charset="-120"/>
              </a:rPr>
              <a:t>nullptr</a:t>
            </a:r>
            <a:r>
              <a:rPr lang="en-US" sz="1600" dirty="0">
                <a:solidFill>
                  <a:srgbClr val="1E3A5F"/>
                </a:solidFill>
                <a:latin typeface="Calibri" pitchFamily="34" charset="0"/>
                <a:ea typeface="Calibri" pitchFamily="34" charset="-122"/>
                <a:cs typeface="Calibri" pitchFamily="34" charset="-120"/>
              </a:rPr>
              <a:t>, it will reset </a:t>
            </a:r>
            <a:r>
              <a:rPr lang="en-US" sz="1600" dirty="0" err="1">
                <a:solidFill>
                  <a:srgbClr val="1E3A5F"/>
                </a:solidFill>
                <a:latin typeface="Calibri" pitchFamily="34" charset="0"/>
                <a:ea typeface="Calibri" pitchFamily="34" charset="-122"/>
                <a:cs typeface="Calibri" pitchFamily="34" charset="-120"/>
              </a:rPr>
              <a:t>instancePtr</a:t>
            </a:r>
            <a:r>
              <a:rPr lang="en-US" sz="1600" dirty="0">
                <a:solidFill>
                  <a:srgbClr val="1E3A5F"/>
                </a:solidFill>
                <a:latin typeface="Calibri" pitchFamily="34" charset="0"/>
                <a:ea typeface="Calibri" pitchFamily="34" charset="-122"/>
                <a:cs typeface="Calibri" pitchFamily="34" charset="-120"/>
              </a:rPr>
              <a:t> to point to the </a:t>
            </a:r>
            <a:r>
              <a:rPr lang="en-US" sz="1600" dirty="0" err="1">
                <a:solidFill>
                  <a:srgbClr val="1E3A5F"/>
                </a:solidFill>
                <a:latin typeface="Calibri" pitchFamily="34" charset="0"/>
                <a:ea typeface="Calibri" pitchFamily="34" charset="-122"/>
                <a:cs typeface="Calibri" pitchFamily="34" charset="-120"/>
              </a:rPr>
              <a:t>defaultInstance</a:t>
            </a:r>
            <a:endParaRPr lang="en-US" sz="1600" dirty="0">
              <a:solidFill>
                <a:srgbClr val="1E3A5F"/>
              </a:solidFill>
              <a:latin typeface="Calibri" pitchFamily="34" charset="0"/>
              <a:ea typeface="Calibri" pitchFamily="34" charset="-122"/>
              <a:cs typeface="Calibri" pitchFamily="34" charset="-120"/>
            </a:endParaRPr>
          </a:p>
        </p:txBody>
      </p:sp>
      <p:sp>
        <p:nvSpPr>
          <p:cNvPr id="6" name="Text 2">
            <a:extLst>
              <a:ext uri="{FF2B5EF4-FFF2-40B4-BE49-F238E27FC236}">
                <a16:creationId xmlns:a16="http://schemas.microsoft.com/office/drawing/2014/main" id="{4F91B5C6-6E18-E1DB-066E-ECCCAEB76793}"/>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 </a:t>
            </a:r>
            <a:r>
              <a:rPr lang="en-US" sz="1900" b="1" dirty="0" err="1">
                <a:solidFill>
                  <a:srgbClr val="FFFFFF"/>
                </a:solidFill>
                <a:latin typeface="Georgia" pitchFamily="34" charset="0"/>
                <a:ea typeface="Georgia" pitchFamily="34" charset="-122"/>
                <a:cs typeface="Georgia" pitchFamily="34" charset="-120"/>
              </a:rPr>
              <a:t>SingletonBase</a:t>
            </a:r>
            <a:endParaRPr lang="en-US" sz="1900" strike="sngStrike" dirty="0"/>
          </a:p>
        </p:txBody>
      </p:sp>
      <p:sp>
        <p:nvSpPr>
          <p:cNvPr id="4" name="Text 3">
            <a:extLst>
              <a:ext uri="{FF2B5EF4-FFF2-40B4-BE49-F238E27FC236}">
                <a16:creationId xmlns:a16="http://schemas.microsoft.com/office/drawing/2014/main" id="{AE293B4B-93F6-090B-7A1D-275D9140FEB8}"/>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err="1">
                <a:solidFill>
                  <a:srgbClr val="F59E0B"/>
                </a:solidFill>
                <a:latin typeface="Calibri" pitchFamily="34" charset="0"/>
                <a:ea typeface="Calibri" pitchFamily="34" charset="-122"/>
                <a:cs typeface="Calibri" pitchFamily="34" charset="-120"/>
              </a:rPr>
              <a:t>SingletonBase</a:t>
            </a:r>
            <a:r>
              <a:rPr lang="en-US" sz="1000" b="1" kern="0" spc="300" dirty="0">
                <a:solidFill>
                  <a:srgbClr val="F59E0B"/>
                </a:solidFill>
                <a:latin typeface="Calibri" pitchFamily="34" charset="0"/>
                <a:ea typeface="Calibri" pitchFamily="34" charset="-122"/>
                <a:cs typeface="Calibri" pitchFamily="34" charset="-120"/>
              </a:rPr>
              <a:t> instance </a:t>
            </a:r>
            <a:r>
              <a:rPr lang="en-US" sz="1000" b="1" kern="0" spc="300" dirty="0" err="1">
                <a:solidFill>
                  <a:srgbClr val="F59E0B"/>
                </a:solidFill>
                <a:latin typeface="Calibri" pitchFamily="34" charset="0"/>
                <a:ea typeface="Calibri" pitchFamily="34" charset="-122"/>
                <a:cs typeface="Calibri" pitchFamily="34" charset="-120"/>
              </a:rPr>
              <a:t>implementetation</a:t>
            </a:r>
            <a:endParaRPr lang="en-US" sz="1000" dirty="0"/>
          </a:p>
        </p:txBody>
      </p:sp>
      <p:sp>
        <p:nvSpPr>
          <p:cNvPr id="8" name="Text 6">
            <a:extLst>
              <a:ext uri="{FF2B5EF4-FFF2-40B4-BE49-F238E27FC236}">
                <a16:creationId xmlns:a16="http://schemas.microsoft.com/office/drawing/2014/main" id="{286A6505-0ED3-EB8D-6258-63F9F0B66736}"/>
              </a:ext>
            </a:extLst>
          </p:cNvPr>
          <p:cNvSpPr/>
          <p:nvPr/>
        </p:nvSpPr>
        <p:spPr>
          <a:xfrm>
            <a:off x="292607" y="841248"/>
            <a:ext cx="4581144"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 &lt;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569CD6"/>
                </a:solidFill>
                <a:effectLst/>
                <a:latin typeface="Consolas" panose="020B0609020204030204" pitchFamily="49" charset="0"/>
              </a:rPr>
              <a:t>inline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instanceRef</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T *</a:t>
            </a:r>
            <a:r>
              <a:rPr lang="en-US" sz="1000" b="0" dirty="0" err="1">
                <a:solidFill>
                  <a:srgbClr val="D4D4D4"/>
                </a:solidFill>
                <a:effectLst/>
                <a:latin typeface="Consolas" panose="020B0609020204030204" pitchFamily="49" charset="0"/>
              </a:rPr>
              <a:t>instancePtr</a:t>
            </a:r>
            <a:r>
              <a:rPr lang="en-US" sz="1000" b="0" dirty="0">
                <a:solidFill>
                  <a:srgbClr val="D4D4D4"/>
                </a:solidFill>
                <a:effectLst/>
                <a:latin typeface="Consolas" panose="020B0609020204030204" pitchFamily="49" charset="0"/>
              </a:rPr>
              <a:t> = &amp;</a:t>
            </a:r>
            <a:r>
              <a:rPr lang="en-US" sz="1000" b="0" dirty="0" err="1">
                <a:solidFill>
                  <a:srgbClr val="DCDCAA"/>
                </a:solidFill>
                <a:effectLst/>
                <a:latin typeface="Consolas" panose="020B0609020204030204" pitchFamily="49" charset="0"/>
              </a:rPr>
              <a:t>defaultInstance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&amp;</a:t>
            </a:r>
            <a:r>
              <a:rPr lang="en-US" sz="1000" b="0" dirty="0" err="1">
                <a:solidFill>
                  <a:srgbClr val="D4D4D4"/>
                </a:solidFill>
                <a:effectLst/>
                <a:latin typeface="Consolas" panose="020B0609020204030204" pitchFamily="49" charset="0"/>
              </a:rPr>
              <a:t>instancePtr</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 &lt;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569CD6"/>
                </a:solidFill>
                <a:effectLst/>
                <a:latin typeface="Consolas" panose="020B0609020204030204" pitchFamily="49" charset="0"/>
              </a:rPr>
              <a:t>inline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setInstance</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9CDCFE"/>
                </a:solidFill>
                <a:effectLst/>
                <a:latin typeface="Consolas" panose="020B0609020204030204" pitchFamily="49" charset="0"/>
              </a:rPr>
              <a:t>newInstance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T *</a:t>
            </a:r>
            <a:r>
              <a:rPr lang="en-US" sz="1000" b="0" dirty="0" err="1">
                <a:solidFill>
                  <a:srgbClr val="D4D4D4"/>
                </a:solidFill>
                <a:effectLst/>
                <a:latin typeface="Consolas" panose="020B0609020204030204" pitchFamily="49" charset="0"/>
              </a:rPr>
              <a:t>oldInstance</a:t>
            </a:r>
            <a:r>
              <a:rPr lang="en-US" sz="1000" b="0" dirty="0">
                <a:solidFill>
                  <a:srgbClr val="D4D4D4"/>
                </a:solidFill>
                <a:effectLst/>
                <a:latin typeface="Consolas" panose="020B0609020204030204" pitchFamily="49" charset="0"/>
              </a:rPr>
              <a:t> = *</a:t>
            </a:r>
            <a:r>
              <a:rPr lang="en-US" sz="1000" b="0" dirty="0" err="1">
                <a:solidFill>
                  <a:srgbClr val="DCDCAA"/>
                </a:solidFill>
                <a:effectLst/>
                <a:latin typeface="Consolas" panose="020B0609020204030204" pitchFamily="49" charset="0"/>
              </a:rPr>
              <a:t>instanceRef</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if</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newInstance</a:t>
            </a:r>
            <a:r>
              <a:rPr lang="en-US" sz="1000" b="0" dirty="0">
                <a:solidFill>
                  <a:srgbClr val="D4D4D4"/>
                </a:solidFill>
                <a:effectLst/>
                <a:latin typeface="Consolas" panose="020B0609020204030204" pitchFamily="49" charset="0"/>
              </a:rPr>
              <a:t> != </a:t>
            </a:r>
            <a:r>
              <a:rPr lang="en-US" sz="1000" b="0" dirty="0" err="1">
                <a:solidFill>
                  <a:srgbClr val="569CD6"/>
                </a:solidFill>
                <a:effectLst/>
                <a:latin typeface="Consolas" panose="020B0609020204030204" pitchFamily="49" charset="0"/>
              </a:rPr>
              <a:t>nullptr</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instanceRef</a:t>
            </a:r>
            <a:r>
              <a:rPr lang="en-US" sz="1000" b="0" dirty="0">
                <a:solidFill>
                  <a:srgbClr val="D4D4D4"/>
                </a:solidFill>
                <a:effectLst/>
                <a:latin typeface="Consolas" panose="020B0609020204030204" pitchFamily="49" charset="0"/>
              </a:rPr>
              <a:t>() = </a:t>
            </a:r>
            <a:r>
              <a:rPr lang="en-US" sz="1000" b="0" dirty="0" err="1">
                <a:solidFill>
                  <a:srgbClr val="D4D4D4"/>
                </a:solidFill>
                <a:effectLst/>
                <a:latin typeface="Consolas" panose="020B0609020204030204" pitchFamily="49" charset="0"/>
              </a:rPr>
              <a:t>newInstance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else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instanceRef</a:t>
            </a:r>
            <a:r>
              <a:rPr lang="en-US" sz="1000" b="0" dirty="0">
                <a:solidFill>
                  <a:srgbClr val="D4D4D4"/>
                </a:solidFill>
                <a:effectLst/>
                <a:latin typeface="Consolas" panose="020B0609020204030204" pitchFamily="49" charset="0"/>
              </a:rPr>
              <a:t>() = &amp;</a:t>
            </a:r>
            <a:r>
              <a:rPr lang="en-US" sz="1000" b="0" dirty="0" err="1">
                <a:solidFill>
                  <a:srgbClr val="DCDCAA"/>
                </a:solidFill>
                <a:effectLst/>
                <a:latin typeface="Consolas" panose="020B0609020204030204" pitchFamily="49" charset="0"/>
              </a:rPr>
              <a:t>defaultInstance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oldInstance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7238648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2E730-8966-31A4-34B1-F09ABB137BA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455D91-0364-A106-A3E2-837AE5EA80BB}"/>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049817B7-25D7-13FD-C838-DEEF84DBB148}"/>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8" name="Text 4">
            <a:extLst>
              <a:ext uri="{FF2B5EF4-FFF2-40B4-BE49-F238E27FC236}">
                <a16:creationId xmlns:a16="http://schemas.microsoft.com/office/drawing/2014/main" id="{78713413-159C-DC41-3842-32BBB4E94E1C}"/>
              </a:ext>
            </a:extLst>
          </p:cNvPr>
          <p:cNvSpPr/>
          <p:nvPr/>
        </p:nvSpPr>
        <p:spPr>
          <a:xfrm>
            <a:off x="5049079" y="850392"/>
            <a:ext cx="3866322" cy="4037076"/>
          </a:xfrm>
          <a:prstGeom prst="rect">
            <a:avLst/>
          </a:prstGeom>
          <a:noFill/>
          <a:ln/>
        </p:spPr>
        <p:txBody>
          <a:bodyPr wrap="square" rtlCol="0" anchor="t"/>
          <a:lstStyle/>
          <a:p>
            <a:pPr marL="342900" indent="-342900">
              <a:spcAft>
                <a:spcPts val="600"/>
              </a:spcAft>
              <a:buSzPct val="100000"/>
              <a:buChar char="•"/>
            </a:pPr>
            <a:r>
              <a:rPr lang="en-US" sz="1600" dirty="0" err="1">
                <a:solidFill>
                  <a:srgbClr val="1E3A5F"/>
                </a:solidFill>
                <a:latin typeface="Calibri" pitchFamily="34" charset="0"/>
                <a:ea typeface="Calibri" pitchFamily="34" charset="-122"/>
                <a:cs typeface="Calibri" pitchFamily="34" charset="-120"/>
              </a:rPr>
              <a:t>ScopedSingletonState</a:t>
            </a:r>
            <a:r>
              <a:rPr lang="en-US" sz="1600" dirty="0">
                <a:solidFill>
                  <a:srgbClr val="1E3A5F"/>
                </a:solidFill>
                <a:latin typeface="Calibri" pitchFamily="34" charset="0"/>
                <a:ea typeface="Calibri" pitchFamily="34" charset="-122"/>
                <a:cs typeface="Calibri" pitchFamily="34" charset="-120"/>
              </a:rPr>
              <a:t> is simply an RAII wrapper around the </a:t>
            </a:r>
            <a:r>
              <a:rPr lang="en-US" sz="1600" dirty="0" err="1">
                <a:solidFill>
                  <a:srgbClr val="1E3A5F"/>
                </a:solidFill>
                <a:latin typeface="Calibri" pitchFamily="34" charset="0"/>
                <a:ea typeface="Calibri" pitchFamily="34" charset="-122"/>
                <a:cs typeface="Calibri" pitchFamily="34" charset="-120"/>
              </a:rPr>
              <a:t>setInstance</a:t>
            </a:r>
            <a:r>
              <a:rPr lang="en-US" sz="1600" dirty="0">
                <a:solidFill>
                  <a:srgbClr val="1E3A5F"/>
                </a:solidFill>
                <a:latin typeface="Calibri" pitchFamily="34" charset="0"/>
                <a:ea typeface="Calibri" pitchFamily="34" charset="-122"/>
                <a:cs typeface="Calibri" pitchFamily="34" charset="-120"/>
              </a:rPr>
              <a:t>() function</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It takes in the type of the singleton as the template parameter and creates a new instance of its type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It calls </a:t>
            </a:r>
            <a:r>
              <a:rPr lang="en-US" sz="1600" dirty="0" err="1">
                <a:solidFill>
                  <a:srgbClr val="1E3A5F"/>
                </a:solidFill>
                <a:latin typeface="Calibri" pitchFamily="34" charset="0"/>
                <a:ea typeface="Calibri" pitchFamily="34" charset="-122"/>
                <a:cs typeface="Calibri" pitchFamily="34" charset="-120"/>
              </a:rPr>
              <a:t>setInstance</a:t>
            </a:r>
            <a:r>
              <a:rPr lang="en-US" sz="1600" dirty="0">
                <a:solidFill>
                  <a:srgbClr val="1E3A5F"/>
                </a:solidFill>
                <a:latin typeface="Calibri" pitchFamily="34" charset="0"/>
                <a:ea typeface="Calibri" pitchFamily="34" charset="-122"/>
                <a:cs typeface="Calibri" pitchFamily="34" charset="-120"/>
              </a:rPr>
              <a:t>() function to point to its local instance that it created, and stores the last instance that the singleton was pointing to</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When it goes out of scope it resets the current singleton instance to the last instance</a:t>
            </a:r>
          </a:p>
        </p:txBody>
      </p:sp>
      <p:sp>
        <p:nvSpPr>
          <p:cNvPr id="6" name="Text 2">
            <a:extLst>
              <a:ext uri="{FF2B5EF4-FFF2-40B4-BE49-F238E27FC236}">
                <a16:creationId xmlns:a16="http://schemas.microsoft.com/office/drawing/2014/main" id="{EC45F763-A8DE-02A2-6F06-48F84F6985DB}"/>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 </a:t>
            </a:r>
            <a:r>
              <a:rPr lang="en-US" sz="1900" b="1" dirty="0" err="1">
                <a:solidFill>
                  <a:srgbClr val="FFFFFF"/>
                </a:solidFill>
                <a:latin typeface="Georgia" pitchFamily="34" charset="0"/>
                <a:ea typeface="Georgia" pitchFamily="34" charset="-122"/>
                <a:cs typeface="Georgia" pitchFamily="34" charset="-120"/>
              </a:rPr>
              <a:t>SingletonBase</a:t>
            </a:r>
            <a:endParaRPr lang="en-US" sz="1900" strike="sngStrike" dirty="0"/>
          </a:p>
        </p:txBody>
      </p:sp>
      <p:sp>
        <p:nvSpPr>
          <p:cNvPr id="4" name="Text 3">
            <a:extLst>
              <a:ext uri="{FF2B5EF4-FFF2-40B4-BE49-F238E27FC236}">
                <a16:creationId xmlns:a16="http://schemas.microsoft.com/office/drawing/2014/main" id="{77BFF4F3-5B68-0B9E-95BF-129690F60CEC}"/>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err="1">
                <a:solidFill>
                  <a:srgbClr val="F59E0B"/>
                </a:solidFill>
                <a:latin typeface="Calibri" pitchFamily="34" charset="0"/>
                <a:ea typeface="Calibri" pitchFamily="34" charset="-122"/>
                <a:cs typeface="Calibri" pitchFamily="34" charset="-120"/>
              </a:rPr>
              <a:t>ScopedSingletonState</a:t>
            </a:r>
            <a:r>
              <a:rPr lang="en-US" sz="1000" b="1" kern="0" spc="300" dirty="0">
                <a:solidFill>
                  <a:srgbClr val="F59E0B"/>
                </a:solidFill>
                <a:latin typeface="Calibri" pitchFamily="34" charset="0"/>
                <a:ea typeface="Calibri" pitchFamily="34" charset="-122"/>
                <a:cs typeface="Calibri" pitchFamily="34" charset="-120"/>
              </a:rPr>
              <a:t> </a:t>
            </a:r>
            <a:r>
              <a:rPr lang="en-US" sz="1000" b="1" kern="0" spc="300" dirty="0" err="1">
                <a:solidFill>
                  <a:srgbClr val="F59E0B"/>
                </a:solidFill>
                <a:latin typeface="Calibri" pitchFamily="34" charset="0"/>
                <a:ea typeface="Calibri" pitchFamily="34" charset="-122"/>
                <a:cs typeface="Calibri" pitchFamily="34" charset="-120"/>
              </a:rPr>
              <a:t>implementetation</a:t>
            </a:r>
            <a:endParaRPr lang="en-US" sz="1000" dirty="0"/>
          </a:p>
        </p:txBody>
      </p:sp>
      <p:sp>
        <p:nvSpPr>
          <p:cNvPr id="8" name="Text 6">
            <a:extLst>
              <a:ext uri="{FF2B5EF4-FFF2-40B4-BE49-F238E27FC236}">
                <a16:creationId xmlns:a16="http://schemas.microsoft.com/office/drawing/2014/main" id="{1C8A32F8-CA78-EA89-7FE1-E8E8CFE28C78}"/>
              </a:ext>
            </a:extLst>
          </p:cNvPr>
          <p:cNvSpPr/>
          <p:nvPr/>
        </p:nvSpPr>
        <p:spPr>
          <a:xfrm>
            <a:off x="292606" y="841248"/>
            <a:ext cx="4581543"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template</a:t>
            </a:r>
            <a:r>
              <a:rPr lang="en-US" sz="1000" b="0" dirty="0">
                <a:solidFill>
                  <a:srgbClr val="D4D4D4"/>
                </a:solidFill>
                <a:effectLst/>
                <a:latin typeface="Consolas" panose="020B0609020204030204" pitchFamily="49" charset="0"/>
              </a:rPr>
              <a:t> &lt;</a:t>
            </a:r>
            <a:r>
              <a:rPr lang="en-US" sz="1000" b="0" dirty="0" err="1">
                <a:solidFill>
                  <a:srgbClr val="569CD6"/>
                </a:solidFill>
                <a:effectLst/>
                <a:latin typeface="Consolas" panose="020B0609020204030204" pitchFamily="49" charset="0"/>
              </a:rPr>
              <a:t>typename</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ScopedSingletonState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ScopedSingletonState</a:t>
            </a:r>
            <a:r>
              <a:rPr lang="en-US" sz="1000" b="0" dirty="0">
                <a:solidFill>
                  <a:srgbClr val="D4D4D4"/>
                </a:solidFill>
                <a:effectLst/>
                <a:latin typeface="Consolas" panose="020B0609020204030204" pitchFamily="49" charset="0"/>
              </a:rPr>
              <a:t>() : </a:t>
            </a:r>
            <a:r>
              <a:rPr lang="en-US" sz="1000" b="0" dirty="0" err="1">
                <a:solidFill>
                  <a:srgbClr val="DCDCAA"/>
                </a:solidFill>
                <a:effectLst/>
                <a:latin typeface="Consolas" panose="020B0609020204030204" pitchFamily="49" charset="0"/>
              </a:rPr>
              <a:t>m_lastInstance</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 </a:t>
            </a:r>
          </a:p>
          <a:p>
            <a:pPr>
              <a:lnSpc>
                <a:spcPts val="1425"/>
              </a:lnSpc>
              <a:buNone/>
            </a:pPr>
            <a:r>
              <a:rPr lang="en-US" sz="1000" dirty="0">
                <a:solidFill>
                  <a:srgbClr val="D4D4D4"/>
                </a:solidFill>
                <a:latin typeface="Consolas" panose="020B0609020204030204" pitchFamily="49" charset="0"/>
              </a:rPr>
              <a:t>    </a:t>
            </a:r>
            <a:r>
              <a:rPr lang="en-US" sz="1000" b="0" dirty="0">
                <a:solidFill>
                  <a:srgbClr val="D4D4D4"/>
                </a:solidFill>
                <a:effectLst/>
                <a:latin typeface="Consolas" panose="020B0609020204030204" pitchFamily="49" charset="0"/>
              </a:rPr>
              <a:t>{</a:t>
            </a:r>
          </a:p>
          <a:p>
            <a:pPr>
              <a:lnSpc>
                <a:spcPts val="1425"/>
              </a:lnSpc>
            </a:pPr>
            <a:r>
              <a:rPr lang="en-US" sz="1000" dirty="0">
                <a:solidFill>
                  <a:srgbClr val="D4D4D4"/>
                </a:solidFill>
                <a:latin typeface="Consolas" panose="020B0609020204030204" pitchFamily="49" charset="0"/>
              </a:rPr>
              <a:t>        </a:t>
            </a:r>
            <a:r>
              <a:rPr lang="en-US" sz="1000" dirty="0">
                <a:solidFill>
                  <a:srgbClr val="6A9955"/>
                </a:solidFill>
                <a:latin typeface="Consolas" panose="020B0609020204030204" pitchFamily="49" charset="0"/>
              </a:rPr>
              <a:t>// Set our local instance as the singleton instance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DCDCAA"/>
                </a:solidFill>
                <a:latin typeface="Consolas" panose="020B0609020204030204" pitchFamily="49" charset="0"/>
              </a:rPr>
              <a:t>m_lastInstance</a:t>
            </a:r>
            <a:r>
              <a:rPr lang="en-US" sz="1000" dirty="0">
                <a:solidFill>
                  <a:srgbClr val="DCDCAA"/>
                </a:solidFill>
                <a:latin typeface="Consolas" panose="020B0609020204030204" pitchFamily="49" charset="0"/>
              </a:rPr>
              <a:t> =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setInstance</a:t>
            </a:r>
            <a:r>
              <a:rPr lang="en-US" sz="1000" b="0" dirty="0">
                <a:solidFill>
                  <a:srgbClr val="D4D4D4"/>
                </a:solidFill>
                <a:effectLst/>
                <a:latin typeface="Consolas" panose="020B0609020204030204" pitchFamily="49" charset="0"/>
              </a:rPr>
              <a:t>(&amp;m_instance); </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ScopedSingletonState</a:t>
            </a:r>
            <a:r>
              <a:rPr lang="en-US" sz="1000" b="0" dirty="0">
                <a:solidFill>
                  <a:srgbClr val="D4D4D4"/>
                </a:solidFill>
                <a:effectLst/>
                <a:latin typeface="Consolas" panose="020B0609020204030204" pitchFamily="49" charset="0"/>
              </a:rPr>
              <a:t>() </a:t>
            </a:r>
          </a:p>
          <a:p>
            <a:pPr>
              <a:lnSpc>
                <a:spcPts val="1425"/>
              </a:lnSpc>
              <a:buNone/>
            </a:pPr>
            <a:r>
              <a:rPr lang="en-US" sz="1000" dirty="0">
                <a:solidFill>
                  <a:srgbClr val="D4D4D4"/>
                </a:solidFill>
                <a:latin typeface="Consolas" panose="020B0609020204030204" pitchFamily="49" charset="0"/>
              </a:rPr>
              <a:t>    </a:t>
            </a:r>
            <a:r>
              <a:rPr lang="en-US" sz="1000" b="0" dirty="0">
                <a:solidFill>
                  <a:srgbClr val="D4D4D4"/>
                </a:solidFill>
                <a:effectLst/>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r>
              <a:rPr lang="en-US" sz="1000" b="0" dirty="0">
                <a:solidFill>
                  <a:srgbClr val="6A9955"/>
                </a:solidFill>
                <a:effectLst/>
                <a:latin typeface="Consolas" panose="020B0609020204030204" pitchFamily="49" charset="0"/>
              </a:rPr>
              <a:t>// Restore previous instance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setInstance</a:t>
            </a:r>
            <a:r>
              <a:rPr lang="en-US" sz="1000" b="0" dirty="0">
                <a:solidFill>
                  <a:srgbClr val="D4D4D4"/>
                </a:solidFill>
                <a:effectLst/>
                <a:latin typeface="Consolas" panose="020B0609020204030204" pitchFamily="49" charset="0"/>
              </a:rPr>
              <a:t>(m_lastInstance);</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private: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dirty="0">
                <a:solidFill>
                  <a:srgbClr val="4EC9B0"/>
                </a:solidFill>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m_lastInstance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dirty="0">
                <a:solidFill>
                  <a:srgbClr val="4EC9B0"/>
                </a:solidFill>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m_instance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7795878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F6965-1A75-FBA0-929B-4C19DE72B62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3D62832-CE6A-CB45-D8AC-74D39F34067F}"/>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AFC76B34-BA0D-B724-5C56-CF5CC0E192B6}"/>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18" name="Text 4">
            <a:extLst>
              <a:ext uri="{FF2B5EF4-FFF2-40B4-BE49-F238E27FC236}">
                <a16:creationId xmlns:a16="http://schemas.microsoft.com/office/drawing/2014/main" id="{586AAFCF-21E7-952A-2491-2CC60FD58F0D}"/>
              </a:ext>
            </a:extLst>
          </p:cNvPr>
          <p:cNvSpPr/>
          <p:nvPr/>
        </p:nvSpPr>
        <p:spPr>
          <a:xfrm>
            <a:off x="4636007" y="850392"/>
            <a:ext cx="4279393"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Now anybody can just use this class as the base for their singletons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 only issue is that singletons rely on having a private constructor so that they are the only ones that can construct themselves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This means that </a:t>
            </a:r>
            <a:r>
              <a:rPr lang="en-US" sz="1600" dirty="0" err="1">
                <a:solidFill>
                  <a:srgbClr val="4EC9B0"/>
                </a:solidFill>
                <a:latin typeface="Consolas" panose="020B0609020204030204" pitchFamily="49" charset="0"/>
              </a:rPr>
              <a:t>SingletonBase</a:t>
            </a:r>
            <a:r>
              <a:rPr lang="en-US" sz="1600" dirty="0">
                <a:latin typeface="Consolas" panose="020B0609020204030204" pitchFamily="49" charset="0"/>
              </a:rPr>
              <a:t>&lt;</a:t>
            </a:r>
            <a:r>
              <a:rPr lang="en-US" sz="1600" dirty="0" err="1">
                <a:solidFill>
                  <a:srgbClr val="4EC9B0"/>
                </a:solidFill>
                <a:latin typeface="Consolas" panose="020B0609020204030204" pitchFamily="49" charset="0"/>
              </a:rPr>
              <a:t>XRayMachine</a:t>
            </a:r>
            <a:r>
              <a:rPr lang="en-US" sz="1600" dirty="0">
                <a:latin typeface="Consolas" panose="020B0609020204030204" pitchFamily="49" charset="0"/>
              </a:rPr>
              <a:t>&gt;</a:t>
            </a:r>
            <a:r>
              <a:rPr lang="en-US" sz="1600" dirty="0">
                <a:solidFill>
                  <a:srgbClr val="1E3A5F"/>
                </a:solidFill>
                <a:latin typeface="Calibri" pitchFamily="34" charset="0"/>
                <a:ea typeface="Calibri" pitchFamily="34" charset="-122"/>
                <a:cs typeface="Calibri" pitchFamily="34" charset="-120"/>
              </a:rPr>
              <a:t> will not be able to construct the </a:t>
            </a:r>
            <a:r>
              <a:rPr lang="en-US" sz="1600" dirty="0" err="1">
                <a:solidFill>
                  <a:srgbClr val="1E3A5F"/>
                </a:solidFill>
                <a:latin typeface="Calibri" pitchFamily="34" charset="0"/>
                <a:ea typeface="Calibri" pitchFamily="34" charset="-122"/>
                <a:cs typeface="Calibri" pitchFamily="34" charset="-120"/>
              </a:rPr>
              <a:t>defaultInstance</a:t>
            </a:r>
            <a:r>
              <a:rPr lang="en-US" sz="1600" dirty="0">
                <a:solidFill>
                  <a:srgbClr val="1E3A5F"/>
                </a:solidFill>
                <a:latin typeface="Calibri" pitchFamily="34" charset="0"/>
                <a:ea typeface="Calibri" pitchFamily="34" charset="-122"/>
                <a:cs typeface="Calibri" pitchFamily="34" charset="-120"/>
              </a:rPr>
              <a:t> of our singleton</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Also </a:t>
            </a:r>
            <a:r>
              <a:rPr lang="en-US" sz="1600" dirty="0" err="1">
                <a:solidFill>
                  <a:srgbClr val="4EC9B0"/>
                </a:solidFill>
                <a:latin typeface="Consolas" panose="020B0609020204030204" pitchFamily="49" charset="0"/>
              </a:rPr>
              <a:t>ScopedSingletonState</a:t>
            </a:r>
            <a:r>
              <a:rPr lang="en-US" sz="1600" dirty="0">
                <a:latin typeface="Consolas" panose="020B0609020204030204" pitchFamily="49" charset="0"/>
              </a:rPr>
              <a:t>&lt;</a:t>
            </a:r>
            <a:r>
              <a:rPr lang="en-US" sz="1600" dirty="0" err="1">
                <a:solidFill>
                  <a:srgbClr val="4EC9B0"/>
                </a:solidFill>
                <a:latin typeface="Consolas" panose="020B0609020204030204" pitchFamily="49" charset="0"/>
              </a:rPr>
              <a:t>XRayMachine</a:t>
            </a:r>
            <a:r>
              <a:rPr lang="en-US" sz="1600" dirty="0">
                <a:latin typeface="Consolas" panose="020B0609020204030204" pitchFamily="49" charset="0"/>
              </a:rPr>
              <a:t>&gt;</a:t>
            </a:r>
            <a:r>
              <a:rPr lang="en-US" sz="1600" dirty="0">
                <a:solidFill>
                  <a:srgbClr val="1E3A5F"/>
                </a:solidFill>
                <a:latin typeface="Calibri" pitchFamily="34" charset="0"/>
                <a:ea typeface="Calibri" pitchFamily="34" charset="-122"/>
                <a:cs typeface="Calibri" pitchFamily="34" charset="-120"/>
              </a:rPr>
              <a:t>  will not be able to create its </a:t>
            </a:r>
            <a:r>
              <a:rPr lang="en-US" sz="1600" dirty="0" err="1">
                <a:solidFill>
                  <a:srgbClr val="1E3A5F"/>
                </a:solidFill>
                <a:latin typeface="Calibri" pitchFamily="34" charset="0"/>
                <a:ea typeface="Calibri" pitchFamily="34" charset="-122"/>
                <a:cs typeface="Calibri" pitchFamily="34" charset="-120"/>
              </a:rPr>
              <a:t>m_instance</a:t>
            </a:r>
            <a:r>
              <a:rPr lang="en-US" sz="1600" dirty="0">
                <a:solidFill>
                  <a:srgbClr val="1E3A5F"/>
                </a:solidFill>
                <a:latin typeface="Calibri" pitchFamily="34" charset="0"/>
                <a:ea typeface="Calibri" pitchFamily="34" charset="-122"/>
                <a:cs typeface="Calibri" pitchFamily="34" charset="-120"/>
              </a:rPr>
              <a:t> member variable</a:t>
            </a:r>
          </a:p>
        </p:txBody>
      </p:sp>
      <p:sp>
        <p:nvSpPr>
          <p:cNvPr id="6" name="Text 2">
            <a:extLst>
              <a:ext uri="{FF2B5EF4-FFF2-40B4-BE49-F238E27FC236}">
                <a16:creationId xmlns:a16="http://schemas.microsoft.com/office/drawing/2014/main" id="{CFCF0294-A0C8-BFDF-EC08-5175232CD1DC}"/>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 </a:t>
            </a:r>
            <a:r>
              <a:rPr lang="en-US" sz="1900" b="1" dirty="0" err="1">
                <a:solidFill>
                  <a:srgbClr val="FFFFFF"/>
                </a:solidFill>
                <a:latin typeface="Georgia" pitchFamily="34" charset="0"/>
                <a:ea typeface="Georgia" pitchFamily="34" charset="-122"/>
                <a:cs typeface="Georgia" pitchFamily="34" charset="-120"/>
              </a:rPr>
              <a:t>SingletonBase</a:t>
            </a:r>
            <a:endParaRPr lang="en-US" sz="1900" strike="sngStrike" dirty="0"/>
          </a:p>
        </p:txBody>
      </p:sp>
      <p:sp>
        <p:nvSpPr>
          <p:cNvPr id="4" name="Text 3">
            <a:extLst>
              <a:ext uri="{FF2B5EF4-FFF2-40B4-BE49-F238E27FC236}">
                <a16:creationId xmlns:a16="http://schemas.microsoft.com/office/drawing/2014/main" id="{36EA153C-A885-BF5D-E0DE-2F654E76A46B}"/>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err="1">
                <a:solidFill>
                  <a:srgbClr val="F59E0B"/>
                </a:solidFill>
                <a:latin typeface="Calibri" pitchFamily="34" charset="0"/>
                <a:ea typeface="Calibri" pitchFamily="34" charset="-122"/>
                <a:cs typeface="Calibri" pitchFamily="34" charset="-120"/>
              </a:rPr>
              <a:t>SingletonBase</a:t>
            </a:r>
            <a:r>
              <a:rPr lang="en-US" sz="1000" b="1" kern="0" spc="300" dirty="0">
                <a:solidFill>
                  <a:srgbClr val="F59E0B"/>
                </a:solidFill>
                <a:latin typeface="Calibri" pitchFamily="34" charset="0"/>
                <a:ea typeface="Calibri" pitchFamily="34" charset="-122"/>
                <a:cs typeface="Calibri" pitchFamily="34" charset="-120"/>
              </a:rPr>
              <a:t> Usage example</a:t>
            </a:r>
            <a:endParaRPr lang="en-US" sz="1000" dirty="0"/>
          </a:p>
        </p:txBody>
      </p:sp>
      <p:sp>
        <p:nvSpPr>
          <p:cNvPr id="8" name="Text 6">
            <a:extLst>
              <a:ext uri="{FF2B5EF4-FFF2-40B4-BE49-F238E27FC236}">
                <a16:creationId xmlns:a16="http://schemas.microsoft.com/office/drawing/2014/main" id="{160F906E-9EA3-20DB-4713-506A22588074}"/>
              </a:ext>
            </a:extLst>
          </p:cNvPr>
          <p:cNvSpPr/>
          <p:nvPr/>
        </p:nvSpPr>
        <p:spPr>
          <a:xfrm>
            <a:off x="292607" y="841248"/>
            <a:ext cx="4279393" cy="4000500"/>
          </a:xfrm>
          <a:prstGeom prst="rect">
            <a:avLst/>
          </a:prstGeom>
          <a:solidFill>
            <a:srgbClr val="0D1117"/>
          </a:solidFill>
          <a:ln/>
        </p:spPr>
        <p:txBody>
          <a:bodyPr wrap="square" lIns="182880" tIns="91440" rIns="182880" bIns="91440" rtlCol="0" anchor="t"/>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class</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SingletonBase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 {</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void</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startExposure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void</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stopExposure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int</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exposureTime_ms</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const</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void</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setExposureTime_ms</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int</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private:</a:t>
            </a: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23921416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80F7F-D9B6-D815-0D7E-D8033A3BA08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610CBB7-7D22-35B9-BA2C-A88E0FCFF5F8}"/>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B2BBBE91-6B49-5CDB-BB17-3E3CDD1673AD}"/>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6" name="Text 2">
            <a:extLst>
              <a:ext uri="{FF2B5EF4-FFF2-40B4-BE49-F238E27FC236}">
                <a16:creationId xmlns:a16="http://schemas.microsoft.com/office/drawing/2014/main" id="{BC19FC57-C5D4-EDAD-996D-595C5C690BEA}"/>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 </a:t>
            </a:r>
            <a:r>
              <a:rPr lang="en-US" sz="1900" b="1" dirty="0" err="1">
                <a:solidFill>
                  <a:srgbClr val="FFFFFF"/>
                </a:solidFill>
                <a:latin typeface="Georgia" pitchFamily="34" charset="0"/>
                <a:ea typeface="Georgia" pitchFamily="34" charset="-122"/>
                <a:cs typeface="Georgia" pitchFamily="34" charset="-120"/>
              </a:rPr>
              <a:t>SingletonBase</a:t>
            </a:r>
            <a:endParaRPr lang="en-US" sz="1900" strike="sngStrike" dirty="0"/>
          </a:p>
        </p:txBody>
      </p:sp>
      <p:sp>
        <p:nvSpPr>
          <p:cNvPr id="4" name="Text 3">
            <a:extLst>
              <a:ext uri="{FF2B5EF4-FFF2-40B4-BE49-F238E27FC236}">
                <a16:creationId xmlns:a16="http://schemas.microsoft.com/office/drawing/2014/main" id="{59895982-7B0C-7753-F350-375BCECD9901}"/>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err="1">
                <a:solidFill>
                  <a:srgbClr val="F59E0B"/>
                </a:solidFill>
                <a:latin typeface="Calibri" pitchFamily="34" charset="0"/>
                <a:ea typeface="Calibri" pitchFamily="34" charset="-122"/>
                <a:cs typeface="Calibri" pitchFamily="34" charset="-120"/>
              </a:rPr>
              <a:t>SingletonBase</a:t>
            </a:r>
            <a:r>
              <a:rPr lang="en-US" sz="1000" b="1" kern="0" spc="300" dirty="0">
                <a:solidFill>
                  <a:srgbClr val="F59E0B"/>
                </a:solidFill>
                <a:latin typeface="Calibri" pitchFamily="34" charset="0"/>
                <a:ea typeface="Calibri" pitchFamily="34" charset="-122"/>
                <a:cs typeface="Calibri" pitchFamily="34" charset="-120"/>
              </a:rPr>
              <a:t> Usage example</a:t>
            </a:r>
            <a:endParaRPr lang="en-US" sz="1000" dirty="0"/>
          </a:p>
        </p:txBody>
      </p:sp>
      <p:sp>
        <p:nvSpPr>
          <p:cNvPr id="8" name="Text 6">
            <a:extLst>
              <a:ext uri="{FF2B5EF4-FFF2-40B4-BE49-F238E27FC236}">
                <a16:creationId xmlns:a16="http://schemas.microsoft.com/office/drawing/2014/main" id="{DC0DE0DF-AEF8-DC42-96B8-735B5DB57D57}"/>
              </a:ext>
            </a:extLst>
          </p:cNvPr>
          <p:cNvSpPr/>
          <p:nvPr/>
        </p:nvSpPr>
        <p:spPr>
          <a:xfrm>
            <a:off x="292607" y="841248"/>
            <a:ext cx="4279393" cy="4000500"/>
          </a:xfrm>
          <a:prstGeom prst="rect">
            <a:avLst/>
          </a:prstGeom>
          <a:solidFill>
            <a:srgbClr val="0D1117"/>
          </a:solidFill>
          <a:ln/>
        </p:spPr>
        <p:txBody>
          <a:bodyPr wrap="square" lIns="182880" tIns="91440" rIns="182880" bIns="91440" rtlCol="0" anchor="t"/>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class</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SingletonBase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 {</a:t>
            </a:r>
          </a:p>
          <a:p>
            <a:pPr>
              <a:lnSpc>
                <a:spcPts val="1425"/>
              </a:lnSpc>
              <a:defRPr/>
            </a:pPr>
            <a:r>
              <a:rPr lang="en-US" sz="1000" dirty="0">
                <a:solidFill>
                  <a:srgbClr val="D4D4D4"/>
                </a:solidFill>
                <a:latin typeface="Consolas" panose="020B0609020204030204" pitchFamily="49" charset="0"/>
              </a:rPr>
              <a:t>    </a:t>
            </a:r>
            <a:r>
              <a:rPr lang="en-US" sz="1000" dirty="0">
                <a:solidFill>
                  <a:srgbClr val="569CD6"/>
                </a:solidFill>
                <a:highlight>
                  <a:srgbClr val="1E3A5F"/>
                </a:highlight>
                <a:latin typeface="Consolas" panose="020B0609020204030204" pitchFamily="49" charset="0"/>
              </a:rPr>
              <a:t>friend class </a:t>
            </a:r>
            <a:r>
              <a:rPr lang="en-US" sz="1000" dirty="0" err="1">
                <a:solidFill>
                  <a:srgbClr val="4EC9B0"/>
                </a:solidFill>
                <a:highlight>
                  <a:srgbClr val="1E3A5F"/>
                </a:highlight>
                <a:latin typeface="Consolas" panose="020B0609020204030204" pitchFamily="49" charset="0"/>
              </a:rPr>
              <a:t>SingletonBase</a:t>
            </a:r>
            <a:r>
              <a:rPr lang="en-US" sz="1000" dirty="0">
                <a:solidFill>
                  <a:srgbClr val="569CD6"/>
                </a:solidFill>
                <a:highlight>
                  <a:srgbClr val="1E3A5F"/>
                </a:highlight>
                <a:latin typeface="Consolas" panose="020B0609020204030204" pitchFamily="49" charset="0"/>
              </a:rPr>
              <a:t>&lt;</a:t>
            </a:r>
            <a:r>
              <a:rPr lang="en-US" sz="1000" dirty="0" err="1">
                <a:solidFill>
                  <a:srgbClr val="4EC9B0"/>
                </a:solidFill>
                <a:highlight>
                  <a:srgbClr val="1E3A5F"/>
                </a:highlight>
                <a:latin typeface="Consolas" panose="020B0609020204030204" pitchFamily="49" charset="0"/>
              </a:rPr>
              <a:t>XRayMachine</a:t>
            </a:r>
            <a:r>
              <a:rPr lang="en-US" sz="1000" dirty="0">
                <a:solidFill>
                  <a:srgbClr val="569CD6"/>
                </a:solidFill>
                <a:highlight>
                  <a:srgbClr val="1E3A5F"/>
                </a:highlight>
                <a:latin typeface="Consolas" panose="020B0609020204030204" pitchFamily="49" charset="0"/>
              </a:rPr>
              <a:t>&gt;;</a:t>
            </a:r>
            <a:endParaRPr lang="en-US" sz="1000" dirty="0">
              <a:solidFill>
                <a:srgbClr val="D4D4D4"/>
              </a:solidFill>
              <a:highlight>
                <a:srgbClr val="1E3A5F"/>
              </a:highlight>
              <a:latin typeface="Consolas" panose="020B0609020204030204" pitchFamily="49" charset="0"/>
            </a:endParaRPr>
          </a:p>
          <a:p>
            <a:pPr>
              <a:lnSpc>
                <a:spcPts val="1425"/>
              </a:lnSpc>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lang="en-US" sz="1000" dirty="0">
                <a:solidFill>
                  <a:srgbClr val="569CD6"/>
                </a:solidFill>
                <a:highlight>
                  <a:srgbClr val="1E3A5F"/>
                </a:highlight>
                <a:latin typeface="Consolas" panose="020B0609020204030204" pitchFamily="49" charset="0"/>
              </a:rPr>
              <a:t>friend class </a:t>
            </a:r>
            <a:r>
              <a:rPr lang="en-US" sz="1000" dirty="0" err="1">
                <a:solidFill>
                  <a:srgbClr val="4EC9B0"/>
                </a:solidFill>
                <a:highlight>
                  <a:srgbClr val="1E3A5F"/>
                </a:highlight>
                <a:latin typeface="Consolas" panose="020B0609020204030204" pitchFamily="49" charset="0"/>
              </a:rPr>
              <a:t>ScopedSingletonState</a:t>
            </a:r>
            <a:r>
              <a:rPr lang="en-US" sz="1000" dirty="0">
                <a:solidFill>
                  <a:srgbClr val="569CD6"/>
                </a:solidFill>
                <a:highlight>
                  <a:srgbClr val="1E3A5F"/>
                </a:highlight>
                <a:latin typeface="Consolas" panose="020B0609020204030204" pitchFamily="49" charset="0"/>
              </a:rPr>
              <a:t>&lt;</a:t>
            </a:r>
            <a:r>
              <a:rPr lang="en-US" sz="1000" dirty="0" err="1">
                <a:solidFill>
                  <a:srgbClr val="4EC9B0"/>
                </a:solidFill>
                <a:highlight>
                  <a:srgbClr val="1E3A5F"/>
                </a:highlight>
                <a:latin typeface="Consolas" panose="020B0609020204030204" pitchFamily="49" charset="0"/>
              </a:rPr>
              <a:t>XRayMachine</a:t>
            </a:r>
            <a:r>
              <a:rPr lang="en-US" sz="1000" dirty="0">
                <a:solidFill>
                  <a:srgbClr val="569CD6"/>
                </a:solidFill>
                <a:highlight>
                  <a:srgbClr val="1E3A5F"/>
                </a:highlight>
                <a:latin typeface="Consolas" panose="020B0609020204030204" pitchFamily="49" charset="0"/>
              </a:rPr>
              <a:t>&gt;;</a:t>
            </a:r>
            <a:endParaRPr lang="en-US" sz="1000" dirty="0">
              <a:solidFill>
                <a:srgbClr val="D4D4D4"/>
              </a:solidFill>
              <a:highlight>
                <a:srgbClr val="1E3A5F"/>
              </a:highlight>
              <a:latin typeface="Consolas" panose="020B0609020204030204" pitchFamily="49" charset="0"/>
            </a:endParaRPr>
          </a:p>
          <a:p>
            <a:pPr marL="0" marR="0" lvl="0" indent="0" algn="l" defTabSz="914400" rtl="0" eaLnBrk="1" fontAlgn="auto" latinLnBrk="0" hangingPunct="1">
              <a:lnSpc>
                <a:spcPts val="1425"/>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void</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startExposure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void</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stopExposure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int</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exposureTime_ms</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const</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void</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setExposureTime_ms</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int</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private:</a:t>
            </a: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p:txBody>
      </p:sp>
      <p:sp>
        <p:nvSpPr>
          <p:cNvPr id="5" name="Text 4">
            <a:extLst>
              <a:ext uri="{FF2B5EF4-FFF2-40B4-BE49-F238E27FC236}">
                <a16:creationId xmlns:a16="http://schemas.microsoft.com/office/drawing/2014/main" id="{06929E07-F7F7-AD5A-A6C5-56C3679C23B4}"/>
              </a:ext>
            </a:extLst>
          </p:cNvPr>
          <p:cNvSpPr/>
          <p:nvPr/>
        </p:nvSpPr>
        <p:spPr>
          <a:xfrm>
            <a:off x="4636007" y="850392"/>
            <a:ext cx="4279393" cy="4037076"/>
          </a:xfrm>
          <a:prstGeom prst="rect">
            <a:avLst/>
          </a:prstGeom>
          <a:noFill/>
          <a:ln/>
        </p:spPr>
        <p:txBody>
          <a:bodyPr wrap="square" rtlCol="0" anchor="t"/>
          <a:lstStyle/>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This can be solved easily by making our singleton befriend </a:t>
            </a:r>
            <a:r>
              <a:rPr lang="en-US" sz="1600" dirty="0" err="1">
                <a:solidFill>
                  <a:srgbClr val="4EC9B0"/>
                </a:solidFill>
                <a:latin typeface="Consolas" panose="020B0609020204030204" pitchFamily="49" charset="0"/>
              </a:rPr>
              <a:t>SingletonBase</a:t>
            </a:r>
            <a:r>
              <a:rPr lang="en-US" sz="1600" dirty="0">
                <a:latin typeface="Consolas" panose="020B0609020204030204" pitchFamily="49" charset="0"/>
              </a:rPr>
              <a:t>&lt;</a:t>
            </a:r>
            <a:r>
              <a:rPr lang="en-US" sz="1600" dirty="0" err="1">
                <a:solidFill>
                  <a:srgbClr val="4EC9B0"/>
                </a:solidFill>
                <a:latin typeface="Consolas" panose="020B0609020204030204" pitchFamily="49" charset="0"/>
              </a:rPr>
              <a:t>XRayMachine</a:t>
            </a:r>
            <a:r>
              <a:rPr lang="en-US" sz="1600" dirty="0">
                <a:latin typeface="Consolas" panose="020B0609020204030204" pitchFamily="49" charset="0"/>
              </a:rPr>
              <a:t>&gt; </a:t>
            </a:r>
            <a:r>
              <a:rPr lang="en-US" sz="1600" dirty="0">
                <a:solidFill>
                  <a:srgbClr val="1E3A5F"/>
                </a:solidFill>
                <a:latin typeface="Calibri" pitchFamily="34" charset="0"/>
                <a:ea typeface="Calibri" pitchFamily="34" charset="-122"/>
                <a:cs typeface="Calibri" pitchFamily="34" charset="-120"/>
              </a:rPr>
              <a:t>and </a:t>
            </a:r>
            <a:r>
              <a:rPr lang="en-US" sz="1600" dirty="0" err="1">
                <a:solidFill>
                  <a:srgbClr val="4EC9B0"/>
                </a:solidFill>
                <a:latin typeface="Consolas" panose="020B0609020204030204" pitchFamily="49" charset="0"/>
              </a:rPr>
              <a:t>ScopedSingletonState</a:t>
            </a:r>
            <a:r>
              <a:rPr lang="en-US" sz="1600" dirty="0">
                <a:latin typeface="Consolas" panose="020B0609020204030204" pitchFamily="49" charset="0"/>
              </a:rPr>
              <a:t>&lt;</a:t>
            </a:r>
            <a:r>
              <a:rPr lang="en-US" sz="1600" dirty="0" err="1">
                <a:solidFill>
                  <a:srgbClr val="4EC9B0"/>
                </a:solidFill>
                <a:latin typeface="Consolas" panose="020B0609020204030204" pitchFamily="49" charset="0"/>
              </a:rPr>
              <a:t>XRayMachine</a:t>
            </a:r>
            <a:r>
              <a:rPr lang="en-US" sz="1600" dirty="0">
                <a:latin typeface="Consolas" panose="020B0609020204030204" pitchFamily="49" charset="0"/>
              </a:rPr>
              <a:t>&gt;</a:t>
            </a: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Now </a:t>
            </a:r>
            <a:r>
              <a:rPr lang="en-US" sz="1600" dirty="0" err="1">
                <a:solidFill>
                  <a:srgbClr val="1E3A5F"/>
                </a:solidFill>
                <a:latin typeface="Calibri" pitchFamily="34" charset="0"/>
                <a:ea typeface="Calibri" pitchFamily="34" charset="-122"/>
                <a:cs typeface="Calibri" pitchFamily="34" charset="-120"/>
              </a:rPr>
              <a:t>defaultInstance</a:t>
            </a:r>
            <a:r>
              <a:rPr lang="en-US" sz="1600" dirty="0">
                <a:solidFill>
                  <a:srgbClr val="1E3A5F"/>
                </a:solidFill>
                <a:latin typeface="Calibri" pitchFamily="34" charset="0"/>
                <a:ea typeface="Calibri" pitchFamily="34" charset="-122"/>
                <a:cs typeface="Calibri" pitchFamily="34" charset="-120"/>
              </a:rPr>
              <a:t> works fine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And we can create as much </a:t>
            </a:r>
            <a:r>
              <a:rPr lang="en-US" sz="1600" dirty="0" err="1">
                <a:solidFill>
                  <a:srgbClr val="1E3A5F"/>
                </a:solidFill>
                <a:latin typeface="Calibri" pitchFamily="34" charset="0"/>
                <a:ea typeface="Calibri" pitchFamily="34" charset="-122"/>
                <a:cs typeface="Calibri" pitchFamily="34" charset="-120"/>
              </a:rPr>
              <a:t>ScopedSingletonStates</a:t>
            </a:r>
            <a:r>
              <a:rPr lang="en-US" sz="1600" dirty="0">
                <a:solidFill>
                  <a:srgbClr val="1E3A5F"/>
                </a:solidFill>
                <a:latin typeface="Calibri" pitchFamily="34" charset="0"/>
                <a:ea typeface="Calibri" pitchFamily="34" charset="-122"/>
                <a:cs typeface="Calibri" pitchFamily="34" charset="-120"/>
              </a:rPr>
              <a:t> as we want</a:t>
            </a:r>
          </a:p>
        </p:txBody>
      </p:sp>
    </p:spTree>
    <p:extLst>
      <p:ext uri="{BB962C8B-B14F-4D97-AF65-F5344CB8AC3E}">
        <p14:creationId xmlns:p14="http://schemas.microsoft.com/office/powerpoint/2010/main" val="14727947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219CB-1648-B4D6-A9CE-4BCBDCA0FA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1C993F4-5870-63CA-8014-AAEE66BE61DA}"/>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A9AC51B6-7EBE-C40B-BB46-23E7D1E46506}"/>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6" name="Text 2">
            <a:extLst>
              <a:ext uri="{FF2B5EF4-FFF2-40B4-BE49-F238E27FC236}">
                <a16:creationId xmlns:a16="http://schemas.microsoft.com/office/drawing/2014/main" id="{0F177494-A5F7-E163-50D8-E7C6ADA02B5F}"/>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 </a:t>
            </a:r>
            <a:r>
              <a:rPr lang="en-US" sz="1900" b="1" dirty="0" err="1">
                <a:solidFill>
                  <a:srgbClr val="FFFFFF"/>
                </a:solidFill>
                <a:latin typeface="Georgia" pitchFamily="34" charset="0"/>
                <a:ea typeface="Georgia" pitchFamily="34" charset="-122"/>
                <a:cs typeface="Georgia" pitchFamily="34" charset="-120"/>
              </a:rPr>
              <a:t>SingletonBase</a:t>
            </a:r>
            <a:endParaRPr lang="en-US" sz="1900" strike="sngStrike" dirty="0"/>
          </a:p>
        </p:txBody>
      </p:sp>
      <p:sp>
        <p:nvSpPr>
          <p:cNvPr id="4" name="Text 3">
            <a:extLst>
              <a:ext uri="{FF2B5EF4-FFF2-40B4-BE49-F238E27FC236}">
                <a16:creationId xmlns:a16="http://schemas.microsoft.com/office/drawing/2014/main" id="{F3DC9B87-CE6A-1134-A0B1-D34C595D55E6}"/>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The PM_SINGLETON macro</a:t>
            </a:r>
            <a:endParaRPr lang="en-US" sz="1000" dirty="0"/>
          </a:p>
        </p:txBody>
      </p:sp>
      <p:sp>
        <p:nvSpPr>
          <p:cNvPr id="8" name="Text 6">
            <a:extLst>
              <a:ext uri="{FF2B5EF4-FFF2-40B4-BE49-F238E27FC236}">
                <a16:creationId xmlns:a16="http://schemas.microsoft.com/office/drawing/2014/main" id="{A6128982-0326-DE18-4E52-E56692B6EE07}"/>
              </a:ext>
            </a:extLst>
          </p:cNvPr>
          <p:cNvSpPr/>
          <p:nvPr/>
        </p:nvSpPr>
        <p:spPr>
          <a:xfrm>
            <a:off x="292607" y="841248"/>
            <a:ext cx="4987059"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C586C0"/>
                </a:solidFill>
                <a:effectLst/>
                <a:latin typeface="Consolas" panose="020B0609020204030204" pitchFamily="49" charset="0"/>
              </a:rPr>
              <a:t>#define</a:t>
            </a:r>
            <a:r>
              <a:rPr lang="en-US" sz="1000" b="0" dirty="0">
                <a:solidFill>
                  <a:srgbClr val="569CD6"/>
                </a:solidFill>
                <a:effectLst/>
                <a:latin typeface="Consolas" panose="020B0609020204030204" pitchFamily="49" charset="0"/>
              </a:rPr>
              <a:t> PM_SINGLETON(</a:t>
            </a:r>
            <a:r>
              <a:rPr lang="en-US" sz="1000" b="0" dirty="0">
                <a:solidFill>
                  <a:srgbClr val="9CDCFE"/>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a:solidFill>
                  <a:srgbClr val="4EC9B0"/>
                </a:solidFill>
                <a:effectLst/>
                <a:latin typeface="Consolas" panose="020B0609020204030204" pitchFamily="49" charset="0"/>
              </a:rPr>
              <a:t>PM</a:t>
            </a:r>
            <a:r>
              <a:rPr lang="en-US" sz="1000" b="0" dirty="0">
                <a:solidFill>
                  <a:srgbClr val="569CD6"/>
                </a:solidFill>
                <a:effectLst/>
                <a:latin typeface="Consolas" panose="020B0609020204030204" pitchFamily="49" charset="0"/>
              </a:rPr>
              <a:t>::</a:t>
            </a:r>
            <a:r>
              <a:rPr lang="en-US" sz="1000" b="0" dirty="0">
                <a:solidFill>
                  <a:srgbClr val="4EC9B0"/>
                </a:solidFill>
                <a:effectLst/>
                <a:latin typeface="Consolas" panose="020B0609020204030204" pitchFamily="49" charset="0"/>
              </a:rPr>
              <a:t>internal</a:t>
            </a:r>
            <a:r>
              <a:rPr lang="en-US" sz="1000" b="0" dirty="0">
                <a:solidFill>
                  <a:srgbClr val="569CD6"/>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SingletonBase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a:solidFill>
                  <a:srgbClr val="4EC9B0"/>
                </a:solidFill>
                <a:effectLst/>
                <a:latin typeface="Consolas" panose="020B0609020204030204" pitchFamily="49" charset="0"/>
              </a:rPr>
              <a:t>PM</a:t>
            </a:r>
            <a:r>
              <a:rPr lang="en-US" sz="1000" b="0" dirty="0">
                <a:solidFill>
                  <a:srgbClr val="569CD6"/>
                </a:solidFill>
                <a:effectLst/>
                <a:latin typeface="Consolas" panose="020B0609020204030204" pitchFamily="49" charset="0"/>
              </a:rPr>
              <a:t>::</a:t>
            </a:r>
            <a:r>
              <a:rPr lang="en-US" sz="1000" b="0" dirty="0">
                <a:solidFill>
                  <a:srgbClr val="4EC9B0"/>
                </a:solidFill>
                <a:effectLst/>
                <a:latin typeface="Consolas" panose="020B0609020204030204" pitchFamily="49" charset="0"/>
              </a:rPr>
              <a:t>internal</a:t>
            </a:r>
            <a:r>
              <a:rPr lang="en-US" sz="1000" b="0" dirty="0">
                <a:solidFill>
                  <a:srgbClr val="569CD6"/>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ScopedSingletonState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a:t>
            </a:r>
            <a:endParaRPr lang="en-US" sz="1000" b="0" dirty="0">
              <a:solidFill>
                <a:srgbClr val="D4D4D4"/>
              </a:solidFill>
              <a:effectLst/>
              <a:latin typeface="Consolas" panose="020B0609020204030204" pitchFamily="49" charset="0"/>
            </a:endParaRPr>
          </a:p>
          <a:p>
            <a:pPr marL="0" marR="0" lvl="0" indent="0" algn="l" defTabSz="914400" rtl="0" eaLnBrk="1" fontAlgn="auto" latinLnBrk="0" hangingPunct="1">
              <a:lnSpc>
                <a:spcPts val="1425"/>
              </a:lnSpc>
              <a:spcBef>
                <a:spcPts val="0"/>
              </a:spcBef>
              <a:spcAft>
                <a:spcPts val="0"/>
              </a:spcAft>
              <a:buClrTx/>
              <a:buSzTx/>
              <a:buFontTx/>
              <a:buNone/>
              <a:tabLst/>
              <a:defRPr/>
            </a:pPr>
            <a:endParaRPr lang="en-US" sz="1000" dirty="0">
              <a:solidFill>
                <a:srgbClr val="569CD6"/>
              </a:solidFill>
              <a:latin typeface="Consolas" panose="020B0609020204030204" pitchFamily="49" charset="0"/>
            </a:endParaRPr>
          </a:p>
          <a:p>
            <a:pPr marL="0" marR="0" lvl="0" indent="0" algn="l" defTabSz="914400" rtl="0" eaLnBrk="1" fontAlgn="auto" latinLnBrk="0" hangingPunct="1">
              <a:lnSpc>
                <a:spcPts val="1425"/>
              </a:lnSpc>
              <a:spcBef>
                <a:spcPts val="0"/>
              </a:spcBef>
              <a:spcAft>
                <a:spcPts val="0"/>
              </a:spcAft>
              <a:buClrTx/>
              <a:buSzTx/>
              <a:buFontTx/>
              <a:buNone/>
              <a:tabLst/>
              <a:defRPr/>
            </a:pPr>
            <a:endParaRPr lang="en-US" sz="1000" dirty="0">
              <a:solidFill>
                <a:srgbClr val="569CD6"/>
              </a:solidFill>
              <a:latin typeface="Consolas" panose="020B0609020204030204" pitchFamily="49" charset="0"/>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class</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SingletonBase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 {</a:t>
            </a:r>
          </a:p>
          <a:p>
            <a:pPr lvl="0">
              <a:lnSpc>
                <a:spcPts val="1425"/>
              </a:lnSpc>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lang="en-US" sz="1000" dirty="0">
                <a:solidFill>
                  <a:srgbClr val="569CD6"/>
                </a:solidFill>
                <a:latin typeface="Consolas" panose="020B0609020204030204" pitchFamily="49" charset="0"/>
              </a:rPr>
              <a:t>PM_SINGLETON(</a:t>
            </a:r>
            <a:r>
              <a:rPr lang="en-US" sz="1000" dirty="0" err="1">
                <a:solidFill>
                  <a:srgbClr val="4EC9B0"/>
                </a:solidFill>
                <a:latin typeface="Consolas" panose="020B0609020204030204" pitchFamily="49" charset="0"/>
              </a:rPr>
              <a:t>XRayMachine</a:t>
            </a:r>
            <a:r>
              <a:rPr lang="en-US" sz="1000" dirty="0">
                <a:solidFill>
                  <a:srgbClr val="569CD6"/>
                </a:solidFill>
                <a:latin typeface="Consolas" panose="020B0609020204030204" pitchFamily="49" charset="0"/>
              </a:rPr>
              <a:t>)</a:t>
            </a:r>
          </a:p>
          <a:p>
            <a:pPr lvl="0">
              <a:lnSpc>
                <a:spcPts val="1425"/>
              </a:lnSpc>
              <a:defRPr/>
            </a:pP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void</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startExposure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void</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stopExposure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int</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exposureTime_ms</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const</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void</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setExposureTime_ms</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int</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private:</a:t>
            </a: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p:txBody>
      </p:sp>
      <p:sp>
        <p:nvSpPr>
          <p:cNvPr id="5" name="Text 4">
            <a:extLst>
              <a:ext uri="{FF2B5EF4-FFF2-40B4-BE49-F238E27FC236}">
                <a16:creationId xmlns:a16="http://schemas.microsoft.com/office/drawing/2014/main" id="{29D6B6C1-E82F-AE47-4A84-101C8802720E}"/>
              </a:ext>
            </a:extLst>
          </p:cNvPr>
          <p:cNvSpPr/>
          <p:nvPr/>
        </p:nvSpPr>
        <p:spPr>
          <a:xfrm>
            <a:off x="5367130" y="850392"/>
            <a:ext cx="3548270" cy="4037076"/>
          </a:xfrm>
          <a:prstGeom prst="rect">
            <a:avLst/>
          </a:prstGeom>
          <a:noFill/>
          <a:ln/>
        </p:spPr>
        <p:txBody>
          <a:bodyPr wrap="square" rtlCol="0" anchor="t"/>
          <a:lstStyle/>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We wouldn’t want everyone using our </a:t>
            </a:r>
            <a:r>
              <a:rPr lang="en-US" sz="1600" dirty="0" err="1">
                <a:solidFill>
                  <a:srgbClr val="1E3A5F"/>
                </a:solidFill>
                <a:latin typeface="Calibri" pitchFamily="34" charset="0"/>
                <a:ea typeface="Calibri" pitchFamily="34" charset="-122"/>
                <a:cs typeface="Calibri" pitchFamily="34" charset="-120"/>
              </a:rPr>
              <a:t>SingletonBase</a:t>
            </a:r>
            <a:r>
              <a:rPr lang="en-US" sz="1600" dirty="0">
                <a:solidFill>
                  <a:srgbClr val="1E3A5F"/>
                </a:solidFill>
                <a:latin typeface="Calibri" pitchFamily="34" charset="0"/>
                <a:ea typeface="Calibri" pitchFamily="34" charset="-122"/>
                <a:cs typeface="Calibri" pitchFamily="34" charset="-120"/>
              </a:rPr>
              <a:t> to retype these two friend statements in each class they have</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This is one of the very few times where macros are actually very helpful</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We Simply define a macro that takes in the name of the class and writes the two friend statements for us</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Everyone who wants to use </a:t>
            </a:r>
            <a:r>
              <a:rPr lang="en-US" sz="1600" dirty="0" err="1">
                <a:solidFill>
                  <a:srgbClr val="1E3A5F"/>
                </a:solidFill>
                <a:latin typeface="Calibri" pitchFamily="34" charset="0"/>
                <a:ea typeface="Calibri" pitchFamily="34" charset="-122"/>
                <a:cs typeface="Calibri" pitchFamily="34" charset="-120"/>
              </a:rPr>
              <a:t>SingletonBase</a:t>
            </a:r>
            <a:r>
              <a:rPr lang="en-US" sz="1600" dirty="0">
                <a:solidFill>
                  <a:srgbClr val="1E3A5F"/>
                </a:solidFill>
                <a:latin typeface="Calibri" pitchFamily="34" charset="0"/>
                <a:ea typeface="Calibri" pitchFamily="34" charset="-122"/>
                <a:cs typeface="Calibri" pitchFamily="34" charset="-120"/>
              </a:rPr>
              <a:t> can simply use this macro instead of manually retyping these statements</a:t>
            </a:r>
          </a:p>
        </p:txBody>
      </p:sp>
    </p:spTree>
    <p:extLst>
      <p:ext uri="{BB962C8B-B14F-4D97-AF65-F5344CB8AC3E}">
        <p14:creationId xmlns:p14="http://schemas.microsoft.com/office/powerpoint/2010/main" val="14594286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8388A-105D-5548-3B48-4D62F7AC09E9}"/>
            </a:ext>
          </a:extLst>
        </p:cNvPr>
        <p:cNvGrpSpPr/>
        <p:nvPr/>
      </p:nvGrpSpPr>
      <p:grpSpPr>
        <a:xfrm>
          <a:off x="0" y="0"/>
          <a:ext cx="0" cy="0"/>
          <a:chOff x="0" y="0"/>
          <a:chExt cx="0" cy="0"/>
        </a:xfrm>
      </p:grpSpPr>
      <p:sp>
        <p:nvSpPr>
          <p:cNvPr id="10" name="Text 6">
            <a:extLst>
              <a:ext uri="{FF2B5EF4-FFF2-40B4-BE49-F238E27FC236}">
                <a16:creationId xmlns:a16="http://schemas.microsoft.com/office/drawing/2014/main" id="{38CEC6D8-6F03-6212-1585-3972ABB47B5D}"/>
              </a:ext>
            </a:extLst>
          </p:cNvPr>
          <p:cNvSpPr/>
          <p:nvPr/>
        </p:nvSpPr>
        <p:spPr>
          <a:xfrm>
            <a:off x="292608" y="886968"/>
            <a:ext cx="5400526" cy="395478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6A9955"/>
                </a:solidFill>
                <a:effectLst/>
                <a:latin typeface="Consolas" panose="020B0609020204030204" pitchFamily="49" charset="0"/>
              </a:rPr>
              <a:t>// API user point of view</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someUserFunction</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6A9955"/>
                </a:solidFill>
                <a:effectLst/>
                <a:latin typeface="Consolas" panose="020B0609020204030204" pitchFamily="49" charset="0"/>
              </a:rPr>
              <a:t>    // Constructor is not </a:t>
            </a:r>
            <a:r>
              <a:rPr lang="en-US" sz="1000" b="0" dirty="0" err="1">
                <a:solidFill>
                  <a:srgbClr val="6A9955"/>
                </a:solidFill>
                <a:effectLst/>
                <a:latin typeface="Consolas" panose="020B0609020204030204" pitchFamily="49" charset="0"/>
              </a:rPr>
              <a:t>accesible</a:t>
            </a:r>
            <a:r>
              <a:rPr lang="en-US" sz="1000" b="0" dirty="0">
                <a:solidFill>
                  <a:srgbClr val="6A9955"/>
                </a:solidFill>
                <a:effectLst/>
                <a:latin typeface="Consolas" panose="020B0609020204030204" pitchFamily="49" charset="0"/>
              </a:rPr>
              <a:t> at all</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Cannot create another instance </a:t>
            </a:r>
            <a:r>
              <a:rPr lang="en-US" sz="1000" b="0" dirty="0" err="1">
                <a:solidFill>
                  <a:srgbClr val="6A9955"/>
                </a:solidFill>
                <a:effectLst/>
                <a:latin typeface="Consolas" panose="020B0609020204030204" pitchFamily="49" charset="0"/>
              </a:rPr>
              <a:t>accedintally</a:t>
            </a:r>
            <a:endParaRPr lang="en-US" sz="1000" b="0" dirty="0">
              <a:solidFill>
                <a:srgbClr val="D4D4D4"/>
              </a:solidFill>
              <a:effectLst/>
              <a:latin typeface="Consolas" panose="020B0609020204030204" pitchFamily="49" charset="0"/>
            </a:endParaRPr>
          </a:p>
          <a:p>
            <a:pPr>
              <a:lnSpc>
                <a:spcPts val="1425"/>
              </a:lnSpc>
            </a:pPr>
            <a:r>
              <a:rPr lang="en-US" sz="1000" b="0" dirty="0">
                <a:solidFill>
                  <a:srgbClr val="6A9955"/>
                </a:solidFill>
                <a:effectLst/>
                <a:latin typeface="Consolas" panose="020B0609020204030204" pitchFamily="49" charset="0"/>
              </a:rPr>
              <a:t>    // No explicit </a:t>
            </a:r>
            <a:r>
              <a:rPr lang="en-US" sz="1000" dirty="0">
                <a:solidFill>
                  <a:srgbClr val="6A9955"/>
                </a:solidFill>
                <a:latin typeface="Consolas" panose="020B0609020204030204" pitchFamily="49" charset="0"/>
              </a:rPr>
              <a:t>initialization required (</a:t>
            </a:r>
            <a:r>
              <a:rPr lang="en-US" sz="1000" dirty="0" err="1">
                <a:solidFill>
                  <a:srgbClr val="6A9955"/>
                </a:solidFill>
                <a:latin typeface="Consolas" panose="020B0609020204030204" pitchFamily="49" charset="0"/>
              </a:rPr>
              <a:t>defaultInstance</a:t>
            </a:r>
            <a:r>
              <a:rPr lang="en-US" sz="1000" dirty="0">
                <a:solidFill>
                  <a:srgbClr val="6A9955"/>
                </a:solidFill>
                <a:latin typeface="Consolas" panose="020B0609020204030204" pitchFamily="49" charset="0"/>
              </a:rPr>
              <a:t>() is active)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startExposure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Unit test point of view</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bool</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someUnitTestFunction</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6A9955"/>
                </a:solidFill>
                <a:effectLst/>
                <a:latin typeface="Consolas" panose="020B0609020204030204" pitchFamily="49" charset="0"/>
              </a:rPr>
              <a:t>    // Do whatever we want before testing (</a:t>
            </a:r>
            <a:r>
              <a:rPr lang="en-US" sz="1000" b="0" dirty="0" err="1">
                <a:solidFill>
                  <a:srgbClr val="6A9955"/>
                </a:solidFill>
                <a:effectLst/>
                <a:latin typeface="Consolas" panose="020B0609020204030204" pitchFamily="49" charset="0"/>
              </a:rPr>
              <a:t>defaultInstance</a:t>
            </a:r>
            <a:r>
              <a:rPr lang="en-US" sz="1000" b="0" dirty="0">
                <a:solidFill>
                  <a:srgbClr val="6A9955"/>
                </a:solidFill>
                <a:effectLst/>
                <a:latin typeface="Consolas" panose="020B0609020204030204" pitchFamily="49" charset="0"/>
              </a:rPr>
              <a:t>() is active)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6A9955"/>
                </a:solidFill>
                <a:effectLst/>
                <a:latin typeface="Consolas" panose="020B0609020204030204" pitchFamily="49" charset="0"/>
              </a:rPr>
              <a:t>        // Trigger constructor, </a:t>
            </a:r>
            <a:r>
              <a:rPr lang="en-US" sz="1000" b="0" dirty="0" err="1">
                <a:solidFill>
                  <a:srgbClr val="6A9955"/>
                </a:solidFill>
                <a:effectLst/>
                <a:latin typeface="Consolas" panose="020B0609020204030204" pitchFamily="49" charset="0"/>
              </a:rPr>
              <a:t>state.instance</a:t>
            </a:r>
            <a:r>
              <a:rPr lang="en-US" sz="1000" b="0" dirty="0">
                <a:solidFill>
                  <a:srgbClr val="6A9955"/>
                </a:solidFill>
                <a:effectLst/>
                <a:latin typeface="Consolas" panose="020B0609020204030204" pitchFamily="49" charset="0"/>
              </a:rPr>
              <a:t>() is active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ScopedSingletonState</a:t>
            </a:r>
            <a:r>
              <a:rPr lang="en-US" sz="1000" b="0" dirty="0">
                <a:solidFill>
                  <a:srgbClr val="D4D4D4"/>
                </a:solidFill>
                <a:effectLst/>
                <a:latin typeface="Consolas" panose="020B0609020204030204" pitchFamily="49" charset="0"/>
              </a:rPr>
              <a:t>&lt;</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&gt; state;</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Test for initial state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power</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voltage</a:t>
            </a:r>
            <a:r>
              <a:rPr lang="en-US" sz="1000" b="0" dirty="0">
                <a:solidFill>
                  <a:srgbClr val="D4D4D4"/>
                </a:solidFill>
                <a:effectLst/>
                <a:latin typeface="Consolas" panose="020B0609020204030204" pitchFamily="49" charset="0"/>
              </a:rPr>
              <a:t>() == </a:t>
            </a:r>
            <a:r>
              <a:rPr lang="en-US" sz="1000" b="0" dirty="0">
                <a:solidFill>
                  <a:srgbClr val="B5CEA8"/>
                </a:solidFill>
                <a:effectLst/>
                <a:latin typeface="Consolas" panose="020B0609020204030204" pitchFamily="49" charset="0"/>
              </a:rPr>
              <a:t>100</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6A9955"/>
                </a:solidFill>
                <a:effectLst/>
                <a:latin typeface="Consolas" panose="020B0609020204030204" pitchFamily="49" charset="0"/>
              </a:rPr>
              <a:t> // Trigger destructor</a:t>
            </a:r>
          </a:p>
          <a:p>
            <a:pPr>
              <a:lnSpc>
                <a:spcPts val="1425"/>
              </a:lnSpc>
              <a:buNone/>
            </a:pPr>
            <a:endParaRPr lang="en-US" sz="1000" b="0" dirty="0">
              <a:solidFill>
                <a:srgbClr val="6A9955"/>
              </a:solidFill>
              <a:effectLst/>
              <a:latin typeface="Consolas" panose="020B0609020204030204" pitchFamily="49" charset="0"/>
            </a:endParaRPr>
          </a:p>
          <a:p>
            <a:pPr>
              <a:lnSpc>
                <a:spcPts val="1425"/>
              </a:lnSpc>
            </a:pPr>
            <a:r>
              <a:rPr lang="en-US" sz="1000" dirty="0">
                <a:solidFill>
                  <a:srgbClr val="6A9955"/>
                </a:solidFill>
                <a:latin typeface="Consolas" panose="020B0609020204030204" pitchFamily="49" charset="0"/>
              </a:rPr>
              <a:t>    // </a:t>
            </a:r>
            <a:r>
              <a:rPr lang="en-US" sz="1000" dirty="0" err="1">
                <a:solidFill>
                  <a:srgbClr val="6A9955"/>
                </a:solidFill>
                <a:latin typeface="Consolas" panose="020B0609020204030204" pitchFamily="49" charset="0"/>
              </a:rPr>
              <a:t>defaultInstance</a:t>
            </a:r>
            <a:r>
              <a:rPr lang="en-US" sz="1000" dirty="0">
                <a:solidFill>
                  <a:srgbClr val="6A9955"/>
                </a:solidFill>
                <a:latin typeface="Consolas" panose="020B0609020204030204" pitchFamily="49" charset="0"/>
              </a:rPr>
              <a:t>() is active again</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p:txBody>
      </p:sp>
      <p:sp>
        <p:nvSpPr>
          <p:cNvPr id="2" name="Shape 0">
            <a:extLst>
              <a:ext uri="{FF2B5EF4-FFF2-40B4-BE49-F238E27FC236}">
                <a16:creationId xmlns:a16="http://schemas.microsoft.com/office/drawing/2014/main" id="{1C4C6D83-D27A-8ED5-8631-9FB7C4B42B65}"/>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3894E2C8-5F96-C8FC-DD1D-529D77D6D527}"/>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0E68C315-4037-4501-68D2-B2CDBA8C234D}"/>
              </a:ext>
            </a:extLst>
          </p:cNvPr>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API User point of view vs Unit test writer point of view</a:t>
            </a:r>
            <a:endParaRPr lang="en-US" sz="1000" dirty="0"/>
          </a:p>
        </p:txBody>
      </p:sp>
      <p:sp>
        <p:nvSpPr>
          <p:cNvPr id="6" name="Text 2">
            <a:extLst>
              <a:ext uri="{FF2B5EF4-FFF2-40B4-BE49-F238E27FC236}">
                <a16:creationId xmlns:a16="http://schemas.microsoft.com/office/drawing/2014/main" id="{B48FF5DD-F171-F6A2-443F-4C6B492019EA}"/>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The Solution</a:t>
            </a:r>
            <a:endParaRPr lang="en-US" sz="1900" strike="sngStrike" dirty="0"/>
          </a:p>
        </p:txBody>
      </p:sp>
      <p:sp>
        <p:nvSpPr>
          <p:cNvPr id="7" name="Text 4">
            <a:extLst>
              <a:ext uri="{FF2B5EF4-FFF2-40B4-BE49-F238E27FC236}">
                <a16:creationId xmlns:a16="http://schemas.microsoft.com/office/drawing/2014/main" id="{92E5FC36-E37E-CA1B-C4C3-EA3903B261A1}"/>
              </a:ext>
            </a:extLst>
          </p:cNvPr>
          <p:cNvSpPr/>
          <p:nvPr/>
        </p:nvSpPr>
        <p:spPr>
          <a:xfrm>
            <a:off x="5828306" y="850392"/>
            <a:ext cx="3087094"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Now we have full control over the state of the singleton</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From API users' point of view, this is a normal singleton class that they have no control over its initialization or life-time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From Unit-tests point of view, we have full control over the life-time of this object</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can trigger its constructor or destructor at well by simply creating a new scoped state for this singleton type</a:t>
            </a:r>
          </a:p>
          <a:p>
            <a:pPr marL="342900" indent="-342900">
              <a:spcAft>
                <a:spcPts val="600"/>
              </a:spcAft>
              <a:buSzPct val="100000"/>
              <a:buChar char="•"/>
            </a:pPr>
            <a:endParaRPr lang="en-US" sz="1600" dirty="0"/>
          </a:p>
        </p:txBody>
      </p:sp>
    </p:spTree>
    <p:extLst>
      <p:ext uri="{BB962C8B-B14F-4D97-AF65-F5344CB8AC3E}">
        <p14:creationId xmlns:p14="http://schemas.microsoft.com/office/powerpoint/2010/main" val="13704133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CB945EC0-D487-E764-FB61-B56F23AA595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B531AB-80D5-E752-C65B-0C0D3F3D8587}"/>
              </a:ext>
            </a:extLst>
          </p:cNvPr>
          <p:cNvSpPr/>
          <p:nvPr/>
        </p:nvSpPr>
        <p:spPr>
          <a:xfrm>
            <a:off x="0" y="0"/>
            <a:ext cx="164592" cy="5143500"/>
          </a:xfrm>
          <a:prstGeom prst="rect">
            <a:avLst/>
          </a:prstGeom>
          <a:solidFill>
            <a:srgbClr val="F59E0B"/>
          </a:solidFill>
          <a:ln w="12700">
            <a:solidFill>
              <a:srgbClr val="F59E0B"/>
            </a:solidFill>
            <a:prstDash val="solid"/>
          </a:ln>
        </p:spPr>
        <p:txBody>
          <a:bodyPr/>
          <a:lstStyle/>
          <a:p>
            <a:endParaRPr lang="en-US"/>
          </a:p>
        </p:txBody>
      </p:sp>
      <p:sp>
        <p:nvSpPr>
          <p:cNvPr id="3" name="Shape 1">
            <a:extLst>
              <a:ext uri="{FF2B5EF4-FFF2-40B4-BE49-F238E27FC236}">
                <a16:creationId xmlns:a16="http://schemas.microsoft.com/office/drawing/2014/main" id="{1247E862-5647-7D2C-34EA-4707BDE81C74}"/>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a:extLst>
              <a:ext uri="{FF2B5EF4-FFF2-40B4-BE49-F238E27FC236}">
                <a16:creationId xmlns:a16="http://schemas.microsoft.com/office/drawing/2014/main" id="{58EFDBCA-6016-8B38-909E-36B50F801512}"/>
              </a:ext>
            </a:extLst>
          </p:cNvPr>
          <p:cNvSpPr/>
          <p:nvPr/>
        </p:nvSpPr>
        <p:spPr>
          <a:xfrm>
            <a:off x="411480" y="1748790"/>
            <a:ext cx="8321040" cy="1645920"/>
          </a:xfrm>
          <a:prstGeom prst="rect">
            <a:avLst/>
          </a:prstGeom>
          <a:noFill/>
          <a:ln/>
        </p:spPr>
        <p:txBody>
          <a:bodyPr wrap="square" lIns="0" tIns="0" rIns="0" bIns="0" rtlCol="0" anchor="ctr"/>
          <a:lstStyle/>
          <a:p>
            <a:pPr marL="0" indent="0" algn="ctr">
              <a:lnSpc>
                <a:spcPct val="120000"/>
              </a:lnSpc>
              <a:buNone/>
            </a:pPr>
            <a:r>
              <a:rPr lang="en-US" sz="3400" b="1" dirty="0">
                <a:solidFill>
                  <a:srgbClr val="FFFFFF"/>
                </a:solidFill>
                <a:latin typeface="Georgia" pitchFamily="34" charset="0"/>
                <a:ea typeface="Georgia" pitchFamily="34" charset="-122"/>
                <a:cs typeface="Georgia" pitchFamily="34" charset="-120"/>
              </a:rPr>
              <a:t>Testability + life-time control achieved</a:t>
            </a:r>
            <a:endParaRPr lang="en-US" sz="3400" dirty="0"/>
          </a:p>
        </p:txBody>
      </p:sp>
      <p:sp>
        <p:nvSpPr>
          <p:cNvPr id="4" name="Text 4">
            <a:extLst>
              <a:ext uri="{FF2B5EF4-FFF2-40B4-BE49-F238E27FC236}">
                <a16:creationId xmlns:a16="http://schemas.microsoft.com/office/drawing/2014/main" id="{0E241945-0546-5AF2-77D0-2C020B1F1AA2}"/>
              </a:ext>
            </a:extLst>
          </p:cNvPr>
          <p:cNvSpPr/>
          <p:nvPr/>
        </p:nvSpPr>
        <p:spPr>
          <a:xfrm>
            <a:off x="411480" y="3610099"/>
            <a:ext cx="8321040" cy="368136"/>
          </a:xfrm>
          <a:prstGeom prst="rect">
            <a:avLst/>
          </a:prstGeom>
          <a:noFill/>
          <a:ln/>
        </p:spPr>
        <p:txBody>
          <a:bodyPr wrap="square" rtlCol="0" anchor="t"/>
          <a:lstStyle/>
          <a:p>
            <a:pPr algn="ctr">
              <a:spcAft>
                <a:spcPts val="800"/>
              </a:spcAft>
              <a:buSzPct val="100000"/>
            </a:pPr>
            <a:r>
              <a:rPr lang="en-US" sz="1600" dirty="0">
                <a:solidFill>
                  <a:srgbClr val="E2E8F0"/>
                </a:solidFill>
                <a:latin typeface="Calibri" pitchFamily="34" charset="0"/>
                <a:ea typeface="Calibri" pitchFamily="34" charset="-122"/>
                <a:cs typeface="Calibri" pitchFamily="34" charset="-120"/>
              </a:rPr>
              <a:t>We didn’t even need to break API</a:t>
            </a:r>
          </a:p>
        </p:txBody>
      </p:sp>
    </p:spTree>
    <p:extLst>
      <p:ext uri="{BB962C8B-B14F-4D97-AF65-F5344CB8AC3E}">
        <p14:creationId xmlns:p14="http://schemas.microsoft.com/office/powerpoint/2010/main" val="30295892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6FBF8-2416-1E2E-9474-C469EB9204B0}"/>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28486CE2-DCE5-4195-1B26-3F7D1308EFD0}"/>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Now that testability and life-time control are achieved, We decided to test this approach in real production code to make sure it holds up</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employed this technique for any new singletons and at the same time started retrofitting legacy singletons to see how it goes both ways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Real-world usage revealed unexpected strengths and a very subtle flow</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Emergent properties that we didn’t initially design for, naturally surfaced from the architecture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These real-world tests shaped the usability story of the entire system</a:t>
            </a:r>
          </a:p>
        </p:txBody>
      </p:sp>
      <p:sp>
        <p:nvSpPr>
          <p:cNvPr id="2" name="Shape 0">
            <a:extLst>
              <a:ext uri="{FF2B5EF4-FFF2-40B4-BE49-F238E27FC236}">
                <a16:creationId xmlns:a16="http://schemas.microsoft.com/office/drawing/2014/main" id="{E85EB938-ED56-FD56-CEC7-23998F772DF9}"/>
              </a:ext>
            </a:extLst>
          </p:cNvPr>
          <p:cNvSpPr>
            <a:spLocks noGrp="1" noRot="1" noMove="1" noResize="1" noEditPoints="1" noAdjustHandles="1" noChangeArrowheads="1" noChangeShapeType="1"/>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E15B2E6C-0E02-C035-63AD-D827423667CF}"/>
              </a:ext>
            </a:extLst>
          </p:cNvPr>
          <p:cNvSpPr>
            <a:spLocks noGrp="1" noRot="1" noMove="1" noResize="1" noEditPoints="1" noAdjustHandles="1" noChangeArrowheads="1" noChangeShapeType="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37151781-416A-C262-3AEE-6E9EEDA767E7}"/>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Testing in real-world</a:t>
            </a:r>
            <a:endParaRPr lang="en-US" sz="1900" strike="sngStrike" dirty="0"/>
          </a:p>
        </p:txBody>
      </p:sp>
    </p:spTree>
    <p:extLst>
      <p:ext uri="{BB962C8B-B14F-4D97-AF65-F5344CB8AC3E}">
        <p14:creationId xmlns:p14="http://schemas.microsoft.com/office/powerpoint/2010/main" val="41045016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1CA35-97DC-98F4-631F-A587D48D4E7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6F20E80-67B6-9476-6444-BE2EF51E63D8}"/>
              </a:ext>
            </a:extLst>
          </p:cNvPr>
          <p:cNvSpPr>
            <a:spLocks noGrp="1" noRot="1" noMove="1" noResize="1" noEditPoints="1" noAdjustHandles="1" noChangeArrowheads="1" noChangeShapeType="1"/>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BCC1656E-5ABB-8B89-EA86-52850B8F8E37}"/>
              </a:ext>
            </a:extLst>
          </p:cNvPr>
          <p:cNvSpPr>
            <a:spLocks noGrp="1" noRot="1" noMove="1" noResize="1" noEditPoints="1" noAdjustHandles="1" noChangeArrowheads="1" noChangeShapeType="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56C95ACE-23BD-244B-0EFC-F8E6CFDF3044}"/>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Emergent property #1: Support for Polymorphic objects</a:t>
            </a:r>
            <a:endParaRPr lang="en-US" sz="1900" strike="sngStrike" dirty="0"/>
          </a:p>
        </p:txBody>
      </p:sp>
      <p:sp>
        <p:nvSpPr>
          <p:cNvPr id="4" name="Text 4">
            <a:extLst>
              <a:ext uri="{FF2B5EF4-FFF2-40B4-BE49-F238E27FC236}">
                <a16:creationId xmlns:a16="http://schemas.microsoft.com/office/drawing/2014/main" id="{88BE8BEA-C20F-5FC4-76E8-A2FBEEE910D6}"/>
              </a:ext>
            </a:extLst>
          </p:cNvPr>
          <p:cNvSpPr/>
          <p:nvPr/>
        </p:nvSpPr>
        <p:spPr>
          <a:xfrm>
            <a:off x="5550009" y="850392"/>
            <a:ext cx="3365391"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Since </a:t>
            </a:r>
            <a:r>
              <a:rPr lang="en-US" sz="1600" dirty="0" err="1">
                <a:solidFill>
                  <a:srgbClr val="1E3A5F"/>
                </a:solidFill>
                <a:latin typeface="Calibri" pitchFamily="34" charset="0"/>
                <a:ea typeface="Calibri" pitchFamily="34" charset="-122"/>
                <a:cs typeface="Calibri" pitchFamily="34" charset="-120"/>
              </a:rPr>
              <a:t>setInstance</a:t>
            </a:r>
            <a:r>
              <a:rPr lang="en-US" sz="1600" dirty="0">
                <a:solidFill>
                  <a:srgbClr val="1E3A5F"/>
                </a:solidFill>
                <a:latin typeface="Calibri" pitchFamily="34" charset="0"/>
                <a:ea typeface="Calibri" pitchFamily="34" charset="-122"/>
                <a:cs typeface="Calibri" pitchFamily="34" charset="-120"/>
              </a:rPr>
              <a:t>() is a static function,  we can pass any class that inherits our singleton to </a:t>
            </a:r>
            <a:r>
              <a:rPr lang="en-US" sz="1600" dirty="0" err="1">
                <a:solidFill>
                  <a:srgbClr val="4EC9B0"/>
                </a:solidFill>
                <a:latin typeface="Consolas" panose="020B0609020204030204" pitchFamily="49" charset="0"/>
              </a:rPr>
              <a:t>ScopedSingletonState</a:t>
            </a:r>
            <a:r>
              <a:rPr lang="en-US" sz="1600" dirty="0">
                <a:solidFill>
                  <a:srgbClr val="1E3A5F"/>
                </a:solidFill>
                <a:latin typeface="Calibri" pitchFamily="34" charset="0"/>
                <a:ea typeface="Calibri" pitchFamily="34" charset="-122"/>
                <a:cs typeface="Calibri" pitchFamily="34" charset="-120"/>
              </a:rPr>
              <a:t> and it will be used instead</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can replace the implementation of the singleton by any mock implementation for the sake of testing</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Any code relying on the singleton will be using our implementation instead without even knowing</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Having singletons with virtual functions is suddenly useful</a:t>
            </a:r>
          </a:p>
          <a:p>
            <a:pPr marL="342900" indent="-342900">
              <a:spcAft>
                <a:spcPts val="600"/>
              </a:spcAft>
              <a:buSzPct val="100000"/>
              <a:buChar char="•"/>
            </a:pPr>
            <a:endParaRPr lang="en-US" sz="1600" dirty="0">
              <a:solidFill>
                <a:srgbClr val="1E3A5F"/>
              </a:solidFill>
              <a:latin typeface="Calibri" pitchFamily="34" charset="0"/>
              <a:ea typeface="Calibri" pitchFamily="34" charset="-122"/>
              <a:cs typeface="Calibri" pitchFamily="34" charset="-120"/>
            </a:endParaRPr>
          </a:p>
        </p:txBody>
      </p:sp>
      <p:sp>
        <p:nvSpPr>
          <p:cNvPr id="7" name="Text 6">
            <a:extLst>
              <a:ext uri="{FF2B5EF4-FFF2-40B4-BE49-F238E27FC236}">
                <a16:creationId xmlns:a16="http://schemas.microsoft.com/office/drawing/2014/main" id="{A6332EC2-3DC2-FD71-F2C1-8F5E6217896D}"/>
              </a:ext>
            </a:extLst>
          </p:cNvPr>
          <p:cNvSpPr/>
          <p:nvPr/>
        </p:nvSpPr>
        <p:spPr>
          <a:xfrm>
            <a:off x="292606" y="841248"/>
            <a:ext cx="5074524"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struct</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FileSystem</a:t>
            </a:r>
            <a:r>
              <a:rPr lang="en-US" sz="1000" b="0" dirty="0">
                <a:solidFill>
                  <a:srgbClr val="D4D4D4"/>
                </a:solidFill>
                <a:effectLst/>
                <a:latin typeface="Consolas" panose="020B0609020204030204" pitchFamily="49" charset="0"/>
              </a:rPr>
              <a:t> : </a:t>
            </a:r>
            <a:r>
              <a:rPr lang="en-US" sz="1000" dirty="0" err="1">
                <a:solidFill>
                  <a:srgbClr val="4EC9B0"/>
                </a:solidFill>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err="1">
                <a:solidFill>
                  <a:srgbClr val="4EC9B0"/>
                </a:solidFill>
                <a:effectLst/>
                <a:latin typeface="Consolas" panose="020B0609020204030204" pitchFamily="49" charset="0"/>
              </a:rPr>
              <a:t>FileSystem</a:t>
            </a:r>
            <a:r>
              <a:rPr lang="en-US" sz="1000" b="0" dirty="0">
                <a:solidFill>
                  <a:srgbClr val="D4D4D4"/>
                </a:solidFill>
                <a:effectLst/>
                <a:latin typeface="Consolas" panose="020B0609020204030204" pitchFamily="49" charset="0"/>
              </a:rPr>
              <a:t>&gt;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PM_SINGLETON</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FileSystem</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virtual</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filesystem</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path</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rootPath</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filesystem</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current_path</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root_path</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struct</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MockFileSystem</a:t>
            </a:r>
            <a:r>
              <a:rPr lang="en-US" sz="1000" b="0" dirty="0">
                <a:solidFill>
                  <a:srgbClr val="D4D4D4"/>
                </a:solidFill>
                <a:effectLst/>
                <a:latin typeface="Consolas" panose="020B0609020204030204" pitchFamily="49" charset="0"/>
              </a:rPr>
              <a:t> : </a:t>
            </a:r>
            <a:r>
              <a:rPr lang="en-US" sz="1000" dirty="0" err="1">
                <a:solidFill>
                  <a:srgbClr val="4EC9B0"/>
                </a:solidFill>
                <a:latin typeface="Consolas" panose="020B0609020204030204" pitchFamily="49" charset="0"/>
              </a:rPr>
              <a:t>FileSystem</a:t>
            </a:r>
            <a:endParaRPr lang="en-US" sz="1000" dirty="0">
              <a:solidFill>
                <a:srgbClr val="4EC9B0"/>
              </a:solidFill>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filesystem</a:t>
            </a:r>
            <a:r>
              <a:rPr lang="en-US" sz="1000" b="0" dirty="0">
                <a:solidFill>
                  <a:srgbClr val="D4D4D4"/>
                </a:solidFill>
                <a:effectLst/>
                <a:latin typeface="Consolas" panose="020B0609020204030204" pitchFamily="49" charset="0"/>
              </a:rPr>
              <a:t>::</a:t>
            </a:r>
            <a:r>
              <a:rPr lang="en-US" sz="1000" b="0" dirty="0">
                <a:solidFill>
                  <a:srgbClr val="4EC9B0"/>
                </a:solidFill>
                <a:effectLst/>
                <a:latin typeface="Consolas" panose="020B0609020204030204" pitchFamily="49" charset="0"/>
              </a:rPr>
              <a:t>path</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rootPath</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override</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a:solidFill>
                  <a:srgbClr val="CE9178"/>
                </a:solidFill>
                <a:effectLst/>
                <a:latin typeface="Consolas" panose="020B0609020204030204" pitchFamily="49" charset="0"/>
              </a:rPr>
              <a:t>"/mock/root"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void</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polymorphicObjectsTest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ScopedSingletonState</a:t>
            </a:r>
            <a:r>
              <a:rPr lang="en-US" sz="1000" b="0" dirty="0">
                <a:solidFill>
                  <a:srgbClr val="D4D4D4"/>
                </a:solidFill>
                <a:effectLst/>
                <a:latin typeface="Consolas" panose="020B0609020204030204" pitchFamily="49" charset="0"/>
              </a:rPr>
              <a:t>&lt;</a:t>
            </a:r>
            <a:r>
              <a:rPr lang="en-US" sz="1000" dirty="0" err="1">
                <a:solidFill>
                  <a:srgbClr val="4EC9B0"/>
                </a:solidFill>
                <a:latin typeface="Consolas" panose="020B0609020204030204" pitchFamily="49" charset="0"/>
              </a:rPr>
              <a:t>MockFileSystem</a:t>
            </a:r>
            <a:r>
              <a:rPr lang="en-US" sz="1000" b="0" dirty="0">
                <a:solidFill>
                  <a:srgbClr val="D4D4D4"/>
                </a:solidFill>
                <a:effectLst/>
                <a:latin typeface="Consolas" panose="020B0609020204030204" pitchFamily="49" charset="0"/>
              </a:rPr>
              <a:t>&gt; </a:t>
            </a:r>
            <a:r>
              <a:rPr lang="en-US" sz="1000" b="0" dirty="0" err="1">
                <a:solidFill>
                  <a:srgbClr val="D4D4D4"/>
                </a:solidFill>
                <a:effectLst/>
                <a:latin typeface="Consolas" panose="020B0609020204030204" pitchFamily="49" charset="0"/>
              </a:rPr>
              <a:t>mocState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Calls to </a:t>
            </a:r>
            <a:r>
              <a:rPr lang="en-US" sz="1000" b="0" dirty="0" err="1">
                <a:solidFill>
                  <a:srgbClr val="6A9955"/>
                </a:solidFill>
                <a:effectLst/>
                <a:latin typeface="Consolas" panose="020B0609020204030204" pitchFamily="49" charset="0"/>
              </a:rPr>
              <a:t>FileSystem</a:t>
            </a:r>
            <a:r>
              <a:rPr lang="en-US" sz="1000" b="0" dirty="0">
                <a:solidFill>
                  <a:srgbClr val="6A9955"/>
                </a:solidFill>
                <a:effectLst/>
                <a:latin typeface="Consolas" panose="020B0609020204030204" pitchFamily="49" charset="0"/>
              </a:rPr>
              <a:t>::instance() returns mock implementation</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FileSystem</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rootPath</a:t>
            </a:r>
            <a:r>
              <a:rPr lang="en-US" sz="1000" b="0" dirty="0">
                <a:solidFill>
                  <a:srgbClr val="D4D4D4"/>
                </a:solidFill>
                <a:effectLst/>
                <a:latin typeface="Consolas" panose="020B0609020204030204" pitchFamily="49" charset="0"/>
              </a:rPr>
              <a:t>() == </a:t>
            </a:r>
            <a:r>
              <a:rPr lang="en-US" sz="1000" b="0" dirty="0">
                <a:solidFill>
                  <a:srgbClr val="CE9178"/>
                </a:solidFill>
                <a:effectLst/>
                <a:latin typeface="Consolas" panose="020B0609020204030204" pitchFamily="49" charset="0"/>
              </a:rPr>
              <a:t>"/mock/root"</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8144657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a:spLocks noGrp="1" noRot="1" noMove="1" noResize="1" noEditPoints="1" noAdjustHandles="1" noChangeArrowheads="1" noChangeShapeType="1"/>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a:spLocks noGrp="1" noRot="1" noMove="1" noResize="1" noEditPoints="1" noAdjustHandles="1" noChangeArrowheads="1" noChangeShapeType="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Emergent property #1: Support for Polymorphic objects</a:t>
            </a:r>
            <a:endParaRPr lang="en-US" sz="1900" strike="sngStrike" dirty="0"/>
          </a:p>
        </p:txBody>
      </p:sp>
      <p:sp>
        <p:nvSpPr>
          <p:cNvPr id="6" name="Text 4"/>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Historically: singleton + virtual method = code smell. Both were avoided together.</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Now: make a method virtual ONLY when you need to mock it. Non-virtual methods stay direct calls.</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This is 'pay for what you use' applied to testability — polymorphism on demand</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 #define private public, no friend hacks, no internal test-only setters exposed in the API</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Tests use the same public API as everyone else — they are self-proving by definition</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Works with Qt Test, Google Test, Catch2, or any framework — no framework coupling</a:t>
            </a:r>
            <a:endParaRPr lang="en-US" sz="1600" dirty="0"/>
          </a:p>
          <a:p>
            <a:pPr marL="342900" indent="-342900">
              <a:spcAft>
                <a:spcPts val="600"/>
              </a:spcAft>
              <a:buSzPct val="100000"/>
              <a:buChar char="•"/>
            </a:pPr>
            <a:r>
              <a:rPr lang="en-US" sz="1600" b="1" dirty="0">
                <a:solidFill>
                  <a:srgbClr val="1E3A5F"/>
                </a:solidFill>
                <a:latin typeface="Calibri" pitchFamily="34" charset="0"/>
                <a:ea typeface="Calibri" pitchFamily="34" charset="-122"/>
                <a:cs typeface="Calibri" pitchFamily="34" charset="-120"/>
              </a:rPr>
              <a:t>Senior engineer's task: 'Make all singletons in module X testable.' Junior's two-step job: inherit + macro. Done.</a:t>
            </a:r>
            <a:endParaRPr 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A7274-852C-8437-2D2C-9CEE8734B5B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B3CE898-C338-C40E-A067-522B345ECE95}"/>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B6282D5A-8C7E-4B40-DE66-1A7CEA73D01C}"/>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337217EE-5A75-FAAC-6B87-CA0293C31A3F}"/>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Emergent property #2: Nested scopes</a:t>
            </a:r>
            <a:endParaRPr lang="en-US" sz="1900" strike="sngStrike" dirty="0"/>
          </a:p>
        </p:txBody>
      </p:sp>
      <p:sp>
        <p:nvSpPr>
          <p:cNvPr id="4" name="Text 4">
            <a:extLst>
              <a:ext uri="{FF2B5EF4-FFF2-40B4-BE49-F238E27FC236}">
                <a16:creationId xmlns:a16="http://schemas.microsoft.com/office/drawing/2014/main" id="{A22BC55A-D549-9260-6B07-AC93500897E0}"/>
              </a:ext>
            </a:extLst>
          </p:cNvPr>
          <p:cNvSpPr/>
          <p:nvPr/>
        </p:nvSpPr>
        <p:spPr>
          <a:xfrm>
            <a:off x="5550009" y="850392"/>
            <a:ext cx="3365391"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can have multiple scoped states and they will cascade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It basically behaves as a stack, last in first out</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This allows for very advanced testing techniques with very simple semantics:</a:t>
            </a:r>
          </a:p>
          <a:p>
            <a:pPr marL="800100" lvl="1"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Partial mocks</a:t>
            </a:r>
          </a:p>
          <a:p>
            <a:pPr marL="800100" lvl="1"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Stacked mocks</a:t>
            </a:r>
          </a:p>
          <a:p>
            <a:pPr marL="800100" lvl="1"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Temporary patching</a:t>
            </a:r>
          </a:p>
          <a:p>
            <a:pPr marL="800100" lvl="1"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Behavior injection during debugging</a:t>
            </a:r>
          </a:p>
          <a:p>
            <a:pPr marL="800100" lvl="1"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And much more..</a:t>
            </a:r>
          </a:p>
          <a:p>
            <a:pPr marL="342900" indent="-342900">
              <a:spcAft>
                <a:spcPts val="600"/>
              </a:spcAft>
              <a:buSzPct val="100000"/>
              <a:buChar char="•"/>
            </a:pPr>
            <a:endParaRPr lang="en-US" sz="1600" dirty="0">
              <a:solidFill>
                <a:srgbClr val="1E3A5F"/>
              </a:solidFill>
              <a:latin typeface="Calibri" pitchFamily="34" charset="0"/>
              <a:ea typeface="Calibri" pitchFamily="34" charset="-122"/>
              <a:cs typeface="Calibri" pitchFamily="34" charset="-120"/>
            </a:endParaRPr>
          </a:p>
        </p:txBody>
      </p:sp>
      <p:sp>
        <p:nvSpPr>
          <p:cNvPr id="7" name="Text 6">
            <a:extLst>
              <a:ext uri="{FF2B5EF4-FFF2-40B4-BE49-F238E27FC236}">
                <a16:creationId xmlns:a16="http://schemas.microsoft.com/office/drawing/2014/main" id="{13A6511B-F7CE-761D-E167-8984F926F980}"/>
              </a:ext>
            </a:extLst>
          </p:cNvPr>
          <p:cNvSpPr/>
          <p:nvPr/>
        </p:nvSpPr>
        <p:spPr>
          <a:xfrm>
            <a:off x="292606" y="841248"/>
            <a:ext cx="5074524"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bool</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nestedScopesTest</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 *state0 = &amp;</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 </a:t>
            </a:r>
            <a:r>
              <a:rPr lang="en-US" sz="1000" dirty="0">
                <a:solidFill>
                  <a:srgbClr val="6A9955"/>
                </a:solidFill>
                <a:latin typeface="Consolas" panose="020B0609020204030204" pitchFamily="49" charset="0"/>
              </a:rPr>
              <a:t>// state1</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ScopedSingletonState</a:t>
            </a:r>
            <a:r>
              <a:rPr lang="en-US" sz="1000" b="0" dirty="0">
                <a:solidFill>
                  <a:srgbClr val="D4D4D4"/>
                </a:solidFill>
                <a:effectLst/>
                <a:latin typeface="Consolas" panose="020B0609020204030204" pitchFamily="49" charset="0"/>
              </a:rPr>
              <a:t>&lt;</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&gt; state1;</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(&amp;</a:t>
            </a:r>
            <a:r>
              <a:rPr lang="en-US" sz="1000" b="0" dirty="0">
                <a:solidFill>
                  <a:srgbClr val="9CDCFE"/>
                </a:solidFill>
                <a:effectLst/>
                <a:latin typeface="Consolas" panose="020B0609020204030204" pitchFamily="49" charset="0"/>
              </a:rPr>
              <a:t>state1</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 == &amp;</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(state0 != &amp;</a:t>
            </a:r>
            <a:r>
              <a:rPr lang="en-US" sz="1000" b="0" dirty="0">
                <a:solidFill>
                  <a:srgbClr val="9CDCFE"/>
                </a:solidFill>
                <a:effectLst/>
                <a:latin typeface="Consolas" panose="020B0609020204030204" pitchFamily="49" charset="0"/>
              </a:rPr>
              <a:t>state1</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 </a:t>
            </a:r>
            <a:r>
              <a:rPr lang="en-US" sz="1000" dirty="0">
                <a:solidFill>
                  <a:srgbClr val="6A9955"/>
                </a:solidFill>
                <a:latin typeface="Consolas" panose="020B0609020204030204" pitchFamily="49" charset="0"/>
              </a:rPr>
              <a:t>// state2</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ScopedSingletonState</a:t>
            </a:r>
            <a:r>
              <a:rPr lang="en-US" sz="1000" b="0" dirty="0">
                <a:solidFill>
                  <a:srgbClr val="D4D4D4"/>
                </a:solidFill>
                <a:effectLst/>
                <a:latin typeface="Consolas" panose="020B0609020204030204" pitchFamily="49" charset="0"/>
              </a:rPr>
              <a:t>&lt;</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&gt; state2;</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(&amp;</a:t>
            </a:r>
            <a:r>
              <a:rPr lang="en-US" sz="1000" b="0" dirty="0">
                <a:solidFill>
                  <a:srgbClr val="9CDCFE"/>
                </a:solidFill>
                <a:effectLst/>
                <a:latin typeface="Consolas" panose="020B0609020204030204" pitchFamily="49" charset="0"/>
              </a:rPr>
              <a:t>state2</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 == &amp;</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(state0 != &amp;</a:t>
            </a:r>
            <a:r>
              <a:rPr lang="en-US" sz="1000" b="0" dirty="0">
                <a:solidFill>
                  <a:srgbClr val="9CDCFE"/>
                </a:solidFill>
                <a:effectLst/>
                <a:latin typeface="Consolas" panose="020B0609020204030204" pitchFamily="49" charset="0"/>
              </a:rPr>
              <a:t>state1</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(&amp;</a:t>
            </a:r>
            <a:r>
              <a:rPr lang="en-US" sz="1000" b="0" dirty="0">
                <a:solidFill>
                  <a:srgbClr val="9CDCFE"/>
                </a:solidFill>
                <a:effectLst/>
                <a:latin typeface="Consolas" panose="020B0609020204030204" pitchFamily="49" charset="0"/>
              </a:rPr>
              <a:t>state1</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 != &amp;</a:t>
            </a:r>
            <a:r>
              <a:rPr lang="en-US" sz="1000" b="0" dirty="0">
                <a:solidFill>
                  <a:srgbClr val="9CDCFE"/>
                </a:solidFill>
                <a:effectLst/>
                <a:latin typeface="Consolas" panose="020B0609020204030204" pitchFamily="49" charset="0"/>
              </a:rPr>
              <a:t>state2</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(&amp;</a:t>
            </a:r>
            <a:r>
              <a:rPr lang="en-US" sz="1000" b="0" dirty="0">
                <a:solidFill>
                  <a:srgbClr val="9CDCFE"/>
                </a:solidFill>
                <a:effectLst/>
                <a:latin typeface="Consolas" panose="020B0609020204030204" pitchFamily="49" charset="0"/>
              </a:rPr>
              <a:t>state1</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 == &amp;</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(state0 == &amp;</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1753250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A9D4B-FBAF-3CC4-DFFE-642B8EB58A5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6C9B243-CC6E-4081-59A2-C1ABD036AA3A}"/>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5F19EC23-E2A3-C752-AC9C-AC20A8BA0741}"/>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2F7D85E8-3938-F579-B19F-06242F962801}"/>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Emergent property #3: Self proofing solution</a:t>
            </a:r>
            <a:endParaRPr lang="en-US" sz="1900" strike="sngStrike" dirty="0"/>
          </a:p>
        </p:txBody>
      </p:sp>
      <p:sp>
        <p:nvSpPr>
          <p:cNvPr id="4" name="Text 4">
            <a:extLst>
              <a:ext uri="{FF2B5EF4-FFF2-40B4-BE49-F238E27FC236}">
                <a16:creationId xmlns:a16="http://schemas.microsoft.com/office/drawing/2014/main" id="{B4646722-3AFC-327A-878F-4BE3EF7B1E71}"/>
              </a:ext>
            </a:extLst>
          </p:cNvPr>
          <p:cNvSpPr/>
          <p:nvPr/>
        </p:nvSpPr>
        <p:spPr>
          <a:xfrm>
            <a:off x="5550009" y="850392"/>
            <a:ext cx="3365391" cy="4037076"/>
          </a:xfrm>
          <a:prstGeom prst="rect">
            <a:avLst/>
          </a:prstGeom>
          <a:noFill/>
          <a:ln/>
        </p:spPr>
        <p:txBody>
          <a:bodyPr wrap="square" rtlCol="0" anchor="t"/>
          <a:lstStyle/>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All properties of the solution can be fully described in terms of </a:t>
            </a:r>
            <a:r>
              <a:rPr lang="en-US" sz="1600" dirty="0" err="1">
                <a:solidFill>
                  <a:srgbClr val="4EC9B0"/>
                </a:solidFill>
                <a:latin typeface="Consolas" panose="020B0609020204030204" pitchFamily="49" charset="0"/>
              </a:rPr>
              <a:t>SingletonBase</a:t>
            </a:r>
            <a:r>
              <a:rPr lang="en-US" sz="1600" dirty="0">
                <a:solidFill>
                  <a:srgbClr val="1E3A5F"/>
                </a:solidFill>
                <a:latin typeface="Calibri" pitchFamily="34" charset="0"/>
                <a:ea typeface="Calibri" pitchFamily="34" charset="-122"/>
                <a:cs typeface="Calibri" pitchFamily="34" charset="-120"/>
              </a:rPr>
              <a:t> and </a:t>
            </a:r>
            <a:r>
              <a:rPr lang="en-US" sz="1600" dirty="0" err="1">
                <a:solidFill>
                  <a:srgbClr val="4EC9B0"/>
                </a:solidFill>
                <a:latin typeface="Consolas" panose="020B0609020204030204" pitchFamily="49" charset="0"/>
              </a:rPr>
              <a:t>ScopedSingletonState</a:t>
            </a: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In case you didn’t notice, we’ve been making use of this property to describe previous properties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 system proves its correctness through its own behavior in real usage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Doesn’t need to rely on external rules, documentation, or developer discipline</a:t>
            </a:r>
          </a:p>
        </p:txBody>
      </p:sp>
      <p:sp>
        <p:nvSpPr>
          <p:cNvPr id="7" name="Text 6">
            <a:extLst>
              <a:ext uri="{FF2B5EF4-FFF2-40B4-BE49-F238E27FC236}">
                <a16:creationId xmlns:a16="http://schemas.microsoft.com/office/drawing/2014/main" id="{3A8E27B2-29F4-B24D-90B6-588654F99EA5}"/>
              </a:ext>
            </a:extLst>
          </p:cNvPr>
          <p:cNvSpPr/>
          <p:nvPr/>
        </p:nvSpPr>
        <p:spPr>
          <a:xfrm>
            <a:off x="292606" y="841248"/>
            <a:ext cx="5074524"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bool</a:t>
            </a: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nestedScopesTest</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 *state0 = &amp;</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6A9955"/>
                </a:solidFill>
                <a:effectLst/>
                <a:latin typeface="Consolas" panose="020B0609020204030204" pitchFamily="49" charset="0"/>
              </a:rPr>
              <a:t>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 </a:t>
            </a:r>
            <a:r>
              <a:rPr lang="en-US" sz="1000" dirty="0">
                <a:solidFill>
                  <a:srgbClr val="6A9955"/>
                </a:solidFill>
                <a:latin typeface="Consolas" panose="020B0609020204030204" pitchFamily="49" charset="0"/>
              </a:rPr>
              <a:t>// state1</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ScopedSingletonState</a:t>
            </a:r>
            <a:r>
              <a:rPr lang="en-US" sz="1000" b="0" dirty="0">
                <a:solidFill>
                  <a:srgbClr val="D4D4D4"/>
                </a:solidFill>
                <a:effectLst/>
                <a:latin typeface="Consolas" panose="020B0609020204030204" pitchFamily="49" charset="0"/>
              </a:rPr>
              <a:t>&lt;</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&gt; state1;</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(&amp;</a:t>
            </a:r>
            <a:r>
              <a:rPr lang="en-US" sz="1000" b="0" dirty="0">
                <a:solidFill>
                  <a:srgbClr val="9CDCFE"/>
                </a:solidFill>
                <a:effectLst/>
                <a:latin typeface="Consolas" panose="020B0609020204030204" pitchFamily="49" charset="0"/>
              </a:rPr>
              <a:t>state1</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 == &amp;</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(state0 != &amp;</a:t>
            </a:r>
            <a:r>
              <a:rPr lang="en-US" sz="1000" b="0" dirty="0">
                <a:solidFill>
                  <a:srgbClr val="9CDCFE"/>
                </a:solidFill>
                <a:effectLst/>
                <a:latin typeface="Consolas" panose="020B0609020204030204" pitchFamily="49" charset="0"/>
              </a:rPr>
              <a:t>state1</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 </a:t>
            </a:r>
            <a:r>
              <a:rPr lang="en-US" sz="1000" dirty="0">
                <a:solidFill>
                  <a:srgbClr val="6A9955"/>
                </a:solidFill>
                <a:latin typeface="Consolas" panose="020B0609020204030204" pitchFamily="49" charset="0"/>
              </a:rPr>
              <a:t>// state2</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dirty="0" err="1">
                <a:solidFill>
                  <a:srgbClr val="4EC9B0"/>
                </a:solidFill>
                <a:latin typeface="Consolas" panose="020B0609020204030204" pitchFamily="49" charset="0"/>
              </a:rPr>
              <a:t>ScopedSingletonState</a:t>
            </a:r>
            <a:r>
              <a:rPr lang="en-US" sz="1000" b="0" dirty="0">
                <a:solidFill>
                  <a:srgbClr val="D4D4D4"/>
                </a:solidFill>
                <a:effectLst/>
                <a:latin typeface="Consolas" panose="020B0609020204030204" pitchFamily="49" charset="0"/>
              </a:rPr>
              <a:t>&lt;</a:t>
            </a:r>
            <a:r>
              <a:rPr lang="en-US" sz="1000" dirty="0" err="1">
                <a:solidFill>
                  <a:srgbClr val="4EC9B0"/>
                </a:solidFill>
                <a:latin typeface="Consolas" panose="020B0609020204030204" pitchFamily="49" charset="0"/>
              </a:rPr>
              <a:t>XRayMachine</a:t>
            </a:r>
            <a:r>
              <a:rPr lang="en-US" sz="1000" b="0" dirty="0">
                <a:solidFill>
                  <a:srgbClr val="D4D4D4"/>
                </a:solidFill>
                <a:effectLst/>
                <a:latin typeface="Consolas" panose="020B0609020204030204" pitchFamily="49" charset="0"/>
              </a:rPr>
              <a:t>&gt; state2;</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(&amp;</a:t>
            </a:r>
            <a:r>
              <a:rPr lang="en-US" sz="1000" b="0" dirty="0">
                <a:solidFill>
                  <a:srgbClr val="9CDCFE"/>
                </a:solidFill>
                <a:effectLst/>
                <a:latin typeface="Consolas" panose="020B0609020204030204" pitchFamily="49" charset="0"/>
              </a:rPr>
              <a:t>state2</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 == &amp;</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(state0 != &amp;</a:t>
            </a:r>
            <a:r>
              <a:rPr lang="en-US" sz="1000" b="0" dirty="0">
                <a:solidFill>
                  <a:srgbClr val="9CDCFE"/>
                </a:solidFill>
                <a:effectLst/>
                <a:latin typeface="Consolas" panose="020B0609020204030204" pitchFamily="49" charset="0"/>
              </a:rPr>
              <a:t>state1</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(&amp;</a:t>
            </a:r>
            <a:r>
              <a:rPr lang="en-US" sz="1000" b="0" dirty="0">
                <a:solidFill>
                  <a:srgbClr val="9CDCFE"/>
                </a:solidFill>
                <a:effectLst/>
                <a:latin typeface="Consolas" panose="020B0609020204030204" pitchFamily="49" charset="0"/>
              </a:rPr>
              <a:t>state1</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 != &amp;</a:t>
            </a:r>
            <a:r>
              <a:rPr lang="en-US" sz="1000" b="0" dirty="0">
                <a:solidFill>
                  <a:srgbClr val="9CDCFE"/>
                </a:solidFill>
                <a:effectLst/>
                <a:latin typeface="Consolas" panose="020B0609020204030204" pitchFamily="49" charset="0"/>
              </a:rPr>
              <a:t>state2</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(&amp;</a:t>
            </a:r>
            <a:r>
              <a:rPr lang="en-US" sz="1000" b="0" dirty="0">
                <a:solidFill>
                  <a:srgbClr val="9CDCFE"/>
                </a:solidFill>
                <a:effectLst/>
                <a:latin typeface="Consolas" panose="020B0609020204030204" pitchFamily="49" charset="0"/>
              </a:rPr>
              <a:t>state1</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 == &amp;</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assert</a:t>
            </a:r>
            <a:r>
              <a:rPr lang="en-US" sz="1000" b="0" dirty="0">
                <a:solidFill>
                  <a:srgbClr val="D4D4D4"/>
                </a:solidFill>
                <a:effectLst/>
                <a:latin typeface="Consolas" panose="020B0609020204030204" pitchFamily="49" charset="0"/>
              </a:rPr>
              <a:t>(state0 == &amp;</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7946252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D3B087-1180-4F7E-0F23-3CA888E2786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CADEE36-E987-3D34-54E1-3D29B52BB1F9}"/>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067FC4AF-655F-AE25-9C6E-17C702659EEC}"/>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74D687FC-46A6-CECF-2EA0-9EE1BA545F0A}"/>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Emergent property #3: Self proofing solution</a:t>
            </a:r>
            <a:endParaRPr lang="en-US" sz="1900" strike="sngStrike" dirty="0"/>
          </a:p>
        </p:txBody>
      </p:sp>
      <p:sp>
        <p:nvSpPr>
          <p:cNvPr id="4" name="Text 4">
            <a:extLst>
              <a:ext uri="{FF2B5EF4-FFF2-40B4-BE49-F238E27FC236}">
                <a16:creationId xmlns:a16="http://schemas.microsoft.com/office/drawing/2014/main" id="{855AB76B-C0B4-20F5-3489-85E1C2A45C33}"/>
              </a:ext>
            </a:extLst>
          </p:cNvPr>
          <p:cNvSpPr/>
          <p:nvPr/>
        </p:nvSpPr>
        <p:spPr>
          <a:xfrm>
            <a:off x="237507" y="667910"/>
            <a:ext cx="8677894" cy="4219558"/>
          </a:xfrm>
          <a:prstGeom prst="rect">
            <a:avLst/>
          </a:prstGeom>
          <a:noFill/>
          <a:ln/>
        </p:spPr>
        <p:txBody>
          <a:bodyPr wrap="square" rtlCol="0" anchor="t"/>
          <a:lstStyle/>
          <a:p>
            <a:pPr>
              <a:spcAft>
                <a:spcPts val="600"/>
              </a:spcAft>
              <a:buSzPct val="100000"/>
            </a:pPr>
            <a:r>
              <a:rPr lang="en-US" dirty="0">
                <a:solidFill>
                  <a:srgbClr val="1E3A5F"/>
                </a:solidFill>
                <a:latin typeface="Calibri" pitchFamily="34" charset="0"/>
                <a:ea typeface="Calibri" pitchFamily="34" charset="-122"/>
                <a:cs typeface="Calibri" pitchFamily="34" charset="-120"/>
              </a:rPr>
              <a:t>Why Self‑Proofing Is a Big Deal?</a:t>
            </a:r>
          </a:p>
          <a:p>
            <a:pPr>
              <a:spcAft>
                <a:spcPts val="600"/>
              </a:spcAft>
              <a:buSzPct val="100000"/>
            </a:pPr>
            <a:endParaRPr lang="en-US" sz="14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FontTx/>
              <a:buChar char="•"/>
            </a:pPr>
            <a:r>
              <a:rPr lang="en-US" sz="1600" b="1" dirty="0">
                <a:solidFill>
                  <a:srgbClr val="1E3A5F"/>
                </a:solidFill>
                <a:latin typeface="Calibri" pitchFamily="34" charset="0"/>
                <a:ea typeface="Calibri" pitchFamily="34" charset="-122"/>
                <a:cs typeface="Calibri" pitchFamily="34" charset="-120"/>
              </a:rPr>
              <a:t>Predictable like a mathematical invariant</a:t>
            </a:r>
            <a:br>
              <a:rPr lang="en-US" sz="1600"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if the unit tests for </a:t>
            </a:r>
            <a:r>
              <a:rPr lang="en-US" sz="1600" dirty="0" err="1">
                <a:solidFill>
                  <a:srgbClr val="4EC9B0"/>
                </a:solidFill>
                <a:latin typeface="Consolas" panose="020B0609020204030204" pitchFamily="49" charset="0"/>
              </a:rPr>
              <a:t>SingletonBase</a:t>
            </a:r>
            <a:r>
              <a:rPr lang="en-US" sz="1600" dirty="0">
                <a:solidFill>
                  <a:srgbClr val="1E3A5F"/>
                </a:solidFill>
                <a:latin typeface="Calibri" pitchFamily="34" charset="0"/>
                <a:ea typeface="Calibri" pitchFamily="34" charset="-122"/>
                <a:cs typeface="Calibri" pitchFamily="34" charset="-120"/>
              </a:rPr>
              <a:t> pass, </a:t>
            </a:r>
            <a:r>
              <a:rPr lang="en-US" sz="1600" i="1" dirty="0">
                <a:solidFill>
                  <a:srgbClr val="1E3A5F"/>
                </a:solidFill>
                <a:latin typeface="Calibri" pitchFamily="34" charset="0"/>
                <a:ea typeface="Calibri" pitchFamily="34" charset="-122"/>
                <a:cs typeface="Calibri" pitchFamily="34" charset="-120"/>
              </a:rPr>
              <a:t>every</a:t>
            </a:r>
            <a:r>
              <a:rPr lang="en-US" sz="1600" dirty="0">
                <a:solidFill>
                  <a:srgbClr val="1E3A5F"/>
                </a:solidFill>
                <a:latin typeface="Calibri" pitchFamily="34" charset="0"/>
                <a:ea typeface="Calibri" pitchFamily="34" charset="-122"/>
                <a:cs typeface="Calibri" pitchFamily="34" charset="-120"/>
              </a:rPr>
              <a:t> singleton built on top of it automatically passes the same behavioral guarantees. </a:t>
            </a:r>
          </a:p>
          <a:p>
            <a:pPr marL="342900" indent="-342900">
              <a:spcAft>
                <a:spcPts val="600"/>
              </a:spcAft>
              <a:buSzPct val="100000"/>
              <a:buFontTx/>
              <a:buChar char="•"/>
            </a:pP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FontTx/>
              <a:buChar char="•"/>
            </a:pPr>
            <a:r>
              <a:rPr lang="en-US" sz="1600" b="1" dirty="0">
                <a:solidFill>
                  <a:srgbClr val="1E3A5F"/>
                </a:solidFill>
                <a:latin typeface="Calibri" pitchFamily="34" charset="0"/>
                <a:ea typeface="Calibri" pitchFamily="34" charset="-122"/>
                <a:cs typeface="Calibri" pitchFamily="34" charset="-120"/>
              </a:rPr>
              <a:t>Long‑term maintainability</a:t>
            </a:r>
            <a:br>
              <a:rPr lang="en-US" sz="1600"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A senior reviewer can trust that any developer using </a:t>
            </a:r>
            <a:r>
              <a:rPr lang="en-US" sz="1600" dirty="0" err="1">
                <a:solidFill>
                  <a:srgbClr val="4EC9B0"/>
                </a:solidFill>
                <a:latin typeface="Consolas" panose="020B0609020204030204" pitchFamily="49" charset="0"/>
              </a:rPr>
              <a:t>SingletonBase</a:t>
            </a:r>
            <a:r>
              <a:rPr lang="en-US" sz="1600" dirty="0">
                <a:solidFill>
                  <a:srgbClr val="1E3A5F"/>
                </a:solidFill>
                <a:latin typeface="Calibri" pitchFamily="34" charset="0"/>
                <a:ea typeface="Calibri" pitchFamily="34" charset="-122"/>
                <a:cs typeface="Calibri" pitchFamily="34" charset="-120"/>
              </a:rPr>
              <a:t> is </a:t>
            </a:r>
            <a:r>
              <a:rPr lang="en-US" sz="1600" b="1" dirty="0">
                <a:solidFill>
                  <a:srgbClr val="1E3A5F"/>
                </a:solidFill>
                <a:latin typeface="Calibri" pitchFamily="34" charset="0"/>
                <a:ea typeface="Calibri" pitchFamily="34" charset="-122"/>
                <a:cs typeface="Calibri" pitchFamily="34" charset="-120"/>
              </a:rPr>
              <a:t>inherently</a:t>
            </a:r>
            <a:r>
              <a:rPr lang="en-US" sz="1600" dirty="0">
                <a:solidFill>
                  <a:srgbClr val="1E3A5F"/>
                </a:solidFill>
                <a:latin typeface="Calibri" pitchFamily="34" charset="0"/>
                <a:ea typeface="Calibri" pitchFamily="34" charset="-122"/>
                <a:cs typeface="Calibri" pitchFamily="34" charset="-120"/>
              </a:rPr>
              <a:t> using a fully testable, correctly‑behaving singleton.</a:t>
            </a:r>
            <a:br>
              <a:rPr lang="en-US" sz="1600"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fewer footguns, fewer regressions, fewer surprises</a:t>
            </a:r>
          </a:p>
          <a:p>
            <a:pPr marL="342900" indent="-342900">
              <a:spcAft>
                <a:spcPts val="600"/>
              </a:spcAft>
              <a:buSzPct val="100000"/>
              <a:buFontTx/>
              <a:buChar char="•"/>
            </a:pP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FontTx/>
              <a:buChar char="•"/>
            </a:pPr>
            <a:r>
              <a:rPr lang="en-US" sz="1600" b="1" dirty="0">
                <a:solidFill>
                  <a:srgbClr val="1E3A5F"/>
                </a:solidFill>
                <a:latin typeface="Calibri" pitchFamily="34" charset="0"/>
                <a:ea typeface="Calibri" pitchFamily="34" charset="-122"/>
                <a:cs typeface="Calibri" pitchFamily="34" charset="-120"/>
              </a:rPr>
              <a:t>Zero developer overhead</a:t>
            </a:r>
            <a:br>
              <a:rPr lang="en-US" sz="1600" b="1"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misuse is structurally prevented, not “avoided through experience”.</a:t>
            </a:r>
            <a:br>
              <a:rPr lang="en-US" sz="1600"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no cleanup logic, no guidelines to remember, no discipline required</a:t>
            </a:r>
          </a:p>
        </p:txBody>
      </p:sp>
    </p:spTree>
    <p:extLst>
      <p:ext uri="{BB962C8B-B14F-4D97-AF65-F5344CB8AC3E}">
        <p14:creationId xmlns:p14="http://schemas.microsoft.com/office/powerpoint/2010/main" val="2103404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a:spLocks noGrp="1" noRot="1" noMove="1" noResize="1" noEditPoints="1" noAdjustHandles="1" noChangeArrowheads="1" noChangeShapeType="1"/>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a:spLocks noGrp="1" noRot="1" noMove="1" noResize="1" noEditPoints="1" noAdjustHandles="1" noChangeArrowheads="1" noChangeShapeType="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What This Means</a:t>
            </a:r>
            <a:endParaRPr lang="en-US" sz="1900" dirty="0"/>
          </a:p>
        </p:txBody>
      </p:sp>
      <p:sp>
        <p:nvSpPr>
          <p:cNvPr id="6" name="Text 4"/>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Multiple </a:t>
            </a:r>
            <a:r>
              <a:rPr lang="en-US" sz="1600" dirty="0" err="1">
                <a:solidFill>
                  <a:srgbClr val="1E3A5F"/>
                </a:solidFill>
                <a:latin typeface="Calibri" pitchFamily="34" charset="0"/>
                <a:ea typeface="Calibri" pitchFamily="34" charset="-122"/>
                <a:cs typeface="Calibri" pitchFamily="34" charset="-120"/>
              </a:rPr>
              <a:t>ScopedSingletonState</a:t>
            </a:r>
            <a:r>
              <a:rPr lang="en-US" sz="1600" dirty="0">
                <a:solidFill>
                  <a:srgbClr val="1E3A5F"/>
                </a:solidFill>
                <a:latin typeface="Calibri" pitchFamily="34" charset="0"/>
                <a:ea typeface="Calibri" pitchFamily="34" charset="-122"/>
                <a:cs typeface="Calibri" pitchFamily="34" charset="-120"/>
              </a:rPr>
              <a:t> objects can be active simultaneously — they compose cleanly</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Each test gets a fresh, isolated singleton state — no test pollution between test cases</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 component under test is unchanged — production code is never aware of the test harness</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Mocks are plain derived classes — no mock framework required (though you can use them if you want)</a:t>
            </a:r>
            <a:endParaRPr lang="en-US" sz="1600" dirty="0"/>
          </a:p>
          <a:p>
            <a:pPr marL="342900" indent="-342900">
              <a:spcAft>
                <a:spcPts val="600"/>
              </a:spcAft>
              <a:buSzPct val="100000"/>
              <a:buChar char="•"/>
            </a:pPr>
            <a:r>
              <a:rPr lang="en-US" sz="1600" b="1" dirty="0">
                <a:solidFill>
                  <a:srgbClr val="1E3A5F"/>
                </a:solidFill>
                <a:latin typeface="Calibri" pitchFamily="34" charset="0"/>
                <a:ea typeface="Calibri" pitchFamily="34" charset="-122"/>
                <a:cs typeface="Calibri" pitchFamily="34" charset="-120"/>
              </a:rPr>
              <a:t>Paradigm shift: virtual methods on singletons are no longer a code smell — they're a testing superpower</a:t>
            </a:r>
            <a:endParaRPr lang="en-US" sz="1600" dirty="0"/>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Only make a method virtual if you intend to mock it — 'pay for what you use' applied to testability</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55CFA-BA12-0E38-53F0-B1281D7743B6}"/>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EC190BFE-9B25-206E-45A3-B70BF65C9D1C}"/>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Retrofitted a singleton that was exported by an SDK</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Everything works perfectly on windows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On Linux, users report mysterious failures and inconsistent behaviors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Investigation shows that the constructor of this singleton is being called multiple times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This only happens on Linux but never on windows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Nobody has any clue what’s going on</a:t>
            </a:r>
          </a:p>
        </p:txBody>
      </p:sp>
      <p:sp>
        <p:nvSpPr>
          <p:cNvPr id="2" name="Shape 0">
            <a:extLst>
              <a:ext uri="{FF2B5EF4-FFF2-40B4-BE49-F238E27FC236}">
                <a16:creationId xmlns:a16="http://schemas.microsoft.com/office/drawing/2014/main" id="{9C3B7466-063B-98E6-5DC5-5AA32B71F9FB}"/>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CADF315D-B1C7-CF0A-B3BE-A45E1100B174}"/>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2CC2B33E-B321-6B99-2B19-8CFA44F51760}"/>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A Cross-platform Mystery</a:t>
            </a:r>
            <a:endParaRPr lang="en-US" sz="1900" strike="sngStrike" dirty="0"/>
          </a:p>
        </p:txBody>
      </p:sp>
    </p:spTree>
    <p:extLst>
      <p:ext uri="{BB962C8B-B14F-4D97-AF65-F5344CB8AC3E}">
        <p14:creationId xmlns:p14="http://schemas.microsoft.com/office/powerpoint/2010/main" val="21304825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F808-B559-83C5-FAE5-BD99A4550AFB}"/>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ACF6B2EF-A0C4-3D7D-1F0E-1D14A9975F7A}"/>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Further debugging showed something strange:</a:t>
            </a:r>
            <a:br>
              <a:rPr lang="en-US" sz="1600" dirty="0">
                <a:solidFill>
                  <a:srgbClr val="1E3A5F"/>
                </a:solidFill>
                <a:latin typeface="Calibri" pitchFamily="34" charset="0"/>
                <a:ea typeface="Calibri" pitchFamily="34" charset="-122"/>
                <a:cs typeface="Calibri" pitchFamily="34" charset="-120"/>
              </a:rPr>
            </a:br>
            <a:r>
              <a:rPr lang="en-US" sz="1600" b="1" dirty="0">
                <a:solidFill>
                  <a:srgbClr val="1E3A5F"/>
                </a:solidFill>
                <a:latin typeface="Calibri" pitchFamily="34" charset="0"/>
                <a:ea typeface="Calibri" pitchFamily="34" charset="-122"/>
                <a:cs typeface="Calibri" pitchFamily="34" charset="-120"/>
              </a:rPr>
              <a:t>different calls to instance() at different times and places, returned different addresses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 where in the code </a:t>
            </a:r>
            <a:r>
              <a:rPr lang="en-US" sz="1600" dirty="0" err="1">
                <a:solidFill>
                  <a:srgbClr val="1E3A5F"/>
                </a:solidFill>
                <a:latin typeface="Calibri" pitchFamily="34" charset="0"/>
                <a:ea typeface="Calibri" pitchFamily="34" charset="-122"/>
                <a:cs typeface="Calibri" pitchFamily="34" charset="-120"/>
              </a:rPr>
              <a:t>setInstance</a:t>
            </a:r>
            <a:r>
              <a:rPr lang="en-US" sz="1600" dirty="0">
                <a:solidFill>
                  <a:srgbClr val="1E3A5F"/>
                </a:solidFill>
                <a:latin typeface="Calibri" pitchFamily="34" charset="0"/>
                <a:ea typeface="Calibri" pitchFamily="34" charset="-122"/>
                <a:cs typeface="Calibri" pitchFamily="34" charset="-120"/>
              </a:rPr>
              <a:t>() was being called</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Since this was legacy code and had no unit tests yet, nobody was creating any </a:t>
            </a:r>
            <a:r>
              <a:rPr lang="en-US" sz="1600" dirty="0" err="1">
                <a:solidFill>
                  <a:srgbClr val="1E3A5F"/>
                </a:solidFill>
                <a:latin typeface="Calibri" pitchFamily="34" charset="0"/>
                <a:ea typeface="Calibri" pitchFamily="34" charset="-122"/>
                <a:cs typeface="Calibri" pitchFamily="34" charset="-120"/>
              </a:rPr>
              <a:t>ScopedSingletonStates</a:t>
            </a:r>
            <a:r>
              <a:rPr lang="en-US" sz="1600" dirty="0">
                <a:solidFill>
                  <a:srgbClr val="1E3A5F"/>
                </a:solidFill>
                <a:latin typeface="Calibri" pitchFamily="34" charset="0"/>
                <a:ea typeface="Calibri" pitchFamily="34" charset="-122"/>
                <a:cs typeface="Calibri" pitchFamily="34" charset="-120"/>
              </a:rPr>
              <a:t> for this singleton anywhere either</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Behavior was inconsistent and unpredictable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Even AI agents were not of any use here and couldn’t even explain what’s going on</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were stuck… Until </a:t>
            </a:r>
            <a:r>
              <a:rPr lang="en-US" sz="1600" b="1" dirty="0">
                <a:solidFill>
                  <a:srgbClr val="1E3A5F"/>
                </a:solidFill>
                <a:latin typeface="Calibri" pitchFamily="34" charset="0"/>
                <a:ea typeface="Calibri" pitchFamily="34" charset="-122"/>
                <a:cs typeface="Calibri" pitchFamily="34" charset="-120"/>
              </a:rPr>
              <a:t>one detail finally connected the dots</a:t>
            </a:r>
          </a:p>
          <a:p>
            <a:pPr marL="342900" indent="-342900">
              <a:spcAft>
                <a:spcPts val="600"/>
              </a:spcAft>
              <a:buSzPct val="100000"/>
              <a:buChar char="•"/>
            </a:pPr>
            <a:endParaRPr lang="en-US" sz="1600" dirty="0">
              <a:solidFill>
                <a:srgbClr val="1E3A5F"/>
              </a:solidFill>
              <a:latin typeface="Calibri" pitchFamily="34" charset="0"/>
              <a:ea typeface="Calibri" pitchFamily="34" charset="-122"/>
              <a:cs typeface="Calibri" pitchFamily="34" charset="-120"/>
            </a:endParaRPr>
          </a:p>
        </p:txBody>
      </p:sp>
      <p:sp>
        <p:nvSpPr>
          <p:cNvPr id="2" name="Shape 0">
            <a:extLst>
              <a:ext uri="{FF2B5EF4-FFF2-40B4-BE49-F238E27FC236}">
                <a16:creationId xmlns:a16="http://schemas.microsoft.com/office/drawing/2014/main" id="{1BE245D3-CB3D-16A3-F4B5-235654FAE63B}"/>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AD39DE4D-FFFB-0D7D-435C-F0EB7E1125EA}"/>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A598EF7F-5869-EC62-4A02-8C7C2A00216A}"/>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A Cross-platform Mystery: The Mystery Deepens</a:t>
            </a:r>
            <a:endParaRPr lang="en-US" sz="1900" strike="sngStrike" dirty="0"/>
          </a:p>
        </p:txBody>
      </p:sp>
    </p:spTree>
    <p:extLst>
      <p:ext uri="{BB962C8B-B14F-4D97-AF65-F5344CB8AC3E}">
        <p14:creationId xmlns:p14="http://schemas.microsoft.com/office/powerpoint/2010/main" val="3623374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0FDE0-C3A9-3B96-C5BE-8CA680B01E46}"/>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8B11EBCF-CA0D-300E-B12D-BA580473A1C0}"/>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Since our </a:t>
            </a:r>
            <a:r>
              <a:rPr lang="en-US" sz="1600" dirty="0" err="1">
                <a:solidFill>
                  <a:srgbClr val="1E3A5F"/>
                </a:solidFill>
                <a:latin typeface="Calibri" pitchFamily="34" charset="0"/>
                <a:ea typeface="Calibri" pitchFamily="34" charset="-122"/>
                <a:cs typeface="Calibri" pitchFamily="34" charset="-120"/>
              </a:rPr>
              <a:t>SingletonBase</a:t>
            </a:r>
            <a:r>
              <a:rPr lang="en-US" sz="1600" dirty="0">
                <a:solidFill>
                  <a:srgbClr val="1E3A5F"/>
                </a:solidFill>
                <a:latin typeface="Calibri" pitchFamily="34" charset="0"/>
                <a:ea typeface="Calibri" pitchFamily="34" charset="-122"/>
                <a:cs typeface="Calibri" pitchFamily="34" charset="-120"/>
              </a:rPr>
              <a:t> and </a:t>
            </a:r>
            <a:r>
              <a:rPr lang="en-US" sz="1600" dirty="0" err="1">
                <a:solidFill>
                  <a:srgbClr val="1E3A5F"/>
                </a:solidFill>
                <a:latin typeface="Calibri" pitchFamily="34" charset="0"/>
                <a:ea typeface="Calibri" pitchFamily="34" charset="-122"/>
                <a:cs typeface="Calibri" pitchFamily="34" charset="-120"/>
              </a:rPr>
              <a:t>ScopedSingletonState</a:t>
            </a:r>
            <a:r>
              <a:rPr lang="en-US" sz="1600" dirty="0">
                <a:solidFill>
                  <a:srgbClr val="1E3A5F"/>
                </a:solidFill>
                <a:latin typeface="Calibri" pitchFamily="34" charset="0"/>
                <a:ea typeface="Calibri" pitchFamily="34" charset="-122"/>
                <a:cs typeface="Calibri" pitchFamily="34" charset="-120"/>
              </a:rPr>
              <a:t> are templated classes, their code needs to be defined in header files accessible by anyone, all their functions are </a:t>
            </a:r>
            <a:r>
              <a:rPr lang="en-US" sz="1600" dirty="0" err="1">
                <a:solidFill>
                  <a:srgbClr val="1E3A5F"/>
                </a:solidFill>
                <a:latin typeface="Calibri" pitchFamily="34" charset="0"/>
                <a:ea typeface="Calibri" pitchFamily="34" charset="-122"/>
                <a:cs typeface="Calibri" pitchFamily="34" charset="-120"/>
              </a:rPr>
              <a:t>inlined</a:t>
            </a: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Each function that has a static local variable gets a slot created for this variable in the .</a:t>
            </a:r>
            <a:r>
              <a:rPr lang="en-US" sz="1600" dirty="0" err="1">
                <a:solidFill>
                  <a:srgbClr val="1E3A5F"/>
                </a:solidFill>
                <a:latin typeface="Calibri" pitchFamily="34" charset="0"/>
                <a:ea typeface="Calibri" pitchFamily="34" charset="-122"/>
                <a:cs typeface="Calibri" pitchFamily="34" charset="-120"/>
              </a:rPr>
              <a:t>bss</a:t>
            </a:r>
            <a:r>
              <a:rPr lang="en-US" sz="1600" dirty="0">
                <a:solidFill>
                  <a:srgbClr val="1E3A5F"/>
                </a:solidFill>
                <a:latin typeface="Calibri" pitchFamily="34" charset="0"/>
                <a:ea typeface="Calibri" pitchFamily="34" charset="-122"/>
                <a:cs typeface="Calibri" pitchFamily="34" charset="-120"/>
              </a:rPr>
              <a:t> data section</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Under normal circumstances, everyone using this static variable uses the same position that the .</a:t>
            </a:r>
            <a:r>
              <a:rPr lang="en-US" sz="1600" dirty="0" err="1">
                <a:solidFill>
                  <a:srgbClr val="1E3A5F"/>
                </a:solidFill>
                <a:latin typeface="Calibri" pitchFamily="34" charset="0"/>
                <a:ea typeface="Calibri" pitchFamily="34" charset="-122"/>
                <a:cs typeface="Calibri" pitchFamily="34" charset="-120"/>
              </a:rPr>
              <a:t>bss</a:t>
            </a:r>
            <a:r>
              <a:rPr lang="en-US" sz="1600" dirty="0">
                <a:solidFill>
                  <a:srgbClr val="1E3A5F"/>
                </a:solidFill>
                <a:latin typeface="Calibri" pitchFamily="34" charset="0"/>
                <a:ea typeface="Calibri" pitchFamily="34" charset="-122"/>
                <a:cs typeface="Calibri" pitchFamily="34" charset="-120"/>
              </a:rPr>
              <a:t> section is pointing to</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Since our functions were </a:t>
            </a:r>
            <a:r>
              <a:rPr lang="en-US" sz="1600" dirty="0" err="1">
                <a:solidFill>
                  <a:srgbClr val="1E3A5F"/>
                </a:solidFill>
                <a:latin typeface="Calibri" pitchFamily="34" charset="0"/>
                <a:ea typeface="Calibri" pitchFamily="34" charset="-122"/>
                <a:cs typeface="Calibri" pitchFamily="34" charset="-120"/>
              </a:rPr>
              <a:t>inlined</a:t>
            </a:r>
            <a:r>
              <a:rPr lang="en-US" sz="1600" dirty="0">
                <a:solidFill>
                  <a:srgbClr val="1E3A5F"/>
                </a:solidFill>
                <a:latin typeface="Calibri" pitchFamily="34" charset="0"/>
                <a:ea typeface="Calibri" pitchFamily="34" charset="-122"/>
                <a:cs typeface="Calibri" pitchFamily="34" charset="-120"/>
              </a:rPr>
              <a:t>, the compiler would generate a new entry for each local static member that we have in each *.so / elf file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All code inside each module would be accessing the instance that belongs to their module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That’s the reason why we saw the constructor being called multiple times and instance returns different results for different functions</a:t>
            </a:r>
          </a:p>
        </p:txBody>
      </p:sp>
      <p:sp>
        <p:nvSpPr>
          <p:cNvPr id="2" name="Shape 0">
            <a:extLst>
              <a:ext uri="{FF2B5EF4-FFF2-40B4-BE49-F238E27FC236}">
                <a16:creationId xmlns:a16="http://schemas.microsoft.com/office/drawing/2014/main" id="{6F6DF276-58C8-AE4B-9125-18D38FA156A0}"/>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3BF41411-9A0C-490E-3A7D-B1A0E1E7FBD6}"/>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42832E39-7334-88A2-4FAF-42C73714A4E8}"/>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A Cross-platform Mystery: The Reveal</a:t>
            </a:r>
            <a:endParaRPr lang="en-US" sz="1900" strike="sngStrike" dirty="0"/>
          </a:p>
        </p:txBody>
      </p:sp>
    </p:spTree>
    <p:extLst>
      <p:ext uri="{BB962C8B-B14F-4D97-AF65-F5344CB8AC3E}">
        <p14:creationId xmlns:p14="http://schemas.microsoft.com/office/powerpoint/2010/main" val="33083133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9A78F-041C-5DF9-351F-4FB674CFAEA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64A3617-D6DA-2E78-E50C-9B1D91D2B148}"/>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12E02B64-A331-2C09-1766-A36E9198FE5C}"/>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1A1CE841-C4BC-DBCD-BDEF-5AB1EC71DD09}"/>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A Cross-platform Mystery: The Reveal</a:t>
            </a:r>
            <a:endParaRPr lang="en-US" sz="1900" strike="sngStrike" dirty="0"/>
          </a:p>
        </p:txBody>
      </p:sp>
      <p:grpSp>
        <p:nvGrpSpPr>
          <p:cNvPr id="27" name="Group 26">
            <a:extLst>
              <a:ext uri="{FF2B5EF4-FFF2-40B4-BE49-F238E27FC236}">
                <a16:creationId xmlns:a16="http://schemas.microsoft.com/office/drawing/2014/main" id="{FE84D52D-C541-49C6-04E7-26A691936E79}"/>
              </a:ext>
            </a:extLst>
          </p:cNvPr>
          <p:cNvGrpSpPr/>
          <p:nvPr/>
        </p:nvGrpSpPr>
        <p:grpSpPr>
          <a:xfrm>
            <a:off x="411481" y="2250220"/>
            <a:ext cx="3677480" cy="2496710"/>
            <a:chOff x="222836" y="1481926"/>
            <a:chExt cx="3677480" cy="2865052"/>
          </a:xfrm>
        </p:grpSpPr>
        <p:sp>
          <p:nvSpPr>
            <p:cNvPr id="4" name="Rectangle 3">
              <a:extLst>
                <a:ext uri="{FF2B5EF4-FFF2-40B4-BE49-F238E27FC236}">
                  <a16:creationId xmlns:a16="http://schemas.microsoft.com/office/drawing/2014/main" id="{C1AD98A3-3EB3-0A32-057B-42AF3EB4DD2F}"/>
                </a:ext>
              </a:extLst>
            </p:cNvPr>
            <p:cNvSpPr/>
            <p:nvPr/>
          </p:nvSpPr>
          <p:spPr>
            <a:xfrm>
              <a:off x="222836" y="3432578"/>
              <a:ext cx="3677480" cy="914400"/>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libCore.so</a:t>
              </a:r>
            </a:p>
          </p:txBody>
        </p:sp>
        <p:sp>
          <p:nvSpPr>
            <p:cNvPr id="7" name="Rectangle 6">
              <a:extLst>
                <a:ext uri="{FF2B5EF4-FFF2-40B4-BE49-F238E27FC236}">
                  <a16:creationId xmlns:a16="http://schemas.microsoft.com/office/drawing/2014/main" id="{5A7622BB-CDE7-C425-CCDB-18D7AB69CD16}"/>
                </a:ext>
              </a:extLst>
            </p:cNvPr>
            <p:cNvSpPr/>
            <p:nvPr/>
          </p:nvSpPr>
          <p:spPr>
            <a:xfrm>
              <a:off x="222837" y="2782362"/>
              <a:ext cx="1778935" cy="475488"/>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libNetwork.so</a:t>
              </a:r>
            </a:p>
          </p:txBody>
        </p:sp>
        <p:sp>
          <p:nvSpPr>
            <p:cNvPr id="8" name="Rectangle 7">
              <a:extLst>
                <a:ext uri="{FF2B5EF4-FFF2-40B4-BE49-F238E27FC236}">
                  <a16:creationId xmlns:a16="http://schemas.microsoft.com/office/drawing/2014/main" id="{426C152D-5CFA-4E65-D14D-752C04B4E70D}"/>
                </a:ext>
              </a:extLst>
            </p:cNvPr>
            <p:cNvSpPr/>
            <p:nvPr/>
          </p:nvSpPr>
          <p:spPr>
            <a:xfrm>
              <a:off x="222836" y="2132144"/>
              <a:ext cx="3677480" cy="475488"/>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libGui.so</a:t>
              </a:r>
            </a:p>
          </p:txBody>
        </p:sp>
        <p:sp>
          <p:nvSpPr>
            <p:cNvPr id="9" name="Rectangle 8">
              <a:extLst>
                <a:ext uri="{FF2B5EF4-FFF2-40B4-BE49-F238E27FC236}">
                  <a16:creationId xmlns:a16="http://schemas.microsoft.com/office/drawing/2014/main" id="{1AB0245C-4ADD-E9A8-B30E-02DE51F8881F}"/>
                </a:ext>
              </a:extLst>
            </p:cNvPr>
            <p:cNvSpPr/>
            <p:nvPr/>
          </p:nvSpPr>
          <p:spPr>
            <a:xfrm>
              <a:off x="2121381" y="2782362"/>
              <a:ext cx="1778935" cy="475488"/>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libIO.so</a:t>
              </a:r>
            </a:p>
          </p:txBody>
        </p:sp>
        <p:sp>
          <p:nvSpPr>
            <p:cNvPr id="10" name="Rectangle 9">
              <a:extLst>
                <a:ext uri="{FF2B5EF4-FFF2-40B4-BE49-F238E27FC236}">
                  <a16:creationId xmlns:a16="http://schemas.microsoft.com/office/drawing/2014/main" id="{2841812A-6CFF-6446-613B-1E21152B2F02}"/>
                </a:ext>
              </a:extLst>
            </p:cNvPr>
            <p:cNvSpPr/>
            <p:nvPr/>
          </p:nvSpPr>
          <p:spPr>
            <a:xfrm>
              <a:off x="222836" y="1481926"/>
              <a:ext cx="3677480" cy="475488"/>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App</a:t>
              </a:r>
            </a:p>
          </p:txBody>
        </p:sp>
        <p:sp>
          <p:nvSpPr>
            <p:cNvPr id="12" name="Rectangle 11">
              <a:extLst>
                <a:ext uri="{FF2B5EF4-FFF2-40B4-BE49-F238E27FC236}">
                  <a16:creationId xmlns:a16="http://schemas.microsoft.com/office/drawing/2014/main" id="{DB4BE186-EC32-F413-AD5E-42204F11339C}"/>
                </a:ext>
              </a:extLst>
            </p:cNvPr>
            <p:cNvSpPr/>
            <p:nvPr/>
          </p:nvSpPr>
          <p:spPr>
            <a:xfrm>
              <a:off x="1316847" y="3887792"/>
              <a:ext cx="1489457" cy="3800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defaultInstance</a:t>
              </a:r>
              <a:endParaRPr lang="en-US" sz="1600" dirty="0"/>
            </a:p>
          </p:txBody>
        </p:sp>
      </p:grpSp>
      <p:grpSp>
        <p:nvGrpSpPr>
          <p:cNvPr id="25" name="Group 24">
            <a:extLst>
              <a:ext uri="{FF2B5EF4-FFF2-40B4-BE49-F238E27FC236}">
                <a16:creationId xmlns:a16="http://schemas.microsoft.com/office/drawing/2014/main" id="{F01CEC69-F970-91EB-8288-A72E34935980}"/>
              </a:ext>
            </a:extLst>
          </p:cNvPr>
          <p:cNvGrpSpPr/>
          <p:nvPr/>
        </p:nvGrpSpPr>
        <p:grpSpPr>
          <a:xfrm>
            <a:off x="5055038" y="1156038"/>
            <a:ext cx="3677480" cy="3590892"/>
            <a:chOff x="4849590" y="648580"/>
            <a:chExt cx="3677480" cy="4120659"/>
          </a:xfrm>
        </p:grpSpPr>
        <p:sp>
          <p:nvSpPr>
            <p:cNvPr id="14" name="Rectangle 13">
              <a:extLst>
                <a:ext uri="{FF2B5EF4-FFF2-40B4-BE49-F238E27FC236}">
                  <a16:creationId xmlns:a16="http://schemas.microsoft.com/office/drawing/2014/main" id="{DD10A359-81EF-367E-E410-C5D4CA7CC77C}"/>
                </a:ext>
              </a:extLst>
            </p:cNvPr>
            <p:cNvSpPr/>
            <p:nvPr/>
          </p:nvSpPr>
          <p:spPr>
            <a:xfrm>
              <a:off x="4849590" y="3854839"/>
              <a:ext cx="3677480" cy="914400"/>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libCore.so</a:t>
              </a:r>
            </a:p>
          </p:txBody>
        </p:sp>
        <p:sp>
          <p:nvSpPr>
            <p:cNvPr id="15" name="Rectangle 14">
              <a:extLst>
                <a:ext uri="{FF2B5EF4-FFF2-40B4-BE49-F238E27FC236}">
                  <a16:creationId xmlns:a16="http://schemas.microsoft.com/office/drawing/2014/main" id="{6DD0E297-28EF-E7D3-6563-D838A329005E}"/>
                </a:ext>
              </a:extLst>
            </p:cNvPr>
            <p:cNvSpPr/>
            <p:nvPr/>
          </p:nvSpPr>
          <p:spPr>
            <a:xfrm>
              <a:off x="4849590" y="2765711"/>
              <a:ext cx="1778935" cy="914400"/>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libNetwork.so</a:t>
              </a:r>
            </a:p>
          </p:txBody>
        </p:sp>
        <p:sp>
          <p:nvSpPr>
            <p:cNvPr id="16" name="Rectangle 15">
              <a:extLst>
                <a:ext uri="{FF2B5EF4-FFF2-40B4-BE49-F238E27FC236}">
                  <a16:creationId xmlns:a16="http://schemas.microsoft.com/office/drawing/2014/main" id="{EC65EB05-7308-AFED-694B-915CA70CDBBA}"/>
                </a:ext>
              </a:extLst>
            </p:cNvPr>
            <p:cNvSpPr/>
            <p:nvPr/>
          </p:nvSpPr>
          <p:spPr>
            <a:xfrm>
              <a:off x="4849590" y="1737708"/>
              <a:ext cx="3677480" cy="914400"/>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libGui.so</a:t>
              </a:r>
            </a:p>
          </p:txBody>
        </p:sp>
        <p:sp>
          <p:nvSpPr>
            <p:cNvPr id="17" name="Rectangle 16">
              <a:extLst>
                <a:ext uri="{FF2B5EF4-FFF2-40B4-BE49-F238E27FC236}">
                  <a16:creationId xmlns:a16="http://schemas.microsoft.com/office/drawing/2014/main" id="{5AB3A6F6-66E4-585E-7A48-CFD0604953BC}"/>
                </a:ext>
              </a:extLst>
            </p:cNvPr>
            <p:cNvSpPr/>
            <p:nvPr/>
          </p:nvSpPr>
          <p:spPr>
            <a:xfrm>
              <a:off x="6748134" y="2765711"/>
              <a:ext cx="1778935" cy="914400"/>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libIO.so</a:t>
              </a:r>
            </a:p>
          </p:txBody>
        </p:sp>
        <p:sp>
          <p:nvSpPr>
            <p:cNvPr id="18" name="Rectangle 17">
              <a:extLst>
                <a:ext uri="{FF2B5EF4-FFF2-40B4-BE49-F238E27FC236}">
                  <a16:creationId xmlns:a16="http://schemas.microsoft.com/office/drawing/2014/main" id="{E923AFBB-FF2F-6491-7D43-07B5F7E06C7B}"/>
                </a:ext>
              </a:extLst>
            </p:cNvPr>
            <p:cNvSpPr/>
            <p:nvPr/>
          </p:nvSpPr>
          <p:spPr>
            <a:xfrm>
              <a:off x="4849590" y="648580"/>
              <a:ext cx="3677480" cy="914400"/>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App</a:t>
              </a:r>
            </a:p>
          </p:txBody>
        </p:sp>
        <p:sp>
          <p:nvSpPr>
            <p:cNvPr id="19" name="Rectangle 18">
              <a:extLst>
                <a:ext uri="{FF2B5EF4-FFF2-40B4-BE49-F238E27FC236}">
                  <a16:creationId xmlns:a16="http://schemas.microsoft.com/office/drawing/2014/main" id="{330F8F4F-80C5-4ECB-5C3F-701E7CF9BA0C}"/>
                </a:ext>
              </a:extLst>
            </p:cNvPr>
            <p:cNvSpPr/>
            <p:nvPr/>
          </p:nvSpPr>
          <p:spPr>
            <a:xfrm>
              <a:off x="5943601" y="4312039"/>
              <a:ext cx="1489457" cy="3800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defaultInstance</a:t>
              </a:r>
              <a:endParaRPr lang="en-US" sz="1600" dirty="0"/>
            </a:p>
          </p:txBody>
        </p:sp>
        <p:sp>
          <p:nvSpPr>
            <p:cNvPr id="21" name="Rectangle 20">
              <a:extLst>
                <a:ext uri="{FF2B5EF4-FFF2-40B4-BE49-F238E27FC236}">
                  <a16:creationId xmlns:a16="http://schemas.microsoft.com/office/drawing/2014/main" id="{CA194407-97CE-04F8-39C9-3AAF6A1EEDDB}"/>
                </a:ext>
              </a:extLst>
            </p:cNvPr>
            <p:cNvSpPr/>
            <p:nvPr/>
          </p:nvSpPr>
          <p:spPr>
            <a:xfrm>
              <a:off x="6892872" y="3222911"/>
              <a:ext cx="1489457" cy="3800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defaultInstance</a:t>
              </a:r>
              <a:endParaRPr lang="en-US" sz="1600" dirty="0"/>
            </a:p>
          </p:txBody>
        </p:sp>
        <p:sp>
          <p:nvSpPr>
            <p:cNvPr id="22" name="Rectangle 21">
              <a:extLst>
                <a:ext uri="{FF2B5EF4-FFF2-40B4-BE49-F238E27FC236}">
                  <a16:creationId xmlns:a16="http://schemas.microsoft.com/office/drawing/2014/main" id="{C9B1FAEC-70BF-B289-A03B-73CA534B9C40}"/>
                </a:ext>
              </a:extLst>
            </p:cNvPr>
            <p:cNvSpPr/>
            <p:nvPr/>
          </p:nvSpPr>
          <p:spPr>
            <a:xfrm>
              <a:off x="4994328" y="3222911"/>
              <a:ext cx="1489457" cy="3800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defaultInstance</a:t>
              </a:r>
              <a:endParaRPr lang="en-US" sz="1600" dirty="0"/>
            </a:p>
          </p:txBody>
        </p:sp>
        <p:sp>
          <p:nvSpPr>
            <p:cNvPr id="23" name="Rectangle 22">
              <a:extLst>
                <a:ext uri="{FF2B5EF4-FFF2-40B4-BE49-F238E27FC236}">
                  <a16:creationId xmlns:a16="http://schemas.microsoft.com/office/drawing/2014/main" id="{642A035A-54C4-F985-6D6B-4328E988E0FF}"/>
                </a:ext>
              </a:extLst>
            </p:cNvPr>
            <p:cNvSpPr/>
            <p:nvPr/>
          </p:nvSpPr>
          <p:spPr>
            <a:xfrm>
              <a:off x="5883796" y="2191680"/>
              <a:ext cx="1489457" cy="3800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defaultInstance</a:t>
              </a:r>
              <a:endParaRPr lang="en-US" sz="1600" dirty="0"/>
            </a:p>
          </p:txBody>
        </p:sp>
        <p:sp>
          <p:nvSpPr>
            <p:cNvPr id="24" name="Rectangle 23">
              <a:extLst>
                <a:ext uri="{FF2B5EF4-FFF2-40B4-BE49-F238E27FC236}">
                  <a16:creationId xmlns:a16="http://schemas.microsoft.com/office/drawing/2014/main" id="{82170A8B-0BB4-8191-5A2B-9727E179D3AE}"/>
                </a:ext>
              </a:extLst>
            </p:cNvPr>
            <p:cNvSpPr/>
            <p:nvPr/>
          </p:nvSpPr>
          <p:spPr>
            <a:xfrm>
              <a:off x="5883796" y="1101856"/>
              <a:ext cx="1489457" cy="3800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defaultInstance</a:t>
              </a:r>
              <a:endParaRPr lang="en-US" sz="1600" dirty="0"/>
            </a:p>
          </p:txBody>
        </p:sp>
      </p:grpSp>
      <p:cxnSp>
        <p:nvCxnSpPr>
          <p:cNvPr id="29" name="Straight Connector 28">
            <a:extLst>
              <a:ext uri="{FF2B5EF4-FFF2-40B4-BE49-F238E27FC236}">
                <a16:creationId xmlns:a16="http://schemas.microsoft.com/office/drawing/2014/main" id="{885F5C35-41B0-7986-4413-216565C2155F}"/>
              </a:ext>
            </a:extLst>
          </p:cNvPr>
          <p:cNvCxnSpPr>
            <a:cxnSpLocks/>
          </p:cNvCxnSpPr>
          <p:nvPr/>
        </p:nvCxnSpPr>
        <p:spPr>
          <a:xfrm>
            <a:off x="4572000" y="681372"/>
            <a:ext cx="0" cy="4065558"/>
          </a:xfrm>
          <a:prstGeom prst="line">
            <a:avLst/>
          </a:prstGeom>
          <a:ln w="19050">
            <a:solidFill>
              <a:srgbClr val="1E3A5F"/>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3C21A01-9D7E-709B-2641-3A543E908CE8}"/>
              </a:ext>
            </a:extLst>
          </p:cNvPr>
          <p:cNvSpPr txBox="1"/>
          <p:nvPr/>
        </p:nvSpPr>
        <p:spPr>
          <a:xfrm>
            <a:off x="316065" y="631097"/>
            <a:ext cx="1148071" cy="369332"/>
          </a:xfrm>
          <a:prstGeom prst="rect">
            <a:avLst/>
          </a:prstGeom>
          <a:noFill/>
        </p:spPr>
        <p:txBody>
          <a:bodyPr wrap="none" rtlCol="0">
            <a:spAutoFit/>
          </a:bodyPr>
          <a:lstStyle/>
          <a:p>
            <a:r>
              <a:rPr lang="en-US" dirty="0">
                <a:latin typeface="Georgia" panose="02040502050405020303" pitchFamily="18" charset="0"/>
                <a:cs typeface="Gautami" panose="020B0502040204020203" pitchFamily="34" charset="0"/>
              </a:rPr>
              <a:t>Intention</a:t>
            </a:r>
          </a:p>
        </p:txBody>
      </p:sp>
      <p:sp>
        <p:nvSpPr>
          <p:cNvPr id="31" name="TextBox 30">
            <a:extLst>
              <a:ext uri="{FF2B5EF4-FFF2-40B4-BE49-F238E27FC236}">
                <a16:creationId xmlns:a16="http://schemas.microsoft.com/office/drawing/2014/main" id="{804E85EE-BCE4-1BE0-7ED5-14A56CAB04F7}"/>
              </a:ext>
            </a:extLst>
          </p:cNvPr>
          <p:cNvSpPr txBox="1"/>
          <p:nvPr/>
        </p:nvSpPr>
        <p:spPr>
          <a:xfrm>
            <a:off x="4940196" y="631097"/>
            <a:ext cx="896062" cy="369332"/>
          </a:xfrm>
          <a:prstGeom prst="rect">
            <a:avLst/>
          </a:prstGeom>
          <a:noFill/>
        </p:spPr>
        <p:txBody>
          <a:bodyPr wrap="square" rtlCol="0">
            <a:spAutoFit/>
          </a:bodyPr>
          <a:lstStyle/>
          <a:p>
            <a:r>
              <a:rPr lang="en-US" dirty="0">
                <a:latin typeface="Georgia" panose="02040502050405020303" pitchFamily="18" charset="0"/>
              </a:rPr>
              <a:t>Reality</a:t>
            </a:r>
          </a:p>
        </p:txBody>
      </p:sp>
    </p:spTree>
    <p:extLst>
      <p:ext uri="{BB962C8B-B14F-4D97-AF65-F5344CB8AC3E}">
        <p14:creationId xmlns:p14="http://schemas.microsoft.com/office/powerpoint/2010/main" val="19889127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D1A55-3EE8-DD6A-9808-DBD29747F13D}"/>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12BD1356-3507-82AA-7691-AE31F8D3A5C7}"/>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This behavior is totally logical and makes total sense. But why didn’t we face the same problem on windows?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had the same code with the same build system, is it something related to how PE files are structured?</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Highly unlikely, PE (Windows) and ELF (Linux) formats are </a:t>
            </a:r>
            <a:r>
              <a:rPr lang="en-US" sz="1600" b="1" dirty="0">
                <a:solidFill>
                  <a:srgbClr val="1E3A5F"/>
                </a:solidFill>
                <a:latin typeface="Calibri" pitchFamily="34" charset="0"/>
                <a:ea typeface="Calibri" pitchFamily="34" charset="-122"/>
                <a:cs typeface="Calibri" pitchFamily="34" charset="-120"/>
              </a:rPr>
              <a:t>almost functionally identical</a:t>
            </a:r>
            <a:r>
              <a:rPr lang="en-US" sz="1600" dirty="0">
                <a:solidFill>
                  <a:srgbClr val="1E3A5F"/>
                </a:solidFill>
                <a:latin typeface="Calibri" pitchFamily="34" charset="0"/>
                <a:ea typeface="Calibri" pitchFamily="34" charset="-122"/>
                <a:cs typeface="Calibri" pitchFamily="34" charset="-120"/>
              </a:rPr>
              <a:t>— same structures, same concepts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If executable formats are not the cause, then this behavior </a:t>
            </a:r>
            <a:r>
              <a:rPr lang="en-US" sz="1600" b="1" dirty="0">
                <a:solidFill>
                  <a:srgbClr val="1E3A5F"/>
                </a:solidFill>
                <a:latin typeface="Calibri" pitchFamily="34" charset="0"/>
                <a:ea typeface="Calibri" pitchFamily="34" charset="-122"/>
                <a:cs typeface="Calibri" pitchFamily="34" charset="-120"/>
              </a:rPr>
              <a:t>should</a:t>
            </a:r>
            <a:r>
              <a:rPr lang="en-US" sz="1600" dirty="0">
                <a:solidFill>
                  <a:srgbClr val="1E3A5F"/>
                </a:solidFill>
                <a:latin typeface="Calibri" pitchFamily="34" charset="0"/>
                <a:ea typeface="Calibri" pitchFamily="34" charset="-122"/>
                <a:cs typeface="Calibri" pitchFamily="34" charset="-120"/>
              </a:rPr>
              <a:t> have appeared on Windows too. But we didn’t see it</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There is a missing factor though, We use GCC on Linux, and MSVC on Windows. This is something that has high probability of causing differences like this </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To test this, we recompiled our code on Windows using </a:t>
            </a:r>
            <a:r>
              <a:rPr lang="en-US" sz="1600" b="1" dirty="0">
                <a:solidFill>
                  <a:srgbClr val="1E3A5F"/>
                </a:solidFill>
                <a:latin typeface="Calibri" pitchFamily="34" charset="0"/>
                <a:ea typeface="Calibri" pitchFamily="34" charset="-122"/>
                <a:cs typeface="Calibri" pitchFamily="34" charset="-120"/>
              </a:rPr>
              <a:t>MinGW (GCC)</a:t>
            </a:r>
            <a:r>
              <a:rPr lang="en-US" sz="1600" dirty="0">
                <a:solidFill>
                  <a:srgbClr val="1E3A5F"/>
                </a:solidFill>
                <a:latin typeface="Calibri" pitchFamily="34" charset="0"/>
                <a:ea typeface="Calibri" pitchFamily="34" charset="-122"/>
                <a:cs typeface="Calibri" pitchFamily="34" charset="-120"/>
              </a:rPr>
              <a:t> </a:t>
            </a:r>
            <a:br>
              <a:rPr lang="en-US" sz="1600"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The bug appeared on Windows as well</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Tried </a:t>
            </a:r>
            <a:r>
              <a:rPr lang="en-US" sz="1600" b="1" dirty="0">
                <a:solidFill>
                  <a:srgbClr val="1E3A5F"/>
                </a:solidFill>
                <a:latin typeface="Calibri" pitchFamily="34" charset="0"/>
                <a:ea typeface="Calibri" pitchFamily="34" charset="-122"/>
                <a:cs typeface="Calibri" pitchFamily="34" charset="-120"/>
              </a:rPr>
              <a:t>Clang</a:t>
            </a:r>
            <a:r>
              <a:rPr lang="en-US" sz="1600" dirty="0">
                <a:solidFill>
                  <a:srgbClr val="1E3A5F"/>
                </a:solidFill>
                <a:latin typeface="Calibri" pitchFamily="34" charset="0"/>
                <a:ea typeface="Calibri" pitchFamily="34" charset="-122"/>
                <a:cs typeface="Calibri" pitchFamily="34" charset="-120"/>
              </a:rPr>
              <a:t> too, identical behavior to GCC</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Conclusion: </a:t>
            </a:r>
            <a:r>
              <a:rPr lang="en-US" sz="1600" b="1" dirty="0">
                <a:solidFill>
                  <a:srgbClr val="1E3A5F"/>
                </a:solidFill>
                <a:latin typeface="Calibri" pitchFamily="34" charset="0"/>
                <a:ea typeface="Calibri" pitchFamily="34" charset="-122"/>
                <a:cs typeface="Calibri" pitchFamily="34" charset="-120"/>
              </a:rPr>
              <a:t>MSVC</a:t>
            </a:r>
            <a:r>
              <a:rPr lang="en-US" sz="1600" dirty="0">
                <a:solidFill>
                  <a:srgbClr val="1E3A5F"/>
                </a:solidFill>
                <a:latin typeface="Calibri" pitchFamily="34" charset="0"/>
                <a:ea typeface="Calibri" pitchFamily="34" charset="-122"/>
                <a:cs typeface="Calibri" pitchFamily="34" charset="-120"/>
              </a:rPr>
              <a:t> is the </a:t>
            </a:r>
            <a:r>
              <a:rPr lang="en-US" sz="1600" i="1" dirty="0">
                <a:solidFill>
                  <a:srgbClr val="1E3A5F"/>
                </a:solidFill>
                <a:latin typeface="Calibri" pitchFamily="34" charset="0"/>
                <a:ea typeface="Calibri" pitchFamily="34" charset="-122"/>
                <a:cs typeface="Calibri" pitchFamily="34" charset="-120"/>
              </a:rPr>
              <a:t>only</a:t>
            </a:r>
            <a:r>
              <a:rPr lang="en-US" sz="1600" dirty="0">
                <a:solidFill>
                  <a:srgbClr val="1E3A5F"/>
                </a:solidFill>
                <a:latin typeface="Calibri" pitchFamily="34" charset="0"/>
                <a:ea typeface="Calibri" pitchFamily="34" charset="-122"/>
                <a:cs typeface="Calibri" pitchFamily="34" charset="-120"/>
              </a:rPr>
              <a:t> compiler that behaves differently</a:t>
            </a:r>
          </a:p>
          <a:p>
            <a:pPr>
              <a:spcAft>
                <a:spcPts val="600"/>
              </a:spcAft>
              <a:buSzPct val="100000"/>
            </a:pPr>
            <a:endParaRPr lang="en-US" sz="1600" dirty="0">
              <a:solidFill>
                <a:srgbClr val="1E3A5F"/>
              </a:solidFill>
              <a:latin typeface="Calibri" pitchFamily="34" charset="0"/>
              <a:ea typeface="Calibri" pitchFamily="34" charset="-122"/>
              <a:cs typeface="Calibri" pitchFamily="34" charset="-120"/>
            </a:endParaRPr>
          </a:p>
        </p:txBody>
      </p:sp>
      <p:sp>
        <p:nvSpPr>
          <p:cNvPr id="2" name="Shape 0">
            <a:extLst>
              <a:ext uri="{FF2B5EF4-FFF2-40B4-BE49-F238E27FC236}">
                <a16:creationId xmlns:a16="http://schemas.microsoft.com/office/drawing/2014/main" id="{22810C69-DE9C-5947-3FBA-77974A9FF8EE}"/>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C3CB92C8-DC17-15A4-5A38-93F9651A47DE}"/>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0B4B40B0-E57D-A630-EB5A-437FCA6D03C0}"/>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A Cross-platform Mystery: The Reveal</a:t>
            </a:r>
            <a:endParaRPr lang="en-US" sz="1900" strike="sngStrike" dirty="0"/>
          </a:p>
        </p:txBody>
      </p:sp>
    </p:spTree>
    <p:extLst>
      <p:ext uri="{BB962C8B-B14F-4D97-AF65-F5344CB8AC3E}">
        <p14:creationId xmlns:p14="http://schemas.microsoft.com/office/powerpoint/2010/main" val="23012339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13FE-3873-7DA4-2576-454B7D25D678}"/>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0A843AFF-6704-89FD-3F9F-8893DC19CE1B}"/>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Now we know that MSVC is the only compiler that is giving us the intended behavior</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But according to the standard there is no specification for how such case should be handled by the compiler</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 GCC/Clang behavior is expected. But the MSVC behavior is the one that functionally makes more sense (in our use case at least)</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know how to solve the problem already (We will show the solution later) but this is a very fascinating topic that deserves to be explored deeply</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How is MSVC “doing” this?</a:t>
            </a:r>
          </a:p>
          <a:p>
            <a:pPr marL="342900" indent="-342900">
              <a:spcAft>
                <a:spcPts val="600"/>
              </a:spcAft>
              <a:buSzPct val="100000"/>
              <a:buChar char="•"/>
            </a:pPr>
            <a:endParaRPr lang="en-US" sz="1600" dirty="0">
              <a:solidFill>
                <a:srgbClr val="1E3A5F"/>
              </a:solidFill>
              <a:latin typeface="Calibri" pitchFamily="34" charset="0"/>
              <a:ea typeface="Calibri" pitchFamily="34" charset="-122"/>
              <a:cs typeface="Calibri" pitchFamily="34" charset="-120"/>
            </a:endParaRPr>
          </a:p>
        </p:txBody>
      </p:sp>
      <p:sp>
        <p:nvSpPr>
          <p:cNvPr id="2" name="Shape 0">
            <a:extLst>
              <a:ext uri="{FF2B5EF4-FFF2-40B4-BE49-F238E27FC236}">
                <a16:creationId xmlns:a16="http://schemas.microsoft.com/office/drawing/2014/main" id="{7FCB2F25-8F1F-CD0D-0D9C-D2BF64E9E294}"/>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E85CC172-BB83-DEEE-58E8-9750A49F0569}"/>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11A0FA32-56FB-BD0C-1F78-1DF1A660DAD4}"/>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A Cross-platform Mystery: MSVC vs GCC &amp; Clang</a:t>
            </a:r>
            <a:endParaRPr lang="en-US" sz="1900" strike="sngStrike" dirty="0"/>
          </a:p>
        </p:txBody>
      </p:sp>
    </p:spTree>
    <p:extLst>
      <p:ext uri="{BB962C8B-B14F-4D97-AF65-F5344CB8AC3E}">
        <p14:creationId xmlns:p14="http://schemas.microsoft.com/office/powerpoint/2010/main" val="4604958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F3DE3-25ED-D69A-C1F0-25285DA9E120}"/>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6103837B-5718-A931-24BE-9E1B4FC0D359}"/>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So, MSVC has a feature called COMDAT folding</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COMDAT stands for “Common data”</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Basically, it is a linker mechanism that </a:t>
            </a:r>
            <a:r>
              <a:rPr lang="en-US" sz="1600" b="1" dirty="0">
                <a:solidFill>
                  <a:srgbClr val="1E3A5F"/>
                </a:solidFill>
                <a:latin typeface="Calibri" pitchFamily="34" charset="0"/>
                <a:ea typeface="Calibri" pitchFamily="34" charset="-122"/>
                <a:cs typeface="Calibri" pitchFamily="34" charset="-120"/>
              </a:rPr>
              <a:t>allows multiple object files to contain duplicate definitions of the same entity</a:t>
            </a:r>
            <a:r>
              <a:rPr lang="en-US" sz="1600" dirty="0">
                <a:solidFill>
                  <a:srgbClr val="1E3A5F"/>
                </a:solidFill>
                <a:latin typeface="Calibri" pitchFamily="34" charset="0"/>
                <a:ea typeface="Calibri" pitchFamily="34" charset="-122"/>
                <a:cs typeface="Calibri" pitchFamily="34" charset="-120"/>
              </a:rPr>
              <a:t>, while ensuring that </a:t>
            </a:r>
            <a:r>
              <a:rPr lang="en-US" sz="1600" b="1" dirty="0">
                <a:solidFill>
                  <a:srgbClr val="1E3A5F"/>
                </a:solidFill>
                <a:latin typeface="Calibri" pitchFamily="34" charset="0"/>
                <a:ea typeface="Calibri" pitchFamily="34" charset="-122"/>
                <a:cs typeface="Calibri" pitchFamily="34" charset="-120"/>
              </a:rPr>
              <a:t>only one copy is kept in the final binary</a:t>
            </a:r>
            <a:r>
              <a:rPr lang="en-US" sz="1600" dirty="0">
                <a:solidFill>
                  <a:srgbClr val="1E3A5F"/>
                </a:solidFill>
                <a:latin typeface="Calibri" pitchFamily="34" charset="0"/>
                <a:ea typeface="Calibri" pitchFamily="34" charset="-122"/>
                <a:cs typeface="Calibri" pitchFamily="34" charset="-120"/>
              </a:rPr>
              <a:t>.</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What Happens Under the Hood (MSVC / COFF)</a:t>
            </a:r>
            <a:br>
              <a:rPr lang="en-US" sz="1600"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Each inline function, template, or certain </a:t>
            </a:r>
            <a:r>
              <a:rPr lang="en-US" sz="1600" dirty="0" err="1">
                <a:solidFill>
                  <a:srgbClr val="1E3A5F"/>
                </a:solidFill>
                <a:latin typeface="Calibri" pitchFamily="34" charset="0"/>
                <a:ea typeface="Calibri" pitchFamily="34" charset="-122"/>
                <a:cs typeface="Calibri" pitchFamily="34" charset="-120"/>
              </a:rPr>
              <a:t>globals</a:t>
            </a:r>
            <a:r>
              <a:rPr lang="en-US" sz="1600" dirty="0">
                <a:solidFill>
                  <a:srgbClr val="1E3A5F"/>
                </a:solidFill>
                <a:latin typeface="Calibri" pitchFamily="34" charset="0"/>
                <a:ea typeface="Calibri" pitchFamily="34" charset="-122"/>
                <a:cs typeface="Calibri" pitchFamily="34" charset="-120"/>
              </a:rPr>
              <a:t> is placed in a COMDAT section. Then at link time:</a:t>
            </a:r>
          </a:p>
          <a:p>
            <a:pPr marL="800100" lvl="1" indent="-342900">
              <a:spcAft>
                <a:spcPts val="600"/>
              </a:spcAft>
              <a:buSzPct val="100000"/>
              <a:buFont typeface="+mj-lt"/>
              <a:buAutoNum type="arabicPeriod"/>
            </a:pPr>
            <a:r>
              <a:rPr lang="en-US" sz="1600" dirty="0">
                <a:solidFill>
                  <a:srgbClr val="1E3A5F"/>
                </a:solidFill>
                <a:latin typeface="Calibri" pitchFamily="34" charset="0"/>
                <a:ea typeface="Calibri" pitchFamily="34" charset="-122"/>
                <a:cs typeface="Calibri" pitchFamily="34" charset="-120"/>
              </a:rPr>
              <a:t>Linker groups sections marked as COMDAT</a:t>
            </a:r>
          </a:p>
          <a:p>
            <a:pPr marL="800100" lvl="1" indent="-342900">
              <a:spcAft>
                <a:spcPts val="600"/>
              </a:spcAft>
              <a:buSzPct val="100000"/>
              <a:buFont typeface="+mj-lt"/>
              <a:buAutoNum type="arabicPeriod"/>
            </a:pPr>
            <a:r>
              <a:rPr lang="en-US" sz="1600" dirty="0">
                <a:solidFill>
                  <a:srgbClr val="1E3A5F"/>
                </a:solidFill>
                <a:latin typeface="Calibri" pitchFamily="34" charset="0"/>
                <a:ea typeface="Calibri" pitchFamily="34" charset="-122"/>
                <a:cs typeface="Calibri" pitchFamily="34" charset="-120"/>
              </a:rPr>
              <a:t>It selects one definition (based on predefined selection rules)</a:t>
            </a:r>
          </a:p>
          <a:p>
            <a:pPr marL="800100" lvl="1" indent="-342900">
              <a:spcAft>
                <a:spcPts val="600"/>
              </a:spcAft>
              <a:buSzPct val="100000"/>
              <a:buFont typeface="+mj-lt"/>
              <a:buAutoNum type="arabicPeriod"/>
            </a:pPr>
            <a:r>
              <a:rPr lang="en-US" sz="1600" dirty="0">
                <a:solidFill>
                  <a:srgbClr val="1E3A5F"/>
                </a:solidFill>
                <a:latin typeface="Calibri" pitchFamily="34" charset="0"/>
                <a:ea typeface="Calibri" pitchFamily="34" charset="-122"/>
                <a:cs typeface="Calibri" pitchFamily="34" charset="-120"/>
              </a:rPr>
              <a:t>It discards other definitions</a:t>
            </a:r>
          </a:p>
          <a:p>
            <a:pPr marL="800100" lvl="1" indent="-342900">
              <a:spcAft>
                <a:spcPts val="600"/>
              </a:spcAft>
              <a:buSzPct val="100000"/>
              <a:buFont typeface="+mj-lt"/>
              <a:buAutoNum type="arabicPeriod"/>
            </a:pPr>
            <a:r>
              <a:rPr lang="en-US" sz="1600" dirty="0">
                <a:solidFill>
                  <a:srgbClr val="1E3A5F"/>
                </a:solidFill>
                <a:latin typeface="Calibri" pitchFamily="34" charset="0"/>
                <a:ea typeface="Calibri" pitchFamily="34" charset="-122"/>
                <a:cs typeface="Calibri" pitchFamily="34" charset="-120"/>
              </a:rPr>
              <a:t>All references are redirected to the remaining definition</a:t>
            </a:r>
          </a:p>
        </p:txBody>
      </p:sp>
      <p:sp>
        <p:nvSpPr>
          <p:cNvPr id="2" name="Shape 0">
            <a:extLst>
              <a:ext uri="{FF2B5EF4-FFF2-40B4-BE49-F238E27FC236}">
                <a16:creationId xmlns:a16="http://schemas.microsoft.com/office/drawing/2014/main" id="{0D2141F6-41EA-72FF-D81A-185BFDE682FC}"/>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DAC64A81-A867-2E70-31F9-9D205BD07FCB}"/>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07A745A8-7764-B4FD-3ED9-0AAC03D6782D}"/>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A Cross-platform Mystery: MSVC vs GCC &amp; Clang</a:t>
            </a:r>
            <a:endParaRPr lang="en-US" sz="1900" strike="sngStrike" dirty="0"/>
          </a:p>
        </p:txBody>
      </p:sp>
    </p:spTree>
    <p:extLst>
      <p:ext uri="{BB962C8B-B14F-4D97-AF65-F5344CB8AC3E}">
        <p14:creationId xmlns:p14="http://schemas.microsoft.com/office/powerpoint/2010/main" val="1579391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1A9C2-B444-881D-7572-CC88FF81541E}"/>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3886793A-F5BB-842C-4200-760CE3484DDB}"/>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There is not much out there in the form of official documentation on the topic of COMDAT folding</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Looking up “MSVC COMDAT folding”, “MSVC Identical code folding”, “MSVC ICF” on google yields very little information</a:t>
            </a:r>
            <a:br>
              <a:rPr lang="en-US" sz="1600" dirty="0">
                <a:solidFill>
                  <a:srgbClr val="1E3A5F"/>
                </a:solidFill>
                <a:latin typeface="Calibri" pitchFamily="34" charset="0"/>
                <a:ea typeface="Calibri" pitchFamily="34" charset="-122"/>
                <a:cs typeface="Calibri" pitchFamily="34" charset="-120"/>
              </a:rPr>
            </a:br>
            <a:r>
              <a:rPr lang="en-US" sz="1600" dirty="0">
                <a:solidFill>
                  <a:srgbClr val="1E3A5F"/>
                </a:solidFill>
                <a:latin typeface="Calibri" pitchFamily="34" charset="0"/>
                <a:ea typeface="Calibri" pitchFamily="34" charset="-122"/>
                <a:cs typeface="Calibri" pitchFamily="34" charset="-120"/>
              </a:rPr>
              <a:t>Literally 10 or less pages of search results</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The information that was presented about Identical code folding in the previous slide is the best that we could get together based on our use case and what we could find by researching the topic</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This topic looks fascinating that it would deserve a dedicated deep dive into it to provide somewhat structured semi-official documentation to it. The scarcity of sources is somewhat concerning</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For now, we have enough information to fix our original problem (different instance for each shared object)</a:t>
            </a:r>
          </a:p>
        </p:txBody>
      </p:sp>
      <p:sp>
        <p:nvSpPr>
          <p:cNvPr id="2" name="Shape 0">
            <a:extLst>
              <a:ext uri="{FF2B5EF4-FFF2-40B4-BE49-F238E27FC236}">
                <a16:creationId xmlns:a16="http://schemas.microsoft.com/office/drawing/2014/main" id="{736D77A8-4A39-AB68-F7CA-403752726A4F}"/>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63857FF8-0C66-677A-6562-6BC2B750BA6F}"/>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E4400A62-13A5-9370-5C17-2CD63035BE7D}"/>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A Cross-platform Mystery: MSVC vs GCC &amp; Clang</a:t>
            </a:r>
            <a:endParaRPr lang="en-US" sz="1900" strike="sngStrike" dirty="0"/>
          </a:p>
        </p:txBody>
      </p:sp>
    </p:spTree>
    <p:extLst>
      <p:ext uri="{BB962C8B-B14F-4D97-AF65-F5344CB8AC3E}">
        <p14:creationId xmlns:p14="http://schemas.microsoft.com/office/powerpoint/2010/main" val="14279526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963B1-DC68-3963-F120-E1A7FB2E5F7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579D733-2974-D65C-1949-7E3CA82E0155}"/>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9867A5B9-1410-996F-834C-395ECCD256FD}"/>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68B7E489-4DE2-3DC3-3AF6-B06E7EEE5DDD}"/>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A Cross-platform Mystery: The solution</a:t>
            </a:r>
            <a:endParaRPr lang="en-US" sz="1900" strike="sngStrike" dirty="0"/>
          </a:p>
        </p:txBody>
      </p:sp>
      <p:sp>
        <p:nvSpPr>
          <p:cNvPr id="6" name="Text 6">
            <a:extLst>
              <a:ext uri="{FF2B5EF4-FFF2-40B4-BE49-F238E27FC236}">
                <a16:creationId xmlns:a16="http://schemas.microsoft.com/office/drawing/2014/main" id="{BCBA9113-7D0B-EC1C-3A3A-E4D449129A39}"/>
              </a:ext>
            </a:extLst>
          </p:cNvPr>
          <p:cNvSpPr/>
          <p:nvPr/>
        </p:nvSpPr>
        <p:spPr>
          <a:xfrm>
            <a:off x="292606" y="841248"/>
            <a:ext cx="4502031"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&gt;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PM_SINGLETON</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Cannot rely on the default </a:t>
            </a:r>
            <a:r>
              <a:rPr lang="en-US" sz="1000" b="0" dirty="0" err="1">
                <a:solidFill>
                  <a:srgbClr val="6A9955"/>
                </a:solidFill>
                <a:effectLst/>
                <a:latin typeface="Consolas" panose="020B0609020204030204" pitchFamily="49" charset="0"/>
              </a:rPr>
              <a:t>inlined</a:t>
            </a:r>
            <a:r>
              <a:rPr lang="en-US" sz="1000" b="0" dirty="0">
                <a:solidFill>
                  <a:srgbClr val="6A9955"/>
                </a:solidFill>
                <a:effectLst/>
                <a:latin typeface="Consolas" panose="020B0609020204030204" pitchFamily="49" charset="0"/>
              </a:rPr>
              <a:t> implementation</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we have to define our own for each class</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protected:</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Same here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instanceRef</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private: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
        <p:nvSpPr>
          <p:cNvPr id="8" name="Text 4">
            <a:extLst>
              <a:ext uri="{FF2B5EF4-FFF2-40B4-BE49-F238E27FC236}">
                <a16:creationId xmlns:a16="http://schemas.microsoft.com/office/drawing/2014/main" id="{256E03ED-D68E-29A6-32A1-30D9763B95CE}"/>
              </a:ext>
            </a:extLst>
          </p:cNvPr>
          <p:cNvSpPr/>
          <p:nvPr/>
        </p:nvSpPr>
        <p:spPr>
          <a:xfrm>
            <a:off x="4905955" y="850392"/>
            <a:ext cx="4009445" cy="4037076"/>
          </a:xfrm>
          <a:prstGeom prst="rect">
            <a:avLst/>
          </a:prstGeom>
          <a:noFill/>
          <a:ln/>
        </p:spPr>
        <p:txBody>
          <a:bodyPr wrap="square" rtlCol="0" anchor="t"/>
          <a:lstStyle/>
          <a:p>
            <a:pPr marL="342900" indent="-342900">
              <a:spcAft>
                <a:spcPts val="600"/>
              </a:spcAft>
              <a:buSzPct val="100000"/>
              <a:buFontTx/>
              <a:buChar char="•"/>
            </a:pPr>
            <a:r>
              <a:rPr lang="en-US" sz="1600" dirty="0"/>
              <a:t>All what we need is to move the definition of the instance() and </a:t>
            </a:r>
            <a:r>
              <a:rPr lang="en-US" sz="1600" dirty="0" err="1"/>
              <a:t>instanceRef</a:t>
            </a:r>
            <a:r>
              <a:rPr lang="en-US" sz="1600" dirty="0"/>
              <a:t>() functions from the singleton header to a source file </a:t>
            </a:r>
          </a:p>
          <a:p>
            <a:pPr marL="342900" indent="-342900">
              <a:spcAft>
                <a:spcPts val="600"/>
              </a:spcAft>
              <a:buSzPct val="100000"/>
              <a:buFontTx/>
              <a:buChar char="•"/>
            </a:pPr>
            <a:r>
              <a:rPr lang="en-US" sz="1600" dirty="0"/>
              <a:t>This way we don’t have any </a:t>
            </a:r>
            <a:r>
              <a:rPr lang="en-US" sz="1600" dirty="0" err="1"/>
              <a:t>inlined</a:t>
            </a:r>
            <a:r>
              <a:rPr lang="en-US" sz="1600" dirty="0"/>
              <a:t> functions that the compiler will compile for each new module that is including the header for our singleton </a:t>
            </a:r>
          </a:p>
          <a:p>
            <a:pPr marL="342900" indent="-342900">
              <a:spcAft>
                <a:spcPts val="600"/>
              </a:spcAft>
              <a:buSzPct val="100000"/>
              <a:buFontTx/>
              <a:buChar char="•"/>
            </a:pPr>
            <a:r>
              <a:rPr lang="en-US" sz="1600" dirty="0"/>
              <a:t>The problem is that now we don’t have instance and </a:t>
            </a:r>
            <a:r>
              <a:rPr lang="en-US" sz="1600" dirty="0" err="1"/>
              <a:t>instanceRef</a:t>
            </a:r>
            <a:r>
              <a:rPr lang="en-US" sz="1600" dirty="0"/>
              <a:t> as part of </a:t>
            </a:r>
            <a:r>
              <a:rPr lang="en-US" sz="1600" dirty="0" err="1"/>
              <a:t>SingletonBase</a:t>
            </a:r>
            <a:r>
              <a:rPr lang="en-US" sz="1600" dirty="0"/>
              <a:t> We will need to do this manually for each singleton </a:t>
            </a:r>
            <a:endParaRPr lang="en-US" sz="1600" dirty="0">
              <a:solidFill>
                <a:srgbClr val="1E3A5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4869830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D2EC6-4E8F-21A1-9488-BBE15318D27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C22A3A-1ED6-DE02-F548-C150E471ECA2}"/>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BB585559-97FF-EA19-F0F7-170E63F37DF0}"/>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25EDACFC-11E2-4726-1D87-00D91A702667}"/>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A Cross-platform Mystery: The solution</a:t>
            </a:r>
            <a:endParaRPr lang="en-US" sz="1900" strike="sngStrike" dirty="0"/>
          </a:p>
        </p:txBody>
      </p:sp>
      <p:sp>
        <p:nvSpPr>
          <p:cNvPr id="4" name="Text 4">
            <a:extLst>
              <a:ext uri="{FF2B5EF4-FFF2-40B4-BE49-F238E27FC236}">
                <a16:creationId xmlns:a16="http://schemas.microsoft.com/office/drawing/2014/main" id="{367B186D-A70C-87AA-EB66-57FFBE0A9F2C}"/>
              </a:ext>
            </a:extLst>
          </p:cNvPr>
          <p:cNvSpPr/>
          <p:nvPr/>
        </p:nvSpPr>
        <p:spPr>
          <a:xfrm>
            <a:off x="4905955" y="850392"/>
            <a:ext cx="4009445" cy="4037076"/>
          </a:xfrm>
          <a:prstGeom prst="rect">
            <a:avLst/>
          </a:prstGeom>
          <a:noFill/>
          <a:ln/>
        </p:spPr>
        <p:txBody>
          <a:bodyPr wrap="square" rtlCol="0" anchor="t"/>
          <a:lstStyle/>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This is error prone and will cause lots of trouble. So, we need to simplify this even further</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Fortunately, we are already using macros to solve such problem with the PM_SINGLETON() macro. We can use it to solve this too</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We just need to consider the fact that whatever our solution for this must be opt-in, as 99% of singletons are not part of an SDK. These singletons should never pay for this</a:t>
            </a:r>
          </a:p>
          <a:p>
            <a:pPr>
              <a:spcAft>
                <a:spcPts val="600"/>
              </a:spcAft>
              <a:buSzPct val="100000"/>
            </a:pPr>
            <a:endParaRPr lang="en-US" sz="1600" dirty="0">
              <a:solidFill>
                <a:srgbClr val="1E3A5F"/>
              </a:solidFill>
              <a:latin typeface="Calibri" pitchFamily="34" charset="0"/>
              <a:ea typeface="Calibri" pitchFamily="34" charset="-122"/>
              <a:cs typeface="Calibri" pitchFamily="34" charset="-120"/>
            </a:endParaRPr>
          </a:p>
        </p:txBody>
      </p:sp>
      <p:sp>
        <p:nvSpPr>
          <p:cNvPr id="7" name="Text 6">
            <a:extLst>
              <a:ext uri="{FF2B5EF4-FFF2-40B4-BE49-F238E27FC236}">
                <a16:creationId xmlns:a16="http://schemas.microsoft.com/office/drawing/2014/main" id="{CC58F3A7-97C3-B021-5307-603C0F7DEDD8}"/>
              </a:ext>
            </a:extLst>
          </p:cNvPr>
          <p:cNvSpPr/>
          <p:nvPr/>
        </p:nvSpPr>
        <p:spPr>
          <a:xfrm>
            <a:off x="292606" y="841248"/>
            <a:ext cx="4502031"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&gt;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DCDCAA"/>
                </a:solidFill>
                <a:effectLst/>
                <a:latin typeface="Consolas" panose="020B0609020204030204" pitchFamily="49" charset="0"/>
              </a:rPr>
              <a:t>PM_SINGLETON</a:t>
            </a:r>
            <a:r>
              <a:rPr lang="en-US" sz="1000" b="0" dirty="0">
                <a:solidFill>
                  <a:srgbClr val="D4D4D4"/>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public:</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Cannot rely on the default </a:t>
            </a:r>
            <a:r>
              <a:rPr lang="en-US" sz="1000" b="0" dirty="0" err="1">
                <a:solidFill>
                  <a:srgbClr val="6A9955"/>
                </a:solidFill>
                <a:effectLst/>
                <a:latin typeface="Consolas" panose="020B0609020204030204" pitchFamily="49" charset="0"/>
              </a:rPr>
              <a:t>inlined</a:t>
            </a:r>
            <a:r>
              <a:rPr lang="en-US" sz="1000" b="0" dirty="0">
                <a:solidFill>
                  <a:srgbClr val="6A9955"/>
                </a:solidFill>
                <a:effectLst/>
                <a:latin typeface="Consolas" panose="020B0609020204030204" pitchFamily="49" charset="0"/>
              </a:rPr>
              <a:t> implementation</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we have to define our own for each class</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&amp;</a:t>
            </a:r>
            <a:r>
              <a:rPr lang="en-US" sz="1000" b="0" dirty="0">
                <a:solidFill>
                  <a:srgbClr val="DCDCAA"/>
                </a:solidFill>
                <a:effectLst/>
                <a:latin typeface="Consolas" panose="020B0609020204030204" pitchFamily="49" charset="0"/>
              </a:rPr>
              <a:t>instance</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protected:</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6A9955"/>
                </a:solidFill>
                <a:effectLst/>
                <a:latin typeface="Consolas" panose="020B0609020204030204" pitchFamily="49" charset="0"/>
              </a:rPr>
              <a:t>    // Same here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instanceRef</a:t>
            </a: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private:</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XRayMachine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6597939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E7FD7-ADF1-A7D6-608F-94F1F544ABD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3014060-2EF4-CA48-BD6E-36ACB38550BD}"/>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88D1B89B-80EC-6C1C-F6BB-A725554087B7}"/>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FE3E6534-E1E3-1A94-26A6-447657D71D13}"/>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A Cross-platform Mystery: The solution</a:t>
            </a:r>
            <a:endParaRPr lang="en-US" sz="1900" strike="sngStrike" dirty="0"/>
          </a:p>
        </p:txBody>
      </p:sp>
      <p:sp>
        <p:nvSpPr>
          <p:cNvPr id="4" name="Text 4">
            <a:extLst>
              <a:ext uri="{FF2B5EF4-FFF2-40B4-BE49-F238E27FC236}">
                <a16:creationId xmlns:a16="http://schemas.microsoft.com/office/drawing/2014/main" id="{C8D54652-8F5E-ECFB-1C26-018C82BFBF71}"/>
              </a:ext>
            </a:extLst>
          </p:cNvPr>
          <p:cNvSpPr/>
          <p:nvPr/>
        </p:nvSpPr>
        <p:spPr>
          <a:xfrm>
            <a:off x="4905955" y="850392"/>
            <a:ext cx="4009445" cy="4037076"/>
          </a:xfrm>
          <a:prstGeom prst="rect">
            <a:avLst/>
          </a:prstGeom>
          <a:noFill/>
          <a:ln/>
        </p:spPr>
        <p:txBody>
          <a:bodyPr wrap="square" rtlCol="0" anchor="t"/>
          <a:lstStyle/>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We decided to introduce a _SAFE macro pair that only those who need their singletons to be cross-library boundary safe will use, otherwise using the original PM_SINGLETON macro is enough</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Everybody else shouldn’t be expected to care about cross-library safety by default. Only those who need cross-library safety need to use two macros </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Exactly following “Pay for what you use”. </a:t>
            </a:r>
          </a:p>
          <a:p>
            <a:pPr>
              <a:spcAft>
                <a:spcPts val="600"/>
              </a:spcAft>
              <a:buSzPct val="100000"/>
            </a:pPr>
            <a:endParaRPr lang="en-US" sz="1600" dirty="0">
              <a:solidFill>
                <a:srgbClr val="1E3A5F"/>
              </a:solidFill>
              <a:latin typeface="Calibri" pitchFamily="34" charset="0"/>
              <a:ea typeface="Calibri" pitchFamily="34" charset="-122"/>
              <a:cs typeface="Calibri" pitchFamily="34" charset="-120"/>
            </a:endParaRPr>
          </a:p>
        </p:txBody>
      </p:sp>
      <p:sp>
        <p:nvSpPr>
          <p:cNvPr id="7" name="Text 6">
            <a:extLst>
              <a:ext uri="{FF2B5EF4-FFF2-40B4-BE49-F238E27FC236}">
                <a16:creationId xmlns:a16="http://schemas.microsoft.com/office/drawing/2014/main" id="{F85E619E-410F-BDE9-3076-7C1BAD1689AB}"/>
              </a:ext>
            </a:extLst>
          </p:cNvPr>
          <p:cNvSpPr/>
          <p:nvPr/>
        </p:nvSpPr>
        <p:spPr>
          <a:xfrm>
            <a:off x="292605" y="1139422"/>
            <a:ext cx="4502031" cy="1090919"/>
          </a:xfrm>
          <a:prstGeom prst="rect">
            <a:avLst/>
          </a:prstGeom>
          <a:solidFill>
            <a:srgbClr val="0D1117"/>
          </a:solidFill>
          <a:ln/>
        </p:spPr>
        <p:txBody>
          <a:bodyPr wrap="square" lIns="182880" tIns="91440" rIns="182880" bIns="91440" rtlCol="0" anchor="t"/>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class</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SingletonBase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 {</a:t>
            </a:r>
          </a:p>
          <a:p>
            <a:pPr>
              <a:lnSpc>
                <a:spcPts val="1425"/>
              </a:lnSpc>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PM_SINGLETON</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b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a:lnSpc>
                <a:spcPts val="1425"/>
              </a:lnSpc>
              <a:defRPr/>
            </a:pPr>
            <a:r>
              <a:rPr lang="en-US" sz="1000" dirty="0">
                <a:solidFill>
                  <a:srgbClr val="D4D4D4"/>
                </a:solidFill>
                <a:latin typeface="Consolas" panose="020B0609020204030204" pitchFamily="49" charset="0"/>
              </a:rPr>
              <a:t>    </a:t>
            </a:r>
            <a:r>
              <a:rPr lang="en-US" sz="1000" dirty="0">
                <a:solidFill>
                  <a:srgbClr val="6A9955"/>
                </a:solidFill>
                <a:latin typeface="Consolas" panose="020B0609020204030204" pitchFamily="49" charset="0"/>
              </a:rPr>
              <a:t>// ...</a:t>
            </a: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a:lnSpc>
                <a:spcPts val="1425"/>
              </a:lnSpc>
              <a:buNone/>
            </a:pPr>
            <a:endParaRPr lang="en-US" sz="1000" b="0" dirty="0">
              <a:solidFill>
                <a:srgbClr val="D4D4D4"/>
              </a:solidFill>
              <a:effectLst/>
              <a:latin typeface="Consolas" panose="020B0609020204030204" pitchFamily="49" charset="0"/>
            </a:endParaRPr>
          </a:p>
        </p:txBody>
      </p:sp>
      <p:sp>
        <p:nvSpPr>
          <p:cNvPr id="6" name="Text 6">
            <a:extLst>
              <a:ext uri="{FF2B5EF4-FFF2-40B4-BE49-F238E27FC236}">
                <a16:creationId xmlns:a16="http://schemas.microsoft.com/office/drawing/2014/main" id="{76DB8C7C-6F61-C2EA-0773-8DCD537EA8E3}"/>
              </a:ext>
            </a:extLst>
          </p:cNvPr>
          <p:cNvSpPr/>
          <p:nvPr/>
        </p:nvSpPr>
        <p:spPr>
          <a:xfrm>
            <a:off x="292606" y="2894275"/>
            <a:ext cx="4502031" cy="1908312"/>
          </a:xfrm>
          <a:prstGeom prst="rect">
            <a:avLst/>
          </a:prstGeom>
          <a:solidFill>
            <a:srgbClr val="0D1117"/>
          </a:solidFill>
          <a:ln/>
        </p:spPr>
        <p:txBody>
          <a:bodyPr wrap="square" lIns="182880" tIns="91440" rIns="182880" bIns="91440" rtlCol="0" anchor="t"/>
          <a:lstStyle/>
          <a:p>
            <a:pPr marL="0" marR="0" lvl="0" indent="0" algn="l" defTabSz="914400" rtl="0" eaLnBrk="1" fontAlgn="auto" latinLnBrk="0" hangingPunct="1">
              <a:lnSpc>
                <a:spcPts val="1425"/>
              </a:lnSpc>
              <a:spcBef>
                <a:spcPts val="0"/>
              </a:spcBef>
              <a:spcAft>
                <a:spcPts val="0"/>
              </a:spcAft>
              <a:buClrTx/>
              <a:buSzTx/>
              <a:buFontTx/>
              <a:buNone/>
              <a:tabLst/>
              <a:defRPr/>
            </a:pPr>
            <a:r>
              <a:rPr lang="en-US" sz="1000" dirty="0">
                <a:solidFill>
                  <a:srgbClr val="6A9955"/>
                </a:solidFill>
                <a:latin typeface="Consolas" panose="020B0609020204030204" pitchFamily="49" charset="0"/>
              </a:rPr>
              <a:t>// </a:t>
            </a:r>
            <a:r>
              <a:rPr lang="en-US" sz="1000" dirty="0" err="1">
                <a:solidFill>
                  <a:srgbClr val="6A9955"/>
                </a:solidFill>
                <a:latin typeface="Consolas" panose="020B0609020204030204" pitchFamily="49" charset="0"/>
              </a:rPr>
              <a:t>xraymachine.h</a:t>
            </a:r>
            <a:endParaRPr lang="en-US" sz="1000" dirty="0">
              <a:solidFill>
                <a:srgbClr val="6A9955"/>
              </a:solidFill>
              <a:latin typeface="Consolas" panose="020B0609020204030204" pitchFamily="49" charset="0"/>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class</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 </a:t>
            </a:r>
            <a:r>
              <a:rPr kumimoji="0" lang="en-US" sz="10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SingletonBase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&gt; {</a:t>
            </a:r>
          </a:p>
          <a:p>
            <a:pPr>
              <a:lnSpc>
                <a:spcPts val="1425"/>
              </a:lnSpc>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PM_SINGLETON_SAFE_HEADER</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10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XRayMachine</a:t>
            </a: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b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a:lnSpc>
                <a:spcPts val="1425"/>
              </a:lnSpc>
              <a:defRPr/>
            </a:pPr>
            <a:r>
              <a:rPr lang="en-US" sz="1000" dirty="0">
                <a:solidFill>
                  <a:srgbClr val="D4D4D4"/>
                </a:solidFill>
                <a:latin typeface="Consolas" panose="020B0609020204030204" pitchFamily="49" charset="0"/>
              </a:rPr>
              <a:t>    </a:t>
            </a:r>
            <a:r>
              <a:rPr lang="en-US" sz="1000" dirty="0">
                <a:solidFill>
                  <a:srgbClr val="6A9955"/>
                </a:solidFill>
                <a:latin typeface="Consolas" panose="020B0609020204030204" pitchFamily="49" charset="0"/>
              </a:rPr>
              <a:t>// ...</a:t>
            </a:r>
            <a:endPar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pPr>
            <a:r>
              <a:rPr lang="en-US" sz="1000" dirty="0">
                <a:solidFill>
                  <a:srgbClr val="6A9955"/>
                </a:solidFill>
                <a:latin typeface="Consolas" panose="020B0609020204030204" pitchFamily="49" charset="0"/>
              </a:rPr>
              <a:t>// xraymachine.cpp</a:t>
            </a:r>
          </a:p>
          <a:p>
            <a:pPr>
              <a:lnSpc>
                <a:spcPts val="1425"/>
              </a:lnSpc>
            </a:pPr>
            <a:r>
              <a:rPr lang="en-US" sz="1000" dirty="0">
                <a:solidFill>
                  <a:srgbClr val="DCDCAA"/>
                </a:solidFill>
                <a:latin typeface="Consolas" panose="020B0609020204030204" pitchFamily="49" charset="0"/>
              </a:rPr>
              <a:t>PM_SINGLETON_SAFE_SOURCE</a:t>
            </a:r>
            <a:r>
              <a:rPr lang="en-US" sz="1000" dirty="0">
                <a:solidFill>
                  <a:srgbClr val="D4D4D4"/>
                </a:solidFill>
                <a:latin typeface="Consolas" panose="020B0609020204030204" pitchFamily="49" charset="0"/>
              </a:rPr>
              <a:t>(</a:t>
            </a:r>
            <a:r>
              <a:rPr lang="en-US" sz="1000" dirty="0" err="1">
                <a:solidFill>
                  <a:srgbClr val="4EC9B0"/>
                </a:solidFill>
                <a:latin typeface="Consolas" panose="020B0609020204030204" pitchFamily="49" charset="0"/>
              </a:rPr>
              <a:t>XRayMachine</a:t>
            </a:r>
            <a:r>
              <a:rPr lang="en-US" sz="1000" dirty="0">
                <a:solidFill>
                  <a:srgbClr val="D4D4D4"/>
                </a:solidFill>
                <a:latin typeface="Consolas" panose="020B0609020204030204" pitchFamily="49" charset="0"/>
              </a:rPr>
              <a:t>)</a:t>
            </a:r>
            <a:endParaRPr lang="en-US" sz="1000" dirty="0">
              <a:solidFill>
                <a:srgbClr val="6A9955"/>
              </a:solidFill>
              <a:latin typeface="Consolas" panose="020B0609020204030204" pitchFamily="49" charset="0"/>
            </a:endParaRPr>
          </a:p>
        </p:txBody>
      </p:sp>
      <p:sp>
        <p:nvSpPr>
          <p:cNvPr id="8" name="TextBox 7">
            <a:extLst>
              <a:ext uri="{FF2B5EF4-FFF2-40B4-BE49-F238E27FC236}">
                <a16:creationId xmlns:a16="http://schemas.microsoft.com/office/drawing/2014/main" id="{240F2D79-651F-D62F-2086-F791D3FC7087}"/>
              </a:ext>
            </a:extLst>
          </p:cNvPr>
          <p:cNvSpPr txBox="1"/>
          <p:nvPr/>
        </p:nvSpPr>
        <p:spPr>
          <a:xfrm>
            <a:off x="292605" y="661123"/>
            <a:ext cx="3286477" cy="338554"/>
          </a:xfrm>
          <a:prstGeom prst="rect">
            <a:avLst/>
          </a:prstGeom>
          <a:noFill/>
        </p:spPr>
        <p:txBody>
          <a:bodyPr wrap="none" rtlCol="0">
            <a:spAutoFit/>
          </a:bodyPr>
          <a:lstStyle/>
          <a:p>
            <a:r>
              <a:rPr lang="en-US" sz="1600" dirty="0">
                <a:latin typeface="Georgia" panose="02040502050405020303" pitchFamily="18" charset="0"/>
                <a:cs typeface="Gautami" panose="020B0502040204020203" pitchFamily="34" charset="0"/>
              </a:rPr>
              <a:t>Normal Usage (99% of singletons)</a:t>
            </a:r>
          </a:p>
        </p:txBody>
      </p:sp>
      <p:sp>
        <p:nvSpPr>
          <p:cNvPr id="9" name="TextBox 8">
            <a:extLst>
              <a:ext uri="{FF2B5EF4-FFF2-40B4-BE49-F238E27FC236}">
                <a16:creationId xmlns:a16="http://schemas.microsoft.com/office/drawing/2014/main" id="{94F173DA-5042-C08D-2E71-6137F2B244E5}"/>
              </a:ext>
            </a:extLst>
          </p:cNvPr>
          <p:cNvSpPr txBox="1"/>
          <p:nvPr/>
        </p:nvSpPr>
        <p:spPr>
          <a:xfrm>
            <a:off x="292605" y="2415976"/>
            <a:ext cx="4261103" cy="338554"/>
          </a:xfrm>
          <a:prstGeom prst="rect">
            <a:avLst/>
          </a:prstGeom>
          <a:noFill/>
        </p:spPr>
        <p:txBody>
          <a:bodyPr wrap="none" rtlCol="0">
            <a:spAutoFit/>
          </a:bodyPr>
          <a:lstStyle/>
          <a:p>
            <a:r>
              <a:rPr lang="en-US" sz="1600" dirty="0">
                <a:latin typeface="Georgia" panose="02040502050405020303" pitchFamily="18" charset="0"/>
                <a:cs typeface="Gautami" panose="020B0502040204020203" pitchFamily="34" charset="0"/>
              </a:rPr>
              <a:t>Cross-Library Boundary Safe (remaining 1%)</a:t>
            </a:r>
          </a:p>
        </p:txBody>
      </p:sp>
    </p:spTree>
    <p:extLst>
      <p:ext uri="{BB962C8B-B14F-4D97-AF65-F5344CB8AC3E}">
        <p14:creationId xmlns:p14="http://schemas.microsoft.com/office/powerpoint/2010/main" val="30694188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129A7-393B-5BDA-B495-AC7E5B1545E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7363C1E-D9C7-F815-9FC3-1EF2F10B6B8E}"/>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4DEACFD2-171F-D4C0-0EC6-0582FFF88078}"/>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7741EF0A-0661-0B47-03E2-35578FA6286E}"/>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Cross-Library Boundary Macros</a:t>
            </a:r>
            <a:endParaRPr lang="en-US" sz="1900" strike="sngStrike" dirty="0"/>
          </a:p>
        </p:txBody>
      </p:sp>
      <p:sp>
        <p:nvSpPr>
          <p:cNvPr id="6" name="Text 6">
            <a:extLst>
              <a:ext uri="{FF2B5EF4-FFF2-40B4-BE49-F238E27FC236}">
                <a16:creationId xmlns:a16="http://schemas.microsoft.com/office/drawing/2014/main" id="{277EDED5-7D18-C0B4-493B-5B4F707C1B81}"/>
              </a:ext>
            </a:extLst>
          </p:cNvPr>
          <p:cNvSpPr/>
          <p:nvPr/>
        </p:nvSpPr>
        <p:spPr>
          <a:xfrm>
            <a:off x="292606" y="841248"/>
            <a:ext cx="4502031"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C586C0"/>
                </a:solidFill>
                <a:effectLst/>
                <a:latin typeface="Consolas" panose="020B0609020204030204" pitchFamily="49" charset="0"/>
              </a:rPr>
              <a:t>#define</a:t>
            </a:r>
            <a:r>
              <a:rPr lang="en-US" sz="1000" b="0" dirty="0">
                <a:solidFill>
                  <a:srgbClr val="569CD6"/>
                </a:solidFill>
                <a:effectLst/>
                <a:latin typeface="Consolas" panose="020B0609020204030204" pitchFamily="49" charset="0"/>
              </a:rPr>
              <a:t> PM_SINGLETON(</a:t>
            </a:r>
            <a:r>
              <a:rPr lang="en-US" sz="1000" b="0" dirty="0">
                <a:solidFill>
                  <a:srgbClr val="9CDCFE"/>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err="1">
                <a:solidFill>
                  <a:srgbClr val="4EC9B0"/>
                </a:solidFill>
                <a:effectLst/>
                <a:latin typeface="Consolas" panose="020B0609020204030204" pitchFamily="49" charset="0"/>
              </a:rPr>
              <a:t>SingletonBase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err="1">
                <a:solidFill>
                  <a:srgbClr val="4EC9B0"/>
                </a:solidFill>
                <a:effectLst/>
                <a:latin typeface="Consolas" panose="020B0609020204030204" pitchFamily="49" charset="0"/>
              </a:rPr>
              <a:t>ScopedSingletonState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protected: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static </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instanceRef</a:t>
            </a:r>
            <a:r>
              <a:rPr lang="en-US" sz="1000" b="0" dirty="0">
                <a:solidFill>
                  <a:srgbClr val="569CD6"/>
                </a:solidFill>
                <a:effectLst/>
                <a:latin typeface="Consolas" panose="020B0609020204030204" pitchFamily="49" charset="0"/>
              </a:rPr>
              <a:t>() {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static T </a:t>
            </a:r>
            <a:r>
              <a:rPr lang="en-US" sz="1000" b="0" dirty="0">
                <a:solidFill>
                  <a:srgbClr val="D4D4D4"/>
                </a:solidFill>
                <a:effectLst/>
                <a:latin typeface="Consolas" panose="020B0609020204030204" pitchFamily="49" charset="0"/>
              </a:rPr>
              <a:t>*</a:t>
            </a:r>
            <a:r>
              <a:rPr lang="en-US" sz="1000" b="0" dirty="0" err="1">
                <a:solidFill>
                  <a:srgbClr val="569CD6"/>
                </a:solidFill>
                <a:effectLst/>
                <a:latin typeface="Consolas" panose="020B0609020204030204" pitchFamily="49" charset="0"/>
              </a:rPr>
              <a:t>instancePtr</a:t>
            </a:r>
            <a:r>
              <a:rPr lang="en-US" sz="1000" b="0" dirty="0">
                <a:solidFill>
                  <a:srgbClr val="569CD6"/>
                </a:solidFill>
                <a:effectLst/>
                <a:latin typeface="Consolas" panose="020B0609020204030204" pitchFamily="49" charset="0"/>
              </a:rPr>
              <a:t> </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 </a:t>
            </a:r>
            <a:r>
              <a:rPr lang="en-US" sz="1000" b="0" dirty="0">
                <a:solidFill>
                  <a:srgbClr val="D4D4D4"/>
                </a:solidFill>
                <a:effectLst/>
                <a:latin typeface="Consolas" panose="020B0609020204030204" pitchFamily="49" charset="0"/>
              </a:rPr>
              <a:t>&amp;</a:t>
            </a:r>
            <a:r>
              <a:rPr lang="en-US" sz="1000" b="0" dirty="0" err="1">
                <a:solidFill>
                  <a:srgbClr val="DCDCAA"/>
                </a:solidFill>
                <a:effectLst/>
                <a:latin typeface="Consolas" panose="020B0609020204030204" pitchFamily="49" charset="0"/>
              </a:rPr>
              <a:t>defaultInstance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569CD6"/>
                </a:solidFill>
                <a:effectLst/>
                <a:latin typeface="Consolas" panose="020B0609020204030204" pitchFamily="49" charset="0"/>
              </a:rPr>
              <a:t> </a:t>
            </a:r>
            <a:r>
              <a:rPr lang="en-US" sz="1000" b="0" dirty="0">
                <a:solidFill>
                  <a:srgbClr val="D4D4D4"/>
                </a:solidFill>
                <a:effectLst/>
                <a:latin typeface="Consolas" panose="020B0609020204030204" pitchFamily="49" charset="0"/>
              </a:rPr>
              <a:t>&amp;</a:t>
            </a:r>
            <a:r>
              <a:rPr lang="en-US" sz="1000" b="0" dirty="0" err="1">
                <a:solidFill>
                  <a:srgbClr val="569CD6"/>
                </a:solidFill>
                <a:effectLst/>
                <a:latin typeface="Consolas" panose="020B0609020204030204" pitchFamily="49" charset="0"/>
              </a:rPr>
              <a:t>instancePtr</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endParaRPr lang="en-US" sz="1000" dirty="0">
              <a:solidFill>
                <a:srgbClr val="569CD6"/>
              </a:solidFill>
              <a:latin typeface="Consolas" panose="020B0609020204030204" pitchFamily="49" charset="0"/>
            </a:endParaRPr>
          </a:p>
          <a:p>
            <a:pPr>
              <a:lnSpc>
                <a:spcPts val="1425"/>
              </a:lnSpc>
              <a:buNone/>
            </a:pPr>
            <a:r>
              <a:rPr lang="en-US" sz="1000" dirty="0">
                <a:solidFill>
                  <a:srgbClr val="569CD6"/>
                </a:solidFill>
                <a:latin typeface="Consolas" panose="020B0609020204030204" pitchFamily="49" charset="0"/>
              </a:rPr>
              <a:t>template</a:t>
            </a:r>
            <a:r>
              <a:rPr lang="en-US" sz="1000" dirty="0">
                <a:solidFill>
                  <a:srgbClr val="D4D4D4"/>
                </a:solidFill>
                <a:latin typeface="Consolas" panose="020B0609020204030204" pitchFamily="49" charset="0"/>
              </a:rPr>
              <a:t> &lt;</a:t>
            </a:r>
            <a:r>
              <a:rPr lang="en-US" sz="1000" dirty="0" err="1">
                <a:solidFill>
                  <a:srgbClr val="569CD6"/>
                </a:solidFill>
                <a:latin typeface="Consolas" panose="020B0609020204030204" pitchFamily="49" charset="0"/>
              </a:rPr>
              <a:t>typename</a:t>
            </a:r>
            <a:r>
              <a:rPr lang="en-US" sz="1000" dirty="0">
                <a:solidFill>
                  <a:srgbClr val="D4D4D4"/>
                </a:solidFill>
                <a:latin typeface="Consolas" panose="020B0609020204030204" pitchFamily="49" charset="0"/>
              </a:rPr>
              <a:t> </a:t>
            </a:r>
            <a:r>
              <a:rPr lang="en-US" sz="1000" dirty="0">
                <a:solidFill>
                  <a:srgbClr val="4EC9B0"/>
                </a:solidFill>
                <a:latin typeface="Consolas" panose="020B0609020204030204" pitchFamily="49" charset="0"/>
              </a:rPr>
              <a:t>T</a:t>
            </a:r>
            <a:r>
              <a:rPr lang="en-US" sz="1000" dirty="0">
                <a:solidFill>
                  <a:srgbClr val="D4D4D4"/>
                </a:solidFill>
                <a:latin typeface="Consolas" panose="020B0609020204030204" pitchFamily="49" charset="0"/>
              </a:rPr>
              <a:t>&gt;</a:t>
            </a:r>
          </a:p>
          <a:p>
            <a:pPr>
              <a:lnSpc>
                <a:spcPts val="1425"/>
              </a:lnSpc>
              <a:buNone/>
            </a:pPr>
            <a:r>
              <a:rPr lang="en-US" sz="1000" dirty="0">
                <a:solidFill>
                  <a:srgbClr val="569CD6"/>
                </a:solidFill>
                <a:latin typeface="Consolas" panose="020B0609020204030204" pitchFamily="49" charset="0"/>
              </a:rPr>
              <a:t>class</a:t>
            </a:r>
            <a:r>
              <a:rPr lang="en-US" sz="1000" dirty="0">
                <a:solidFill>
                  <a:srgbClr val="D4D4D4"/>
                </a:solidFill>
                <a:latin typeface="Consolas" panose="020B0609020204030204" pitchFamily="49" charset="0"/>
              </a:rPr>
              <a:t> </a:t>
            </a:r>
            <a:r>
              <a:rPr lang="en-US" sz="1000" dirty="0" err="1">
                <a:solidFill>
                  <a:srgbClr val="4EC9B0"/>
                </a:solidFill>
                <a:latin typeface="Consolas" panose="020B0609020204030204" pitchFamily="49" charset="0"/>
              </a:rPr>
              <a:t>SingletonBase</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a:t>
            </a:r>
          </a:p>
          <a:p>
            <a:pPr>
              <a:lnSpc>
                <a:spcPts val="1425"/>
              </a:lnSpc>
              <a:buNone/>
            </a:pPr>
            <a:r>
              <a:rPr lang="en-US" sz="1000" dirty="0">
                <a:solidFill>
                  <a:srgbClr val="569CD6"/>
                </a:solidFill>
                <a:latin typeface="Consolas" panose="020B0609020204030204" pitchFamily="49" charset="0"/>
              </a:rPr>
              <a:t>public:</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a:solidFill>
                  <a:srgbClr val="569CD6"/>
                </a:solidFill>
                <a:latin typeface="Consolas" panose="020B0609020204030204" pitchFamily="49" charset="0"/>
              </a:rPr>
              <a:t>static</a:t>
            </a:r>
            <a:r>
              <a:rPr lang="en-US" sz="1000" dirty="0">
                <a:solidFill>
                  <a:srgbClr val="D4D4D4"/>
                </a:solidFill>
                <a:latin typeface="Consolas" panose="020B0609020204030204" pitchFamily="49" charset="0"/>
              </a:rPr>
              <a:t> </a:t>
            </a:r>
            <a:r>
              <a:rPr lang="en-US" sz="1000" dirty="0">
                <a:solidFill>
                  <a:srgbClr val="4EC9B0"/>
                </a:solidFill>
                <a:latin typeface="Consolas" panose="020B0609020204030204" pitchFamily="49" charset="0"/>
              </a:rPr>
              <a:t>T</a:t>
            </a:r>
            <a:r>
              <a:rPr lang="en-US" sz="1000" dirty="0">
                <a:solidFill>
                  <a:srgbClr val="D4D4D4"/>
                </a:solidFill>
                <a:latin typeface="Consolas" panose="020B0609020204030204" pitchFamily="49" charset="0"/>
              </a:rPr>
              <a:t> </a:t>
            </a:r>
            <a:r>
              <a:rPr lang="en-US" sz="1000" dirty="0">
                <a:solidFill>
                  <a:srgbClr val="569CD6"/>
                </a:solidFill>
                <a:latin typeface="Consolas" panose="020B0609020204030204" pitchFamily="49" charset="0"/>
              </a:rPr>
              <a:t>&amp;</a:t>
            </a:r>
            <a:r>
              <a:rPr lang="en-US" sz="1000" dirty="0">
                <a:solidFill>
                  <a:srgbClr val="DCDCAA"/>
                </a:solidFill>
                <a:latin typeface="Consolas" panose="020B0609020204030204" pitchFamily="49" charset="0"/>
              </a:rPr>
              <a:t>instance</a:t>
            </a:r>
            <a:r>
              <a:rPr lang="en-US" sz="1000" dirty="0">
                <a:solidFill>
                  <a:srgbClr val="D4D4D4"/>
                </a:solidFill>
                <a:latin typeface="Consolas" panose="020B0609020204030204" pitchFamily="49" charset="0"/>
              </a:rPr>
              <a:t>();</a:t>
            </a:r>
          </a:p>
          <a:p>
            <a:pPr>
              <a:lnSpc>
                <a:spcPts val="1425"/>
              </a:lnSpc>
              <a:buNone/>
            </a:pPr>
            <a:endParaRPr lang="en-US" sz="1000" dirty="0">
              <a:solidFill>
                <a:srgbClr val="D4D4D4"/>
              </a:solidFill>
              <a:latin typeface="Consolas" panose="020B0609020204030204" pitchFamily="49" charset="0"/>
            </a:endParaRPr>
          </a:p>
          <a:p>
            <a:pPr>
              <a:lnSpc>
                <a:spcPts val="1425"/>
              </a:lnSpc>
              <a:buNone/>
            </a:pPr>
            <a:r>
              <a:rPr lang="en-US" sz="1000" dirty="0">
                <a:solidFill>
                  <a:srgbClr val="569CD6"/>
                </a:solidFill>
                <a:latin typeface="Consolas" panose="020B0609020204030204" pitchFamily="49" charset="0"/>
              </a:rPr>
              <a:t>protected:</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    </a:t>
            </a:r>
            <a:r>
              <a:rPr lang="en-US" sz="1000" dirty="0" err="1">
                <a:solidFill>
                  <a:srgbClr val="4EC9B0"/>
                </a:solidFill>
                <a:latin typeface="Consolas" panose="020B0609020204030204" pitchFamily="49" charset="0"/>
              </a:rPr>
              <a:t>SingletonBase</a:t>
            </a:r>
            <a:r>
              <a:rPr lang="en-US" sz="1000" dirty="0">
                <a:solidFill>
                  <a:srgbClr val="D4D4D4"/>
                </a:solidFill>
                <a:latin typeface="Consolas" panose="020B0609020204030204" pitchFamily="49" charset="0"/>
              </a:rPr>
              <a:t>() = </a:t>
            </a:r>
            <a:r>
              <a:rPr lang="en-US" sz="1000" dirty="0">
                <a:solidFill>
                  <a:srgbClr val="569CD6"/>
                </a:solidFill>
                <a:latin typeface="Consolas" panose="020B0609020204030204" pitchFamily="49" charset="0"/>
              </a:rPr>
              <a:t>default</a:t>
            </a:r>
            <a:r>
              <a:rPr lang="en-US" sz="1000" dirty="0">
                <a:solidFill>
                  <a:srgbClr val="D4D4D4"/>
                </a:solidFill>
                <a:latin typeface="Consolas" panose="020B0609020204030204" pitchFamily="49" charset="0"/>
              </a:rPr>
              <a:t>;</a:t>
            </a:r>
          </a:p>
          <a:p>
            <a:pPr>
              <a:lnSpc>
                <a:spcPts val="1425"/>
              </a:lnSpc>
              <a:buNone/>
            </a:pPr>
            <a:r>
              <a:rPr lang="en-US" sz="1000" dirty="0">
                <a:solidFill>
                  <a:srgbClr val="D4D4D4"/>
                </a:solidFill>
                <a:latin typeface="Consolas" panose="020B0609020204030204" pitchFamily="49" charset="0"/>
              </a:rPr>
              <a:t>   </a:t>
            </a:r>
          </a:p>
          <a:p>
            <a:pPr>
              <a:lnSpc>
                <a:spcPts val="1425"/>
              </a:lnSpc>
              <a:buNone/>
            </a:pPr>
            <a:r>
              <a:rPr lang="en-US" sz="1000" dirty="0">
                <a:solidFill>
                  <a:srgbClr val="D4D4D4"/>
                </a:solidFill>
                <a:latin typeface="Consolas" panose="020B0609020204030204" pitchFamily="49" charset="0"/>
              </a:rPr>
              <a:t>    </a:t>
            </a:r>
            <a:r>
              <a:rPr lang="en-US" sz="1000" dirty="0">
                <a:solidFill>
                  <a:srgbClr val="6A9955"/>
                </a:solidFill>
                <a:latin typeface="Consolas" panose="020B0609020204030204" pitchFamily="49" charset="0"/>
              </a:rPr>
              <a:t>// no static T **</a:t>
            </a:r>
            <a:r>
              <a:rPr lang="en-US" sz="1000" dirty="0" err="1">
                <a:solidFill>
                  <a:srgbClr val="6A9955"/>
                </a:solidFill>
                <a:latin typeface="Consolas" panose="020B0609020204030204" pitchFamily="49" charset="0"/>
              </a:rPr>
              <a:t>instanceRef</a:t>
            </a:r>
            <a:r>
              <a:rPr lang="en-US" sz="1000" dirty="0">
                <a:solidFill>
                  <a:srgbClr val="6A9955"/>
                </a:solidFill>
                <a:latin typeface="Consolas" panose="020B0609020204030204" pitchFamily="49" charset="0"/>
              </a:rPr>
              <a:t>();</a:t>
            </a:r>
          </a:p>
          <a:p>
            <a:pPr>
              <a:lnSpc>
                <a:spcPts val="1425"/>
              </a:lnSpc>
              <a:buNone/>
            </a:pPr>
            <a:r>
              <a:rPr lang="en-US" sz="1000" dirty="0">
                <a:solidFill>
                  <a:srgbClr val="6A9955"/>
                </a:solidFill>
                <a:latin typeface="Consolas" panose="020B0609020204030204" pitchFamily="49" charset="0"/>
              </a:rPr>
              <a:t>    // ...</a:t>
            </a:r>
            <a:endParaRPr lang="en-US" sz="1000" dirty="0">
              <a:solidFill>
                <a:srgbClr val="D4D4D4"/>
              </a:solidFill>
              <a:latin typeface="Consolas" panose="020B0609020204030204" pitchFamily="49" charset="0"/>
            </a:endParaRPr>
          </a:p>
          <a:p>
            <a:pPr>
              <a:lnSpc>
                <a:spcPts val="1425"/>
              </a:lnSpc>
              <a:buNone/>
            </a:pPr>
            <a:r>
              <a:rPr lang="en-US" sz="1000" dirty="0">
                <a:solidFill>
                  <a:srgbClr val="D4D4D4"/>
                </a:solidFill>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
        <p:nvSpPr>
          <p:cNvPr id="8" name="Text 4">
            <a:extLst>
              <a:ext uri="{FF2B5EF4-FFF2-40B4-BE49-F238E27FC236}">
                <a16:creationId xmlns:a16="http://schemas.microsoft.com/office/drawing/2014/main" id="{F3BCA7A8-F87C-4BAB-E70A-871FA3020861}"/>
              </a:ext>
            </a:extLst>
          </p:cNvPr>
          <p:cNvSpPr/>
          <p:nvPr/>
        </p:nvSpPr>
        <p:spPr>
          <a:xfrm>
            <a:off x="4905955" y="850392"/>
            <a:ext cx="4009445" cy="4037076"/>
          </a:xfrm>
          <a:prstGeom prst="rect">
            <a:avLst/>
          </a:prstGeom>
          <a:noFill/>
          <a:ln/>
        </p:spPr>
        <p:txBody>
          <a:bodyPr wrap="square" rtlCol="0" anchor="t"/>
          <a:lstStyle/>
          <a:p>
            <a:pPr marL="342900" indent="-342900">
              <a:spcAft>
                <a:spcPts val="600"/>
              </a:spcAft>
              <a:buSzPct val="100000"/>
              <a:buFontTx/>
              <a:buChar char="•"/>
            </a:pPr>
            <a:r>
              <a:rPr lang="en-US" sz="1600" dirty="0"/>
              <a:t>This is how the PM_SINGLETON macro  and the </a:t>
            </a:r>
            <a:r>
              <a:rPr lang="en-US" sz="1600" dirty="0" err="1"/>
              <a:t>SingletonBase</a:t>
            </a:r>
            <a:r>
              <a:rPr lang="en-US" sz="1600" dirty="0"/>
              <a:t> class will look like now</a:t>
            </a:r>
          </a:p>
          <a:p>
            <a:pPr marL="342900" indent="-342900">
              <a:spcAft>
                <a:spcPts val="600"/>
              </a:spcAft>
              <a:buSzPct val="100000"/>
              <a:buFontTx/>
              <a:buChar char="•"/>
            </a:pP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is not member of the </a:t>
            </a:r>
            <a:r>
              <a:rPr lang="en-US" sz="1600" dirty="0" err="1">
                <a:solidFill>
                  <a:srgbClr val="1E3A5F"/>
                </a:solidFill>
                <a:latin typeface="Calibri" pitchFamily="34" charset="0"/>
                <a:ea typeface="Calibri" pitchFamily="34" charset="-122"/>
                <a:cs typeface="Calibri" pitchFamily="34" charset="-120"/>
              </a:rPr>
              <a:t>SingletonBase</a:t>
            </a:r>
            <a:r>
              <a:rPr lang="en-US" sz="1600" dirty="0">
                <a:solidFill>
                  <a:srgbClr val="1E3A5F"/>
                </a:solidFill>
                <a:latin typeface="Calibri" pitchFamily="34" charset="0"/>
                <a:ea typeface="Calibri" pitchFamily="34" charset="-122"/>
                <a:cs typeface="Calibri" pitchFamily="34" charset="-120"/>
              </a:rPr>
              <a:t> class anymore. Instead it gets defined directly in each class that inherits </a:t>
            </a:r>
            <a:r>
              <a:rPr lang="en-US" sz="1600" dirty="0" err="1">
                <a:solidFill>
                  <a:srgbClr val="1E3A5F"/>
                </a:solidFill>
                <a:latin typeface="Calibri" pitchFamily="34" charset="0"/>
                <a:ea typeface="Calibri" pitchFamily="34" charset="-122"/>
                <a:cs typeface="Calibri" pitchFamily="34" charset="-120"/>
              </a:rPr>
              <a:t>SingletonBase</a:t>
            </a:r>
            <a:r>
              <a:rPr lang="en-US" sz="1600" dirty="0">
                <a:solidFill>
                  <a:srgbClr val="1E3A5F"/>
                </a:solidFill>
                <a:latin typeface="Calibri" pitchFamily="34" charset="0"/>
                <a:ea typeface="Calibri" pitchFamily="34" charset="-122"/>
                <a:cs typeface="Calibri" pitchFamily="34" charset="-120"/>
              </a:rPr>
              <a:t> by using either the PM_SINGLETON macro or the _SAFE macro pairs</a:t>
            </a:r>
          </a:p>
        </p:txBody>
      </p:sp>
    </p:spTree>
    <p:extLst>
      <p:ext uri="{BB962C8B-B14F-4D97-AF65-F5344CB8AC3E}">
        <p14:creationId xmlns:p14="http://schemas.microsoft.com/office/powerpoint/2010/main" val="8342522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211DE-589D-691E-9E84-398E4D9B672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79FE51-EFD4-E2EA-6921-D46EF34C112C}"/>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C108524A-A2F0-D2D8-0040-03709F34AF63}"/>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2062021E-C65B-CD05-C46A-83AE4490DC00}"/>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Cross-Library Boundary Macros</a:t>
            </a:r>
            <a:endParaRPr lang="en-US" sz="1900" strike="sngStrike" dirty="0"/>
          </a:p>
        </p:txBody>
      </p:sp>
      <p:sp>
        <p:nvSpPr>
          <p:cNvPr id="6" name="Text 6">
            <a:extLst>
              <a:ext uri="{FF2B5EF4-FFF2-40B4-BE49-F238E27FC236}">
                <a16:creationId xmlns:a16="http://schemas.microsoft.com/office/drawing/2014/main" id="{13985B36-9E60-2632-1EC5-F779CABDB682}"/>
              </a:ext>
            </a:extLst>
          </p:cNvPr>
          <p:cNvSpPr/>
          <p:nvPr/>
        </p:nvSpPr>
        <p:spPr>
          <a:xfrm>
            <a:off x="292606" y="841248"/>
            <a:ext cx="4502031" cy="4000500"/>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C586C0"/>
                </a:solidFill>
                <a:effectLst/>
                <a:latin typeface="Consolas" panose="020B0609020204030204" pitchFamily="49" charset="0"/>
              </a:rPr>
              <a:t>#define</a:t>
            </a:r>
            <a:r>
              <a:rPr lang="en-US" sz="1000" b="0" dirty="0">
                <a:solidFill>
                  <a:srgbClr val="569CD6"/>
                </a:solidFill>
                <a:effectLst/>
                <a:latin typeface="Consolas" panose="020B0609020204030204" pitchFamily="49" charset="0"/>
              </a:rPr>
              <a:t> PM_SINGLETON_SAFE_HEADER(</a:t>
            </a:r>
            <a:r>
              <a:rPr lang="en-US" sz="1000" b="0" dirty="0">
                <a:solidFill>
                  <a:srgbClr val="9CDCFE"/>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err="1">
                <a:solidFill>
                  <a:srgbClr val="4EC9B0"/>
                </a:solidFill>
                <a:effectLst/>
                <a:latin typeface="Consolas" panose="020B0609020204030204" pitchFamily="49" charset="0"/>
              </a:rPr>
              <a:t>SingletonBase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err="1">
                <a:solidFill>
                  <a:srgbClr val="4EC9B0"/>
                </a:solidFill>
                <a:effectLst/>
                <a:latin typeface="Consolas" panose="020B0609020204030204" pitchFamily="49" charset="0"/>
              </a:rPr>
              <a:t>ScopedSingletonState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protected: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static </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instanceRef</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C586C0"/>
                </a:solidFill>
                <a:effectLst/>
                <a:latin typeface="Consolas" panose="020B0609020204030204" pitchFamily="49" charset="0"/>
              </a:rPr>
              <a:t>#define</a:t>
            </a:r>
            <a:r>
              <a:rPr lang="en-US" sz="1000" b="0" dirty="0">
                <a:solidFill>
                  <a:srgbClr val="569CD6"/>
                </a:solidFill>
                <a:effectLst/>
                <a:latin typeface="Consolas" panose="020B0609020204030204" pitchFamily="49" charset="0"/>
              </a:rPr>
              <a:t> PM_SINGLETON_SAFE_SOURCE(</a:t>
            </a:r>
            <a:r>
              <a:rPr lang="en-US" sz="1000" b="0" dirty="0">
                <a:solidFill>
                  <a:srgbClr val="9CDCFE"/>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instanceRef</a:t>
            </a:r>
            <a:r>
              <a:rPr lang="en-US" sz="1000" b="0" dirty="0">
                <a:solidFill>
                  <a:srgbClr val="569CD6"/>
                </a:solidFill>
                <a:effectLst/>
                <a:latin typeface="Consolas" panose="020B0609020204030204" pitchFamily="49" charset="0"/>
              </a:rPr>
              <a:t>() {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static T </a:t>
            </a:r>
            <a:r>
              <a:rPr lang="en-US" sz="1000" b="0" dirty="0">
                <a:solidFill>
                  <a:srgbClr val="D4D4D4"/>
                </a:solidFill>
                <a:effectLst/>
                <a:latin typeface="Consolas" panose="020B0609020204030204" pitchFamily="49" charset="0"/>
              </a:rPr>
              <a:t>*</a:t>
            </a:r>
            <a:r>
              <a:rPr lang="en-US" sz="1000" b="0" dirty="0" err="1">
                <a:solidFill>
                  <a:srgbClr val="569CD6"/>
                </a:solidFill>
                <a:effectLst/>
                <a:latin typeface="Consolas" panose="020B0609020204030204" pitchFamily="49" charset="0"/>
              </a:rPr>
              <a:t>instancePtr</a:t>
            </a:r>
            <a:r>
              <a:rPr lang="en-US" sz="1000" b="0" dirty="0">
                <a:solidFill>
                  <a:srgbClr val="569CD6"/>
                </a:solidFill>
                <a:effectLst/>
                <a:latin typeface="Consolas" panose="020B0609020204030204" pitchFamily="49" charset="0"/>
              </a:rPr>
              <a:t> </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 </a:t>
            </a:r>
            <a:r>
              <a:rPr lang="en-US" sz="1000" b="0" dirty="0">
                <a:solidFill>
                  <a:srgbClr val="D4D4D4"/>
                </a:solidFill>
                <a:effectLst/>
                <a:latin typeface="Consolas" panose="020B0609020204030204" pitchFamily="49" charset="0"/>
              </a:rPr>
              <a:t>&amp;</a:t>
            </a:r>
            <a:r>
              <a:rPr lang="en-US" sz="1000" b="0" dirty="0" err="1">
                <a:solidFill>
                  <a:srgbClr val="DCDCAA"/>
                </a:solidFill>
                <a:effectLst/>
                <a:latin typeface="Consolas" panose="020B0609020204030204" pitchFamily="49" charset="0"/>
              </a:rPr>
              <a:t>defaultInstance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569CD6"/>
                </a:solidFill>
                <a:effectLst/>
                <a:latin typeface="Consolas" panose="020B0609020204030204" pitchFamily="49" charset="0"/>
              </a:rPr>
              <a:t> </a:t>
            </a:r>
            <a:r>
              <a:rPr lang="en-US" sz="1000" b="0" dirty="0">
                <a:solidFill>
                  <a:srgbClr val="D4D4D4"/>
                </a:solidFill>
                <a:effectLst/>
                <a:latin typeface="Consolas" panose="020B0609020204030204" pitchFamily="49" charset="0"/>
              </a:rPr>
              <a:t>&amp;</a:t>
            </a:r>
            <a:r>
              <a:rPr lang="en-US" sz="1000" b="0" dirty="0" err="1">
                <a:solidFill>
                  <a:srgbClr val="569CD6"/>
                </a:solidFill>
                <a:effectLst/>
                <a:latin typeface="Consolas" panose="020B0609020204030204" pitchFamily="49" charset="0"/>
              </a:rPr>
              <a:t>instancePtr</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endParaRPr lang="en-US" sz="1000" b="0" dirty="0">
              <a:solidFill>
                <a:srgbClr val="D4D4D4"/>
              </a:solidFill>
              <a:effectLst/>
              <a:latin typeface="Consolas" panose="020B0609020204030204" pitchFamily="49" charset="0"/>
            </a:endParaRPr>
          </a:p>
          <a:p>
            <a:pPr>
              <a:lnSpc>
                <a:spcPts val="1425"/>
              </a:lnSpc>
              <a:buNone/>
            </a:pPr>
            <a:endParaRPr lang="en-US" sz="1000" b="0" dirty="0">
              <a:solidFill>
                <a:srgbClr val="D4D4D4"/>
              </a:solidFill>
              <a:effectLst/>
              <a:latin typeface="Consolas" panose="020B0609020204030204" pitchFamily="49" charset="0"/>
            </a:endParaRPr>
          </a:p>
        </p:txBody>
      </p:sp>
      <p:sp>
        <p:nvSpPr>
          <p:cNvPr id="8" name="Text 4">
            <a:extLst>
              <a:ext uri="{FF2B5EF4-FFF2-40B4-BE49-F238E27FC236}">
                <a16:creationId xmlns:a16="http://schemas.microsoft.com/office/drawing/2014/main" id="{23908AD5-5D0D-693C-4656-83E9DEB26FED}"/>
              </a:ext>
            </a:extLst>
          </p:cNvPr>
          <p:cNvSpPr/>
          <p:nvPr/>
        </p:nvSpPr>
        <p:spPr>
          <a:xfrm>
            <a:off x="4905955" y="850392"/>
            <a:ext cx="4009445" cy="4037076"/>
          </a:xfrm>
          <a:prstGeom prst="rect">
            <a:avLst/>
          </a:prstGeom>
          <a:noFill/>
          <a:ln/>
        </p:spPr>
        <p:txBody>
          <a:bodyPr wrap="square" rtlCol="0" anchor="t"/>
          <a:lstStyle/>
          <a:p>
            <a:pPr marL="342900" indent="-342900">
              <a:spcAft>
                <a:spcPts val="600"/>
              </a:spcAft>
              <a:buSzPct val="100000"/>
              <a:buFontTx/>
              <a:buChar char="•"/>
            </a:pPr>
            <a:r>
              <a:rPr lang="en-US" sz="1600" dirty="0"/>
              <a:t>And This is how the _SAFE macro pairs are defined</a:t>
            </a:r>
          </a:p>
          <a:p>
            <a:pPr marL="342900" indent="-342900">
              <a:spcAft>
                <a:spcPts val="600"/>
              </a:spcAft>
              <a:buSzPct val="100000"/>
              <a:buFontTx/>
              <a:buChar char="•"/>
            </a:pPr>
            <a:r>
              <a:rPr lang="en-US" sz="1600" dirty="0"/>
              <a:t>PM_SINGLETON_SAFE_HEADER declares friendships and </a:t>
            </a:r>
            <a:r>
              <a:rPr lang="en-US" sz="1600" dirty="0" err="1"/>
              <a:t>instanceRef</a:t>
            </a:r>
            <a:r>
              <a:rPr lang="en-US" sz="1600" dirty="0"/>
              <a:t>() function</a:t>
            </a:r>
          </a:p>
          <a:p>
            <a:pPr marL="342900" indent="-342900">
              <a:spcAft>
                <a:spcPts val="600"/>
              </a:spcAft>
              <a:buSzPct val="100000"/>
              <a:buFontTx/>
              <a:buChar char="•"/>
            </a:pPr>
            <a:r>
              <a:rPr lang="en-US" sz="1600" dirty="0"/>
              <a:t>PM_SINGLETON_SAFE_SOURCE defines the body of </a:t>
            </a:r>
            <a:r>
              <a:rPr lang="en-US" sz="1600" dirty="0" err="1"/>
              <a:t>instanceRef</a:t>
            </a:r>
            <a:r>
              <a:rPr lang="en-US" sz="1600" dirty="0"/>
              <a:t>()</a:t>
            </a:r>
            <a:endParaRPr lang="en-US" sz="1600" dirty="0">
              <a:solidFill>
                <a:srgbClr val="1E3A5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25957752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4E83B-0DC8-46E0-331F-E65FEEFCD19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EFAE4E2-B488-4829-4F00-F2000E160DDD}"/>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141FF4FB-690C-5FE8-7CC2-F7BDCCC3CE78}"/>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B362DF18-192F-C536-04E3-6C38CD2992D8}"/>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Cross-Library Boundary Macros</a:t>
            </a:r>
            <a:endParaRPr lang="en-US" sz="1900" strike="sngStrike" dirty="0"/>
          </a:p>
        </p:txBody>
      </p:sp>
      <p:sp>
        <p:nvSpPr>
          <p:cNvPr id="6" name="Text 6">
            <a:extLst>
              <a:ext uri="{FF2B5EF4-FFF2-40B4-BE49-F238E27FC236}">
                <a16:creationId xmlns:a16="http://schemas.microsoft.com/office/drawing/2014/main" id="{F1B41F1D-BEDD-6656-C559-703589AAD66C}"/>
              </a:ext>
            </a:extLst>
          </p:cNvPr>
          <p:cNvSpPr/>
          <p:nvPr/>
        </p:nvSpPr>
        <p:spPr>
          <a:xfrm>
            <a:off x="292606" y="841248"/>
            <a:ext cx="4502031" cy="4000500"/>
          </a:xfrm>
          <a:prstGeom prst="rect">
            <a:avLst/>
          </a:prstGeom>
          <a:solidFill>
            <a:srgbClr val="0D1117"/>
          </a:solidFill>
          <a:ln/>
        </p:spPr>
        <p:txBody>
          <a:bodyPr wrap="square" lIns="182880" tIns="91440" rIns="182880" bIns="91440" rtlCol="0" anchor="t"/>
          <a:lstStyle/>
          <a:p>
            <a:pPr>
              <a:lnSpc>
                <a:spcPts val="1425"/>
              </a:lnSpc>
              <a:buNone/>
            </a:pPr>
            <a:r>
              <a:rPr lang="en-US" sz="1000" dirty="0">
                <a:solidFill>
                  <a:srgbClr val="C586C0"/>
                </a:solidFill>
                <a:latin typeface="Consolas" panose="020B0609020204030204" pitchFamily="49" charset="0"/>
              </a:rPr>
              <a:t>#define</a:t>
            </a:r>
            <a:r>
              <a:rPr lang="en-US" sz="1000" dirty="0">
                <a:solidFill>
                  <a:srgbClr val="569CD6"/>
                </a:solidFill>
                <a:latin typeface="Consolas" panose="020B0609020204030204" pitchFamily="49" charset="0"/>
              </a:rPr>
              <a:t> PM_SINGLETON(</a:t>
            </a:r>
            <a:r>
              <a:rPr lang="en-US" sz="1000" dirty="0">
                <a:solidFill>
                  <a:srgbClr val="9CDCFE"/>
                </a:solidFill>
                <a:latin typeface="Consolas" panose="020B0609020204030204" pitchFamily="49" charset="0"/>
              </a:rPr>
              <a:t>CLASS_NAME</a:t>
            </a:r>
            <a:r>
              <a:rPr lang="en-US" sz="1000" dirty="0">
                <a:solidFill>
                  <a:srgbClr val="569CD6"/>
                </a:solidFill>
                <a:latin typeface="Consolas" panose="020B0609020204030204" pitchFamily="49" charset="0"/>
              </a:rPr>
              <a:t>)                         </a:t>
            </a:r>
            <a:r>
              <a:rPr lang="en-US" sz="1000" dirty="0">
                <a:solidFill>
                  <a:srgbClr val="D7BA7D"/>
                </a:solidFill>
                <a:latin typeface="Consolas" panose="020B0609020204030204" pitchFamily="49" charset="0"/>
              </a:rPr>
              <a:t>\</a:t>
            </a:r>
            <a:endParaRPr lang="en-US" sz="1000" dirty="0">
              <a:solidFill>
                <a:srgbClr val="D4D4D4"/>
              </a:solidFill>
              <a:latin typeface="Consolas" panose="020B0609020204030204" pitchFamily="49" charset="0"/>
            </a:endParaRPr>
          </a:p>
          <a:p>
            <a:pPr>
              <a:lnSpc>
                <a:spcPts val="1425"/>
              </a:lnSpc>
              <a:buNone/>
            </a:pPr>
            <a:r>
              <a:rPr lang="en-US" sz="1000" dirty="0">
                <a:solidFill>
                  <a:srgbClr val="569CD6"/>
                </a:solidFill>
                <a:latin typeface="Consolas" panose="020B0609020204030204" pitchFamily="49" charset="0"/>
              </a:rPr>
              <a:t>    friend class </a:t>
            </a:r>
            <a:r>
              <a:rPr lang="en-US" sz="1000" dirty="0" err="1">
                <a:solidFill>
                  <a:srgbClr val="4EC9B0"/>
                </a:solidFill>
                <a:latin typeface="Consolas" panose="020B0609020204030204" pitchFamily="49" charset="0"/>
              </a:rPr>
              <a:t>SingletonBase</a:t>
            </a:r>
            <a:r>
              <a:rPr lang="en-US" sz="1000" dirty="0">
                <a:solidFill>
                  <a:srgbClr val="569CD6"/>
                </a:solidFill>
                <a:latin typeface="Consolas" panose="020B0609020204030204" pitchFamily="49" charset="0"/>
              </a:rPr>
              <a:t>&lt;</a:t>
            </a:r>
            <a:r>
              <a:rPr lang="en-US" sz="1000" dirty="0">
                <a:solidFill>
                  <a:srgbClr val="4EC9B0"/>
                </a:solidFill>
                <a:latin typeface="Consolas" panose="020B0609020204030204" pitchFamily="49" charset="0"/>
              </a:rPr>
              <a:t>CLASS_NAME</a:t>
            </a:r>
            <a:r>
              <a:rPr lang="en-US" sz="1000" dirty="0">
                <a:solidFill>
                  <a:srgbClr val="569CD6"/>
                </a:solidFill>
                <a:latin typeface="Consolas" panose="020B0609020204030204" pitchFamily="49" charset="0"/>
              </a:rPr>
              <a:t>&gt;;              </a:t>
            </a:r>
            <a:r>
              <a:rPr lang="en-US" sz="1000" dirty="0">
                <a:solidFill>
                  <a:srgbClr val="D7BA7D"/>
                </a:solidFill>
                <a:latin typeface="Consolas" panose="020B0609020204030204" pitchFamily="49" charset="0"/>
              </a:rPr>
              <a:t>\</a:t>
            </a:r>
            <a:endParaRPr lang="en-US" sz="1000" dirty="0">
              <a:solidFill>
                <a:srgbClr val="D4D4D4"/>
              </a:solidFill>
              <a:latin typeface="Consolas" panose="020B0609020204030204" pitchFamily="49" charset="0"/>
            </a:endParaRPr>
          </a:p>
          <a:p>
            <a:pPr>
              <a:lnSpc>
                <a:spcPts val="1425"/>
              </a:lnSpc>
              <a:buNone/>
            </a:pPr>
            <a:r>
              <a:rPr lang="en-US" sz="1000" dirty="0">
                <a:solidFill>
                  <a:srgbClr val="569CD6"/>
                </a:solidFill>
                <a:latin typeface="Consolas" panose="020B0609020204030204" pitchFamily="49" charset="0"/>
              </a:rPr>
              <a:t>    friend class </a:t>
            </a:r>
            <a:r>
              <a:rPr lang="en-US" sz="1000" dirty="0" err="1">
                <a:solidFill>
                  <a:srgbClr val="4EC9B0"/>
                </a:solidFill>
                <a:latin typeface="Consolas" panose="020B0609020204030204" pitchFamily="49" charset="0"/>
              </a:rPr>
              <a:t>ScopedSingletonState</a:t>
            </a:r>
            <a:r>
              <a:rPr lang="en-US" sz="1000" dirty="0">
                <a:solidFill>
                  <a:srgbClr val="569CD6"/>
                </a:solidFill>
                <a:latin typeface="Consolas" panose="020B0609020204030204" pitchFamily="49" charset="0"/>
              </a:rPr>
              <a:t>&lt;</a:t>
            </a:r>
            <a:r>
              <a:rPr lang="en-US" sz="1000" dirty="0">
                <a:solidFill>
                  <a:srgbClr val="4EC9B0"/>
                </a:solidFill>
                <a:latin typeface="Consolas" panose="020B0609020204030204" pitchFamily="49" charset="0"/>
              </a:rPr>
              <a:t>CLASS_NAME</a:t>
            </a:r>
            <a:r>
              <a:rPr lang="en-US" sz="1000" dirty="0">
                <a:solidFill>
                  <a:srgbClr val="569CD6"/>
                </a:solidFill>
                <a:latin typeface="Consolas" panose="020B0609020204030204" pitchFamily="49" charset="0"/>
              </a:rPr>
              <a:t>&gt;;       </a:t>
            </a:r>
            <a:r>
              <a:rPr lang="en-US" sz="1000" dirty="0">
                <a:solidFill>
                  <a:srgbClr val="D7BA7D"/>
                </a:solidFill>
                <a:latin typeface="Consolas" panose="020B0609020204030204" pitchFamily="49" charset="0"/>
              </a:rPr>
              <a:t>\</a:t>
            </a:r>
            <a:endParaRPr lang="en-US" sz="1000" dirty="0">
              <a:solidFill>
                <a:srgbClr val="D4D4D4"/>
              </a:solidFill>
              <a:latin typeface="Consolas" panose="020B0609020204030204" pitchFamily="49" charset="0"/>
            </a:endParaRPr>
          </a:p>
          <a:p>
            <a:pPr>
              <a:lnSpc>
                <a:spcPts val="1425"/>
              </a:lnSpc>
              <a:buNone/>
            </a:pPr>
            <a:r>
              <a:rPr lang="en-US" sz="1000" dirty="0">
                <a:solidFill>
                  <a:srgbClr val="569CD6"/>
                </a:solidFill>
                <a:latin typeface="Consolas" panose="020B0609020204030204" pitchFamily="49" charset="0"/>
              </a:rPr>
              <a:t>protected:                                               </a:t>
            </a:r>
            <a:r>
              <a:rPr lang="en-US" sz="1000" dirty="0">
                <a:solidFill>
                  <a:srgbClr val="D7BA7D"/>
                </a:solidFill>
                <a:latin typeface="Consolas" panose="020B0609020204030204" pitchFamily="49" charset="0"/>
              </a:rPr>
              <a:t>\</a:t>
            </a:r>
            <a:endParaRPr lang="en-US" sz="1000" dirty="0">
              <a:solidFill>
                <a:srgbClr val="D4D4D4"/>
              </a:solidFill>
              <a:latin typeface="Consolas" panose="020B0609020204030204" pitchFamily="49" charset="0"/>
            </a:endParaRPr>
          </a:p>
          <a:p>
            <a:pPr>
              <a:lnSpc>
                <a:spcPts val="1425"/>
              </a:lnSpc>
              <a:buNone/>
            </a:pPr>
            <a:r>
              <a:rPr lang="en-US" sz="1000" dirty="0">
                <a:solidFill>
                  <a:srgbClr val="569CD6"/>
                </a:solidFill>
                <a:latin typeface="Consolas" panose="020B0609020204030204" pitchFamily="49" charset="0"/>
              </a:rPr>
              <a:t>    static </a:t>
            </a:r>
            <a:r>
              <a:rPr lang="en-US" sz="1000" dirty="0">
                <a:solidFill>
                  <a:srgbClr val="4EC9B0"/>
                </a:solidFill>
                <a:latin typeface="Consolas" panose="020B0609020204030204" pitchFamily="49" charset="0"/>
              </a:rPr>
              <a:t>CLASS_NAME</a:t>
            </a:r>
            <a:r>
              <a:rPr lang="en-US" sz="1000" dirty="0">
                <a:solidFill>
                  <a:srgbClr val="569CD6"/>
                </a:solidFill>
                <a:latin typeface="Consolas" panose="020B0609020204030204" pitchFamily="49" charset="0"/>
              </a:rPr>
              <a:t> **</a:t>
            </a:r>
            <a:r>
              <a:rPr lang="en-US" sz="1000" dirty="0" err="1">
                <a:solidFill>
                  <a:srgbClr val="DCDCAA"/>
                </a:solidFill>
                <a:latin typeface="Consolas" panose="020B0609020204030204" pitchFamily="49" charset="0"/>
              </a:rPr>
              <a:t>instanceRef</a:t>
            </a:r>
            <a:r>
              <a:rPr lang="en-US" sz="1000" dirty="0">
                <a:solidFill>
                  <a:srgbClr val="569CD6"/>
                </a:solidFill>
                <a:latin typeface="Consolas" panose="020B0609020204030204" pitchFamily="49" charset="0"/>
              </a:rPr>
              <a:t>() {                  </a:t>
            </a:r>
            <a:r>
              <a:rPr lang="en-US" sz="1000" dirty="0">
                <a:solidFill>
                  <a:srgbClr val="D7BA7D"/>
                </a:solidFill>
                <a:latin typeface="Consolas" panose="020B0609020204030204" pitchFamily="49" charset="0"/>
              </a:rPr>
              <a:t>\</a:t>
            </a:r>
            <a:endParaRPr lang="en-US" sz="1000" dirty="0">
              <a:solidFill>
                <a:srgbClr val="D4D4D4"/>
              </a:solidFill>
              <a:latin typeface="Consolas" panose="020B0609020204030204" pitchFamily="49" charset="0"/>
            </a:endParaRPr>
          </a:p>
          <a:p>
            <a:pPr>
              <a:lnSpc>
                <a:spcPts val="1425"/>
              </a:lnSpc>
              <a:buNone/>
            </a:pPr>
            <a:r>
              <a:rPr lang="en-US" sz="1000" dirty="0">
                <a:solidFill>
                  <a:srgbClr val="569CD6"/>
                </a:solidFill>
                <a:latin typeface="Consolas" panose="020B0609020204030204" pitchFamily="49" charset="0"/>
              </a:rPr>
              <a:t>        static T </a:t>
            </a:r>
            <a:r>
              <a:rPr lang="en-US" sz="1000" dirty="0">
                <a:solidFill>
                  <a:srgbClr val="D4D4D4"/>
                </a:solidFill>
                <a:latin typeface="Consolas" panose="020B0609020204030204" pitchFamily="49" charset="0"/>
              </a:rPr>
              <a:t>*</a:t>
            </a:r>
            <a:r>
              <a:rPr lang="en-US" sz="1000" dirty="0" err="1">
                <a:solidFill>
                  <a:srgbClr val="569CD6"/>
                </a:solidFill>
                <a:latin typeface="Consolas" panose="020B0609020204030204" pitchFamily="49" charset="0"/>
              </a:rPr>
              <a:t>instancePtr</a:t>
            </a:r>
            <a:r>
              <a:rPr lang="en-US" sz="1000" dirty="0">
                <a:solidFill>
                  <a:srgbClr val="569CD6"/>
                </a:solidFill>
                <a:latin typeface="Consolas" panose="020B0609020204030204" pitchFamily="49" charset="0"/>
              </a:rPr>
              <a:t> </a:t>
            </a:r>
            <a:r>
              <a:rPr lang="en-US" sz="1000" dirty="0">
                <a:solidFill>
                  <a:srgbClr val="D4D4D4"/>
                </a:solidFill>
                <a:latin typeface="Consolas" panose="020B0609020204030204" pitchFamily="49" charset="0"/>
              </a:rPr>
              <a:t>=</a:t>
            </a:r>
            <a:r>
              <a:rPr lang="en-US" sz="1000" dirty="0">
                <a:solidFill>
                  <a:srgbClr val="569CD6"/>
                </a:solidFill>
                <a:latin typeface="Consolas" panose="020B0609020204030204" pitchFamily="49" charset="0"/>
              </a:rPr>
              <a:t> </a:t>
            </a:r>
            <a:r>
              <a:rPr lang="en-US" sz="1000" dirty="0">
                <a:solidFill>
                  <a:srgbClr val="D4D4D4"/>
                </a:solidFill>
                <a:latin typeface="Consolas" panose="020B0609020204030204" pitchFamily="49" charset="0"/>
              </a:rPr>
              <a:t>&amp;</a:t>
            </a:r>
            <a:r>
              <a:rPr lang="en-US" sz="1000" dirty="0" err="1">
                <a:solidFill>
                  <a:srgbClr val="DCDCAA"/>
                </a:solidFill>
                <a:latin typeface="Consolas" panose="020B0609020204030204" pitchFamily="49" charset="0"/>
              </a:rPr>
              <a:t>defaultInstance</a:t>
            </a:r>
            <a:r>
              <a:rPr lang="en-US" sz="1000" dirty="0">
                <a:solidFill>
                  <a:srgbClr val="569CD6"/>
                </a:solidFill>
                <a:latin typeface="Consolas" panose="020B0609020204030204" pitchFamily="49" charset="0"/>
              </a:rPr>
              <a:t>();      </a:t>
            </a:r>
            <a:r>
              <a:rPr lang="en-US" sz="1000" dirty="0">
                <a:solidFill>
                  <a:srgbClr val="D7BA7D"/>
                </a:solidFill>
                <a:latin typeface="Consolas" panose="020B0609020204030204" pitchFamily="49" charset="0"/>
              </a:rPr>
              <a:t>\</a:t>
            </a:r>
            <a:endParaRPr lang="en-US" sz="1000" dirty="0">
              <a:solidFill>
                <a:srgbClr val="D4D4D4"/>
              </a:solidFill>
              <a:latin typeface="Consolas" panose="020B0609020204030204" pitchFamily="49" charset="0"/>
            </a:endParaRPr>
          </a:p>
          <a:p>
            <a:pPr>
              <a:lnSpc>
                <a:spcPts val="1425"/>
              </a:lnSpc>
              <a:buNone/>
            </a:pPr>
            <a:r>
              <a:rPr lang="en-US" sz="1000" dirty="0">
                <a:solidFill>
                  <a:srgbClr val="569CD6"/>
                </a:solidFill>
                <a:latin typeface="Consolas" panose="020B0609020204030204" pitchFamily="49" charset="0"/>
              </a:rPr>
              <a:t>        </a:t>
            </a:r>
            <a:r>
              <a:rPr lang="en-US" sz="1000" dirty="0">
                <a:solidFill>
                  <a:srgbClr val="C586C0"/>
                </a:solidFill>
                <a:latin typeface="Consolas" panose="020B0609020204030204" pitchFamily="49" charset="0"/>
              </a:rPr>
              <a:t>return</a:t>
            </a:r>
            <a:r>
              <a:rPr lang="en-US" sz="1000" dirty="0">
                <a:solidFill>
                  <a:srgbClr val="569CD6"/>
                </a:solidFill>
                <a:latin typeface="Consolas" panose="020B0609020204030204" pitchFamily="49" charset="0"/>
              </a:rPr>
              <a:t> </a:t>
            </a:r>
            <a:r>
              <a:rPr lang="en-US" sz="1000" dirty="0">
                <a:solidFill>
                  <a:srgbClr val="D4D4D4"/>
                </a:solidFill>
                <a:latin typeface="Consolas" panose="020B0609020204030204" pitchFamily="49" charset="0"/>
              </a:rPr>
              <a:t>&amp;</a:t>
            </a:r>
            <a:r>
              <a:rPr lang="en-US" sz="1000" dirty="0" err="1">
                <a:solidFill>
                  <a:srgbClr val="569CD6"/>
                </a:solidFill>
                <a:latin typeface="Consolas" panose="020B0609020204030204" pitchFamily="49" charset="0"/>
              </a:rPr>
              <a:t>instancePtr</a:t>
            </a:r>
            <a:r>
              <a:rPr lang="en-US" sz="1000" dirty="0">
                <a:solidFill>
                  <a:srgbClr val="569CD6"/>
                </a:solidFill>
                <a:latin typeface="Consolas" panose="020B0609020204030204" pitchFamily="49" charset="0"/>
              </a:rPr>
              <a:t>;                             </a:t>
            </a:r>
            <a:r>
              <a:rPr lang="en-US" sz="1000" dirty="0">
                <a:solidFill>
                  <a:srgbClr val="D7BA7D"/>
                </a:solidFill>
                <a:latin typeface="Consolas" panose="020B0609020204030204" pitchFamily="49" charset="0"/>
              </a:rPr>
              <a:t>\</a:t>
            </a:r>
            <a:endParaRPr lang="en-US" sz="1000" dirty="0">
              <a:solidFill>
                <a:srgbClr val="D4D4D4"/>
              </a:solidFill>
              <a:latin typeface="Consolas" panose="020B0609020204030204" pitchFamily="49" charset="0"/>
            </a:endParaRPr>
          </a:p>
          <a:p>
            <a:pPr>
              <a:lnSpc>
                <a:spcPts val="1425"/>
              </a:lnSpc>
              <a:buNone/>
            </a:pPr>
            <a:r>
              <a:rPr lang="en-US" sz="1000" dirty="0">
                <a:solidFill>
                  <a:srgbClr val="569CD6"/>
                </a:solidFill>
                <a:latin typeface="Consolas" panose="020B0609020204030204" pitchFamily="49" charset="0"/>
              </a:rPr>
              <a:t>    }                                                    </a:t>
            </a:r>
            <a:endParaRPr lang="en-US" sz="1000" b="0" dirty="0">
              <a:solidFill>
                <a:srgbClr val="C586C0"/>
              </a:solidFill>
              <a:effectLst/>
              <a:latin typeface="Consolas" panose="020B0609020204030204" pitchFamily="49" charset="0"/>
            </a:endParaRPr>
          </a:p>
          <a:p>
            <a:pPr>
              <a:lnSpc>
                <a:spcPts val="1425"/>
              </a:lnSpc>
              <a:buNone/>
            </a:pPr>
            <a:endParaRPr lang="en-US" sz="1000" dirty="0">
              <a:solidFill>
                <a:srgbClr val="C586C0"/>
              </a:solidFill>
              <a:latin typeface="Consolas" panose="020B0609020204030204" pitchFamily="49" charset="0"/>
            </a:endParaRPr>
          </a:p>
          <a:p>
            <a:pPr>
              <a:lnSpc>
                <a:spcPts val="1425"/>
              </a:lnSpc>
              <a:buNone/>
            </a:pPr>
            <a:r>
              <a:rPr lang="en-US" sz="1000" b="0" dirty="0">
                <a:solidFill>
                  <a:srgbClr val="C586C0"/>
                </a:solidFill>
                <a:effectLst/>
                <a:latin typeface="Consolas" panose="020B0609020204030204" pitchFamily="49" charset="0"/>
              </a:rPr>
              <a:t>#define</a:t>
            </a:r>
            <a:r>
              <a:rPr lang="en-US" sz="1000" b="0" dirty="0">
                <a:solidFill>
                  <a:srgbClr val="569CD6"/>
                </a:solidFill>
                <a:effectLst/>
                <a:latin typeface="Consolas" panose="020B0609020204030204" pitchFamily="49" charset="0"/>
              </a:rPr>
              <a:t> PM_SINGLETON_SAFE_HEADER(</a:t>
            </a:r>
            <a:r>
              <a:rPr lang="en-US" sz="1000" b="0" dirty="0">
                <a:solidFill>
                  <a:srgbClr val="9CDCFE"/>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err="1">
                <a:solidFill>
                  <a:srgbClr val="4EC9B0"/>
                </a:solidFill>
                <a:effectLst/>
                <a:latin typeface="Consolas" panose="020B0609020204030204" pitchFamily="49" charset="0"/>
              </a:rPr>
              <a:t>SingletonBase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err="1">
                <a:solidFill>
                  <a:srgbClr val="4EC9B0"/>
                </a:solidFill>
                <a:effectLst/>
                <a:latin typeface="Consolas" panose="020B0609020204030204" pitchFamily="49" charset="0"/>
              </a:rPr>
              <a:t>ScopedSingletonState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protected: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static </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instanceRef</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C586C0"/>
                </a:solidFill>
                <a:effectLst/>
                <a:latin typeface="Consolas" panose="020B0609020204030204" pitchFamily="49" charset="0"/>
              </a:rPr>
              <a:t>#define</a:t>
            </a:r>
            <a:r>
              <a:rPr lang="en-US" sz="1000" b="0" dirty="0">
                <a:solidFill>
                  <a:srgbClr val="569CD6"/>
                </a:solidFill>
                <a:effectLst/>
                <a:latin typeface="Consolas" panose="020B0609020204030204" pitchFamily="49" charset="0"/>
              </a:rPr>
              <a:t> PM_SINGLETON_SAFE_SOURCE(</a:t>
            </a:r>
            <a:r>
              <a:rPr lang="en-US" sz="1000" b="0" dirty="0">
                <a:solidFill>
                  <a:srgbClr val="9CDCFE"/>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instanceRef</a:t>
            </a:r>
            <a:r>
              <a:rPr lang="en-US" sz="1000" b="0" dirty="0">
                <a:solidFill>
                  <a:srgbClr val="569CD6"/>
                </a:solidFill>
                <a:effectLst/>
                <a:latin typeface="Consolas" panose="020B0609020204030204" pitchFamily="49" charset="0"/>
              </a:rPr>
              <a:t>() {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static T </a:t>
            </a:r>
            <a:r>
              <a:rPr lang="en-US" sz="1000" b="0" dirty="0">
                <a:solidFill>
                  <a:srgbClr val="D4D4D4"/>
                </a:solidFill>
                <a:effectLst/>
                <a:latin typeface="Consolas" panose="020B0609020204030204" pitchFamily="49" charset="0"/>
              </a:rPr>
              <a:t>*</a:t>
            </a:r>
            <a:r>
              <a:rPr lang="en-US" sz="1000" b="0" dirty="0" err="1">
                <a:solidFill>
                  <a:srgbClr val="569CD6"/>
                </a:solidFill>
                <a:effectLst/>
                <a:latin typeface="Consolas" panose="020B0609020204030204" pitchFamily="49" charset="0"/>
              </a:rPr>
              <a:t>instancePtr</a:t>
            </a:r>
            <a:r>
              <a:rPr lang="en-US" sz="1000" b="0" dirty="0">
                <a:solidFill>
                  <a:srgbClr val="569CD6"/>
                </a:solidFill>
                <a:effectLst/>
                <a:latin typeface="Consolas" panose="020B0609020204030204" pitchFamily="49" charset="0"/>
              </a:rPr>
              <a:t> </a:t>
            </a:r>
            <a:r>
              <a:rPr lang="en-US" sz="1000" b="0" dirty="0">
                <a:solidFill>
                  <a:srgbClr val="D4D4D4"/>
                </a:solidFill>
                <a:effectLst/>
                <a:latin typeface="Consolas" panose="020B0609020204030204" pitchFamily="49" charset="0"/>
              </a:rPr>
              <a:t>=</a:t>
            </a:r>
            <a:r>
              <a:rPr lang="en-US" sz="1000" b="0" dirty="0">
                <a:solidFill>
                  <a:srgbClr val="569CD6"/>
                </a:solidFill>
                <a:effectLst/>
                <a:latin typeface="Consolas" panose="020B0609020204030204" pitchFamily="49" charset="0"/>
              </a:rPr>
              <a:t> </a:t>
            </a:r>
            <a:r>
              <a:rPr lang="en-US" sz="1000" b="0" dirty="0">
                <a:solidFill>
                  <a:srgbClr val="D4D4D4"/>
                </a:solidFill>
                <a:effectLst/>
                <a:latin typeface="Consolas" panose="020B0609020204030204" pitchFamily="49" charset="0"/>
              </a:rPr>
              <a:t>&amp;</a:t>
            </a:r>
            <a:r>
              <a:rPr lang="en-US" sz="1000" b="0" dirty="0" err="1">
                <a:solidFill>
                  <a:srgbClr val="DCDCAA"/>
                </a:solidFill>
                <a:effectLst/>
                <a:latin typeface="Consolas" panose="020B0609020204030204" pitchFamily="49" charset="0"/>
              </a:rPr>
              <a:t>defaultInstance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569CD6"/>
                </a:solidFill>
                <a:effectLst/>
                <a:latin typeface="Consolas" panose="020B0609020204030204" pitchFamily="49" charset="0"/>
              </a:rPr>
              <a:t> </a:t>
            </a:r>
            <a:r>
              <a:rPr lang="en-US" sz="1000" b="0" dirty="0">
                <a:solidFill>
                  <a:srgbClr val="D4D4D4"/>
                </a:solidFill>
                <a:effectLst/>
                <a:latin typeface="Consolas" panose="020B0609020204030204" pitchFamily="49" charset="0"/>
              </a:rPr>
              <a:t>&amp;</a:t>
            </a:r>
            <a:r>
              <a:rPr lang="en-US" sz="1000" b="0" dirty="0" err="1">
                <a:solidFill>
                  <a:srgbClr val="569CD6"/>
                </a:solidFill>
                <a:effectLst/>
                <a:latin typeface="Consolas" panose="020B0609020204030204" pitchFamily="49" charset="0"/>
              </a:rPr>
              <a:t>instancePtr</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endParaRPr lang="en-US" sz="1000" b="0" dirty="0">
              <a:solidFill>
                <a:srgbClr val="D4D4D4"/>
              </a:solidFill>
              <a:effectLst/>
              <a:latin typeface="Consolas" panose="020B0609020204030204" pitchFamily="49" charset="0"/>
            </a:endParaRPr>
          </a:p>
          <a:p>
            <a:pPr>
              <a:lnSpc>
                <a:spcPts val="1425"/>
              </a:lnSpc>
              <a:buNone/>
            </a:pPr>
            <a:endParaRPr lang="en-US" sz="1000" b="0" dirty="0">
              <a:solidFill>
                <a:srgbClr val="D4D4D4"/>
              </a:solidFill>
              <a:effectLst/>
              <a:latin typeface="Consolas" panose="020B0609020204030204" pitchFamily="49" charset="0"/>
            </a:endParaRPr>
          </a:p>
        </p:txBody>
      </p:sp>
      <p:sp>
        <p:nvSpPr>
          <p:cNvPr id="8" name="Text 4">
            <a:extLst>
              <a:ext uri="{FF2B5EF4-FFF2-40B4-BE49-F238E27FC236}">
                <a16:creationId xmlns:a16="http://schemas.microsoft.com/office/drawing/2014/main" id="{0E9FEDF7-CA8B-DC94-FFD9-1A6D4AFD3893}"/>
              </a:ext>
            </a:extLst>
          </p:cNvPr>
          <p:cNvSpPr/>
          <p:nvPr/>
        </p:nvSpPr>
        <p:spPr>
          <a:xfrm>
            <a:off x="4905955" y="850392"/>
            <a:ext cx="4009445" cy="4037076"/>
          </a:xfrm>
          <a:prstGeom prst="rect">
            <a:avLst/>
          </a:prstGeom>
          <a:noFill/>
          <a:ln/>
        </p:spPr>
        <p:txBody>
          <a:bodyPr wrap="square" rtlCol="0" anchor="t"/>
          <a:lstStyle/>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Now this works but at what cost?</a:t>
            </a:r>
          </a:p>
          <a:p>
            <a:pPr marL="342900" indent="-342900">
              <a:spcAft>
                <a:spcPts val="600"/>
              </a:spcAft>
              <a:buSzPct val="100000"/>
              <a:buFontTx/>
              <a:buChar char="•"/>
            </a:pPr>
            <a:r>
              <a:rPr lang="en-US" sz="1600" dirty="0" err="1">
                <a:solidFill>
                  <a:srgbClr val="1E3A5F"/>
                </a:solidFill>
                <a:latin typeface="Calibri" pitchFamily="34" charset="0"/>
                <a:ea typeface="Calibri" pitchFamily="34" charset="-122"/>
                <a:cs typeface="Calibri" pitchFamily="34" charset="-120"/>
              </a:rPr>
              <a:t>SingletonBase</a:t>
            </a:r>
            <a:r>
              <a:rPr lang="en-US" sz="1600" dirty="0">
                <a:solidFill>
                  <a:srgbClr val="1E3A5F"/>
                </a:solidFill>
                <a:latin typeface="Calibri" pitchFamily="34" charset="0"/>
                <a:ea typeface="Calibri" pitchFamily="34" charset="-122"/>
                <a:cs typeface="Calibri" pitchFamily="34" charset="-120"/>
              </a:rPr>
              <a:t> doesn’t have </a:t>
            </a: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as part of its protected API anymore</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If these macros were used in a class they will break the access modifier that it was used in. We can make sure that it sets the access modifier to private after defining the </a:t>
            </a: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function, but this is brittle</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Although our recommendation is to use these macros in the private section of the class, we don’t want this to be a hard rule, We need to give freedom to users to use these macros in the public or protected sections if they needed to</a:t>
            </a:r>
          </a:p>
        </p:txBody>
      </p:sp>
    </p:spTree>
    <p:extLst>
      <p:ext uri="{BB962C8B-B14F-4D97-AF65-F5344CB8AC3E}">
        <p14:creationId xmlns:p14="http://schemas.microsoft.com/office/powerpoint/2010/main" val="29796252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3C448-82DE-57E2-7CBB-8B51FB8E13B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EC631B9-E883-088C-1AB7-27A857A31763}"/>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2F3776A6-400E-63CF-BB5C-C70F8689FABB}"/>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9571FA3F-BF9A-D0CE-811D-DF918918B50C}"/>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Cross-Library Boundary Macros (Improved)</a:t>
            </a:r>
            <a:endParaRPr lang="en-US" sz="1900" strike="sngStrike" dirty="0"/>
          </a:p>
        </p:txBody>
      </p:sp>
      <p:sp>
        <p:nvSpPr>
          <p:cNvPr id="6" name="Text 6">
            <a:extLst>
              <a:ext uri="{FF2B5EF4-FFF2-40B4-BE49-F238E27FC236}">
                <a16:creationId xmlns:a16="http://schemas.microsoft.com/office/drawing/2014/main" id="{1C1D08FC-AB5C-97B3-AEA6-93E8A7069F78}"/>
              </a:ext>
            </a:extLst>
          </p:cNvPr>
          <p:cNvSpPr/>
          <p:nvPr/>
        </p:nvSpPr>
        <p:spPr>
          <a:xfrm>
            <a:off x="292606" y="731520"/>
            <a:ext cx="4820083" cy="4110228"/>
          </a:xfrm>
          <a:prstGeom prst="rect">
            <a:avLst/>
          </a:prstGeom>
          <a:solidFill>
            <a:srgbClr val="0D1117"/>
          </a:solidFill>
          <a:ln/>
        </p:spPr>
        <p:txBody>
          <a:bodyPr wrap="square" lIns="182880" tIns="91440" rIns="182880" bIns="91440" rtlCol="0" anchor="t"/>
          <a:lstStyle/>
          <a:p>
            <a:pPr>
              <a:lnSpc>
                <a:spcPts val="1425"/>
              </a:lnSpc>
              <a:buNone/>
            </a:pPr>
            <a:r>
              <a:rPr lang="en-US" sz="1000" b="0" dirty="0">
                <a:solidFill>
                  <a:srgbClr val="C586C0"/>
                </a:solidFill>
                <a:effectLst/>
                <a:latin typeface="Consolas" panose="020B0609020204030204" pitchFamily="49" charset="0"/>
              </a:rPr>
              <a:t>#define</a:t>
            </a:r>
            <a:r>
              <a:rPr lang="en-US" sz="1000" b="0" dirty="0">
                <a:solidFill>
                  <a:srgbClr val="569CD6"/>
                </a:solidFill>
                <a:effectLst/>
                <a:latin typeface="Consolas" panose="020B0609020204030204" pitchFamily="49" charset="0"/>
              </a:rPr>
              <a:t> PM_SINGLETON(</a:t>
            </a:r>
            <a:r>
              <a:rPr lang="en-US" sz="1000" b="0" dirty="0">
                <a:solidFill>
                  <a:srgbClr val="9CDCFE"/>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err="1">
                <a:solidFill>
                  <a:srgbClr val="4EC9B0"/>
                </a:solidFill>
                <a:effectLst/>
                <a:latin typeface="Consolas" panose="020B0609020204030204" pitchFamily="49" charset="0"/>
              </a:rPr>
              <a:t>SingletonBase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err="1">
                <a:solidFill>
                  <a:srgbClr val="4EC9B0"/>
                </a:solidFill>
                <a:effectLst/>
                <a:latin typeface="Consolas" panose="020B0609020204030204" pitchFamily="49" charset="0"/>
              </a:rPr>
              <a:t>ScopedSingletonState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C586C0"/>
                </a:solidFill>
                <a:effectLst/>
                <a:latin typeface="Consolas" panose="020B0609020204030204" pitchFamily="49" charset="0"/>
              </a:rPr>
              <a:t>#define</a:t>
            </a:r>
            <a:r>
              <a:rPr lang="en-US" sz="1000" b="0" dirty="0">
                <a:solidFill>
                  <a:srgbClr val="569CD6"/>
                </a:solidFill>
                <a:effectLst/>
                <a:latin typeface="Consolas" panose="020B0609020204030204" pitchFamily="49" charset="0"/>
              </a:rPr>
              <a:t> PM_SINGLETON_SAFE_HEADER(</a:t>
            </a:r>
            <a:r>
              <a:rPr lang="en-US" sz="1000" b="0" dirty="0">
                <a:solidFill>
                  <a:srgbClr val="9CDCFE"/>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err="1">
                <a:solidFill>
                  <a:srgbClr val="4EC9B0"/>
                </a:solidFill>
                <a:effectLst/>
                <a:latin typeface="Consolas" panose="020B0609020204030204" pitchFamily="49" charset="0"/>
              </a:rPr>
              <a:t>SingletonBase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friend class </a:t>
            </a:r>
            <a:r>
              <a:rPr lang="en-US" sz="1000" b="0" dirty="0" err="1">
                <a:solidFill>
                  <a:srgbClr val="4EC9B0"/>
                </a:solidFill>
                <a:effectLst/>
                <a:latin typeface="Consolas" panose="020B0609020204030204" pitchFamily="49" charset="0"/>
              </a:rPr>
              <a:t>ScopedSingletonState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static </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instanceRef_impl</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C586C0"/>
                </a:solidFill>
                <a:effectLst/>
                <a:latin typeface="Consolas" panose="020B0609020204030204" pitchFamily="49" charset="0"/>
              </a:rPr>
              <a:t>#define</a:t>
            </a:r>
            <a:r>
              <a:rPr lang="en-US" sz="1000" b="0" dirty="0">
                <a:solidFill>
                  <a:srgbClr val="569CD6"/>
                </a:solidFill>
                <a:effectLst/>
                <a:latin typeface="Consolas" panose="020B0609020204030204" pitchFamily="49" charset="0"/>
              </a:rPr>
              <a:t> PM_SINGLETON_SAFE_SOURCE(</a:t>
            </a:r>
            <a:r>
              <a:rPr lang="en-US" sz="1000" b="0" dirty="0">
                <a:solidFill>
                  <a:srgbClr val="9CDCFE"/>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 **</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instanceRef</a:t>
            </a:r>
            <a:r>
              <a:rPr lang="en-US" sz="1000" dirty="0" err="1">
                <a:solidFill>
                  <a:srgbClr val="DCDCAA"/>
                </a:solidFill>
                <a:latin typeface="Consolas" panose="020B0609020204030204" pitchFamily="49" charset="0"/>
              </a:rPr>
              <a:t>_impl</a:t>
            </a:r>
            <a:r>
              <a:rPr lang="en-US" sz="1000" b="0" dirty="0">
                <a:solidFill>
                  <a:srgbClr val="569CD6"/>
                </a:solidFill>
                <a:effectLst/>
                <a:latin typeface="Consolas" panose="020B0609020204030204" pitchFamily="49" charset="0"/>
              </a:rPr>
              <a:t>() {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569CD6"/>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SingletonBase</a:t>
            </a:r>
            <a:r>
              <a:rPr lang="en-US" sz="1000" b="0" dirty="0">
                <a:solidFill>
                  <a:srgbClr val="569CD6"/>
                </a:solidFill>
                <a:effectLst/>
                <a:latin typeface="Consolas" panose="020B0609020204030204" pitchFamily="49" charset="0"/>
              </a:rPr>
              <a:t>&lt;</a:t>
            </a:r>
            <a:r>
              <a:rPr lang="en-US" sz="1000" b="0" dirty="0">
                <a:solidFill>
                  <a:srgbClr val="4EC9B0"/>
                </a:solidFill>
                <a:effectLst/>
                <a:latin typeface="Consolas" panose="020B0609020204030204" pitchFamily="49" charset="0"/>
              </a:rPr>
              <a:t>CLASS_NAME</a:t>
            </a:r>
            <a:r>
              <a:rPr lang="en-US" sz="1000" b="0" dirty="0">
                <a:solidFill>
                  <a:srgbClr val="569CD6"/>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instanceRef_impl</a:t>
            </a:r>
            <a:r>
              <a:rPr lang="en-US" sz="1000" b="0" dirty="0">
                <a:solidFill>
                  <a:srgbClr val="569CD6"/>
                </a:solidFill>
                <a:effectLst/>
                <a:latin typeface="Consolas" panose="020B0609020204030204" pitchFamily="49" charset="0"/>
              </a:rPr>
              <a:t>(); </a:t>
            </a:r>
            <a:r>
              <a:rPr lang="en-US" sz="1000" b="0" dirty="0">
                <a:solidFill>
                  <a:srgbClr val="D7BA7D"/>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569CD6"/>
                </a:solidFill>
                <a:effectLst/>
                <a:latin typeface="Consolas" panose="020B0609020204030204" pitchFamily="49" charset="0"/>
              </a:rPr>
              <a:t>    }</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instanceRef_impl</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static</a:t>
            </a:r>
            <a:r>
              <a:rPr lang="en-US" sz="1000" b="0" dirty="0">
                <a:solidFill>
                  <a:srgbClr val="D4D4D4"/>
                </a:solidFill>
                <a:effectLst/>
                <a:latin typeface="Consolas" panose="020B0609020204030204" pitchFamily="49" charset="0"/>
              </a:rPr>
              <a:t> T *</a:t>
            </a:r>
            <a:r>
              <a:rPr lang="en-US" sz="1000" b="0" dirty="0" err="1">
                <a:solidFill>
                  <a:srgbClr val="D4D4D4"/>
                </a:solidFill>
                <a:effectLst/>
                <a:latin typeface="Consolas" panose="020B0609020204030204" pitchFamily="49" charset="0"/>
              </a:rPr>
              <a:t>instancePtr</a:t>
            </a:r>
            <a:r>
              <a:rPr lang="en-US" sz="1000" b="0" dirty="0">
                <a:solidFill>
                  <a:srgbClr val="D4D4D4"/>
                </a:solidFill>
                <a:effectLst/>
                <a:latin typeface="Consolas" panose="020B0609020204030204" pitchFamily="49" charset="0"/>
              </a:rPr>
              <a:t> = &amp;</a:t>
            </a:r>
            <a:r>
              <a:rPr lang="en-US" sz="1000" b="0" dirty="0" err="1">
                <a:solidFill>
                  <a:srgbClr val="DCDCAA"/>
                </a:solidFill>
                <a:effectLst/>
                <a:latin typeface="Consolas" panose="020B0609020204030204" pitchFamily="49" charset="0"/>
              </a:rPr>
              <a:t>defaultInstance</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&amp;</a:t>
            </a:r>
            <a:r>
              <a:rPr lang="en-US" sz="1000" b="0" dirty="0" err="1">
                <a:solidFill>
                  <a:srgbClr val="D4D4D4"/>
                </a:solidFill>
                <a:effectLst/>
                <a:latin typeface="Consolas" panose="020B0609020204030204" pitchFamily="49" charset="0"/>
              </a:rPr>
              <a:t>instancePtr</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a:p>
            <a:pPr>
              <a:lnSpc>
                <a:spcPts val="1425"/>
              </a:lnSpc>
              <a:buNone/>
            </a:pPr>
            <a:r>
              <a:rPr lang="en-US" sz="1000" dirty="0">
                <a:solidFill>
                  <a:srgbClr val="4EC9B0"/>
                </a:solidFill>
                <a:latin typeface="Consolas" panose="020B0609020204030204" pitchFamily="49" charset="0"/>
              </a:rPr>
              <a:t>T</a:t>
            </a:r>
            <a:r>
              <a:rPr lang="en-US" sz="1000" dirty="0">
                <a:solidFill>
                  <a:srgbClr val="D4D4D4"/>
                </a:solidFill>
                <a:latin typeface="Consolas" panose="020B0609020204030204" pitchFamily="49" charset="0"/>
              </a:rPr>
              <a:t> </a:t>
            </a:r>
            <a:r>
              <a:rPr lang="en-US" sz="1000" dirty="0">
                <a:solidFill>
                  <a:srgbClr val="569CD6"/>
                </a:solidFill>
                <a:latin typeface="Consolas" panose="020B0609020204030204" pitchFamily="49" charset="0"/>
              </a:rPr>
              <a:t>**</a:t>
            </a:r>
            <a:r>
              <a:rPr lang="en-US" sz="1000" b="0" dirty="0" err="1">
                <a:solidFill>
                  <a:srgbClr val="4EC9B0"/>
                </a:solidFill>
                <a:effectLst/>
                <a:latin typeface="Consolas" panose="020B0609020204030204" pitchFamily="49" charset="0"/>
              </a:rPr>
              <a:t>SingletonBase</a:t>
            </a:r>
            <a:r>
              <a:rPr lang="en-US" sz="1000" b="0" dirty="0">
                <a:solidFill>
                  <a:srgbClr val="D4D4D4"/>
                </a:solidFill>
                <a:effectLst/>
                <a:latin typeface="Consolas" panose="020B0609020204030204" pitchFamily="49" charset="0"/>
              </a:rPr>
              <a:t>&lt;</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&gt;::</a:t>
            </a:r>
            <a:r>
              <a:rPr lang="en-US" sz="1000" b="0" dirty="0" err="1">
                <a:solidFill>
                  <a:srgbClr val="DCDCAA"/>
                </a:solidFill>
                <a:effectLst/>
                <a:latin typeface="Consolas" panose="020B0609020204030204" pitchFamily="49" charset="0"/>
              </a:rPr>
              <a:t>instanceRef</a:t>
            </a:r>
            <a:r>
              <a:rPr lang="en-US" sz="1000" b="0" dirty="0">
                <a:solidFill>
                  <a:srgbClr val="D4D4D4"/>
                </a:solidFill>
                <a:effectLst/>
                <a:latin typeface="Consolas" panose="020B0609020204030204" pitchFamily="49" charset="0"/>
              </a:rPr>
              <a:t>() {</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T</a:t>
            </a:r>
            <a:r>
              <a:rPr lang="en-US" sz="1000" b="0" dirty="0">
                <a:solidFill>
                  <a:srgbClr val="D4D4D4"/>
                </a:solidFill>
                <a:effectLst/>
                <a:latin typeface="Consolas" panose="020B0609020204030204" pitchFamily="49" charset="0"/>
              </a:rPr>
              <a:t>::</a:t>
            </a:r>
            <a:r>
              <a:rPr lang="en-US" sz="1000" b="0" dirty="0">
                <a:solidFill>
                  <a:srgbClr val="DCDCAA"/>
                </a:solidFill>
                <a:effectLst/>
                <a:latin typeface="Consolas" panose="020B0609020204030204" pitchFamily="49" charset="0"/>
              </a:rPr>
              <a:t>instanceRef_impl</a:t>
            </a:r>
            <a:r>
              <a:rPr lang="en-US" sz="1000" b="0" dirty="0">
                <a:solidFill>
                  <a:srgbClr val="D4D4D4"/>
                </a:solidFill>
                <a:effectLst/>
                <a:latin typeface="Consolas" panose="020B0609020204030204" pitchFamily="49" charset="0"/>
              </a:rPr>
              <a:t>();</a:t>
            </a:r>
          </a:p>
          <a:p>
            <a:pPr>
              <a:lnSpc>
                <a:spcPts val="1425"/>
              </a:lnSpc>
              <a:buNone/>
            </a:pPr>
            <a:r>
              <a:rPr lang="en-US" sz="1000" b="0" dirty="0">
                <a:solidFill>
                  <a:srgbClr val="D4D4D4"/>
                </a:solidFill>
                <a:effectLst/>
                <a:latin typeface="Consolas" panose="020B0609020204030204" pitchFamily="49" charset="0"/>
              </a:rPr>
              <a:t>}</a:t>
            </a:r>
          </a:p>
          <a:p>
            <a:pPr>
              <a:lnSpc>
                <a:spcPts val="1425"/>
              </a:lnSpc>
              <a:buNone/>
            </a:pPr>
            <a:endParaRPr lang="en-US" sz="1000" b="0" dirty="0">
              <a:solidFill>
                <a:srgbClr val="D4D4D4"/>
              </a:solidFill>
              <a:effectLst/>
              <a:latin typeface="Consolas" panose="020B0609020204030204" pitchFamily="49" charset="0"/>
            </a:endParaRPr>
          </a:p>
        </p:txBody>
      </p:sp>
      <p:sp>
        <p:nvSpPr>
          <p:cNvPr id="8" name="Text 4">
            <a:extLst>
              <a:ext uri="{FF2B5EF4-FFF2-40B4-BE49-F238E27FC236}">
                <a16:creationId xmlns:a16="http://schemas.microsoft.com/office/drawing/2014/main" id="{21470DF1-403A-3CA3-C0B3-C5A6F071E14E}"/>
              </a:ext>
            </a:extLst>
          </p:cNvPr>
          <p:cNvSpPr/>
          <p:nvPr/>
        </p:nvSpPr>
        <p:spPr>
          <a:xfrm>
            <a:off x="5224007" y="731520"/>
            <a:ext cx="3691393" cy="4155948"/>
          </a:xfrm>
          <a:prstGeom prst="rect">
            <a:avLst/>
          </a:prstGeom>
          <a:noFill/>
          <a:ln/>
        </p:spPr>
        <p:txBody>
          <a:bodyPr wrap="square" rtlCol="0" anchor="t"/>
          <a:lstStyle/>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We can do something much cleaner</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We can introduce an </a:t>
            </a:r>
            <a:r>
              <a:rPr lang="en-US" sz="1600" dirty="0" err="1">
                <a:solidFill>
                  <a:srgbClr val="1E3A5F"/>
                </a:solidFill>
                <a:latin typeface="Calibri" pitchFamily="34" charset="0"/>
                <a:ea typeface="Calibri" pitchFamily="34" charset="-122"/>
                <a:cs typeface="Calibri" pitchFamily="34" charset="-120"/>
              </a:rPr>
              <a:t>instanceRef_impl</a:t>
            </a:r>
            <a:r>
              <a:rPr lang="en-US" sz="1600" dirty="0">
                <a:solidFill>
                  <a:srgbClr val="1E3A5F"/>
                </a:solidFill>
                <a:latin typeface="Calibri" pitchFamily="34" charset="0"/>
                <a:ea typeface="Calibri" pitchFamily="34" charset="-122"/>
                <a:cs typeface="Calibri" pitchFamily="34" charset="-120"/>
              </a:rPr>
              <a:t>() function that contains the actual implementation for </a:t>
            </a: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inside </a:t>
            </a:r>
            <a:r>
              <a:rPr lang="en-US" sz="1600" dirty="0" err="1">
                <a:solidFill>
                  <a:srgbClr val="1E3A5F"/>
                </a:solidFill>
                <a:latin typeface="Calibri" pitchFamily="34" charset="0"/>
                <a:ea typeface="Calibri" pitchFamily="34" charset="-122"/>
                <a:cs typeface="Calibri" pitchFamily="34" charset="-120"/>
              </a:rPr>
              <a:t>SingletonBase</a:t>
            </a:r>
            <a:endParaRPr lang="en-US" sz="1600" dirty="0">
              <a:solidFill>
                <a:srgbClr val="1E3A5F"/>
              </a:solidFill>
              <a:latin typeface="Calibri" pitchFamily="34" charset="0"/>
              <a:ea typeface="Calibri" pitchFamily="34" charset="-122"/>
              <a:cs typeface="Calibri" pitchFamily="34" charset="-120"/>
            </a:endParaRP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Now </a:t>
            </a: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just calls T::instanceRef_impl()</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If the _SAFE macros were used, then they will define a new </a:t>
            </a:r>
            <a:r>
              <a:rPr lang="en-US" sz="1600" dirty="0" err="1">
                <a:solidFill>
                  <a:srgbClr val="1E3A5F"/>
                </a:solidFill>
                <a:latin typeface="Calibri" pitchFamily="34" charset="0"/>
                <a:ea typeface="Calibri" pitchFamily="34" charset="-122"/>
                <a:cs typeface="Calibri" pitchFamily="34" charset="-120"/>
              </a:rPr>
              <a:t>instanceRef_impl</a:t>
            </a:r>
            <a:r>
              <a:rPr lang="en-US" sz="1600" dirty="0">
                <a:solidFill>
                  <a:srgbClr val="1E3A5F"/>
                </a:solidFill>
                <a:latin typeface="Calibri" pitchFamily="34" charset="0"/>
                <a:ea typeface="Calibri" pitchFamily="34" charset="-122"/>
                <a:cs typeface="Calibri" pitchFamily="34" charset="-120"/>
              </a:rPr>
              <a:t>() for T and </a:t>
            </a: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will use it</a:t>
            </a:r>
          </a:p>
          <a:p>
            <a:pPr marL="342900"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If PM_SINGLETON was used, then </a:t>
            </a:r>
            <a:r>
              <a:rPr lang="en-US" sz="1600" dirty="0" err="1">
                <a:solidFill>
                  <a:srgbClr val="1E3A5F"/>
                </a:solidFill>
                <a:latin typeface="Calibri" pitchFamily="34" charset="0"/>
                <a:ea typeface="Calibri" pitchFamily="34" charset="-122"/>
                <a:cs typeface="Calibri" pitchFamily="34" charset="-120"/>
              </a:rPr>
              <a:t>instanceRef</a:t>
            </a:r>
            <a:r>
              <a:rPr lang="en-US" sz="1600" dirty="0">
                <a:solidFill>
                  <a:srgbClr val="1E3A5F"/>
                </a:solidFill>
                <a:latin typeface="Calibri" pitchFamily="34" charset="0"/>
                <a:ea typeface="Calibri" pitchFamily="34" charset="-122"/>
                <a:cs typeface="Calibri" pitchFamily="34" charset="-120"/>
              </a:rPr>
              <a:t>() will use </a:t>
            </a:r>
            <a:r>
              <a:rPr lang="en-US" sz="1600" dirty="0" err="1">
                <a:solidFill>
                  <a:srgbClr val="1E3A5F"/>
                </a:solidFill>
                <a:latin typeface="Calibri" pitchFamily="34" charset="0"/>
                <a:ea typeface="Calibri" pitchFamily="34" charset="-122"/>
                <a:cs typeface="Calibri" pitchFamily="34" charset="-120"/>
              </a:rPr>
              <a:t>thedefault</a:t>
            </a:r>
            <a:r>
              <a:rPr lang="en-US" sz="1600" dirty="0">
                <a:solidFill>
                  <a:srgbClr val="1E3A5F"/>
                </a:solidFill>
                <a:latin typeface="Calibri" pitchFamily="34" charset="0"/>
                <a:ea typeface="Calibri" pitchFamily="34" charset="-122"/>
                <a:cs typeface="Calibri" pitchFamily="34" charset="-120"/>
              </a:rPr>
              <a:t> implementation in </a:t>
            </a:r>
            <a:r>
              <a:rPr lang="en-US" sz="1600" dirty="0" err="1">
                <a:solidFill>
                  <a:srgbClr val="1E3A5F"/>
                </a:solidFill>
                <a:latin typeface="Calibri" pitchFamily="34" charset="0"/>
                <a:ea typeface="Calibri" pitchFamily="34" charset="-122"/>
                <a:cs typeface="Calibri" pitchFamily="34" charset="-120"/>
              </a:rPr>
              <a:t>SingletonBase</a:t>
            </a:r>
            <a:r>
              <a:rPr lang="en-US" sz="1600" dirty="0">
                <a:solidFill>
                  <a:srgbClr val="1E3A5F"/>
                </a:solidFill>
                <a:latin typeface="Calibri" pitchFamily="34" charset="0"/>
                <a:ea typeface="Calibri" pitchFamily="34" charset="-122"/>
                <a:cs typeface="Calibri" pitchFamily="34" charset="-120"/>
              </a:rPr>
              <a:t>::</a:t>
            </a:r>
            <a:r>
              <a:rPr lang="en-US" sz="1600" dirty="0" err="1">
                <a:solidFill>
                  <a:srgbClr val="1E3A5F"/>
                </a:solidFill>
                <a:latin typeface="Calibri" pitchFamily="34" charset="0"/>
                <a:ea typeface="Calibri" pitchFamily="34" charset="-122"/>
                <a:cs typeface="Calibri" pitchFamily="34" charset="-120"/>
              </a:rPr>
              <a:t>instanceRef_impl</a:t>
            </a:r>
            <a:r>
              <a:rPr lang="en-US" sz="1600" dirty="0">
                <a:solidFill>
                  <a:srgbClr val="1E3A5F"/>
                </a:solidFill>
                <a:latin typeface="Calibri" pitchFamily="34" charset="0"/>
                <a:ea typeface="Calibri" pitchFamily="34" charset="-122"/>
                <a:cs typeface="Calibri" pitchFamily="34" charset="-120"/>
              </a:rPr>
              <a:t>()</a:t>
            </a:r>
          </a:p>
        </p:txBody>
      </p:sp>
    </p:spTree>
    <p:extLst>
      <p:ext uri="{BB962C8B-B14F-4D97-AF65-F5344CB8AC3E}">
        <p14:creationId xmlns:p14="http://schemas.microsoft.com/office/powerpoint/2010/main" val="199142654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2E294-7EAF-704D-227E-43DD592B1D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D990E66-69D4-751C-D0ED-7F5243CC1EA5}"/>
              </a:ext>
            </a:extLst>
          </p:cNvPr>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DFDEA720-CB73-9A19-A00D-A2D8551CD895}"/>
              </a:ext>
            </a:extLst>
          </p:cNvPr>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EF19ACED-7F06-1D0E-6760-047059316545}"/>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Cross-Library Boundary Macros (Improved)</a:t>
            </a:r>
            <a:endParaRPr lang="en-US" sz="1900" strike="sngStrike" dirty="0"/>
          </a:p>
        </p:txBody>
      </p:sp>
      <p:cxnSp>
        <p:nvCxnSpPr>
          <p:cNvPr id="14" name="Straight Connector 13">
            <a:extLst>
              <a:ext uri="{FF2B5EF4-FFF2-40B4-BE49-F238E27FC236}">
                <a16:creationId xmlns:a16="http://schemas.microsoft.com/office/drawing/2014/main" id="{3B8E9F45-2720-5CFA-78D3-9D8779C398C6}"/>
              </a:ext>
            </a:extLst>
          </p:cNvPr>
          <p:cNvCxnSpPr>
            <a:cxnSpLocks/>
          </p:cNvCxnSpPr>
          <p:nvPr/>
        </p:nvCxnSpPr>
        <p:spPr>
          <a:xfrm>
            <a:off x="4572000" y="681372"/>
            <a:ext cx="0" cy="4065558"/>
          </a:xfrm>
          <a:prstGeom prst="line">
            <a:avLst/>
          </a:prstGeom>
          <a:ln w="19050">
            <a:solidFill>
              <a:srgbClr val="1E3A5F"/>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97F0AC6-AB0B-DF88-1221-0453E1823ADE}"/>
              </a:ext>
            </a:extLst>
          </p:cNvPr>
          <p:cNvSpPr txBox="1"/>
          <p:nvPr/>
        </p:nvSpPr>
        <p:spPr>
          <a:xfrm>
            <a:off x="316065" y="631097"/>
            <a:ext cx="941283" cy="369332"/>
          </a:xfrm>
          <a:prstGeom prst="rect">
            <a:avLst/>
          </a:prstGeom>
          <a:noFill/>
        </p:spPr>
        <p:txBody>
          <a:bodyPr wrap="none" rtlCol="0">
            <a:spAutoFit/>
          </a:bodyPr>
          <a:lstStyle/>
          <a:p>
            <a:r>
              <a:rPr lang="en-US" dirty="0">
                <a:latin typeface="Georgia" panose="02040502050405020303" pitchFamily="18" charset="0"/>
                <a:cs typeface="Gautami" panose="020B0502040204020203" pitchFamily="34" charset="0"/>
              </a:rPr>
              <a:t>Default</a:t>
            </a:r>
          </a:p>
        </p:txBody>
      </p:sp>
      <p:sp>
        <p:nvSpPr>
          <p:cNvPr id="16" name="TextBox 15">
            <a:extLst>
              <a:ext uri="{FF2B5EF4-FFF2-40B4-BE49-F238E27FC236}">
                <a16:creationId xmlns:a16="http://schemas.microsoft.com/office/drawing/2014/main" id="{535DF9E8-510C-982F-9BFB-40AAFB74F416}"/>
              </a:ext>
            </a:extLst>
          </p:cNvPr>
          <p:cNvSpPr txBox="1"/>
          <p:nvPr/>
        </p:nvSpPr>
        <p:spPr>
          <a:xfrm>
            <a:off x="4940196" y="631097"/>
            <a:ext cx="2112607" cy="369332"/>
          </a:xfrm>
          <a:prstGeom prst="rect">
            <a:avLst/>
          </a:prstGeom>
          <a:noFill/>
        </p:spPr>
        <p:txBody>
          <a:bodyPr wrap="square" rtlCol="0">
            <a:spAutoFit/>
          </a:bodyPr>
          <a:lstStyle/>
          <a:p>
            <a:r>
              <a:rPr lang="en-US" dirty="0">
                <a:latin typeface="Georgia" panose="02040502050405020303" pitchFamily="18" charset="0"/>
              </a:rPr>
              <a:t>SAFE macros used</a:t>
            </a:r>
          </a:p>
        </p:txBody>
      </p:sp>
      <p:grpSp>
        <p:nvGrpSpPr>
          <p:cNvPr id="69" name="Group 68">
            <a:extLst>
              <a:ext uri="{FF2B5EF4-FFF2-40B4-BE49-F238E27FC236}">
                <a16:creationId xmlns:a16="http://schemas.microsoft.com/office/drawing/2014/main" id="{F80BDE19-AD10-7C75-66D7-0BEDCAF6A6DD}"/>
              </a:ext>
            </a:extLst>
          </p:cNvPr>
          <p:cNvGrpSpPr/>
          <p:nvPr/>
        </p:nvGrpSpPr>
        <p:grpSpPr>
          <a:xfrm>
            <a:off x="242517" y="1385367"/>
            <a:ext cx="4104360" cy="829513"/>
            <a:chOff x="316065" y="1397120"/>
            <a:chExt cx="4104360" cy="829513"/>
          </a:xfrm>
        </p:grpSpPr>
        <p:sp>
          <p:nvSpPr>
            <p:cNvPr id="12" name="Rectangle 11">
              <a:extLst>
                <a:ext uri="{FF2B5EF4-FFF2-40B4-BE49-F238E27FC236}">
                  <a16:creationId xmlns:a16="http://schemas.microsoft.com/office/drawing/2014/main" id="{811E2271-C5C3-0A04-C8D9-92C630D3EE3F}"/>
                </a:ext>
              </a:extLst>
            </p:cNvPr>
            <p:cNvSpPr/>
            <p:nvPr/>
          </p:nvSpPr>
          <p:spPr>
            <a:xfrm>
              <a:off x="316065" y="1397120"/>
              <a:ext cx="1465023" cy="829513"/>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400" dirty="0" err="1"/>
                <a:t>XRayMachine</a:t>
              </a:r>
              <a:endParaRPr lang="en-US" sz="1400" dirty="0"/>
            </a:p>
          </p:txBody>
        </p:sp>
        <p:sp>
          <p:nvSpPr>
            <p:cNvPr id="13" name="Rectangle 12">
              <a:extLst>
                <a:ext uri="{FF2B5EF4-FFF2-40B4-BE49-F238E27FC236}">
                  <a16:creationId xmlns:a16="http://schemas.microsoft.com/office/drawing/2014/main" id="{2BC15D0C-5152-BA0B-4163-3C1B8027E628}"/>
                </a:ext>
              </a:extLst>
            </p:cNvPr>
            <p:cNvSpPr/>
            <p:nvPr/>
          </p:nvSpPr>
          <p:spPr>
            <a:xfrm>
              <a:off x="443281" y="1786458"/>
              <a:ext cx="1210590" cy="3312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InstanceRef</a:t>
              </a:r>
              <a:r>
                <a:rPr lang="en-US" sz="1400" dirty="0"/>
                <a:t>()</a:t>
              </a:r>
            </a:p>
          </p:txBody>
        </p:sp>
        <p:sp>
          <p:nvSpPr>
            <p:cNvPr id="17" name="Rectangle 16">
              <a:extLst>
                <a:ext uri="{FF2B5EF4-FFF2-40B4-BE49-F238E27FC236}">
                  <a16:creationId xmlns:a16="http://schemas.microsoft.com/office/drawing/2014/main" id="{CDE675C0-9FA1-5891-2153-358E8725A1F9}"/>
                </a:ext>
              </a:extLst>
            </p:cNvPr>
            <p:cNvSpPr/>
            <p:nvPr/>
          </p:nvSpPr>
          <p:spPr>
            <a:xfrm>
              <a:off x="1953535" y="1397120"/>
              <a:ext cx="2466890" cy="829513"/>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400" dirty="0" err="1"/>
                <a:t>SingletonBase</a:t>
              </a:r>
              <a:r>
                <a:rPr lang="en-US" sz="1400" dirty="0"/>
                <a:t>&lt;</a:t>
              </a:r>
              <a:r>
                <a:rPr lang="en-US" sz="1400" dirty="0" err="1"/>
                <a:t>XRayMachine</a:t>
              </a:r>
              <a:r>
                <a:rPr lang="en-US" sz="1400" dirty="0"/>
                <a:t>&gt;</a:t>
              </a:r>
            </a:p>
          </p:txBody>
        </p:sp>
        <p:sp>
          <p:nvSpPr>
            <p:cNvPr id="18" name="Rectangle 17">
              <a:extLst>
                <a:ext uri="{FF2B5EF4-FFF2-40B4-BE49-F238E27FC236}">
                  <a16:creationId xmlns:a16="http://schemas.microsoft.com/office/drawing/2014/main" id="{055CD2D5-522C-3BF0-2701-C536064AE49D}"/>
                </a:ext>
              </a:extLst>
            </p:cNvPr>
            <p:cNvSpPr/>
            <p:nvPr/>
          </p:nvSpPr>
          <p:spPr>
            <a:xfrm>
              <a:off x="2367909" y="1786457"/>
              <a:ext cx="1631193" cy="3312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InstanceRef_impl</a:t>
              </a:r>
              <a:r>
                <a:rPr lang="en-US" sz="1400" dirty="0"/>
                <a:t>()</a:t>
              </a:r>
            </a:p>
          </p:txBody>
        </p:sp>
        <p:cxnSp>
          <p:nvCxnSpPr>
            <p:cNvPr id="24" name="Straight Arrow Connector 23">
              <a:extLst>
                <a:ext uri="{FF2B5EF4-FFF2-40B4-BE49-F238E27FC236}">
                  <a16:creationId xmlns:a16="http://schemas.microsoft.com/office/drawing/2014/main" id="{9CDA1141-3ECD-20F1-2FE4-1A71B252CF56}"/>
                </a:ext>
              </a:extLst>
            </p:cNvPr>
            <p:cNvCxnSpPr>
              <a:cxnSpLocks/>
              <a:stCxn id="13" idx="3"/>
              <a:endCxn id="18" idx="1"/>
            </p:cNvCxnSpPr>
            <p:nvPr/>
          </p:nvCxnSpPr>
          <p:spPr>
            <a:xfrm flipV="1">
              <a:off x="1653871" y="1952061"/>
              <a:ext cx="714038" cy="1"/>
            </a:xfrm>
            <a:prstGeom prst="straightConnector1">
              <a:avLst/>
            </a:prstGeom>
            <a:ln w="12700">
              <a:solidFill>
                <a:schemeClr val="tx1"/>
              </a:solidFill>
              <a:prstDash val="solid"/>
              <a:tailEnd type="triangle"/>
            </a:ln>
          </p:spPr>
          <p:style>
            <a:lnRef idx="1">
              <a:schemeClr val="dk1"/>
            </a:lnRef>
            <a:fillRef idx="0">
              <a:schemeClr val="dk1"/>
            </a:fillRef>
            <a:effectRef idx="0">
              <a:schemeClr val="dk1"/>
            </a:effectRef>
            <a:fontRef idx="minor">
              <a:schemeClr val="tx1"/>
            </a:fontRef>
          </p:style>
        </p:cxnSp>
      </p:grpSp>
      <p:grpSp>
        <p:nvGrpSpPr>
          <p:cNvPr id="70" name="Group 69">
            <a:extLst>
              <a:ext uri="{FF2B5EF4-FFF2-40B4-BE49-F238E27FC236}">
                <a16:creationId xmlns:a16="http://schemas.microsoft.com/office/drawing/2014/main" id="{EB6D9CD6-7477-B913-9BC0-5A12DD76B75B}"/>
              </a:ext>
            </a:extLst>
          </p:cNvPr>
          <p:cNvGrpSpPr/>
          <p:nvPr/>
        </p:nvGrpSpPr>
        <p:grpSpPr>
          <a:xfrm>
            <a:off x="4797124" y="1379569"/>
            <a:ext cx="4107837" cy="2632575"/>
            <a:chOff x="5030693" y="1376356"/>
            <a:chExt cx="4107837" cy="2632575"/>
          </a:xfrm>
        </p:grpSpPr>
        <p:sp>
          <p:nvSpPr>
            <p:cNvPr id="55" name="Rectangle 54">
              <a:extLst>
                <a:ext uri="{FF2B5EF4-FFF2-40B4-BE49-F238E27FC236}">
                  <a16:creationId xmlns:a16="http://schemas.microsoft.com/office/drawing/2014/main" id="{96208169-2100-6C45-CAFE-E24FF48180AE}"/>
                </a:ext>
              </a:extLst>
            </p:cNvPr>
            <p:cNvSpPr/>
            <p:nvPr/>
          </p:nvSpPr>
          <p:spPr>
            <a:xfrm>
              <a:off x="6671640" y="3179418"/>
              <a:ext cx="2466890" cy="829513"/>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400" dirty="0" err="1"/>
                <a:t>SingletonBase</a:t>
              </a:r>
              <a:r>
                <a:rPr lang="en-US" sz="1400" dirty="0"/>
                <a:t>&lt;</a:t>
              </a:r>
              <a:r>
                <a:rPr lang="en-US" sz="1400" dirty="0" err="1"/>
                <a:t>XRayMachine</a:t>
              </a:r>
              <a:r>
                <a:rPr lang="en-US" sz="1400" dirty="0"/>
                <a:t>&gt;</a:t>
              </a:r>
            </a:p>
          </p:txBody>
        </p:sp>
        <p:sp>
          <p:nvSpPr>
            <p:cNvPr id="56" name="Rectangle 55">
              <a:extLst>
                <a:ext uri="{FF2B5EF4-FFF2-40B4-BE49-F238E27FC236}">
                  <a16:creationId xmlns:a16="http://schemas.microsoft.com/office/drawing/2014/main" id="{7BC29964-05B9-E239-1346-7B9A974FA292}"/>
                </a:ext>
              </a:extLst>
            </p:cNvPr>
            <p:cNvSpPr/>
            <p:nvPr/>
          </p:nvSpPr>
          <p:spPr>
            <a:xfrm>
              <a:off x="7086014" y="3568755"/>
              <a:ext cx="1631193" cy="3312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InstanceRef_impl</a:t>
              </a:r>
              <a:r>
                <a:rPr lang="en-US" sz="1400" dirty="0"/>
                <a:t>()</a:t>
              </a:r>
            </a:p>
          </p:txBody>
        </p:sp>
        <p:sp>
          <p:nvSpPr>
            <p:cNvPr id="53" name="Rectangle 52">
              <a:extLst>
                <a:ext uri="{FF2B5EF4-FFF2-40B4-BE49-F238E27FC236}">
                  <a16:creationId xmlns:a16="http://schemas.microsoft.com/office/drawing/2014/main" id="{9CC51EF3-F5B3-C89C-BA81-0A61649F35B3}"/>
                </a:ext>
              </a:extLst>
            </p:cNvPr>
            <p:cNvSpPr/>
            <p:nvPr/>
          </p:nvSpPr>
          <p:spPr>
            <a:xfrm>
              <a:off x="5030693" y="1376356"/>
              <a:ext cx="1953038" cy="1380561"/>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400" dirty="0" err="1"/>
                <a:t>XRayMachine</a:t>
              </a:r>
              <a:endParaRPr lang="en-US" sz="1400" dirty="0"/>
            </a:p>
          </p:txBody>
        </p:sp>
        <p:sp>
          <p:nvSpPr>
            <p:cNvPr id="54" name="Rectangle 53">
              <a:extLst>
                <a:ext uri="{FF2B5EF4-FFF2-40B4-BE49-F238E27FC236}">
                  <a16:creationId xmlns:a16="http://schemas.microsoft.com/office/drawing/2014/main" id="{65389837-D855-3DAA-3416-C5ED60381EA0}"/>
                </a:ext>
              </a:extLst>
            </p:cNvPr>
            <p:cNvSpPr/>
            <p:nvPr/>
          </p:nvSpPr>
          <p:spPr>
            <a:xfrm>
              <a:off x="5401916" y="1765694"/>
              <a:ext cx="1210590" cy="3312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InstanceRef</a:t>
              </a:r>
              <a:r>
                <a:rPr lang="en-US" sz="1400" dirty="0"/>
                <a:t>()</a:t>
              </a:r>
            </a:p>
          </p:txBody>
        </p:sp>
        <p:cxnSp>
          <p:nvCxnSpPr>
            <p:cNvPr id="57" name="Straight Arrow Connector 56">
              <a:extLst>
                <a:ext uri="{FF2B5EF4-FFF2-40B4-BE49-F238E27FC236}">
                  <a16:creationId xmlns:a16="http://schemas.microsoft.com/office/drawing/2014/main" id="{97E4D039-1DEB-69F2-C5F0-B20D1CD0D427}"/>
                </a:ext>
              </a:extLst>
            </p:cNvPr>
            <p:cNvCxnSpPr>
              <a:cxnSpLocks/>
              <a:stCxn id="54" idx="2"/>
              <a:endCxn id="58" idx="0"/>
            </p:cNvCxnSpPr>
            <p:nvPr/>
          </p:nvCxnSpPr>
          <p:spPr>
            <a:xfrm>
              <a:off x="6007211" y="2096901"/>
              <a:ext cx="0" cy="223734"/>
            </a:xfrm>
            <a:prstGeom prst="straightConnector1">
              <a:avLst/>
            </a:prstGeom>
            <a:ln w="12700">
              <a:solidFill>
                <a:schemeClr val="tx1"/>
              </a:solidFill>
              <a:prstDash val="solid"/>
              <a:tailEnd type="triangle"/>
            </a:ln>
          </p:spPr>
          <p:style>
            <a:lnRef idx="1">
              <a:schemeClr val="dk1"/>
            </a:lnRef>
            <a:fillRef idx="0">
              <a:schemeClr val="dk1"/>
            </a:fillRef>
            <a:effectRef idx="0">
              <a:schemeClr val="dk1"/>
            </a:effectRef>
            <a:fontRef idx="minor">
              <a:schemeClr val="tx1"/>
            </a:fontRef>
          </p:style>
        </p:cxnSp>
        <p:sp>
          <p:nvSpPr>
            <p:cNvPr id="58" name="Rectangle 57">
              <a:extLst>
                <a:ext uri="{FF2B5EF4-FFF2-40B4-BE49-F238E27FC236}">
                  <a16:creationId xmlns:a16="http://schemas.microsoft.com/office/drawing/2014/main" id="{8D1959AE-96EC-C930-AE20-CBA27D2DAE9F}"/>
                </a:ext>
              </a:extLst>
            </p:cNvPr>
            <p:cNvSpPr/>
            <p:nvPr/>
          </p:nvSpPr>
          <p:spPr>
            <a:xfrm>
              <a:off x="5191614" y="2320635"/>
              <a:ext cx="1631193" cy="3312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InstanceRef_impl</a:t>
              </a:r>
              <a:r>
                <a:rPr lang="en-US" sz="1400" dirty="0"/>
                <a:t>()</a:t>
              </a:r>
            </a:p>
          </p:txBody>
        </p:sp>
        <p:cxnSp>
          <p:nvCxnSpPr>
            <p:cNvPr id="63" name="Connector: Elbow 62">
              <a:extLst>
                <a:ext uri="{FF2B5EF4-FFF2-40B4-BE49-F238E27FC236}">
                  <a16:creationId xmlns:a16="http://schemas.microsoft.com/office/drawing/2014/main" id="{CDBE8E3C-5D7C-AF5A-C859-360B8759EC32}"/>
                </a:ext>
              </a:extLst>
            </p:cNvPr>
            <p:cNvCxnSpPr>
              <a:cxnSpLocks/>
              <a:stCxn id="58" idx="2"/>
              <a:endCxn id="56" idx="1"/>
            </p:cNvCxnSpPr>
            <p:nvPr/>
          </p:nvCxnSpPr>
          <p:spPr>
            <a:xfrm rot="16200000" flipH="1">
              <a:off x="6005354" y="2653698"/>
              <a:ext cx="1082517" cy="1078803"/>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900423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0"/>
            <a:ext cx="8321040" cy="475488"/>
          </a:xfrm>
          <a:prstGeom prst="rect">
            <a:avLst/>
          </a:prstGeom>
          <a:noFill/>
          <a:ln/>
        </p:spPr>
        <p:txBody>
          <a:bodyPr wrap="square" lIns="0" tIns="0" rIns="0" bIns="0" rtlCol="0" anchor="ctr"/>
          <a:lstStyle/>
          <a:p>
            <a:pPr marL="0" indent="0">
              <a:buNone/>
            </a:pPr>
            <a:r>
              <a:rPr lang="en-US" sz="1900" b="1">
                <a:solidFill>
                  <a:srgbClr val="FFFFFF"/>
                </a:solidFill>
                <a:latin typeface="Georgia" pitchFamily="34" charset="0"/>
                <a:ea typeface="Georgia" pitchFamily="34" charset="-122"/>
                <a:cs typeface="Georgia" pitchFamily="34" charset="-120"/>
              </a:rPr>
              <a:t>Demo 3 — Cross-Library: When to Use Which Macro</a:t>
            </a:r>
            <a:endParaRPr lang="en-US" sz="1900"/>
          </a:p>
        </p:txBody>
      </p:sp>
      <p:sp>
        <p:nvSpPr>
          <p:cNvPr id="5" name="Text 3"/>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a:solidFill>
                  <a:srgbClr val="F59E0B"/>
                </a:solidFill>
                <a:latin typeface="Calibri" pitchFamily="34" charset="0"/>
                <a:ea typeface="Calibri" pitchFamily="34" charset="-122"/>
                <a:cs typeface="Calibri" pitchFamily="34" charset="-120"/>
              </a:rPr>
              <a:t>SECTION 06 · LIVE DEMOS</a:t>
            </a:r>
            <a:endParaRPr lang="en-US" sz="1000"/>
          </a:p>
        </p:txBody>
      </p:sp>
      <p:sp>
        <p:nvSpPr>
          <p:cNvPr id="6" name="Text 4"/>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Standard PM_SINGLETON (99% of cases): internal singletons, within one module or executable</a:t>
            </a:r>
            <a:endParaRPr lang="en-US" sz="1350" dirty="0"/>
          </a:p>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SAFE pair (1% of cases): singletons in public API headers, accessed from plugins, DLLs, or shared libs</a:t>
            </a:r>
            <a:endParaRPr lang="en-US" sz="1350" dirty="0"/>
          </a:p>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Design principle: normal developers follow the easy path (standard macro). API designers read docs and opt-in to _SAFE.</a:t>
            </a:r>
            <a:endParaRPr lang="en-US" sz="1350" dirty="0"/>
          </a:p>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Zero performance difference — both have the same runtime cost</a:t>
            </a:r>
            <a:endParaRPr lang="en-US" sz="1350" dirty="0"/>
          </a:p>
          <a:p>
            <a:pPr marL="342900" indent="-342900">
              <a:spcAft>
                <a:spcPts val="600"/>
              </a:spcAft>
              <a:buSzPct val="100000"/>
              <a:buChar char="•"/>
            </a:pPr>
            <a:r>
              <a:rPr lang="en-US" sz="1350" b="1" dirty="0">
                <a:solidFill>
                  <a:srgbClr val="1E3A5F"/>
                </a:solidFill>
                <a:latin typeface="Calibri" pitchFamily="34" charset="0"/>
                <a:ea typeface="Calibri" pitchFamily="34" charset="-122"/>
                <a:cs typeface="Calibri" pitchFamily="34" charset="-120"/>
              </a:rPr>
              <a:t>Rule of thumb: if your singleton header ships with a library, use SAFE. If it's internal, use standard.</a:t>
            </a:r>
            <a:endParaRPr lang="en-US" sz="13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0735-C4F3-EA18-6F60-E93A0F48DADD}"/>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3EE1E959-8369-8EFD-AA06-DD8FA3477649}"/>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All requirements achieved + cross-library safety</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All Legacy singletons in our code bases are retrofitted</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Previously untestable code is now testable</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New APIs can use singletons whenever needed</a:t>
            </a:r>
          </a:p>
        </p:txBody>
      </p:sp>
      <p:sp>
        <p:nvSpPr>
          <p:cNvPr id="2" name="Shape 0">
            <a:extLst>
              <a:ext uri="{FF2B5EF4-FFF2-40B4-BE49-F238E27FC236}">
                <a16:creationId xmlns:a16="http://schemas.microsoft.com/office/drawing/2014/main" id="{A2C5F41D-41DB-3FCB-1B61-B79015C5C1D0}"/>
              </a:ext>
            </a:extLst>
          </p:cNvPr>
          <p:cNvSpPr>
            <a:spLocks noGrp="1" noRot="1" noMove="1" noResize="1" noEditPoints="1" noAdjustHandles="1" noChangeArrowheads="1" noChangeShapeType="1"/>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25C0D2B0-C631-4BF6-886A-E50334DFA3E0}"/>
              </a:ext>
            </a:extLst>
          </p:cNvPr>
          <p:cNvSpPr>
            <a:spLocks noGrp="1" noRot="1" noMove="1" noResize="1" noEditPoints="1" noAdjustHandles="1" noChangeArrowheads="1" noChangeShapeType="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18C1BD73-B623-B5B3-CADE-58B8648DC3BD}"/>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Mission Accomplished</a:t>
            </a:r>
            <a:endParaRPr lang="en-US" sz="1900" strike="sngStrike" dirty="0"/>
          </a:p>
        </p:txBody>
      </p:sp>
    </p:spTree>
    <p:extLst>
      <p:ext uri="{BB962C8B-B14F-4D97-AF65-F5344CB8AC3E}">
        <p14:creationId xmlns:p14="http://schemas.microsoft.com/office/powerpoint/2010/main" val="37892480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8C814-8A47-AEE0-C084-D0E56362F763}"/>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4BEE7130-7B66-2C2C-39F3-5301086FE557}"/>
              </a:ext>
            </a:extLst>
          </p:cNvPr>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C++11 magic statics guarantee thread-safe initialization</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Accessing instance members is not thread-safe by default</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We avoided addressing thread-safety intentionally because:</a:t>
            </a:r>
          </a:p>
          <a:p>
            <a:pPr marL="800100" lvl="1"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Thread-safety is expensive and context-specific</a:t>
            </a:r>
          </a:p>
          <a:p>
            <a:pPr marL="800100" lvl="1" indent="-342900">
              <a:spcAft>
                <a:spcPts val="600"/>
              </a:spcAft>
              <a:buSzPct val="100000"/>
              <a:buFontTx/>
              <a:buChar char="•"/>
            </a:pPr>
            <a:r>
              <a:rPr lang="en-US" sz="1600" dirty="0">
                <a:solidFill>
                  <a:srgbClr val="1E3A5F"/>
                </a:solidFill>
                <a:latin typeface="Calibri" pitchFamily="34" charset="0"/>
                <a:ea typeface="Calibri" pitchFamily="34" charset="-122"/>
                <a:cs typeface="Calibri" pitchFamily="34" charset="-120"/>
              </a:rPr>
              <a:t>Imposing locks on all users would kill adoption</a:t>
            </a:r>
          </a:p>
          <a:p>
            <a:pPr marL="342900" indent="-342900">
              <a:spcAft>
                <a:spcPts val="600"/>
              </a:spcAft>
              <a:buSzPct val="100000"/>
              <a:buChar char="•"/>
            </a:pPr>
            <a:r>
              <a:rPr lang="en-US" sz="1600" dirty="0">
                <a:solidFill>
                  <a:srgbClr val="1E3A5F"/>
                </a:solidFill>
                <a:latin typeface="Calibri" pitchFamily="34" charset="0"/>
                <a:ea typeface="Calibri" pitchFamily="34" charset="-122"/>
                <a:cs typeface="Calibri" pitchFamily="34" charset="-120"/>
              </a:rPr>
              <a:t>Access synchronization is deferred to the user</a:t>
            </a:r>
          </a:p>
        </p:txBody>
      </p:sp>
      <p:sp>
        <p:nvSpPr>
          <p:cNvPr id="2" name="Shape 0">
            <a:extLst>
              <a:ext uri="{FF2B5EF4-FFF2-40B4-BE49-F238E27FC236}">
                <a16:creationId xmlns:a16="http://schemas.microsoft.com/office/drawing/2014/main" id="{A4933F97-4741-195B-479C-18A1B83DA7E3}"/>
              </a:ext>
            </a:extLst>
          </p:cNvPr>
          <p:cNvSpPr>
            <a:spLocks noGrp="1" noRot="1" noMove="1" noResize="1" noEditPoints="1" noAdjustHandles="1" noChangeArrowheads="1" noChangeShapeType="1"/>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BFDAFA32-79A6-58AC-F215-8FCE01CE5985}"/>
              </a:ext>
            </a:extLst>
          </p:cNvPr>
          <p:cNvSpPr>
            <a:spLocks noGrp="1" noRot="1" noMove="1" noResize="1" noEditPoints="1" noAdjustHandles="1" noChangeArrowheads="1" noChangeShapeType="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2">
            <a:extLst>
              <a:ext uri="{FF2B5EF4-FFF2-40B4-BE49-F238E27FC236}">
                <a16:creationId xmlns:a16="http://schemas.microsoft.com/office/drawing/2014/main" id="{EC3CED34-A4A0-1E7C-325F-963D6D0D73A9}"/>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Thread-safety</a:t>
            </a:r>
            <a:endParaRPr lang="en-US" sz="1900" strike="sngStrike" dirty="0"/>
          </a:p>
        </p:txBody>
      </p:sp>
    </p:spTree>
    <p:extLst>
      <p:ext uri="{BB962C8B-B14F-4D97-AF65-F5344CB8AC3E}">
        <p14:creationId xmlns:p14="http://schemas.microsoft.com/office/powerpoint/2010/main" val="415541221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FBD84-4321-F954-1B16-E208A1E5B38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2E0407F-DA40-0DD2-3F7B-4886DFAC7C51}"/>
              </a:ext>
            </a:extLst>
          </p:cNvPr>
          <p:cNvSpPr>
            <a:spLocks noGrp="1" noRot="1" noMove="1" noResize="1" noEditPoints="1" noAdjustHandles="1" noChangeArrowheads="1" noChangeShapeType="1"/>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a:extLst>
              <a:ext uri="{FF2B5EF4-FFF2-40B4-BE49-F238E27FC236}">
                <a16:creationId xmlns:a16="http://schemas.microsoft.com/office/drawing/2014/main" id="{DF908328-F4BE-2B59-2380-EC1AFFEA0BB0}"/>
              </a:ext>
            </a:extLst>
          </p:cNvPr>
          <p:cNvSpPr>
            <a:spLocks noGrp="1" noRot="1" noMove="1" noResize="1" noEditPoints="1" noAdjustHandles="1" noChangeArrowheads="1" noChangeShapeType="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a:extLst>
              <a:ext uri="{FF2B5EF4-FFF2-40B4-BE49-F238E27FC236}">
                <a16:creationId xmlns:a16="http://schemas.microsoft.com/office/drawing/2014/main" id="{7FAAC7DF-775C-FA0D-1BDC-C57235F314BE}"/>
              </a:ext>
            </a:extLst>
          </p:cNvPr>
          <p:cNvSpPr/>
          <p:nvPr/>
        </p:nvSpPr>
        <p:spPr>
          <a:xfrm>
            <a:off x="411480" y="0"/>
            <a:ext cx="8321040" cy="475488"/>
          </a:xfrm>
          <a:prstGeom prst="rect">
            <a:avLst/>
          </a:prstGeom>
          <a:noFill/>
          <a:ln/>
        </p:spPr>
        <p:txBody>
          <a:bodyPr wrap="square" lIns="0" tIns="0" rIns="0" bIns="0" rtlCol="0" anchor="ctr"/>
          <a:lstStyle/>
          <a:p>
            <a:r>
              <a:rPr lang="en-US" sz="1900" b="1" dirty="0">
                <a:solidFill>
                  <a:srgbClr val="FFFFFF"/>
                </a:solidFill>
                <a:latin typeface="Georgia" pitchFamily="34" charset="0"/>
                <a:ea typeface="Georgia" pitchFamily="34" charset="-122"/>
                <a:cs typeface="Georgia" pitchFamily="34" charset="-120"/>
              </a:rPr>
              <a:t>Mission Accomplished</a:t>
            </a:r>
            <a:endParaRPr lang="en-US" sz="1900" strike="sngStrike" dirty="0"/>
          </a:p>
        </p:txBody>
      </p:sp>
      <p:graphicFrame>
        <p:nvGraphicFramePr>
          <p:cNvPr id="5" name="Table 0">
            <a:extLst>
              <a:ext uri="{FF2B5EF4-FFF2-40B4-BE49-F238E27FC236}">
                <a16:creationId xmlns:a16="http://schemas.microsoft.com/office/drawing/2014/main" id="{AE31ACB6-CE14-4995-890B-CE68FB47314C}"/>
              </a:ext>
            </a:extLst>
          </p:cNvPr>
          <p:cNvGraphicFramePr>
            <a:graphicFrameLocks noGrp="1"/>
          </p:cNvGraphicFramePr>
          <p:nvPr>
            <p:extLst>
              <p:ext uri="{D42A27DB-BD31-4B8C-83A1-F6EECF244321}">
                <p14:modId xmlns:p14="http://schemas.microsoft.com/office/powerpoint/2010/main" val="2779142312"/>
              </p:ext>
            </p:extLst>
          </p:nvPr>
        </p:nvGraphicFramePr>
        <p:xfrm>
          <a:off x="266007" y="636270"/>
          <a:ext cx="8639452" cy="4145280"/>
        </p:xfrm>
        <a:graphic>
          <a:graphicData uri="http://schemas.openxmlformats.org/drawingml/2006/table">
            <a:tbl>
              <a:tblPr/>
              <a:tblGrid>
                <a:gridCol w="2532852">
                  <a:extLst>
                    <a:ext uri="{9D8B030D-6E8A-4147-A177-3AD203B41FA5}">
                      <a16:colId xmlns:a16="http://schemas.microsoft.com/office/drawing/2014/main" val="20000"/>
                    </a:ext>
                  </a:extLst>
                </a:gridCol>
                <a:gridCol w="1796995">
                  <a:extLst>
                    <a:ext uri="{9D8B030D-6E8A-4147-A177-3AD203B41FA5}">
                      <a16:colId xmlns:a16="http://schemas.microsoft.com/office/drawing/2014/main" val="3251159448"/>
                    </a:ext>
                  </a:extLst>
                </a:gridCol>
                <a:gridCol w="1645920">
                  <a:extLst>
                    <a:ext uri="{9D8B030D-6E8A-4147-A177-3AD203B41FA5}">
                      <a16:colId xmlns:a16="http://schemas.microsoft.com/office/drawing/2014/main" val="20001"/>
                    </a:ext>
                  </a:extLst>
                </a:gridCol>
                <a:gridCol w="2663685">
                  <a:extLst>
                    <a:ext uri="{9D8B030D-6E8A-4147-A177-3AD203B41FA5}">
                      <a16:colId xmlns:a16="http://schemas.microsoft.com/office/drawing/2014/main" val="1795185479"/>
                    </a:ext>
                  </a:extLst>
                </a:gridCol>
              </a:tblGrid>
              <a:tr h="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1E3A5F"/>
                    </a:solidFill>
                  </a:tcPr>
                </a:tc>
                <a:tc>
                  <a:txBody>
                    <a:bodyPr/>
                    <a:lstStyle/>
                    <a:p>
                      <a:pPr marL="0" indent="0" algn="ctr">
                        <a:buFontTx/>
                        <a:buNone/>
                      </a:pPr>
                      <a:r>
                        <a:rPr lang="en-US" sz="1100" b="1" kern="1200" dirty="0">
                          <a:solidFill>
                            <a:srgbClr val="FFFFFF"/>
                          </a:solidFill>
                          <a:latin typeface="Calibri" pitchFamily="34" charset="0"/>
                          <a:ea typeface="Calibri" pitchFamily="34" charset="-122"/>
                          <a:cs typeface="Calibri" pitchFamily="34" charset="-120"/>
                        </a:rPr>
                        <a:t>Dependency Injection</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Singletons</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1E3A5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dirty="0" err="1">
                          <a:solidFill>
                            <a:srgbClr val="FFFFFF"/>
                          </a:solidFill>
                          <a:latin typeface="Calibri" pitchFamily="34" charset="0"/>
                          <a:ea typeface="Calibri" pitchFamily="34" charset="-122"/>
                          <a:cs typeface="Calibri" pitchFamily="34" charset="-120"/>
                        </a:rPr>
                        <a:t>SingletonBase</a:t>
                      </a:r>
                      <a:r>
                        <a:rPr lang="en-US" sz="1100" b="1" kern="1200" dirty="0">
                          <a:solidFill>
                            <a:srgbClr val="FFFFFF"/>
                          </a:solidFill>
                          <a:latin typeface="Calibri" pitchFamily="34" charset="0"/>
                          <a:ea typeface="Calibri" pitchFamily="34" charset="-122"/>
                          <a:cs typeface="Calibri" pitchFamily="34" charset="-120"/>
                        </a:rPr>
                        <a:t> + </a:t>
                      </a:r>
                      <a:r>
                        <a:rPr lang="en-US" sz="1100" b="1" kern="1200" dirty="0" err="1">
                          <a:solidFill>
                            <a:srgbClr val="FFFFFF"/>
                          </a:solidFill>
                          <a:latin typeface="Calibri" pitchFamily="34" charset="0"/>
                          <a:ea typeface="Calibri" pitchFamily="34" charset="-122"/>
                          <a:cs typeface="Calibri" pitchFamily="34" charset="-120"/>
                        </a:rPr>
                        <a:t>ScopedSingletonState</a:t>
                      </a:r>
                      <a:endParaRPr lang="en-US" sz="1100" b="1" kern="1200" dirty="0">
                        <a:solidFill>
                          <a:srgbClr val="FFFFFF"/>
                        </a:solidFill>
                        <a:latin typeface="Calibri" pitchFamily="34" charset="0"/>
                        <a:ea typeface="Calibri" pitchFamily="34" charset="-122"/>
                        <a:cs typeface="Calibri" pitchFamily="34" charset="-12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0">
                <a:tc>
                  <a:txBody>
                    <a:bodyPr/>
                    <a:lstStyle/>
                    <a:p>
                      <a:pPr marL="0" indent="0" algn="l">
                        <a:buNone/>
                      </a:pPr>
                      <a:r>
                        <a:rPr lang="en-US" sz="1100" dirty="0">
                          <a:latin typeface="Calibri" charset="0"/>
                          <a:ea typeface="Calibri" charset="0"/>
                          <a:cs typeface="Calibri" charset="0"/>
                        </a:rPr>
                        <a:t>Implementation Simplicity</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 (growing complexity)</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 (One time cost)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264691732"/>
                  </a:ext>
                </a:extLst>
              </a:tr>
              <a:tr h="0">
                <a:tc>
                  <a:txBody>
                    <a:bodyPr/>
                    <a:lstStyle/>
                    <a:p>
                      <a:pPr marL="0" indent="0" algn="l" defTabSz="914400" rtl="0" eaLnBrk="1" latinLnBrk="0" hangingPunct="1">
                        <a:buNone/>
                      </a:pPr>
                      <a:r>
                        <a:rPr lang="en-US" sz="1100" kern="1200" dirty="0">
                          <a:solidFill>
                            <a:schemeClr val="tx1"/>
                          </a:solidFill>
                          <a:latin typeface="Calibri" charset="0"/>
                          <a:ea typeface="Calibri" charset="0"/>
                          <a:cs typeface="Calibri" charset="0"/>
                        </a:rPr>
                        <a:t>Ease of use</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defTabSz="914400" rtl="0" eaLnBrk="1" latinLnBrk="0" hangingPunct="1">
                        <a:buFontTx/>
                        <a:buNone/>
                      </a:pPr>
                      <a:r>
                        <a:rPr lang="en-US" sz="1100" dirty="0">
                          <a:solidFill>
                            <a:srgbClr val="111827"/>
                          </a:solidFill>
                          <a:latin typeface="Calibri" pitchFamily="34" charset="0"/>
                          <a:ea typeface="Calibri" pitchFamily="34" charset="-122"/>
                          <a:cs typeface="Calibri" pitchFamily="34" charset="-120"/>
                        </a:rPr>
                        <a:t>✓</a:t>
                      </a:r>
                      <a:endParaRPr lang="en-US" sz="1100" kern="1200" dirty="0">
                        <a:solidFill>
                          <a:schemeClr val="tx1"/>
                        </a:solidFill>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3464038358"/>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Testability</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1"/>
                  </a:ext>
                </a:extLst>
              </a:tr>
              <a:tr h="0">
                <a:tc>
                  <a:txBody>
                    <a:bodyPr/>
                    <a:lstStyle/>
                    <a:p>
                      <a:pPr marL="0" indent="0" algn="l">
                        <a:buNone/>
                      </a:pPr>
                      <a:r>
                        <a:rPr lang="en-US" sz="1100" dirty="0">
                          <a:latin typeface="Calibri" charset="0"/>
                          <a:ea typeface="Calibri" charset="0"/>
                          <a:cs typeface="Calibri" charset="0"/>
                        </a:rPr>
                        <a:t>Hiddes dependencies</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FFFFFF"/>
                    </a:solidFill>
                  </a:tcPr>
                </a:tc>
                <a:extLst>
                  <a:ext uri="{0D108BD9-81ED-4DB2-BD59-A6C34878D82A}">
                    <a16:rowId xmlns:a16="http://schemas.microsoft.com/office/drawing/2014/main" val="2597903588"/>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Respect for encapsulation</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2"/>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Low overhead (Performance / memory)</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Debuggability</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4"/>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Low Boilerplate</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10005"/>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Respect for DRY</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10006"/>
                  </a:ext>
                </a:extLst>
              </a:tr>
              <a:tr h="0">
                <a:tc>
                  <a:txBody>
                    <a:bodyPr/>
                    <a:lstStyle/>
                    <a:p>
                      <a:pPr marL="0" indent="0" algn="l">
                        <a:buNone/>
                      </a:pPr>
                      <a:r>
                        <a:rPr lang="en-US" sz="1100" dirty="0">
                          <a:solidFill>
                            <a:srgbClr val="111827"/>
                          </a:solidFill>
                          <a:latin typeface="Calibri" pitchFamily="34" charset="0"/>
                          <a:ea typeface="Calibri" pitchFamily="34" charset="-122"/>
                          <a:cs typeface="Calibri" pitchFamily="34" charset="-120"/>
                        </a:rPr>
                        <a:t>Respect for ‘Pay For What You Use’</a:t>
                      </a:r>
                      <a:endParaRPr lang="en-US" sz="1100" dirty="0">
                        <a:latin typeface="Calibri" charset="0"/>
                        <a:ea typeface="Calibri" charset="0"/>
                        <a:cs typeface="Calibri" charset="0"/>
                      </a:endParaRP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10007"/>
                  </a:ext>
                </a:extLst>
              </a:tr>
              <a:tr h="0">
                <a:tc>
                  <a:txBody>
                    <a:bodyPr/>
                    <a:lstStyle/>
                    <a:p>
                      <a:pPr marL="0" indent="0" algn="l">
                        <a:buNone/>
                      </a:pPr>
                      <a:r>
                        <a:rPr lang="en-US" sz="1100" dirty="0">
                          <a:latin typeface="Calibri" charset="0"/>
                          <a:ea typeface="Calibri" charset="0"/>
                          <a:cs typeface="Calibri" charset="0"/>
                        </a:rPr>
                        <a:t>Simple ownership model</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3546386670"/>
                  </a:ext>
                </a:extLst>
              </a:tr>
              <a:tr h="0">
                <a:tc>
                  <a:txBody>
                    <a:bodyPr/>
                    <a:lstStyle/>
                    <a:p>
                      <a:pPr marL="0" indent="0" algn="l">
                        <a:buNone/>
                      </a:pPr>
                      <a:r>
                        <a:rPr lang="en-US" sz="1100" dirty="0">
                          <a:latin typeface="Calibri" charset="0"/>
                          <a:ea typeface="Calibri" charset="0"/>
                          <a:cs typeface="Calibri" charset="0"/>
                        </a:rPr>
                        <a:t>Life-cycle flexibility</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269226711"/>
                  </a:ext>
                </a:extLst>
              </a:tr>
              <a:tr h="0">
                <a:tc>
                  <a:txBody>
                    <a:bodyPr/>
                    <a:lstStyle/>
                    <a:p>
                      <a:pPr marL="0" indent="0" algn="l">
                        <a:buNone/>
                      </a:pPr>
                      <a:r>
                        <a:rPr lang="en-US" sz="1100" dirty="0">
                          <a:latin typeface="Calibri" charset="0"/>
                          <a:ea typeface="Calibri" charset="0"/>
                          <a:cs typeface="Calibri" charset="0"/>
                        </a:rPr>
                        <a:t>Legacy friendly</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556428940"/>
                  </a:ext>
                </a:extLst>
              </a:tr>
              <a:tr h="0">
                <a:tc>
                  <a:txBody>
                    <a:bodyPr/>
                    <a:lstStyle/>
                    <a:p>
                      <a:pPr marL="0" indent="0" algn="l">
                        <a:buNone/>
                      </a:pPr>
                      <a:r>
                        <a:rPr lang="en-US" sz="1100" dirty="0">
                          <a:latin typeface="Calibri" charset="0"/>
                          <a:ea typeface="Calibri" charset="0"/>
                          <a:cs typeface="Calibri" charset="0"/>
                        </a:rPr>
                        <a:t>Respect for Dependency Inversion</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noFill/>
                  </a:tcPr>
                </a:tc>
                <a:extLst>
                  <a:ext uri="{0D108BD9-81ED-4DB2-BD59-A6C34878D82A}">
                    <a16:rowId xmlns:a16="http://schemas.microsoft.com/office/drawing/2014/main" val="2600658112"/>
                  </a:ext>
                </a:extLst>
              </a:tr>
              <a:tr h="0">
                <a:tc>
                  <a:txBody>
                    <a:bodyPr/>
                    <a:lstStyle/>
                    <a:p>
                      <a:pPr marL="0" indent="0" algn="l">
                        <a:buNone/>
                      </a:pPr>
                      <a:r>
                        <a:rPr lang="en-US" sz="1100" dirty="0">
                          <a:latin typeface="Calibri" charset="0"/>
                          <a:ea typeface="Calibri" charset="0"/>
                          <a:cs typeface="Calibri" charset="0"/>
                        </a:rPr>
                        <a:t>Reduces Tight coupling</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tc>
                  <a:txBody>
                    <a:bodyPr/>
                    <a:lstStyle/>
                    <a:p>
                      <a:pPr marL="0" indent="0" algn="ctr">
                        <a:buFontTx/>
                        <a:buNone/>
                      </a:pPr>
                      <a:r>
                        <a:rPr lang="en-US" sz="1100" dirty="0">
                          <a:solidFill>
                            <a:srgbClr val="111827"/>
                          </a:solidFill>
                          <a:latin typeface="Calibri" pitchFamily="34" charset="0"/>
                          <a:ea typeface="Calibri" pitchFamily="34" charset="-122"/>
                          <a:cs typeface="Calibri" pitchFamily="34" charset="-120"/>
                        </a:rPr>
                        <a:t>✓</a:t>
                      </a:r>
                    </a:p>
                  </a:txBody>
                  <a:tcPr>
                    <a:lnL w="6350" cap="flat" cmpd="sng" algn="ctr">
                      <a:solidFill>
                        <a:srgbClr val="C3D8EF"/>
                      </a:solidFill>
                      <a:prstDash val="solid"/>
                      <a:round/>
                      <a:headEnd type="none" w="med" len="med"/>
                      <a:tailEnd type="none" w="med" len="med"/>
                    </a:lnL>
                    <a:lnR w="6350" cap="flat" cmpd="sng" algn="ctr">
                      <a:solidFill>
                        <a:srgbClr val="C3D8EF"/>
                      </a:solidFill>
                      <a:prstDash val="solid"/>
                      <a:round/>
                      <a:headEnd type="none" w="med" len="med"/>
                      <a:tailEnd type="none" w="med" len="med"/>
                    </a:lnR>
                    <a:lnT w="6350" cap="flat" cmpd="sng" algn="ctr">
                      <a:solidFill>
                        <a:srgbClr val="C3D8EF"/>
                      </a:solidFill>
                      <a:prstDash val="solid"/>
                      <a:round/>
                      <a:headEnd type="none" w="med" len="med"/>
                      <a:tailEnd type="none" w="med" len="med"/>
                    </a:lnT>
                    <a:lnB w="6350" cap="flat" cmpd="sng" algn="ctr">
                      <a:solidFill>
                        <a:srgbClr val="C3D8EF"/>
                      </a:solidFill>
                      <a:prstDash val="solid"/>
                      <a:round/>
                      <a:headEnd type="none" w="med" len="med"/>
                      <a:tailEnd type="none" w="med" len="med"/>
                    </a:lnB>
                    <a:solidFill>
                      <a:srgbClr val="EBF4FF"/>
                    </a:solidFill>
                  </a:tcPr>
                </a:tc>
                <a:extLst>
                  <a:ext uri="{0D108BD9-81ED-4DB2-BD59-A6C34878D82A}">
                    <a16:rowId xmlns:a16="http://schemas.microsoft.com/office/drawing/2014/main" val="974732739"/>
                  </a:ext>
                </a:extLst>
              </a:tr>
            </a:tbl>
          </a:graphicData>
        </a:graphic>
      </p:graphicFrame>
    </p:spTree>
    <p:extLst>
      <p:ext uri="{BB962C8B-B14F-4D97-AF65-F5344CB8AC3E}">
        <p14:creationId xmlns:p14="http://schemas.microsoft.com/office/powerpoint/2010/main" val="32902587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49">
    <p:bg>
      <p:bgPr>
        <a:solidFill>
          <a:schemeClr val="tx2">
            <a:lumMod val="50000"/>
          </a:schemeClr>
        </a:solidFill>
        <a:effectLst/>
      </p:bgPr>
    </p:bg>
    <p:spTree>
      <p:nvGrpSpPr>
        <p:cNvPr id="1" name=""/>
        <p:cNvGrpSpPr/>
        <p:nvPr/>
      </p:nvGrpSpPr>
      <p:grpSpPr>
        <a:xfrm>
          <a:off x="0" y="0"/>
          <a:ext cx="0" cy="0"/>
          <a:chOff x="0" y="0"/>
          <a:chExt cx="0" cy="0"/>
        </a:xfrm>
      </p:grpSpPr>
      <p:sp>
        <p:nvSpPr>
          <p:cNvPr id="2" name="Shape 0"/>
          <p:cNvSpPr>
            <a:spLocks noGrp="1" noRot="1" noMove="1" noResize="1" noEditPoints="1" noAdjustHandles="1" noChangeArrowheads="1" noChangeShapeType="1"/>
          </p:cNvSpPr>
          <p:nvPr/>
        </p:nvSpPr>
        <p:spPr>
          <a:xfrm>
            <a:off x="0" y="0"/>
            <a:ext cx="164592" cy="5143500"/>
          </a:xfrm>
          <a:prstGeom prst="rect">
            <a:avLst/>
          </a:prstGeom>
          <a:solidFill>
            <a:srgbClr val="F59E0B"/>
          </a:solidFill>
          <a:ln w="12700">
            <a:solidFill>
              <a:srgbClr val="F59E0B"/>
            </a:solidFill>
            <a:prstDash val="solid"/>
          </a:ln>
        </p:spPr>
        <p:txBody>
          <a:bodyPr/>
          <a:lstStyle/>
          <a:p>
            <a:endParaRPr lang="en-US"/>
          </a:p>
        </p:txBody>
      </p:sp>
      <p:sp>
        <p:nvSpPr>
          <p:cNvPr id="3" name="Shape 1"/>
          <p:cNvSpPr>
            <a:spLocks noGrp="1" noRot="1" noMove="1" noResize="1" noEditPoints="1" noAdjustHandles="1" noChangeArrowheads="1" noChangeShapeType="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5" name="Text 3"/>
          <p:cNvSpPr/>
          <p:nvPr/>
        </p:nvSpPr>
        <p:spPr>
          <a:xfrm>
            <a:off x="411480" y="594360"/>
            <a:ext cx="8321040" cy="1600200"/>
          </a:xfrm>
          <a:prstGeom prst="rect">
            <a:avLst/>
          </a:prstGeom>
          <a:noFill/>
          <a:ln/>
        </p:spPr>
        <p:txBody>
          <a:bodyPr wrap="square" lIns="0" tIns="0" rIns="0" bIns="0" rtlCol="0" anchor="ctr"/>
          <a:lstStyle/>
          <a:p>
            <a:pPr marL="0" indent="0">
              <a:lnSpc>
                <a:spcPct val="120000"/>
              </a:lnSpc>
              <a:buNone/>
            </a:pPr>
            <a:r>
              <a:rPr lang="en-US" sz="3200" b="1">
                <a:solidFill>
                  <a:srgbClr val="FFFFFF"/>
                </a:solidFill>
                <a:latin typeface="Georgia" pitchFamily="34" charset="0"/>
                <a:ea typeface="Georgia" pitchFamily="34" charset="-122"/>
                <a:cs typeface="Georgia" pitchFamily="34" charset="-120"/>
              </a:rPr>
              <a:t>The problem was never singletons.</a:t>
            </a:r>
            <a:endParaRPr lang="en-US" sz="3200"/>
          </a:p>
          <a:p>
            <a:pPr marL="0" indent="0">
              <a:lnSpc>
                <a:spcPct val="120000"/>
              </a:lnSpc>
              <a:buNone/>
            </a:pPr>
            <a:r>
              <a:rPr lang="en-US" sz="3200" b="1">
                <a:solidFill>
                  <a:srgbClr val="FFFFFF"/>
                </a:solidFill>
                <a:latin typeface="Georgia" pitchFamily="34" charset="0"/>
                <a:ea typeface="Georgia" pitchFamily="34" charset="-122"/>
                <a:cs typeface="Georgia" pitchFamily="34" charset="-120"/>
              </a:rPr>
              <a:t>It was untestable singletons.</a:t>
            </a:r>
            <a:endParaRPr lang="en-US" sz="3200"/>
          </a:p>
        </p:txBody>
      </p:sp>
      <p:sp>
        <p:nvSpPr>
          <p:cNvPr id="6" name="Text 4"/>
          <p:cNvSpPr/>
          <p:nvPr/>
        </p:nvSpPr>
        <p:spPr>
          <a:xfrm>
            <a:off x="411480" y="2331720"/>
            <a:ext cx="8321040" cy="2514600"/>
          </a:xfrm>
          <a:prstGeom prst="rect">
            <a:avLst/>
          </a:prstGeom>
          <a:noFill/>
          <a:ln/>
        </p:spPr>
        <p:txBody>
          <a:bodyPr wrap="square" rtlCol="0" anchor="t"/>
          <a:lstStyle/>
          <a:p>
            <a:pPr marL="342900" indent="-342900">
              <a:spcAft>
                <a:spcPts val="800"/>
              </a:spcAft>
              <a:buSzPct val="100000"/>
              <a:buChar char="•"/>
            </a:pPr>
            <a:r>
              <a:rPr lang="en-US" sz="1450" dirty="0" err="1">
                <a:solidFill>
                  <a:srgbClr val="E2E8F0"/>
                </a:solidFill>
                <a:latin typeface="Calibri" pitchFamily="34" charset="0"/>
                <a:ea typeface="Calibri" pitchFamily="34" charset="-122"/>
                <a:cs typeface="Calibri" pitchFamily="34" charset="-120"/>
              </a:rPr>
              <a:t>SingletonBase</a:t>
            </a:r>
            <a:r>
              <a:rPr lang="en-US" sz="1450" dirty="0">
                <a:solidFill>
                  <a:srgbClr val="E2E8F0"/>
                </a:solidFill>
                <a:latin typeface="Calibri" pitchFamily="34" charset="0"/>
                <a:ea typeface="Calibri" pitchFamily="34" charset="-122"/>
                <a:cs typeface="Calibri" pitchFamily="34" charset="-120"/>
              </a:rPr>
              <a:t> makes any singleton testable, safe, and maintainable — with zero breaking changes</a:t>
            </a:r>
            <a:endParaRPr lang="en-US" sz="1450" dirty="0"/>
          </a:p>
          <a:p>
            <a:pPr marL="342900" indent="-342900">
              <a:spcAft>
                <a:spcPts val="800"/>
              </a:spcAft>
              <a:buSzPct val="100000"/>
              <a:buChar char="•"/>
            </a:pPr>
            <a:r>
              <a:rPr lang="en-US" sz="1450" dirty="0">
                <a:solidFill>
                  <a:srgbClr val="E2E8F0"/>
                </a:solidFill>
                <a:latin typeface="Calibri" pitchFamily="34" charset="0"/>
                <a:ea typeface="Calibri" pitchFamily="34" charset="-122"/>
                <a:cs typeface="Calibri" pitchFamily="34" charset="-120"/>
              </a:rPr>
              <a:t>DI does not replace singletons — it was never meant to do so</a:t>
            </a:r>
            <a:endParaRPr lang="en-US" sz="1450" dirty="0"/>
          </a:p>
          <a:p>
            <a:pPr marL="342900" indent="-342900">
              <a:spcAft>
                <a:spcPts val="800"/>
              </a:spcAft>
              <a:buSzPct val="100000"/>
              <a:buChar char="•"/>
            </a:pPr>
            <a:r>
              <a:rPr lang="en-US" sz="1450" dirty="0">
                <a:solidFill>
                  <a:srgbClr val="E2E8F0"/>
                </a:solidFill>
                <a:latin typeface="Calibri" pitchFamily="34" charset="0"/>
                <a:ea typeface="Calibri" pitchFamily="34" charset="-122"/>
                <a:cs typeface="Calibri" pitchFamily="34" charset="-120"/>
              </a:rPr>
              <a:t>25+ year legacy codebases can gain test coverage without risky rewrites — in a single sprint</a:t>
            </a:r>
            <a:endParaRPr lang="en-US" sz="1450" dirty="0"/>
          </a:p>
          <a:p>
            <a:pPr marL="342900" indent="-342900">
              <a:spcAft>
                <a:spcPts val="800"/>
              </a:spcAft>
              <a:buSzPct val="100000"/>
              <a:buChar char="•"/>
            </a:pPr>
            <a:r>
              <a:rPr lang="en-US" sz="1450" dirty="0">
                <a:solidFill>
                  <a:srgbClr val="E2E8F0"/>
                </a:solidFill>
                <a:latin typeface="Calibri" pitchFamily="34" charset="0"/>
                <a:ea typeface="Calibri" pitchFamily="34" charset="-122"/>
                <a:cs typeface="Calibri" pitchFamily="34" charset="-120"/>
              </a:rPr>
              <a:t>The double-pointer trick is pure C++11: no frameworks, no magic, no UB — fully portable</a:t>
            </a:r>
            <a:endParaRPr lang="en-US" sz="14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28">
    <p:bg>
      <p:bgPr>
        <a:solidFill>
          <a:schemeClr val="tx2">
            <a:lumMod val="50000"/>
          </a:schemeClr>
        </a:solidFill>
        <a:effectLst/>
      </p:bgPr>
    </p:bg>
    <p:spTree>
      <p:nvGrpSpPr>
        <p:cNvPr id="1" name=""/>
        <p:cNvGrpSpPr/>
        <p:nvPr/>
      </p:nvGrpSpPr>
      <p:grpSpPr>
        <a:xfrm>
          <a:off x="0" y="0"/>
          <a:ext cx="0" cy="0"/>
          <a:chOff x="0" y="0"/>
          <a:chExt cx="0" cy="0"/>
        </a:xfrm>
      </p:grpSpPr>
      <p:sp>
        <p:nvSpPr>
          <p:cNvPr id="2" name="Shape 0"/>
          <p:cNvSpPr>
            <a:spLocks noGrp="1" noRot="1" noMove="1" noResize="1" noEditPoints="1" noAdjustHandles="1" noChangeArrowheads="1" noChangeShapeType="1"/>
          </p:cNvSpPr>
          <p:nvPr/>
        </p:nvSpPr>
        <p:spPr>
          <a:xfrm>
            <a:off x="0" y="0"/>
            <a:ext cx="164592" cy="5143500"/>
          </a:xfrm>
          <a:prstGeom prst="rect">
            <a:avLst/>
          </a:prstGeom>
          <a:solidFill>
            <a:srgbClr val="3B82F6"/>
          </a:solidFill>
          <a:ln w="12700">
            <a:solidFill>
              <a:srgbClr val="3B82F6"/>
            </a:solidFill>
            <a:prstDash val="solid"/>
          </a:ln>
        </p:spPr>
        <p:txBody>
          <a:bodyPr/>
          <a:lstStyle/>
          <a:p>
            <a:endParaRPr lang="en-US"/>
          </a:p>
        </p:txBody>
      </p:sp>
      <p:sp>
        <p:nvSpPr>
          <p:cNvPr id="3" name="Shape 1"/>
          <p:cNvSpPr>
            <a:spLocks noGrp="1" noRot="1" noMove="1" noResize="1" noEditPoints="1" noAdjustHandles="1" noChangeArrowheads="1" noChangeShapeType="1"/>
          </p:cNvSpPr>
          <p:nvPr/>
        </p:nvSpPr>
        <p:spPr>
          <a:xfrm>
            <a:off x="0" y="4942332"/>
            <a:ext cx="9144000" cy="201168"/>
          </a:xfrm>
          <a:prstGeom prst="rect">
            <a:avLst/>
          </a:prstGeom>
          <a:solidFill>
            <a:srgbClr val="F59E0B"/>
          </a:solidFill>
          <a:ln w="12700">
            <a:solidFill>
              <a:srgbClr val="F59E0B"/>
            </a:solidFill>
            <a:prstDash val="solid"/>
          </a:ln>
        </p:spPr>
        <p:txBody>
          <a:bodyPr/>
          <a:lstStyle/>
          <a:p>
            <a:endParaRPr lang="en-US"/>
          </a:p>
        </p:txBody>
      </p:sp>
      <p:sp>
        <p:nvSpPr>
          <p:cNvPr id="5" name="Text 3"/>
          <p:cNvSpPr/>
          <p:nvPr/>
        </p:nvSpPr>
        <p:spPr>
          <a:xfrm>
            <a:off x="411480" y="594360"/>
            <a:ext cx="8321040" cy="1554480"/>
          </a:xfrm>
          <a:prstGeom prst="rect">
            <a:avLst/>
          </a:prstGeom>
          <a:noFill/>
          <a:ln/>
        </p:spPr>
        <p:txBody>
          <a:bodyPr wrap="square" lIns="0" tIns="0" rIns="0" bIns="0" rtlCol="0" anchor="ctr"/>
          <a:lstStyle/>
          <a:p>
            <a:pPr marL="0" indent="0">
              <a:lnSpc>
                <a:spcPct val="120000"/>
              </a:lnSpc>
              <a:buNone/>
            </a:pPr>
            <a:r>
              <a:rPr lang="en-US" sz="3400" b="1" dirty="0">
                <a:solidFill>
                  <a:srgbClr val="FFFFFF"/>
                </a:solidFill>
                <a:latin typeface="Georgia" pitchFamily="34" charset="0"/>
                <a:ea typeface="Georgia" pitchFamily="34" charset="-122"/>
                <a:cs typeface="Georgia" pitchFamily="34" charset="-120"/>
              </a:rPr>
              <a:t>Testability was</a:t>
            </a:r>
            <a:endParaRPr lang="en-US" sz="3400" dirty="0"/>
          </a:p>
          <a:p>
            <a:pPr marL="0" indent="0">
              <a:lnSpc>
                <a:spcPct val="120000"/>
              </a:lnSpc>
              <a:buNone/>
            </a:pPr>
            <a:r>
              <a:rPr lang="en-US" sz="3400" b="1" dirty="0">
                <a:solidFill>
                  <a:srgbClr val="FFFFFF"/>
                </a:solidFill>
                <a:latin typeface="Georgia" pitchFamily="34" charset="0"/>
                <a:ea typeface="Georgia" pitchFamily="34" charset="-122"/>
                <a:cs typeface="Georgia" pitchFamily="34" charset="-120"/>
              </a:rPr>
              <a:t>just one macro away</a:t>
            </a:r>
            <a:endParaRPr lang="en-US" sz="3400" dirty="0"/>
          </a:p>
        </p:txBody>
      </p:sp>
      <p:sp>
        <p:nvSpPr>
          <p:cNvPr id="6" name="Text 4"/>
          <p:cNvSpPr/>
          <p:nvPr/>
        </p:nvSpPr>
        <p:spPr>
          <a:xfrm>
            <a:off x="411480" y="2286000"/>
            <a:ext cx="8321040" cy="2560320"/>
          </a:xfrm>
          <a:prstGeom prst="rect">
            <a:avLst/>
          </a:prstGeom>
          <a:noFill/>
          <a:ln/>
        </p:spPr>
        <p:txBody>
          <a:bodyPr wrap="square" rtlCol="0" anchor="t"/>
          <a:lstStyle/>
          <a:p>
            <a:pPr marL="0" indent="0">
              <a:spcAft>
                <a:spcPts val="700"/>
              </a:spcAft>
              <a:buNone/>
            </a:pPr>
            <a:r>
              <a:rPr lang="en-US" sz="1500" dirty="0">
                <a:solidFill>
                  <a:srgbClr val="E2E8F0"/>
                </a:solidFill>
                <a:latin typeface="Calibri" pitchFamily="34" charset="0"/>
                <a:ea typeface="Calibri" pitchFamily="34" charset="-122"/>
                <a:cs typeface="Calibri" pitchFamily="34" charset="-120"/>
              </a:rPr>
              <a:t>✅  Zero breaking changes — existing instance() calls work unchanged</a:t>
            </a:r>
            <a:endParaRPr lang="en-US" sz="1500" dirty="0"/>
          </a:p>
          <a:p>
            <a:pPr marL="0" indent="0">
              <a:spcAft>
                <a:spcPts val="700"/>
              </a:spcAft>
              <a:buNone/>
            </a:pPr>
            <a:r>
              <a:rPr lang="en-US" sz="1500" dirty="0">
                <a:solidFill>
                  <a:srgbClr val="E2E8F0"/>
                </a:solidFill>
                <a:latin typeface="Calibri" pitchFamily="34" charset="0"/>
                <a:ea typeface="Calibri" pitchFamily="34" charset="-122"/>
                <a:cs typeface="Calibri" pitchFamily="34" charset="-120"/>
              </a:rPr>
              <a:t>✅  No new abstraction layers, no interfaces, no wiring boilerplate</a:t>
            </a:r>
            <a:endParaRPr lang="en-US" sz="1500" dirty="0"/>
          </a:p>
          <a:p>
            <a:pPr marL="0" indent="0">
              <a:spcAft>
                <a:spcPts val="700"/>
              </a:spcAft>
              <a:buNone/>
            </a:pPr>
            <a:r>
              <a:rPr lang="en-US" sz="1500" dirty="0">
                <a:solidFill>
                  <a:srgbClr val="E2E8F0"/>
                </a:solidFill>
                <a:latin typeface="Calibri" pitchFamily="34" charset="0"/>
                <a:ea typeface="Calibri" pitchFamily="34" charset="-122"/>
                <a:cs typeface="Calibri" pitchFamily="34" charset="-120"/>
              </a:rPr>
              <a:t>✅  RAII-based mocking — same public API used by everyone, including tests</a:t>
            </a:r>
            <a:endParaRPr lang="en-US" sz="1500" dirty="0"/>
          </a:p>
          <a:p>
            <a:pPr marL="0" indent="0">
              <a:spcAft>
                <a:spcPts val="700"/>
              </a:spcAft>
              <a:buNone/>
            </a:pPr>
            <a:r>
              <a:rPr lang="en-US" sz="1500" dirty="0">
                <a:solidFill>
                  <a:srgbClr val="E2E8F0"/>
                </a:solidFill>
                <a:latin typeface="Calibri" pitchFamily="34" charset="0"/>
                <a:ea typeface="Calibri" pitchFamily="34" charset="-122"/>
                <a:cs typeface="Calibri" pitchFamily="34" charset="-120"/>
              </a:rPr>
              <a:t>✅  Cross-library safe — works across Shared library boundaries with Clang, GCC, and MSVC</a:t>
            </a:r>
            <a:endParaRPr lang="en-US" sz="1500" dirty="0"/>
          </a:p>
          <a:p>
            <a:pPr marL="0" indent="0">
              <a:spcAft>
                <a:spcPts val="700"/>
              </a:spcAft>
              <a:buNone/>
            </a:pPr>
            <a:r>
              <a:rPr lang="en-US" sz="1500" dirty="0">
                <a:solidFill>
                  <a:srgbClr val="E2E8F0"/>
                </a:solidFill>
                <a:latin typeface="Calibri" pitchFamily="34" charset="0"/>
                <a:ea typeface="Calibri" pitchFamily="34" charset="-122"/>
                <a:cs typeface="Calibri" pitchFamily="34" charset="-120"/>
              </a:rPr>
              <a:t>✅  Legacy-friendly — retrofit 30+ years of singletons in a single sprint</a:t>
            </a:r>
            <a:endParaRPr lang="en-US" sz="1500" dirty="0"/>
          </a:p>
          <a:p>
            <a:pPr marL="0" indent="0">
              <a:spcAft>
                <a:spcPts val="700"/>
              </a:spcAft>
              <a:buNone/>
            </a:pPr>
            <a:r>
              <a:rPr lang="en-US" sz="1500" dirty="0">
                <a:solidFill>
                  <a:srgbClr val="E2E8F0"/>
                </a:solidFill>
                <a:latin typeface="Calibri" pitchFamily="34" charset="0"/>
                <a:ea typeface="Calibri" pitchFamily="34" charset="-122"/>
                <a:cs typeface="Calibri" pitchFamily="34" charset="-120"/>
              </a:rPr>
              <a:t>✅  Junior-friendly — three steps to follow</a:t>
            </a:r>
          </a:p>
          <a:p>
            <a:pPr>
              <a:spcAft>
                <a:spcPts val="700"/>
              </a:spcAft>
            </a:pPr>
            <a:r>
              <a:rPr lang="en-US" sz="1500" dirty="0">
                <a:solidFill>
                  <a:srgbClr val="E2E8F0"/>
                </a:solidFill>
                <a:latin typeface="Calibri" pitchFamily="34" charset="0"/>
                <a:ea typeface="Calibri" pitchFamily="34" charset="-122"/>
                <a:cs typeface="Calibri" pitchFamily="34" charset="-120"/>
              </a:rPr>
              <a:t>✅  Self-provable</a:t>
            </a:r>
            <a:endParaRPr lang="en-US" sz="15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a:spLocks noGrp="1" noRot="1" noMove="1" noResize="1" noEditPoints="1" noAdjustHandles="1" noChangeArrowheads="1" noChangeShapeType="1"/>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a:spLocks noGrp="1" noRot="1" noMove="1" noResize="1" noEditPoints="1" noAdjustHandles="1" noChangeArrowheads="1" noChangeShapeType="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0"/>
            <a:ext cx="8321040" cy="475488"/>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Final word — The Cost of Dogma</a:t>
            </a:r>
            <a:endParaRPr lang="en-US" sz="1900" dirty="0"/>
          </a:p>
        </p:txBody>
      </p:sp>
      <p:sp>
        <p:nvSpPr>
          <p:cNvPr id="6" name="Text 4"/>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Declaring 'singletons are evil' stopped all innovation on improving them for 30 years</a:t>
            </a:r>
            <a:endParaRPr lang="en-US" sz="1350" dirty="0"/>
          </a:p>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Nobody tried to make them testable — they just told everyone to throw them away</a:t>
            </a:r>
            <a:endParaRPr lang="en-US" sz="1350" dirty="0"/>
          </a:p>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This produced: 30+ year-old codebases with zero test coverage on their singletons, no viable path forward</a:t>
            </a:r>
            <a:endParaRPr lang="en-US" sz="1350" dirty="0"/>
          </a:p>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DI became the only 'acceptable' solution — despite its own serious flaws being quietly swept under the rug</a:t>
            </a:r>
          </a:p>
          <a:p>
            <a:pPr marL="342900" indent="-342900">
              <a:spcAft>
                <a:spcPts val="600"/>
              </a:spcAft>
              <a:buSzPct val="100000"/>
              <a:buChar char="•"/>
            </a:pPr>
            <a:r>
              <a:rPr lang="en-US" sz="1350" b="1" dirty="0">
                <a:solidFill>
                  <a:srgbClr val="1E3A5F"/>
                </a:solidFill>
                <a:latin typeface="Calibri" pitchFamily="34" charset="0"/>
                <a:ea typeface="Calibri" pitchFamily="34" charset="-122"/>
                <a:cs typeface="Calibri" pitchFamily="34" charset="-120"/>
              </a:rPr>
              <a:t>What if we redirected the same energy to improve singletons instead of criticizing them?</a:t>
            </a:r>
            <a:endParaRPr lang="en-US" sz="1350" dirty="0"/>
          </a:p>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We would have had testable, safe, zero-overhead singletons decades ago</a:t>
            </a:r>
          </a:p>
          <a:p>
            <a:pPr marL="342900" indent="-342900">
              <a:spcAft>
                <a:spcPts val="600"/>
              </a:spcAft>
              <a:buSzPct val="100000"/>
              <a:buChar char="•"/>
            </a:pPr>
            <a:r>
              <a:rPr lang="en-US" sz="1350" dirty="0" err="1">
                <a:solidFill>
                  <a:srgbClr val="1E3A5F"/>
                </a:solidFill>
                <a:latin typeface="Calibri" pitchFamily="34" charset="0"/>
                <a:ea typeface="Calibri" pitchFamily="34" charset="-122"/>
                <a:cs typeface="Calibri" pitchFamily="34" charset="-120"/>
              </a:rPr>
              <a:t>SingletonBase</a:t>
            </a:r>
            <a:r>
              <a:rPr lang="en-US" sz="1350" dirty="0">
                <a:solidFill>
                  <a:srgbClr val="1E3A5F"/>
                </a:solidFill>
                <a:latin typeface="Calibri" pitchFamily="34" charset="0"/>
                <a:ea typeface="Calibri" pitchFamily="34" charset="-122"/>
                <a:cs typeface="Calibri" pitchFamily="34" charset="-120"/>
              </a:rPr>
              <a:t> + </a:t>
            </a:r>
            <a:r>
              <a:rPr lang="en-US" sz="1350" dirty="0" err="1">
                <a:solidFill>
                  <a:srgbClr val="1E3A5F"/>
                </a:solidFill>
                <a:latin typeface="Calibri" pitchFamily="34" charset="0"/>
                <a:ea typeface="Calibri" pitchFamily="34" charset="-122"/>
                <a:cs typeface="Calibri" pitchFamily="34" charset="-120"/>
              </a:rPr>
              <a:t>ScopedSingletonState</a:t>
            </a:r>
            <a:r>
              <a:rPr lang="en-US" sz="1350" dirty="0">
                <a:solidFill>
                  <a:srgbClr val="1E3A5F"/>
                </a:solidFill>
                <a:latin typeface="Calibri" pitchFamily="34" charset="0"/>
                <a:ea typeface="Calibri" pitchFamily="34" charset="-122"/>
                <a:cs typeface="Calibri" pitchFamily="34" charset="-120"/>
              </a:rPr>
              <a:t> is our attempt to solve this problem</a:t>
            </a:r>
            <a:br>
              <a:rPr lang="en-US" sz="1350" dirty="0">
                <a:solidFill>
                  <a:srgbClr val="1E3A5F"/>
                </a:solidFill>
                <a:latin typeface="Calibri" pitchFamily="34" charset="0"/>
                <a:ea typeface="Calibri" pitchFamily="34" charset="-122"/>
                <a:cs typeface="Calibri" pitchFamily="34" charset="-120"/>
              </a:rPr>
            </a:br>
            <a:r>
              <a:rPr lang="en-US" sz="1350" dirty="0">
                <a:solidFill>
                  <a:srgbClr val="1E3A5F"/>
                </a:solidFill>
                <a:latin typeface="Calibri" pitchFamily="34" charset="0"/>
                <a:ea typeface="Calibri" pitchFamily="34" charset="-122"/>
                <a:cs typeface="Calibri" pitchFamily="34" charset="-120"/>
              </a:rPr>
              <a:t>Better late than never</a:t>
            </a:r>
            <a:endParaRPr lang="en-US" sz="13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a:spLocks noGrp="1" noRot="1" noMove="1" noResize="1" noEditPoints="1" noAdjustHandles="1" noChangeArrowheads="1" noChangeShapeType="1"/>
          </p:cNvSpPr>
          <p:nvPr/>
        </p:nvSpPr>
        <p:spPr>
          <a:xfrm>
            <a:off x="0" y="0"/>
            <a:ext cx="9144000" cy="475488"/>
          </a:xfrm>
          <a:prstGeom prst="rect">
            <a:avLst/>
          </a:prstGeom>
          <a:solidFill>
            <a:srgbClr val="1E3A5F"/>
          </a:solidFill>
          <a:ln w="12700">
            <a:solidFill>
              <a:srgbClr val="1E3A5F"/>
            </a:solidFill>
            <a:prstDash val="solid"/>
          </a:ln>
        </p:spPr>
        <p:txBody>
          <a:bodyPr/>
          <a:lstStyle/>
          <a:p>
            <a:endParaRPr lang="en-US"/>
          </a:p>
        </p:txBody>
      </p:sp>
      <p:sp>
        <p:nvSpPr>
          <p:cNvPr id="3" name="Shape 1"/>
          <p:cNvSpPr>
            <a:spLocks noGrp="1" noRot="1" noMove="1" noResize="1" noEditPoints="1" noAdjustHandles="1" noChangeArrowheads="1" noChangeShapeType="1"/>
          </p:cNvSpPr>
          <p:nvPr/>
        </p:nvSpPr>
        <p:spPr>
          <a:xfrm>
            <a:off x="0" y="4942332"/>
            <a:ext cx="9144000" cy="20116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411480" y="0"/>
            <a:ext cx="8321040" cy="475488"/>
          </a:xfrm>
          <a:prstGeom prst="rect">
            <a:avLst/>
          </a:prstGeom>
          <a:noFill/>
          <a:ln/>
        </p:spPr>
        <p:txBody>
          <a:bodyPr wrap="square" lIns="0" tIns="0" rIns="0" bIns="0" rtlCol="0" anchor="ctr"/>
          <a:lstStyle/>
          <a:p>
            <a:pPr marL="0" indent="0">
              <a:buNone/>
            </a:pPr>
            <a:r>
              <a:rPr lang="en-US" sz="1900" b="1">
                <a:solidFill>
                  <a:srgbClr val="FFFFFF"/>
                </a:solidFill>
                <a:latin typeface="Georgia" pitchFamily="34" charset="0"/>
                <a:ea typeface="Georgia" pitchFamily="34" charset="-122"/>
                <a:cs typeface="Georgia" pitchFamily="34" charset="-120"/>
              </a:rPr>
              <a:t>When NOT to Use Singletons — Even with SingletonBase</a:t>
            </a:r>
            <a:endParaRPr lang="en-US" sz="1900"/>
          </a:p>
        </p:txBody>
      </p:sp>
      <p:sp>
        <p:nvSpPr>
          <p:cNvPr id="5" name="Text 3"/>
          <p:cNvSpPr/>
          <p:nvPr/>
        </p:nvSpPr>
        <p:spPr>
          <a:xfrm>
            <a:off x="411480" y="530352"/>
            <a:ext cx="8229600" cy="256032"/>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CONCLUSION</a:t>
            </a:r>
            <a:endParaRPr lang="en-US" sz="1000" dirty="0"/>
          </a:p>
        </p:txBody>
      </p:sp>
      <p:sp>
        <p:nvSpPr>
          <p:cNvPr id="6" name="Text 4"/>
          <p:cNvSpPr/>
          <p:nvPr/>
        </p:nvSpPr>
        <p:spPr>
          <a:xfrm>
            <a:off x="411480" y="850392"/>
            <a:ext cx="8321040" cy="4037076"/>
          </a:xfrm>
          <a:prstGeom prst="rect">
            <a:avLst/>
          </a:prstGeom>
          <a:noFill/>
          <a:ln/>
        </p:spPr>
        <p:txBody>
          <a:bodyPr wrap="square" rtlCol="0" anchor="t"/>
          <a:lstStyle/>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  You need different instances in different runtime contexts (e.g., two database connections with different credentials)</a:t>
            </a:r>
            <a:endParaRPr lang="en-US" sz="1350" dirty="0"/>
          </a:p>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  The object requires parameters at construction that vary (e.g., Connection(hostname, port))</a:t>
            </a:r>
            <a:endParaRPr lang="en-US" sz="1350" dirty="0"/>
          </a:p>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  The concept is not naturally global — user objects, documents, transient computations</a:t>
            </a:r>
            <a:endParaRPr lang="en-US" sz="1350" dirty="0"/>
          </a:p>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  You need strictly ordered destruction with complex inter-dependencies</a:t>
            </a:r>
            <a:endParaRPr lang="en-US" sz="1350" dirty="0"/>
          </a:p>
          <a:p>
            <a:pPr marL="342900" indent="-342900">
              <a:spcAft>
                <a:spcPts val="600"/>
              </a:spcAft>
              <a:buSzPct val="100000"/>
              <a:buChar char="•"/>
            </a:pPr>
            <a:r>
              <a:rPr lang="en-US" sz="1350" dirty="0">
                <a:solidFill>
                  <a:srgbClr val="1E3A5F"/>
                </a:solidFill>
                <a:latin typeface="Calibri" pitchFamily="34" charset="0"/>
                <a:ea typeface="Calibri" pitchFamily="34" charset="-122"/>
                <a:cs typeface="Calibri" pitchFamily="34" charset="-120"/>
              </a:rPr>
              <a:t>❌  You have a genuine object graph where components need to communicate with each other</a:t>
            </a:r>
            <a:endParaRPr lang="en-US" sz="1350" dirty="0"/>
          </a:p>
          <a:p>
            <a:pPr marL="342900" indent="-342900">
              <a:spcAft>
                <a:spcPts val="600"/>
              </a:spcAft>
              <a:buSzPct val="100000"/>
              <a:buChar char="•"/>
            </a:pPr>
            <a:r>
              <a:rPr lang="en-US" sz="1350" b="1" dirty="0">
                <a:solidFill>
                  <a:srgbClr val="1E3A5F"/>
                </a:solidFill>
                <a:latin typeface="Calibri" pitchFamily="34" charset="0"/>
                <a:ea typeface="Calibri" pitchFamily="34" charset="-122"/>
                <a:cs typeface="Calibri" pitchFamily="34" charset="-120"/>
              </a:rPr>
              <a:t>✅  Use </a:t>
            </a:r>
            <a:r>
              <a:rPr lang="en-US" sz="1350" b="1" dirty="0" err="1">
                <a:solidFill>
                  <a:srgbClr val="1E3A5F"/>
                </a:solidFill>
                <a:latin typeface="Calibri" pitchFamily="34" charset="0"/>
                <a:ea typeface="Calibri" pitchFamily="34" charset="-122"/>
                <a:cs typeface="Calibri" pitchFamily="34" charset="-120"/>
              </a:rPr>
              <a:t>SingletonBase</a:t>
            </a:r>
            <a:r>
              <a:rPr lang="en-US" sz="1350" b="1" dirty="0">
                <a:solidFill>
                  <a:srgbClr val="1E3A5F"/>
                </a:solidFill>
                <a:latin typeface="Calibri" pitchFamily="34" charset="0"/>
                <a:ea typeface="Calibri" pitchFamily="34" charset="-122"/>
                <a:cs typeface="Calibri" pitchFamily="34" charset="-120"/>
              </a:rPr>
              <a:t> for: logging, configuration, hardware interfaces, file system, resource managers, communication channels — anything that is truly singular in your application's model</a:t>
            </a:r>
            <a:endParaRPr lang="en-US" sz="13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54">
    <p:bg>
      <p:bgPr>
        <a:solidFill>
          <a:schemeClr val="tx2">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B82F6"/>
          </a:solidFill>
          <a:ln w="12700">
            <a:solidFill>
              <a:srgbClr val="3B82F6"/>
            </a:solidFill>
            <a:prstDash val="solid"/>
          </a:ln>
        </p:spPr>
        <p:txBody>
          <a:bodyPr/>
          <a:lstStyle/>
          <a:p>
            <a:endParaRPr lang="en-US"/>
          </a:p>
        </p:txBody>
      </p:sp>
      <p:sp>
        <p:nvSpPr>
          <p:cNvPr id="3" name="Shape 1"/>
          <p:cNvSpPr/>
          <p:nvPr/>
        </p:nvSpPr>
        <p:spPr>
          <a:xfrm>
            <a:off x="0" y="4887468"/>
            <a:ext cx="9144000" cy="256032"/>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411480" y="1005840"/>
            <a:ext cx="8321040" cy="777240"/>
          </a:xfrm>
          <a:prstGeom prst="rect">
            <a:avLst/>
          </a:prstGeom>
          <a:noFill/>
          <a:ln/>
        </p:spPr>
        <p:txBody>
          <a:bodyPr wrap="square" lIns="0" tIns="0" rIns="0" bIns="0" rtlCol="0" anchor="ctr"/>
          <a:lstStyle/>
          <a:p>
            <a:pPr marL="0" indent="0">
              <a:buNone/>
            </a:pPr>
            <a:r>
              <a:rPr lang="en-US" sz="3400" b="1">
                <a:solidFill>
                  <a:srgbClr val="FFFFFF"/>
                </a:solidFill>
                <a:latin typeface="Georgia" pitchFamily="34" charset="0"/>
                <a:ea typeface="Georgia" pitchFamily="34" charset="-122"/>
                <a:cs typeface="Georgia" pitchFamily="34" charset="-120"/>
              </a:rPr>
              <a:t>Stop blaming singletons.</a:t>
            </a:r>
            <a:endParaRPr lang="en-US" sz="3400"/>
          </a:p>
        </p:txBody>
      </p:sp>
      <p:sp>
        <p:nvSpPr>
          <p:cNvPr id="5" name="Text 3"/>
          <p:cNvSpPr/>
          <p:nvPr/>
        </p:nvSpPr>
        <p:spPr>
          <a:xfrm>
            <a:off x="411480" y="1783080"/>
            <a:ext cx="8321040" cy="777240"/>
          </a:xfrm>
          <a:prstGeom prst="rect">
            <a:avLst/>
          </a:prstGeom>
          <a:noFill/>
          <a:ln/>
        </p:spPr>
        <p:txBody>
          <a:bodyPr wrap="square" lIns="0" tIns="0" rIns="0" bIns="0" rtlCol="0" anchor="ctr"/>
          <a:lstStyle/>
          <a:p>
            <a:pPr marL="0" indent="0">
              <a:buNone/>
            </a:pPr>
            <a:r>
              <a:rPr lang="en-US" sz="3400" b="1">
                <a:solidFill>
                  <a:srgbClr val="F59E0B"/>
                </a:solidFill>
                <a:latin typeface="Georgia" pitchFamily="34" charset="0"/>
                <a:ea typeface="Georgia" pitchFamily="34" charset="-122"/>
                <a:cs typeface="Georgia" pitchFamily="34" charset="-120"/>
              </a:rPr>
              <a:t>Start making them work for you.</a:t>
            </a:r>
            <a:endParaRPr lang="en-US" sz="340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52">
    <p:bg>
      <p:bgPr>
        <a:solidFill>
          <a:schemeClr val="tx2">
            <a:lumMod val="50000"/>
          </a:schemeClr>
        </a:solidFill>
        <a:effectLst/>
      </p:bgPr>
    </p:bg>
    <p:spTree>
      <p:nvGrpSpPr>
        <p:cNvPr id="1" name=""/>
        <p:cNvGrpSpPr/>
        <p:nvPr/>
      </p:nvGrpSpPr>
      <p:grpSpPr>
        <a:xfrm>
          <a:off x="0" y="0"/>
          <a:ext cx="0" cy="0"/>
          <a:chOff x="0" y="0"/>
          <a:chExt cx="0" cy="0"/>
        </a:xfrm>
      </p:grpSpPr>
      <p:sp>
        <p:nvSpPr>
          <p:cNvPr id="2" name="Shape 0"/>
          <p:cNvSpPr>
            <a:spLocks noGrp="1" noRot="1" noMove="1" noResize="1" noEditPoints="1" noAdjustHandles="1" noChangeArrowheads="1" noChangeShapeType="1"/>
          </p:cNvSpPr>
          <p:nvPr/>
        </p:nvSpPr>
        <p:spPr>
          <a:xfrm>
            <a:off x="0" y="0"/>
            <a:ext cx="9144000" cy="475488"/>
          </a:xfrm>
          <a:prstGeom prst="rect">
            <a:avLst/>
          </a:prstGeom>
          <a:solidFill>
            <a:srgbClr val="111827"/>
          </a:solidFill>
          <a:ln w="12700">
            <a:solidFill>
              <a:srgbClr val="111827"/>
            </a:solidFill>
            <a:prstDash val="solid"/>
          </a:ln>
        </p:spPr>
        <p:txBody>
          <a:bodyPr/>
          <a:lstStyle/>
          <a:p>
            <a:endParaRPr lang="en-US"/>
          </a:p>
        </p:txBody>
      </p:sp>
      <p:sp>
        <p:nvSpPr>
          <p:cNvPr id="3" name="Shape 1"/>
          <p:cNvSpPr>
            <a:spLocks noGrp="1" noRot="1" noMove="1" noResize="1" noEditPoints="1" noAdjustHandles="1" noChangeArrowheads="1" noChangeShapeType="1"/>
          </p:cNvSpPr>
          <p:nvPr/>
        </p:nvSpPr>
        <p:spPr>
          <a:xfrm>
            <a:off x="0" y="4942332"/>
            <a:ext cx="9144000" cy="201168"/>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411480" y="0"/>
            <a:ext cx="8229600" cy="475488"/>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CALL TO ACTION</a:t>
            </a:r>
            <a:endParaRPr lang="en-US" sz="1000" dirty="0"/>
          </a:p>
        </p:txBody>
      </p:sp>
      <p:sp>
        <p:nvSpPr>
          <p:cNvPr id="5" name="Shape 3"/>
          <p:cNvSpPr/>
          <p:nvPr/>
        </p:nvSpPr>
        <p:spPr>
          <a:xfrm>
            <a:off x="320040" y="630936"/>
            <a:ext cx="347472" cy="347472"/>
          </a:xfrm>
          <a:prstGeom prst="ellipse">
            <a:avLst/>
          </a:prstGeom>
          <a:solidFill>
            <a:srgbClr val="F59E0B"/>
          </a:solidFill>
          <a:ln w="12700">
            <a:solidFill>
              <a:srgbClr val="F59E0B"/>
            </a:solidFill>
            <a:prstDash val="solid"/>
          </a:ln>
        </p:spPr>
        <p:txBody>
          <a:bodyPr/>
          <a:lstStyle/>
          <a:p>
            <a:endParaRPr lang="en-US"/>
          </a:p>
        </p:txBody>
      </p:sp>
      <p:sp>
        <p:nvSpPr>
          <p:cNvPr id="6" name="Text 4"/>
          <p:cNvSpPr/>
          <p:nvPr/>
        </p:nvSpPr>
        <p:spPr>
          <a:xfrm>
            <a:off x="320040" y="630936"/>
            <a:ext cx="347472" cy="347472"/>
          </a:xfrm>
          <a:prstGeom prst="rect">
            <a:avLst/>
          </a:prstGeom>
          <a:noFill/>
          <a:ln/>
        </p:spPr>
        <p:txBody>
          <a:bodyPr wrap="square" lIns="0" tIns="0" rIns="0" bIns="0" rtlCol="0" anchor="ctr"/>
          <a:lstStyle/>
          <a:p>
            <a:pPr marL="0" indent="0" algn="ctr">
              <a:buNone/>
            </a:pPr>
            <a:r>
              <a:rPr lang="en-US" sz="1400" b="1">
                <a:solidFill>
                  <a:srgbClr val="111827"/>
                </a:solidFill>
                <a:latin typeface="Georgia" pitchFamily="34" charset="0"/>
                <a:ea typeface="Georgia" pitchFamily="34" charset="-122"/>
                <a:cs typeface="Georgia" pitchFamily="34" charset="-120"/>
              </a:rPr>
              <a:t>1</a:t>
            </a:r>
            <a:endParaRPr lang="en-US" sz="1400"/>
          </a:p>
        </p:txBody>
      </p:sp>
      <p:sp>
        <p:nvSpPr>
          <p:cNvPr id="7" name="Text 5"/>
          <p:cNvSpPr/>
          <p:nvPr/>
        </p:nvSpPr>
        <p:spPr>
          <a:xfrm>
            <a:off x="777240" y="594360"/>
            <a:ext cx="7955280" cy="411480"/>
          </a:xfrm>
          <a:prstGeom prst="rect">
            <a:avLst/>
          </a:prstGeom>
          <a:noFill/>
          <a:ln/>
        </p:spPr>
        <p:txBody>
          <a:bodyPr wrap="square" lIns="0" tIns="0" rIns="0" bIns="0" rtlCol="0" anchor="ctr"/>
          <a:lstStyle/>
          <a:p>
            <a:pPr marL="0" indent="0">
              <a:buNone/>
            </a:pPr>
            <a:r>
              <a:rPr lang="en-US" sz="1400">
                <a:solidFill>
                  <a:srgbClr val="FFFFFF"/>
                </a:solidFill>
                <a:latin typeface="Calibri" pitchFamily="34" charset="0"/>
                <a:ea typeface="Calibri" pitchFamily="34" charset="-122"/>
                <a:cs typeface="Calibri" pitchFamily="34" charset="-120"/>
              </a:rPr>
              <a:t>Pick one simple internal singleton in your codebase today</a:t>
            </a:r>
            <a:endParaRPr lang="en-US" sz="1400"/>
          </a:p>
        </p:txBody>
      </p:sp>
      <p:sp>
        <p:nvSpPr>
          <p:cNvPr id="8" name="Shape 6"/>
          <p:cNvSpPr/>
          <p:nvPr/>
        </p:nvSpPr>
        <p:spPr>
          <a:xfrm>
            <a:off x="320040" y="1453896"/>
            <a:ext cx="347472" cy="347472"/>
          </a:xfrm>
          <a:prstGeom prst="ellipse">
            <a:avLst/>
          </a:prstGeom>
          <a:solidFill>
            <a:srgbClr val="F59E0B"/>
          </a:solidFill>
          <a:ln w="12700">
            <a:solidFill>
              <a:srgbClr val="F59E0B"/>
            </a:solidFill>
            <a:prstDash val="solid"/>
          </a:ln>
        </p:spPr>
        <p:txBody>
          <a:bodyPr/>
          <a:lstStyle/>
          <a:p>
            <a:endParaRPr lang="en-US"/>
          </a:p>
        </p:txBody>
      </p:sp>
      <p:sp>
        <p:nvSpPr>
          <p:cNvPr id="9" name="Text 7"/>
          <p:cNvSpPr/>
          <p:nvPr/>
        </p:nvSpPr>
        <p:spPr>
          <a:xfrm>
            <a:off x="320040" y="1453896"/>
            <a:ext cx="347472" cy="347472"/>
          </a:xfrm>
          <a:prstGeom prst="rect">
            <a:avLst/>
          </a:prstGeom>
          <a:noFill/>
          <a:ln/>
        </p:spPr>
        <p:txBody>
          <a:bodyPr wrap="square" lIns="0" tIns="0" rIns="0" bIns="0" rtlCol="0" anchor="ctr"/>
          <a:lstStyle/>
          <a:p>
            <a:pPr marL="0" indent="0" algn="ctr">
              <a:buNone/>
            </a:pPr>
            <a:r>
              <a:rPr lang="en-US" sz="1400" b="1">
                <a:solidFill>
                  <a:srgbClr val="111827"/>
                </a:solidFill>
                <a:latin typeface="Georgia" pitchFamily="34" charset="0"/>
                <a:ea typeface="Georgia" pitchFamily="34" charset="-122"/>
                <a:cs typeface="Georgia" pitchFamily="34" charset="-120"/>
              </a:rPr>
              <a:t>2</a:t>
            </a:r>
            <a:endParaRPr lang="en-US" sz="1400"/>
          </a:p>
        </p:txBody>
      </p:sp>
      <p:sp>
        <p:nvSpPr>
          <p:cNvPr id="10" name="Text 8"/>
          <p:cNvSpPr/>
          <p:nvPr/>
        </p:nvSpPr>
        <p:spPr>
          <a:xfrm>
            <a:off x="777240" y="1417320"/>
            <a:ext cx="7955280" cy="4114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Inherit public </a:t>
            </a:r>
            <a:r>
              <a:rPr lang="en-US" sz="1400" dirty="0" err="1">
                <a:solidFill>
                  <a:srgbClr val="FFFFFF"/>
                </a:solidFill>
                <a:latin typeface="Calibri" pitchFamily="34" charset="0"/>
                <a:ea typeface="Calibri" pitchFamily="34" charset="-122"/>
                <a:cs typeface="Calibri" pitchFamily="34" charset="-120"/>
              </a:rPr>
              <a:t>SingletonBase</a:t>
            </a:r>
            <a:r>
              <a:rPr lang="en-US" sz="1400" dirty="0">
                <a:solidFill>
                  <a:srgbClr val="FFFFFF"/>
                </a:solidFill>
                <a:latin typeface="Calibri" pitchFamily="34" charset="0"/>
                <a:ea typeface="Calibri" pitchFamily="34" charset="-122"/>
                <a:cs typeface="Calibri" pitchFamily="34" charset="-120"/>
              </a:rPr>
              <a:t>&lt;T&gt; and use PM_SINGLETON macro</a:t>
            </a:r>
            <a:endParaRPr lang="en-US" sz="1400" dirty="0"/>
          </a:p>
        </p:txBody>
      </p:sp>
      <p:sp>
        <p:nvSpPr>
          <p:cNvPr id="11" name="Shape 9"/>
          <p:cNvSpPr/>
          <p:nvPr/>
        </p:nvSpPr>
        <p:spPr>
          <a:xfrm>
            <a:off x="320040" y="2276856"/>
            <a:ext cx="347472" cy="347472"/>
          </a:xfrm>
          <a:prstGeom prst="ellipse">
            <a:avLst/>
          </a:prstGeom>
          <a:solidFill>
            <a:srgbClr val="F59E0B"/>
          </a:solidFill>
          <a:ln w="12700">
            <a:solidFill>
              <a:srgbClr val="F59E0B"/>
            </a:solidFill>
            <a:prstDash val="solid"/>
          </a:ln>
        </p:spPr>
        <p:txBody>
          <a:bodyPr/>
          <a:lstStyle/>
          <a:p>
            <a:endParaRPr lang="en-US"/>
          </a:p>
        </p:txBody>
      </p:sp>
      <p:sp>
        <p:nvSpPr>
          <p:cNvPr id="12" name="Text 10"/>
          <p:cNvSpPr/>
          <p:nvPr/>
        </p:nvSpPr>
        <p:spPr>
          <a:xfrm>
            <a:off x="320040" y="2276856"/>
            <a:ext cx="347472" cy="347472"/>
          </a:xfrm>
          <a:prstGeom prst="rect">
            <a:avLst/>
          </a:prstGeom>
          <a:noFill/>
          <a:ln/>
        </p:spPr>
        <p:txBody>
          <a:bodyPr wrap="square" lIns="0" tIns="0" rIns="0" bIns="0" rtlCol="0" anchor="ctr"/>
          <a:lstStyle/>
          <a:p>
            <a:pPr marL="0" indent="0" algn="ctr">
              <a:buNone/>
            </a:pPr>
            <a:r>
              <a:rPr lang="en-US" sz="1400" b="1">
                <a:solidFill>
                  <a:srgbClr val="111827"/>
                </a:solidFill>
                <a:latin typeface="Georgia" pitchFamily="34" charset="0"/>
                <a:ea typeface="Georgia" pitchFamily="34" charset="-122"/>
                <a:cs typeface="Georgia" pitchFamily="34" charset="-120"/>
              </a:rPr>
              <a:t>3</a:t>
            </a:r>
            <a:endParaRPr lang="en-US" sz="1400"/>
          </a:p>
        </p:txBody>
      </p:sp>
      <p:sp>
        <p:nvSpPr>
          <p:cNvPr id="13" name="Text 11"/>
          <p:cNvSpPr/>
          <p:nvPr/>
        </p:nvSpPr>
        <p:spPr>
          <a:xfrm>
            <a:off x="777240" y="2240280"/>
            <a:ext cx="7955280" cy="411480"/>
          </a:xfrm>
          <a:prstGeom prst="rect">
            <a:avLst/>
          </a:prstGeom>
          <a:noFill/>
          <a:ln/>
        </p:spPr>
        <p:txBody>
          <a:bodyPr wrap="square" lIns="0" tIns="0" rIns="0" bIns="0" rtlCol="0" anchor="ctr"/>
          <a:lstStyle/>
          <a:p>
            <a:pPr marL="0" indent="0">
              <a:buNone/>
            </a:pPr>
            <a:r>
              <a:rPr lang="en-US" sz="1400">
                <a:solidFill>
                  <a:srgbClr val="FFFFFF"/>
                </a:solidFill>
                <a:latin typeface="Calibri" pitchFamily="34" charset="0"/>
                <a:ea typeface="Calibri" pitchFamily="34" charset="-122"/>
                <a:cs typeface="Calibri" pitchFamily="34" charset="-120"/>
              </a:rPr>
              <a:t>Write one unit test using ScopedSingletonState — experience the power firsthand</a:t>
            </a:r>
            <a:endParaRPr lang="en-US" sz="1400"/>
          </a:p>
        </p:txBody>
      </p:sp>
      <p:sp>
        <p:nvSpPr>
          <p:cNvPr id="14" name="Shape 12"/>
          <p:cNvSpPr/>
          <p:nvPr/>
        </p:nvSpPr>
        <p:spPr>
          <a:xfrm>
            <a:off x="320040" y="3099816"/>
            <a:ext cx="347472" cy="347472"/>
          </a:xfrm>
          <a:prstGeom prst="ellipse">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320040" y="3099816"/>
            <a:ext cx="347472" cy="347472"/>
          </a:xfrm>
          <a:prstGeom prst="rect">
            <a:avLst/>
          </a:prstGeom>
          <a:noFill/>
          <a:ln/>
        </p:spPr>
        <p:txBody>
          <a:bodyPr wrap="square" lIns="0" tIns="0" rIns="0" bIns="0" rtlCol="0" anchor="ctr"/>
          <a:lstStyle/>
          <a:p>
            <a:pPr marL="0" indent="0" algn="ctr">
              <a:buNone/>
            </a:pPr>
            <a:r>
              <a:rPr lang="en-US" sz="1400" b="1">
                <a:solidFill>
                  <a:srgbClr val="111827"/>
                </a:solidFill>
                <a:latin typeface="Georgia" pitchFamily="34" charset="0"/>
                <a:ea typeface="Georgia" pitchFamily="34" charset="-122"/>
                <a:cs typeface="Georgia" pitchFamily="34" charset="-120"/>
              </a:rPr>
              <a:t>4</a:t>
            </a:r>
            <a:endParaRPr lang="en-US" sz="1400"/>
          </a:p>
        </p:txBody>
      </p:sp>
      <p:sp>
        <p:nvSpPr>
          <p:cNvPr id="16" name="Text 14"/>
          <p:cNvSpPr/>
          <p:nvPr/>
        </p:nvSpPr>
        <p:spPr>
          <a:xfrm>
            <a:off x="777240" y="3063240"/>
            <a:ext cx="7955280" cy="411480"/>
          </a:xfrm>
          <a:prstGeom prst="rect">
            <a:avLst/>
          </a:prstGeom>
          <a:noFill/>
          <a:ln/>
        </p:spPr>
        <p:txBody>
          <a:bodyPr wrap="square" lIns="0" tIns="0" rIns="0" bIns="0" rtlCol="0" anchor="ctr"/>
          <a:lstStyle/>
          <a:p>
            <a:pPr marL="0" indent="0">
              <a:buNone/>
            </a:pPr>
            <a:r>
              <a:rPr lang="en-US" sz="1400">
                <a:solidFill>
                  <a:srgbClr val="FFFFFF"/>
                </a:solidFill>
                <a:latin typeface="Calibri" pitchFamily="34" charset="0"/>
                <a:ea typeface="Calibri" pitchFamily="34" charset="-122"/>
                <a:cs typeface="Calibri" pitchFamily="34" charset="-120"/>
              </a:rPr>
              <a:t>Scale: assign the rest of the module to a junior ('make these testable')</a:t>
            </a:r>
            <a:endParaRPr lang="en-US" sz="1400"/>
          </a:p>
        </p:txBody>
      </p:sp>
      <p:sp>
        <p:nvSpPr>
          <p:cNvPr id="17" name="Shape 15"/>
          <p:cNvSpPr/>
          <p:nvPr/>
        </p:nvSpPr>
        <p:spPr>
          <a:xfrm>
            <a:off x="320040" y="3922776"/>
            <a:ext cx="347472" cy="347472"/>
          </a:xfrm>
          <a:prstGeom prst="ellipse">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320040" y="3922776"/>
            <a:ext cx="347472" cy="347472"/>
          </a:xfrm>
          <a:prstGeom prst="rect">
            <a:avLst/>
          </a:prstGeom>
          <a:noFill/>
          <a:ln/>
        </p:spPr>
        <p:txBody>
          <a:bodyPr wrap="square" lIns="0" tIns="0" rIns="0" bIns="0" rtlCol="0" anchor="ctr"/>
          <a:lstStyle/>
          <a:p>
            <a:pPr marL="0" indent="0" algn="ctr">
              <a:buNone/>
            </a:pPr>
            <a:r>
              <a:rPr lang="en-US" sz="1400" b="1">
                <a:solidFill>
                  <a:srgbClr val="111827"/>
                </a:solidFill>
                <a:latin typeface="Georgia" pitchFamily="34" charset="0"/>
                <a:ea typeface="Georgia" pitchFamily="34" charset="-122"/>
                <a:cs typeface="Georgia" pitchFamily="34" charset="-120"/>
              </a:rPr>
              <a:t>5</a:t>
            </a:r>
            <a:endParaRPr lang="en-US" sz="1400"/>
          </a:p>
        </p:txBody>
      </p:sp>
      <p:sp>
        <p:nvSpPr>
          <p:cNvPr id="19" name="Text 17"/>
          <p:cNvSpPr/>
          <p:nvPr/>
        </p:nvSpPr>
        <p:spPr>
          <a:xfrm>
            <a:off x="777240" y="3886200"/>
            <a:ext cx="7955280" cy="411480"/>
          </a:xfrm>
          <a:prstGeom prst="rect">
            <a:avLst/>
          </a:prstGeom>
          <a:noFill/>
          <a:ln/>
        </p:spPr>
        <p:txBody>
          <a:bodyPr wrap="square" lIns="0" tIns="0" rIns="0" bIns="0" rtlCol="0" anchor="ctr"/>
          <a:lstStyle/>
          <a:p>
            <a:pPr marL="0" indent="0">
              <a:buNone/>
            </a:pPr>
            <a:r>
              <a:rPr lang="en-US" sz="1400">
                <a:solidFill>
                  <a:srgbClr val="FFFFFF"/>
                </a:solidFill>
                <a:latin typeface="Calibri" pitchFamily="34" charset="0"/>
                <a:ea typeface="Calibri" pitchFamily="34" charset="-122"/>
                <a:cs typeface="Calibri" pitchFamily="34" charset="-120"/>
              </a:rPr>
              <a:t>Question the dogma: ask 'what problem does DI actually solve here?' before defaulting to it</a:t>
            </a:r>
            <a:endParaRPr lang="en-US" sz="140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8D0AA6D2-6C33-8083-D5E0-05BF91BBDAC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74E0279-B2CA-60E7-5FAE-5E234EC879D4}"/>
              </a:ext>
            </a:extLst>
          </p:cNvPr>
          <p:cNvSpPr/>
          <p:nvPr/>
        </p:nvSpPr>
        <p:spPr>
          <a:xfrm>
            <a:off x="0" y="0"/>
            <a:ext cx="164592" cy="5143500"/>
          </a:xfrm>
          <a:prstGeom prst="rect">
            <a:avLst/>
          </a:prstGeom>
          <a:solidFill>
            <a:srgbClr val="3B82F6"/>
          </a:solidFill>
          <a:ln w="12700">
            <a:solidFill>
              <a:srgbClr val="3B82F6"/>
            </a:solidFill>
            <a:prstDash val="solid"/>
          </a:ln>
        </p:spPr>
        <p:txBody>
          <a:bodyPr/>
          <a:lstStyle/>
          <a:p>
            <a:endParaRPr lang="en-US"/>
          </a:p>
        </p:txBody>
      </p:sp>
      <p:sp>
        <p:nvSpPr>
          <p:cNvPr id="3" name="Shape 1">
            <a:extLst>
              <a:ext uri="{FF2B5EF4-FFF2-40B4-BE49-F238E27FC236}">
                <a16:creationId xmlns:a16="http://schemas.microsoft.com/office/drawing/2014/main" id="{0E363C0D-5388-7449-814D-65FA696BFFCA}"/>
              </a:ext>
            </a:extLst>
          </p:cNvPr>
          <p:cNvSpPr/>
          <p:nvPr/>
        </p:nvSpPr>
        <p:spPr>
          <a:xfrm>
            <a:off x="0" y="4887468"/>
            <a:ext cx="9144000" cy="256032"/>
          </a:xfrm>
          <a:prstGeom prst="rect">
            <a:avLst/>
          </a:prstGeom>
          <a:solidFill>
            <a:srgbClr val="F59E0B"/>
          </a:solidFill>
          <a:ln w="12700">
            <a:solidFill>
              <a:srgbClr val="F59E0B"/>
            </a:solidFill>
            <a:prstDash val="solid"/>
          </a:ln>
        </p:spPr>
        <p:txBody>
          <a:bodyPr/>
          <a:lstStyle/>
          <a:p>
            <a:endParaRPr lang="en-US"/>
          </a:p>
        </p:txBody>
      </p:sp>
      <p:sp>
        <p:nvSpPr>
          <p:cNvPr id="4" name="Text 2">
            <a:extLst>
              <a:ext uri="{FF2B5EF4-FFF2-40B4-BE49-F238E27FC236}">
                <a16:creationId xmlns:a16="http://schemas.microsoft.com/office/drawing/2014/main" id="{56DD7706-594C-C7E1-BA68-C64BCAD6ADE2}"/>
              </a:ext>
            </a:extLst>
          </p:cNvPr>
          <p:cNvSpPr/>
          <p:nvPr/>
        </p:nvSpPr>
        <p:spPr>
          <a:xfrm>
            <a:off x="3023368" y="701041"/>
            <a:ext cx="3097264" cy="277155"/>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Checkout the code</a:t>
            </a:r>
            <a:endParaRPr lang="en-US" sz="2000" dirty="0"/>
          </a:p>
        </p:txBody>
      </p:sp>
      <p:pic>
        <p:nvPicPr>
          <p:cNvPr id="7" name="Picture 6">
            <a:extLst>
              <a:ext uri="{FF2B5EF4-FFF2-40B4-BE49-F238E27FC236}">
                <a16:creationId xmlns:a16="http://schemas.microsoft.com/office/drawing/2014/main" id="{42651EC6-C8AC-2FB9-C526-58B39A7A10D6}"/>
              </a:ext>
            </a:extLst>
          </p:cNvPr>
          <p:cNvPicPr>
            <a:picLocks noChangeAspect="1"/>
          </p:cNvPicPr>
          <p:nvPr/>
        </p:nvPicPr>
        <p:blipFill>
          <a:blip r:embed="rId3"/>
          <a:stretch>
            <a:fillRect/>
          </a:stretch>
        </p:blipFill>
        <p:spPr>
          <a:xfrm>
            <a:off x="3286125" y="1073224"/>
            <a:ext cx="2571750" cy="2571750"/>
          </a:xfrm>
          <a:prstGeom prst="rect">
            <a:avLst/>
          </a:prstGeom>
        </p:spPr>
      </p:pic>
      <p:sp>
        <p:nvSpPr>
          <p:cNvPr id="8" name="Text 2">
            <a:extLst>
              <a:ext uri="{FF2B5EF4-FFF2-40B4-BE49-F238E27FC236}">
                <a16:creationId xmlns:a16="http://schemas.microsoft.com/office/drawing/2014/main" id="{90A9C565-DBC6-3B6A-433E-0FCAB23BB09C}"/>
              </a:ext>
            </a:extLst>
          </p:cNvPr>
          <p:cNvSpPr/>
          <p:nvPr/>
        </p:nvSpPr>
        <p:spPr>
          <a:xfrm>
            <a:off x="1085300" y="4070276"/>
            <a:ext cx="6973399" cy="277155"/>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https://github.com/Nanticock/SingletonBase</a:t>
            </a:r>
            <a:endParaRPr lang="en-US" sz="1600" dirty="0"/>
          </a:p>
        </p:txBody>
      </p:sp>
    </p:spTree>
    <p:extLst>
      <p:ext uri="{BB962C8B-B14F-4D97-AF65-F5344CB8AC3E}">
        <p14:creationId xmlns:p14="http://schemas.microsoft.com/office/powerpoint/2010/main" val="3539930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14684</TotalTime>
  <Words>14740</Words>
  <Application>Microsoft Office PowerPoint</Application>
  <PresentationFormat>On-screen Show (16:9)</PresentationFormat>
  <Paragraphs>1988</Paragraphs>
  <Slides>101</Slides>
  <Notes>101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101</vt:i4>
      </vt:variant>
    </vt:vector>
  </HeadingPairs>
  <TitlesOfParts>
    <vt:vector size="106"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Singletons Are Not Evil, You Just Have Been Using Them Wrong</dc:title>
  <dc:subject>PptxGenJS Presentation</dc:subject>
  <dc:creator>PptxGenJS</dc:creator>
  <cp:lastModifiedBy>Mostafa Mahmoud</cp:lastModifiedBy>
  <cp:revision>2</cp:revision>
  <dcterms:created xsi:type="dcterms:W3CDTF">2026-02-19T13:45:00Z</dcterms:created>
  <dcterms:modified xsi:type="dcterms:W3CDTF">2026-03-12T16:33:01Z</dcterms:modified>
</cp:coreProperties>
</file>